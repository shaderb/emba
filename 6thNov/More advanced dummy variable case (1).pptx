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5" r:id="rId19"/>
    <p:sldId id="276" r:id="rId20"/>
    <p:sldId id="277"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3" autoAdjust="0"/>
    <p:restoredTop sz="94660"/>
  </p:normalViewPr>
  <p:slideViewPr>
    <p:cSldViewPr snapToGrid="0">
      <p:cViewPr varScale="1">
        <p:scale>
          <a:sx n="74" d="100"/>
          <a:sy n="74" d="100"/>
        </p:scale>
        <p:origin x="77"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D82BF1-EB32-4EA7-AFDD-61BC6CA9765A}" type="datetimeFigureOut">
              <a:rPr lang="en-US" smtClean="0"/>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346550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D82BF1-EB32-4EA7-AFDD-61BC6CA9765A}" type="datetimeFigureOut">
              <a:rPr lang="en-US" smtClean="0"/>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2793439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D82BF1-EB32-4EA7-AFDD-61BC6CA9765A}" type="datetimeFigureOut">
              <a:rPr lang="en-US" smtClean="0"/>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2945493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1D82BF1-EB32-4EA7-AFDD-61BC6CA9765A}" type="datetimeFigureOut">
              <a:rPr lang="en-US" smtClean="0"/>
              <a:t>10/23/2019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286446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1D82BF1-EB32-4EA7-AFDD-61BC6CA9765A}" type="datetimeFigureOut">
              <a:rPr lang="en-US" smtClean="0"/>
              <a:t>10/23/2019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387481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D82BF1-EB32-4EA7-AFDD-61BC6CA9765A}" type="datetimeFigureOut">
              <a:rPr lang="en-US" smtClean="0"/>
              <a:t>10/23/2019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1032469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D82BF1-EB32-4EA7-AFDD-61BC6CA9765A}" type="datetimeFigureOut">
              <a:rPr lang="en-US" smtClean="0"/>
              <a:t>10/23/2019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948867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D82BF1-EB32-4EA7-AFDD-61BC6CA9765A}" type="datetimeFigureOut">
              <a:rPr lang="en-US" smtClean="0"/>
              <a:t>10/23/2019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3824030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D82BF1-EB32-4EA7-AFDD-61BC6CA9765A}" type="datetimeFigureOut">
              <a:rPr lang="en-US" smtClean="0"/>
              <a:t>10/23/2019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368635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D82BF1-EB32-4EA7-AFDD-61BC6CA9765A}" type="datetimeFigureOut">
              <a:rPr lang="en-US" smtClean="0"/>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1275138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D82BF1-EB32-4EA7-AFDD-61BC6CA9765A}" type="datetimeFigureOut">
              <a:rPr lang="en-US" smtClean="0"/>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658DF-D0DA-443F-8DC3-7652DCED75EE}" type="slidenum">
              <a:rPr lang="en-US" smtClean="0"/>
              <a:t>‹#›</a:t>
            </a:fld>
            <a:endParaRPr lang="en-US"/>
          </a:p>
        </p:txBody>
      </p:sp>
    </p:spTree>
    <p:extLst>
      <p:ext uri="{BB962C8B-B14F-4D97-AF65-F5344CB8AC3E}">
        <p14:creationId xmlns:p14="http://schemas.microsoft.com/office/powerpoint/2010/main" val="1898020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D82BF1-EB32-4EA7-AFDD-61BC6CA9765A}" type="datetimeFigureOut">
              <a:rPr lang="en-US" smtClean="0"/>
              <a:t>10/23/2019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658DF-D0DA-443F-8DC3-7652DCED75EE}" type="slidenum">
              <a:rPr lang="en-US" smtClean="0"/>
              <a:t>‹#›</a:t>
            </a:fld>
            <a:endParaRPr lang="en-US"/>
          </a:p>
        </p:txBody>
      </p:sp>
    </p:spTree>
    <p:extLst>
      <p:ext uri="{BB962C8B-B14F-4D97-AF65-F5344CB8AC3E}">
        <p14:creationId xmlns:p14="http://schemas.microsoft.com/office/powerpoint/2010/main" val="54687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Using Dummy Variables </a:t>
            </a:r>
            <a:br>
              <a:rPr lang="en-US" dirty="0" smtClean="0"/>
            </a:br>
            <a:r>
              <a:rPr lang="en-US" dirty="0" smtClean="0"/>
              <a:t>In Other Cases</a:t>
            </a:r>
            <a:endParaRPr lang="en-US" dirty="0"/>
          </a:p>
        </p:txBody>
      </p:sp>
      <p:sp>
        <p:nvSpPr>
          <p:cNvPr id="3" name="Subtitle 2"/>
          <p:cNvSpPr>
            <a:spLocks noGrp="1"/>
          </p:cNvSpPr>
          <p:nvPr>
            <p:ph type="subTitle" idx="1"/>
          </p:nvPr>
        </p:nvSpPr>
        <p:spPr/>
        <p:txBody>
          <a:bodyPr/>
          <a:lstStyle/>
          <a:p>
            <a:r>
              <a:rPr lang="en-US" dirty="0" smtClean="0"/>
              <a:t>An extra example (NOT for our exam)</a:t>
            </a:r>
            <a:endParaRPr lang="en-US" dirty="0"/>
          </a:p>
        </p:txBody>
      </p:sp>
    </p:spTree>
    <p:extLst>
      <p:ext uri="{BB962C8B-B14F-4D97-AF65-F5344CB8AC3E}">
        <p14:creationId xmlns:p14="http://schemas.microsoft.com/office/powerpoint/2010/main" val="1255650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smtClean="0"/>
              <a:t>Up to this point, we’ve talked about using dummy variables to determine </a:t>
            </a:r>
            <a:r>
              <a:rPr lang="en-US" sz="3200" u="sng" dirty="0" smtClean="0"/>
              <a:t>relative</a:t>
            </a:r>
            <a:r>
              <a:rPr lang="en-US" sz="3200" dirty="0" smtClean="0"/>
              <a:t> effects</a:t>
            </a:r>
          </a:p>
          <a:p>
            <a:pPr marL="0" indent="0">
              <a:buNone/>
            </a:pPr>
            <a:endParaRPr lang="en-US" sz="3200" dirty="0"/>
          </a:p>
          <a:p>
            <a:pPr marL="0" indent="0">
              <a:buNone/>
            </a:pPr>
            <a:r>
              <a:rPr lang="en-US" sz="3200" dirty="0" smtClean="0"/>
              <a:t>To illustrate this, we’ve considered relatively straightforward cases.  Let’s recall what we’ve covered so far…</a:t>
            </a:r>
            <a:endParaRPr lang="en-US" sz="3200" dirty="0"/>
          </a:p>
        </p:txBody>
      </p:sp>
    </p:spTree>
    <p:extLst>
      <p:ext uri="{BB962C8B-B14F-4D97-AF65-F5344CB8AC3E}">
        <p14:creationId xmlns:p14="http://schemas.microsoft.com/office/powerpoint/2010/main" val="2021424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p:sp>
        <p:nvSpPr>
          <p:cNvPr id="3" name="Content Placeholder 2"/>
          <p:cNvSpPr>
            <a:spLocks noGrp="1"/>
          </p:cNvSpPr>
          <p:nvPr>
            <p:ph idx="1"/>
          </p:nvPr>
        </p:nvSpPr>
        <p:spPr/>
        <p:txBody>
          <a:bodyPr/>
          <a:lstStyle/>
          <a:p>
            <a:pPr>
              <a:buNone/>
            </a:pPr>
            <a:r>
              <a:rPr lang="en-US" dirty="0" smtClean="0"/>
              <a:t>In our first in-class example, we compared a sample of male and female workers at a firm to explore whether or not they are paid differently.</a:t>
            </a:r>
          </a:p>
          <a:p>
            <a:pPr>
              <a:buNone/>
            </a:pPr>
            <a:endParaRPr lang="en-US" dirty="0" smtClean="0"/>
          </a:p>
          <a:p>
            <a:pPr>
              <a:buNone/>
            </a:pPr>
            <a:r>
              <a:rPr lang="en-US" dirty="0" smtClean="0"/>
              <a:t>And in this case, we knew that male workers earned $20/hour on average, while female workers earn $17/hour on average.</a:t>
            </a:r>
          </a:p>
          <a:p>
            <a:pPr marL="0" indent="0">
              <a:buNone/>
            </a:pPr>
            <a:endParaRPr lang="en-US" dirty="0"/>
          </a:p>
        </p:txBody>
      </p:sp>
    </p:spTree>
    <p:extLst>
      <p:ext uri="{BB962C8B-B14F-4D97-AF65-F5344CB8AC3E}">
        <p14:creationId xmlns:p14="http://schemas.microsoft.com/office/powerpoint/2010/main" val="390058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dirty="0" smtClean="0"/>
                  <a:t>We investigated this difference with the following regression using our sample data:</a:t>
                </a:r>
              </a:p>
              <a:p>
                <a:pPr algn="ctr">
                  <a:buNone/>
                </a:pPr>
                <a:r>
                  <a:rPr lang="en-US" dirty="0" smtClean="0"/>
                  <a:t>Wage </a:t>
                </a:r>
                <a:r>
                  <a:rPr lang="en-US" dirty="0" smtClean="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smtClean="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1</m:t>
                        </m:r>
                      </m:sub>
                    </m:sSub>
                  </m:oMath>
                </a14:m>
                <a:r>
                  <a:rPr lang="en-US" dirty="0" smtClean="0"/>
                  <a:t> (female)</a:t>
                </a:r>
              </a:p>
              <a:p>
                <a:pPr algn="ctr">
                  <a:buNone/>
                </a:pPr>
                <a:endParaRPr lang="en-US" dirty="0"/>
              </a:p>
              <a:p>
                <a:pPr>
                  <a:buNone/>
                </a:pPr>
                <a:r>
                  <a:rPr lang="en-US" dirty="0" smtClean="0"/>
                  <a:t>In this case, female is equal to one for the women in our sample, and zero for the men.</a:t>
                </a:r>
                <a:endParaRPr lang="en-US" dirty="0"/>
              </a:p>
              <a:p>
                <a:pPr marL="0" indent="0">
                  <a:buNone/>
                </a:pPr>
                <a:r>
                  <a:rPr lang="en-US" dirty="0" smtClean="0">
                    <a:sym typeface="Wingdings" panose="05000000000000000000" pitchFamily="2" charset="2"/>
                  </a:rPr>
                  <a:t></a:t>
                </a:r>
                <a:r>
                  <a:rPr lang="en-US" dirty="0" smtClean="0"/>
                  <a:t>We discussed the interpretation of our regression’s coefficients by considering how they related to conditional mean wages for men and women</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3449703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u="sng" dirty="0" smtClean="0"/>
                  <a:t>Average wages for men (or, the average wages </a:t>
                </a:r>
                <a:r>
                  <a:rPr lang="en-US" b="1" i="1" u="sng" dirty="0" smtClean="0"/>
                  <a:t>conditional</a:t>
                </a:r>
                <a:r>
                  <a:rPr lang="en-US" b="1" u="sng" dirty="0" smtClean="0"/>
                  <a:t> on being a male):</a:t>
                </a:r>
                <a:r>
                  <a:rPr lang="en-US" dirty="0" smtClean="0"/>
                  <a:t> </a:t>
                </a:r>
                <a:endParaRPr lang="en-US" dirty="0" smtClean="0"/>
              </a:p>
              <a:p>
                <a:pPr>
                  <a:buNone/>
                </a:pPr>
                <a:r>
                  <a:rPr lang="en-US" dirty="0" smtClean="0"/>
                  <a:t>	</a:t>
                </a:r>
                <a:r>
                  <a:rPr lang="en-US" dirty="0"/>
                  <a:t> 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smtClean="0"/>
                  <a:t>(</a:t>
                </a:r>
                <a:r>
                  <a:rPr lang="en-US" dirty="0"/>
                  <a:t>female)</a:t>
                </a:r>
              </a:p>
              <a:p>
                <a:pPr>
                  <a:buNone/>
                </a:pPr>
                <a:r>
                  <a:rPr lang="en-US" dirty="0" smtClean="0"/>
                  <a:t>    </a:t>
                </a:r>
                <a:r>
                  <a:rPr lang="en-US" dirty="0" smtClean="0">
                    <a:sym typeface="Wingdings" panose="05000000000000000000" pitchFamily="2" charset="2"/>
                  </a:rPr>
                  <a:t> </a:t>
                </a:r>
                <a:r>
                  <a:rPr lang="en-US" dirty="0" smtClean="0"/>
                  <a:t>(</a:t>
                </a:r>
                <a:r>
                  <a:rPr lang="en-US" dirty="0" smtClean="0"/>
                  <a:t>Wage) </a:t>
                </a:r>
                <a:r>
                  <a:rPr lang="en-US" dirty="0" smtClean="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smtClean="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smtClean="0"/>
                  <a:t>(0)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endParaRPr lang="en-US" baseline="-25000" dirty="0" smtClean="0"/>
              </a:p>
              <a:p>
                <a:pPr>
                  <a:buNone/>
                </a:pPr>
                <a:endParaRPr lang="en-US" baseline="-25000" dirty="0"/>
              </a:p>
              <a:p>
                <a:pPr>
                  <a:buNone/>
                </a:pPr>
                <a:r>
                  <a:rPr lang="en-US" dirty="0" smtClean="0"/>
                  <a:t>We saw that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represents the conditional mean for the data with </a:t>
                </a:r>
                <a:r>
                  <a:rPr lang="en-US" dirty="0" smtClean="0"/>
                  <a:t>female=0, and female=0 when we’re considering men.  As such,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represents average </a:t>
                </a:r>
                <a:r>
                  <a:rPr lang="en-US" dirty="0" smtClean="0"/>
                  <a:t>wages for </a:t>
                </a:r>
                <a:r>
                  <a:rPr lang="en-US" dirty="0" smtClean="0"/>
                  <a:t>men, so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 20.</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464"/>
                </a:stretch>
              </a:blipFill>
            </p:spPr>
            <p:txBody>
              <a:bodyPr/>
              <a:lstStyle/>
              <a:p>
                <a:r>
                  <a:rPr lang="en-US">
                    <a:noFill/>
                  </a:rPr>
                  <a:t> </a:t>
                </a:r>
              </a:p>
            </p:txBody>
          </p:sp>
        </mc:Fallback>
      </mc:AlternateContent>
    </p:spTree>
    <p:extLst>
      <p:ext uri="{BB962C8B-B14F-4D97-AF65-F5344CB8AC3E}">
        <p14:creationId xmlns:p14="http://schemas.microsoft.com/office/powerpoint/2010/main" val="1619001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u="sng" dirty="0" smtClean="0"/>
                  <a:t>Average wages for women (or, the average wages </a:t>
                </a:r>
                <a:r>
                  <a:rPr lang="en-US" b="1" i="1" u="sng" dirty="0" smtClean="0"/>
                  <a:t>conditional</a:t>
                </a:r>
                <a:r>
                  <a:rPr lang="en-US" b="1" u="sng" dirty="0" smtClean="0"/>
                  <a:t> on being a female):</a:t>
                </a:r>
                <a:r>
                  <a:rPr lang="en-US" dirty="0" smtClean="0"/>
                  <a:t> </a:t>
                </a:r>
                <a:endParaRPr lang="en-US" dirty="0" smtClean="0"/>
              </a:p>
              <a:p>
                <a:pPr>
                  <a:buNone/>
                </a:pPr>
                <a:r>
                  <a:rPr lang="en-US" dirty="0"/>
                  <a:t>	 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(female)</a:t>
                </a:r>
              </a:p>
              <a:p>
                <a:pPr>
                  <a:buNone/>
                </a:pPr>
                <a:r>
                  <a:rPr lang="en-US" dirty="0" smtClean="0">
                    <a:sym typeface="Wingdings" panose="05000000000000000000" pitchFamily="2" charset="2"/>
                  </a:rPr>
                  <a:t></a:t>
                </a:r>
                <a:r>
                  <a:rPr lang="en-US" dirty="0" smtClean="0"/>
                  <a:t>(</a:t>
                </a:r>
                <a:r>
                  <a:rPr lang="en-US" dirty="0" smtClean="0"/>
                  <a:t>Wage) </a:t>
                </a:r>
                <a:r>
                  <a:rPr lang="en-US" dirty="0" smtClean="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smtClean="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smtClean="0"/>
                  <a:t>(1)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baseline="-25000" dirty="0" smtClean="0"/>
              </a:p>
              <a:p>
                <a:pPr>
                  <a:buNone/>
                </a:pPr>
                <a:endParaRPr lang="en-US" baseline="-25000" dirty="0" smtClean="0"/>
              </a:p>
              <a:p>
                <a:pPr>
                  <a:buNone/>
                </a:pPr>
                <a:r>
                  <a:rPr lang="en-US" dirty="0" smtClean="0"/>
                  <a:t>The value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smtClean="0"/>
                  <a:t>) represents the conditional mean of wages when the variable female = </a:t>
                </a:r>
                <a:r>
                  <a:rPr lang="en-US" dirty="0" smtClean="0"/>
                  <a:t>1, which is true when we’re considering the subsample of </a:t>
                </a:r>
                <a:r>
                  <a:rPr lang="en-US" u="sng" dirty="0" smtClean="0"/>
                  <a:t>women</a:t>
                </a:r>
                <a:r>
                  <a:rPr lang="en-US" dirty="0" smtClean="0"/>
                  <a:t>, so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smtClean="0"/>
                  <a:t>) </a:t>
                </a:r>
                <a:r>
                  <a:rPr lang="en-US" dirty="0" smtClean="0"/>
                  <a:t>= 17.</a:t>
                </a:r>
                <a:endParaRPr lang="en-US" u="sng"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1507"/>
                </a:stretch>
              </a:blipFill>
            </p:spPr>
            <p:txBody>
              <a:bodyPr/>
              <a:lstStyle/>
              <a:p>
                <a:r>
                  <a:rPr lang="en-US">
                    <a:noFill/>
                  </a:rPr>
                  <a:t> </a:t>
                </a:r>
              </a:p>
            </p:txBody>
          </p:sp>
        </mc:Fallback>
      </mc:AlternateContent>
    </p:spTree>
    <p:extLst>
      <p:ext uri="{BB962C8B-B14F-4D97-AF65-F5344CB8AC3E}">
        <p14:creationId xmlns:p14="http://schemas.microsoft.com/office/powerpoint/2010/main" val="1167265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Baseline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marL="0" indent="0">
                  <a:buNone/>
                </a:pPr>
                <a:r>
                  <a:rPr lang="en-US" dirty="0" smtClean="0"/>
                  <a:t>So we figured out that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r>
                      <a:rPr lang="en-US" b="0" i="1" smtClean="0">
                        <a:latin typeface="Cambria Math" panose="02040503050406030204" pitchFamily="18" charset="0"/>
                      </a:rPr>
                      <m:t>=−3</m:t>
                    </m:r>
                  </m:oMath>
                </a14:m>
                <a:r>
                  <a:rPr lang="en-US" dirty="0" smtClean="0"/>
                  <a:t> and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20</m:t>
                    </m:r>
                  </m:oMath>
                </a14:m>
                <a:r>
                  <a:rPr lang="en-US" dirty="0" smtClean="0"/>
                  <a:t>.  And what did this imply?  Two things:</a:t>
                </a:r>
              </a:p>
              <a:p>
                <a:pPr marL="514350" indent="-514350">
                  <a:buAutoNum type="arabicParenBoth"/>
                </a:pPr>
                <a:r>
                  <a:rPr lang="en-US" dirty="0" smtClean="0"/>
                  <a:t>The intercept,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represents the average wage for the omitted reference category.</a:t>
                </a:r>
              </a:p>
              <a:p>
                <a:pPr marL="514350" indent="-514350">
                  <a:buAutoNum type="arabicParenBoth"/>
                </a:pPr>
                <a:r>
                  <a:rPr lang="en-US" dirty="0" smtClean="0"/>
                  <a:t>The coefficient on the dummy variable represents the relative difference in average wages between the group identified by the dummy variable (women) and the omitted reference category.</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1821" r="-2261"/>
                </a:stretch>
              </a:blipFill>
            </p:spPr>
            <p:txBody>
              <a:bodyPr/>
              <a:lstStyle/>
              <a:p>
                <a:r>
                  <a:rPr lang="en-US">
                    <a:noFill/>
                  </a:rPr>
                  <a:t> </a:t>
                </a:r>
              </a:p>
            </p:txBody>
          </p:sp>
        </mc:Fallback>
      </mc:AlternateContent>
    </p:spTree>
    <p:extLst>
      <p:ext uri="{BB962C8B-B14F-4D97-AF65-F5344CB8AC3E}">
        <p14:creationId xmlns:p14="http://schemas.microsoft.com/office/powerpoint/2010/main" val="539001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But now suppose that we wanted to consider a more nuanced case.  Suppose that we worried that the firm is underpaying red-haired women a lot more than other women.  And suppose that we use a pivot table in Excel to compute the following average wages:</a:t>
            </a:r>
            <a:endParaRPr lang="en-US" dirty="0"/>
          </a:p>
          <a:p>
            <a:pPr marL="0" indent="0">
              <a:buNone/>
            </a:pPr>
            <a:endParaRPr lang="en-US" dirty="0" smtClean="0"/>
          </a:p>
          <a:p>
            <a:pPr marL="0" indent="0">
              <a:buNone/>
            </a:pPr>
            <a:endParaRPr lang="en-US" dirty="0"/>
          </a:p>
          <a:p>
            <a:pPr marL="0" indent="0">
              <a:buNone/>
            </a:pPr>
            <a:r>
              <a:rPr lang="en-US" dirty="0" smtClean="0"/>
              <a:t>Note that the average wage for ALL women is still $17 – it’s just that red-haired women appear to earn less relative to non-red-haired women</a:t>
            </a:r>
          </a:p>
        </p:txBody>
      </p:sp>
      <p:graphicFrame>
        <p:nvGraphicFramePr>
          <p:cNvPr id="4" name="Table 3"/>
          <p:cNvGraphicFramePr>
            <a:graphicFrameLocks noGrp="1"/>
          </p:cNvGraphicFramePr>
          <p:nvPr>
            <p:extLst>
              <p:ext uri="{D42A27DB-BD31-4B8C-83A1-F6EECF244321}">
                <p14:modId xmlns:p14="http://schemas.microsoft.com/office/powerpoint/2010/main" val="3795279184"/>
              </p:ext>
            </p:extLst>
          </p:nvPr>
        </p:nvGraphicFramePr>
        <p:xfrm>
          <a:off x="1948873" y="3445034"/>
          <a:ext cx="8128000" cy="1112520"/>
        </p:xfrm>
        <a:graphic>
          <a:graphicData uri="http://schemas.openxmlformats.org/drawingml/2006/table">
            <a:tbl>
              <a:tblPr firstRow="1" bandRow="1">
                <a:tableStyleId>{5940675A-B579-460E-94D1-54222C63F5DA}</a:tableStyleId>
              </a:tblPr>
              <a:tblGrid>
                <a:gridCol w="4649354">
                  <a:extLst>
                    <a:ext uri="{9D8B030D-6E8A-4147-A177-3AD203B41FA5}">
                      <a16:colId xmlns:a16="http://schemas.microsoft.com/office/drawing/2014/main" val="3930951190"/>
                    </a:ext>
                  </a:extLst>
                </a:gridCol>
                <a:gridCol w="3478646">
                  <a:extLst>
                    <a:ext uri="{9D8B030D-6E8A-4147-A177-3AD203B41FA5}">
                      <a16:colId xmlns:a16="http://schemas.microsoft.com/office/drawing/2014/main" val="3667256649"/>
                    </a:ext>
                  </a:extLst>
                </a:gridCol>
              </a:tblGrid>
              <a:tr h="370840">
                <a:tc>
                  <a:txBody>
                    <a:bodyPr/>
                    <a:lstStyle/>
                    <a:p>
                      <a:r>
                        <a:rPr lang="en-US" dirty="0" smtClean="0"/>
                        <a:t>Average wages for men</a:t>
                      </a:r>
                      <a:endParaRPr lang="en-US" dirty="0"/>
                    </a:p>
                  </a:txBody>
                  <a:tcPr/>
                </a:tc>
                <a:tc>
                  <a:txBody>
                    <a:bodyPr/>
                    <a:lstStyle/>
                    <a:p>
                      <a:r>
                        <a:rPr lang="en-US" dirty="0" smtClean="0"/>
                        <a:t>$20</a:t>
                      </a:r>
                      <a:endParaRPr lang="en-US" dirty="0"/>
                    </a:p>
                  </a:txBody>
                  <a:tcPr/>
                </a:tc>
                <a:extLst>
                  <a:ext uri="{0D108BD9-81ED-4DB2-BD59-A6C34878D82A}">
                    <a16:rowId xmlns:a16="http://schemas.microsoft.com/office/drawing/2014/main" val="2063439520"/>
                  </a:ext>
                </a:extLst>
              </a:tr>
              <a:tr h="370840">
                <a:tc>
                  <a:txBody>
                    <a:bodyPr/>
                    <a:lstStyle/>
                    <a:p>
                      <a:r>
                        <a:rPr lang="en-US" dirty="0" smtClean="0"/>
                        <a:t>Average</a:t>
                      </a:r>
                      <a:r>
                        <a:rPr lang="en-US" baseline="0" dirty="0" smtClean="0"/>
                        <a:t> wages for red-haired women</a:t>
                      </a:r>
                      <a:endParaRPr lang="en-US" dirty="0"/>
                    </a:p>
                  </a:txBody>
                  <a:tcPr/>
                </a:tc>
                <a:tc>
                  <a:txBody>
                    <a:bodyPr/>
                    <a:lstStyle/>
                    <a:p>
                      <a:r>
                        <a:rPr lang="en-US" dirty="0" smtClean="0"/>
                        <a:t>$15</a:t>
                      </a:r>
                      <a:endParaRPr lang="en-US" dirty="0"/>
                    </a:p>
                  </a:txBody>
                  <a:tcPr/>
                </a:tc>
                <a:extLst>
                  <a:ext uri="{0D108BD9-81ED-4DB2-BD59-A6C34878D82A}">
                    <a16:rowId xmlns:a16="http://schemas.microsoft.com/office/drawing/2014/main" val="180942567"/>
                  </a:ext>
                </a:extLst>
              </a:tr>
              <a:tr h="370840">
                <a:tc>
                  <a:txBody>
                    <a:bodyPr/>
                    <a:lstStyle/>
                    <a:p>
                      <a:r>
                        <a:rPr lang="en-US" dirty="0" smtClean="0"/>
                        <a:t>Average wages for non-red-haired women</a:t>
                      </a:r>
                      <a:endParaRPr lang="en-US" dirty="0"/>
                    </a:p>
                  </a:txBody>
                  <a:tcPr/>
                </a:tc>
                <a:tc>
                  <a:txBody>
                    <a:bodyPr/>
                    <a:lstStyle/>
                    <a:p>
                      <a:r>
                        <a:rPr lang="en-US" dirty="0" smtClean="0"/>
                        <a:t>$18</a:t>
                      </a:r>
                      <a:endParaRPr lang="en-US" dirty="0"/>
                    </a:p>
                  </a:txBody>
                  <a:tcPr/>
                </a:tc>
                <a:extLst>
                  <a:ext uri="{0D108BD9-81ED-4DB2-BD59-A6C34878D82A}">
                    <a16:rowId xmlns:a16="http://schemas.microsoft.com/office/drawing/2014/main" val="4257352981"/>
                  </a:ext>
                </a:extLst>
              </a:tr>
            </a:tbl>
          </a:graphicData>
        </a:graphic>
      </p:graphicFrame>
    </p:spTree>
    <p:extLst>
      <p:ext uri="{BB962C8B-B14F-4D97-AF65-F5344CB8AC3E}">
        <p14:creationId xmlns:p14="http://schemas.microsoft.com/office/powerpoint/2010/main" val="2925852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Wow – what does our firm have against red-haired women?  Well, to properly investigate this, we’d need to use a regression.  And our instincts may tell us that we can use dummy variables here, too, but how would could we do that?  Well, we’d need to specify two new dummy variables:</a:t>
            </a:r>
          </a:p>
          <a:p>
            <a:pPr marL="514350" indent="-514350">
              <a:buAutoNum type="arabicParenBoth"/>
            </a:pPr>
            <a:r>
              <a:rPr lang="en-US" dirty="0" smtClean="0"/>
              <a:t>“RH Female” is equal to one if the person is a red-haired female, and zero if she is EITHER a man OR a non-red-haired female</a:t>
            </a:r>
          </a:p>
          <a:p>
            <a:pPr marL="514350" indent="-514350">
              <a:buFont typeface="Arial" panose="020B0604020202020204" pitchFamily="34" charset="0"/>
              <a:buAutoNum type="arabicParenBoth"/>
            </a:pPr>
            <a:r>
              <a:rPr lang="en-US" dirty="0" smtClean="0"/>
              <a:t>“NRH Female” is equal to one if the person is a non-red-haired female, and zero if she is EITHER a man OR a red-haired female</a:t>
            </a:r>
          </a:p>
          <a:p>
            <a:pPr marL="514350" indent="-514350">
              <a:buAutoNum type="arabicParenBoth"/>
            </a:pPr>
            <a:endParaRPr lang="en-US" dirty="0" smtClean="0"/>
          </a:p>
        </p:txBody>
      </p:sp>
    </p:spTree>
    <p:extLst>
      <p:ext uri="{BB962C8B-B14F-4D97-AF65-F5344CB8AC3E}">
        <p14:creationId xmlns:p14="http://schemas.microsoft.com/office/powerpoint/2010/main" val="2187330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marL="0" indent="0">
                  <a:buNone/>
                </a:pPr>
                <a:r>
                  <a:rPr lang="en-US" dirty="0" smtClean="0"/>
                  <a:t>And with these two new dummy variables in hand, we’d estimate the following regression:</a:t>
                </a:r>
              </a:p>
              <a:p>
                <a:pPr marL="0" indent="0">
                  <a:buNone/>
                </a:pPr>
                <a:endParaRPr lang="en-US" dirty="0" smtClean="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oMath>
                  </m:oMathPara>
                </a14:m>
                <a:endParaRPr lang="en-US" dirty="0" smtClean="0"/>
              </a:p>
              <a:p>
                <a:pPr marL="0" indent="0">
                  <a:buNone/>
                </a:pPr>
                <a:endParaRPr lang="en-US" dirty="0" smtClean="0"/>
              </a:p>
              <a:p>
                <a:pPr marL="0" indent="0">
                  <a:buNone/>
                </a:pPr>
                <a:r>
                  <a:rPr lang="en-US" dirty="0" smtClean="0"/>
                  <a:t>And although the interpretation of this regression is not obvious, let’s use a conditional mean discussion to figure it out.</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132840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u="sng" dirty="0" smtClean="0"/>
                  <a:t>Average wages for men (or, the average wages </a:t>
                </a:r>
                <a:r>
                  <a:rPr lang="en-US" b="1" i="1" u="sng" dirty="0" smtClean="0"/>
                  <a:t>conditional</a:t>
                </a:r>
                <a:r>
                  <a:rPr lang="en-US" b="1" u="sng" dirty="0" smtClean="0"/>
                  <a:t> on being a male):</a:t>
                </a:r>
                <a:r>
                  <a:rPr lang="en-US" dirty="0" smtClean="0"/>
                  <a:t> </a:t>
                </a:r>
                <a:endParaRPr lang="en-US" dirty="0" smtClean="0"/>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oMath>
                  </m:oMathPara>
                </a14:m>
                <a:endParaRPr lang="en-US" dirty="0" smtClean="0"/>
              </a:p>
              <a:p>
                <a:pPr>
                  <a:buNone/>
                </a:pPr>
                <a:r>
                  <a:rPr lang="en-US" dirty="0" smtClean="0"/>
                  <a:t>Here’s some good news!  As it was with the “baseline case”,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a:t>
                </a:r>
                <a:r>
                  <a:rPr lang="en-US" dirty="0" smtClean="0"/>
                  <a:t>again represents the average wage for men, since it’s the conditional mean when all variables representing women (both “RH Female” and “NRH Female”) are equal to zero, so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 20.</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522"/>
                </a:stretch>
              </a:blipFill>
            </p:spPr>
            <p:txBody>
              <a:bodyPr/>
              <a:lstStyle/>
              <a:p>
                <a:r>
                  <a:rPr lang="en-US">
                    <a:noFill/>
                  </a:rPr>
                  <a:t> </a:t>
                </a:r>
              </a:p>
            </p:txBody>
          </p:sp>
        </mc:Fallback>
      </mc:AlternateContent>
    </p:spTree>
    <p:extLst>
      <p:ext uri="{BB962C8B-B14F-4D97-AF65-F5344CB8AC3E}">
        <p14:creationId xmlns:p14="http://schemas.microsoft.com/office/powerpoint/2010/main" val="268207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u="sng" dirty="0" smtClean="0"/>
                  <a:t>Average wages for red-haired </a:t>
                </a:r>
                <a:r>
                  <a:rPr lang="en-US" b="1" u="sng" dirty="0" smtClean="0"/>
                  <a:t>wo</a:t>
                </a:r>
                <a:r>
                  <a:rPr lang="en-US" b="1" u="sng" dirty="0" smtClean="0"/>
                  <a:t>men (or, the average wages </a:t>
                </a:r>
                <a:r>
                  <a:rPr lang="en-US" b="1" i="1" u="sng" dirty="0" smtClean="0"/>
                  <a:t>conditional</a:t>
                </a:r>
                <a:r>
                  <a:rPr lang="en-US" b="1" u="sng" dirty="0" smtClean="0"/>
                  <a:t> on being a red-haired female):</a:t>
                </a:r>
                <a:r>
                  <a:rPr lang="en-US" dirty="0" smtClean="0"/>
                  <a:t> </a:t>
                </a:r>
                <a:endParaRPr lang="en-US" dirty="0" smtClean="0"/>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m:oMathPara>
                </a14:m>
                <a:endParaRPr lang="en-US" dirty="0" smtClean="0"/>
              </a:p>
              <a:p>
                <a:pPr>
                  <a:buNone/>
                </a:pPr>
                <a:r>
                  <a:rPr lang="en-US" dirty="0" smtClean="0"/>
                  <a:t>This looks somewhat similar to the “baseline case”, but now, there’s a small difference.  In this case, </a:t>
                </a:r>
                <a14:m>
                  <m:oMath xmlns:m="http://schemas.openxmlformats.org/officeDocument/2006/math">
                    <m:d>
                      <m:dPr>
                        <m:ctrlPr>
                          <a:rPr lang="en-US" b="0" i="0"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e>
                    </m:d>
                  </m:oMath>
                </a14:m>
                <a:r>
                  <a:rPr lang="en-US" dirty="0" smtClean="0"/>
                  <a:t> represents the average wage for Red-Haired females (whereas before, this total represented the average wage for </a:t>
                </a:r>
                <a:r>
                  <a:rPr lang="en-US" u="sng" dirty="0" smtClean="0"/>
                  <a:t>all</a:t>
                </a:r>
                <a:r>
                  <a:rPr lang="en-US" dirty="0" smtClean="0"/>
                  <a:t> females)</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696"/>
                </a:stretch>
              </a:blipFill>
            </p:spPr>
            <p:txBody>
              <a:bodyPr/>
              <a:lstStyle/>
              <a:p>
                <a:r>
                  <a:rPr lang="en-US">
                    <a:noFill/>
                  </a:rPr>
                  <a:t> </a:t>
                </a:r>
              </a:p>
            </p:txBody>
          </p:sp>
        </mc:Fallback>
      </mc:AlternateContent>
    </p:spTree>
    <p:extLst>
      <p:ext uri="{BB962C8B-B14F-4D97-AF65-F5344CB8AC3E}">
        <p14:creationId xmlns:p14="http://schemas.microsoft.com/office/powerpoint/2010/main" val="3590880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dirty="0" smtClean="0"/>
                  <a:t>And since red-haired women earn $15 on average, then:</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→15=</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m:oMathPara>
                </a14:m>
                <a:endParaRPr lang="en-US" dirty="0" smtClean="0"/>
              </a:p>
              <a:p>
                <a:pPr>
                  <a:buNone/>
                </a:pPr>
                <a:r>
                  <a:rPr lang="en-US" dirty="0" smtClean="0"/>
                  <a:t>And since we know that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 </a:t>
                </a:r>
                <a:r>
                  <a:rPr lang="en-US" dirty="0" smtClean="0"/>
                  <a:t>20, then:</a:t>
                </a:r>
                <a:endParaRPr lang="en-US" dirty="0" smtClean="0"/>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→15=20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m:oMathPara>
                </a14:m>
                <a:endParaRPr lang="en-US" dirty="0" smtClean="0"/>
              </a:p>
              <a:p>
                <a:pPr>
                  <a:buNone/>
                </a:pPr>
                <a:r>
                  <a:rPr lang="en-US" dirty="0" smtClean="0"/>
                  <a:t>So what does this coefficient represent?  The difference in average wages for red-haired women relative to men (</a:t>
                </a:r>
                <a:r>
                  <a:rPr lang="en-US" u="sng" dirty="0" smtClean="0"/>
                  <a:t>the omitted reference category</a:t>
                </a:r>
                <a:r>
                  <a:rPr lang="en-US" dirty="0" smtClean="0"/>
                  <a:t>)</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673474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u="sng" dirty="0" smtClean="0"/>
                  <a:t>Average wages for </a:t>
                </a:r>
                <a:r>
                  <a:rPr lang="en-US" b="1" u="sng" dirty="0" smtClean="0"/>
                  <a:t>non-</a:t>
                </a:r>
                <a:r>
                  <a:rPr lang="en-US" b="1" u="sng" dirty="0" smtClean="0"/>
                  <a:t>red-haired </a:t>
                </a:r>
                <a:r>
                  <a:rPr lang="en-US" b="1" u="sng" dirty="0" smtClean="0"/>
                  <a:t>wo</a:t>
                </a:r>
                <a:r>
                  <a:rPr lang="en-US" b="1" u="sng" dirty="0" smtClean="0"/>
                  <a:t>men (or, the average wages </a:t>
                </a:r>
                <a:r>
                  <a:rPr lang="en-US" b="1" i="1" u="sng" dirty="0" smtClean="0"/>
                  <a:t>conditional</a:t>
                </a:r>
                <a:r>
                  <a:rPr lang="en-US" b="1" u="sng" dirty="0" smtClean="0"/>
                  <a:t> on being a non-red-haired female):</a:t>
                </a:r>
                <a:r>
                  <a:rPr lang="en-US" dirty="0" smtClean="0"/>
                  <a:t> </a:t>
                </a:r>
                <a:endParaRPr lang="en-US" dirty="0" smtClean="0"/>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𝑁𝑅𝐻</m:t>
                          </m:r>
                          <m:r>
                            <a:rPr lang="en-US" b="0" i="1" smtClean="0">
                              <a:latin typeface="Cambria Math" panose="02040503050406030204" pitchFamily="18" charset="0"/>
                            </a:rPr>
                            <m:t> </m:t>
                          </m:r>
                          <m:r>
                            <a:rPr lang="en-US" b="0" i="1" smtClean="0">
                              <a:latin typeface="Cambria Math" panose="02040503050406030204" pitchFamily="18" charset="0"/>
                            </a:rPr>
                            <m:t>𝐹𝑒𝑚𝑎𝑙𝑒</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m:oMathPara>
                </a14:m>
                <a:endParaRPr lang="en-US" dirty="0" smtClean="0"/>
              </a:p>
              <a:p>
                <a:pPr>
                  <a:buNone/>
                </a:pPr>
                <a:r>
                  <a:rPr lang="en-US" dirty="0" smtClean="0"/>
                  <a:t>Given our work with red-haired women, the interpretation of this result is clear. In this case, </a:t>
                </a:r>
                <a14:m>
                  <m:oMath xmlns:m="http://schemas.openxmlformats.org/officeDocument/2006/math">
                    <m:d>
                      <m:dPr>
                        <m:ctrlPr>
                          <a:rPr lang="en-US" b="0" i="0"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e>
                    </m:d>
                  </m:oMath>
                </a14:m>
                <a:r>
                  <a:rPr lang="en-US" dirty="0" smtClean="0"/>
                  <a:t> represents the average wage for Non-Red-Haired females.  </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1913"/>
                </a:stretch>
              </a:blipFill>
            </p:spPr>
            <p:txBody>
              <a:bodyPr/>
              <a:lstStyle/>
              <a:p>
                <a:r>
                  <a:rPr lang="en-US">
                    <a:noFill/>
                  </a:rPr>
                  <a:t> </a:t>
                </a:r>
              </a:p>
            </p:txBody>
          </p:sp>
        </mc:Fallback>
      </mc:AlternateContent>
    </p:spTree>
    <p:extLst>
      <p:ext uri="{BB962C8B-B14F-4D97-AF65-F5344CB8AC3E}">
        <p14:creationId xmlns:p14="http://schemas.microsoft.com/office/powerpoint/2010/main" val="871685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dirty="0" smtClean="0"/>
                  <a:t>But what does the numerical value of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a14:m>
                <a:r>
                  <a:rPr lang="en-US" dirty="0" smtClean="0"/>
                  <a:t> represent?  Well, since non-red-haired women earn $18 on average, then:</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8</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m:oMathPara>
                </a14:m>
                <a:endParaRPr lang="en-US" dirty="0" smtClean="0"/>
              </a:p>
              <a:p>
                <a:pPr>
                  <a:buNone/>
                </a:pPr>
                <a:r>
                  <a:rPr lang="en-US" dirty="0" smtClean="0"/>
                  <a:t>And since we know that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 20, then:</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8</m:t>
                      </m:r>
                      <m:r>
                        <a:rPr lang="en-US" b="0" i="1" smtClean="0">
                          <a:latin typeface="Cambria Math" panose="02040503050406030204" pitchFamily="18" charset="0"/>
                        </a:rPr>
                        <m:t>=20+</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m:oMathPara>
                </a14:m>
                <a:endParaRPr lang="en-US" b="0" i="1" dirty="0" smtClean="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m:oMathPara>
                </a14:m>
                <a:endParaRPr lang="en-US" dirty="0" smtClean="0"/>
              </a:p>
              <a:p>
                <a:pPr>
                  <a:buNone/>
                </a:pPr>
                <a:r>
                  <a:rPr lang="en-US" dirty="0" smtClean="0"/>
                  <a:t>So what does this coefficient represent?  The difference in average wages for </a:t>
                </a:r>
                <a:r>
                  <a:rPr lang="en-US" dirty="0" smtClean="0"/>
                  <a:t>non-red-haired </a:t>
                </a:r>
                <a:r>
                  <a:rPr lang="en-US" dirty="0" smtClean="0"/>
                  <a:t>women relative to men (</a:t>
                </a:r>
                <a:r>
                  <a:rPr lang="en-US" u="sng" dirty="0" smtClean="0"/>
                  <a:t>the omitted reference category</a:t>
                </a:r>
                <a:r>
                  <a:rPr lang="en-US" dirty="0" smtClean="0"/>
                  <a:t>)</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1821" b="-2941"/>
                </a:stretch>
              </a:blipFill>
            </p:spPr>
            <p:txBody>
              <a:bodyPr/>
              <a:lstStyle/>
              <a:p>
                <a:r>
                  <a:rPr lang="en-US">
                    <a:noFill/>
                  </a:rPr>
                  <a:t> </a:t>
                </a:r>
              </a:p>
            </p:txBody>
          </p:sp>
        </mc:Fallback>
      </mc:AlternateContent>
    </p:spTree>
    <p:extLst>
      <p:ext uri="{BB962C8B-B14F-4D97-AF65-F5344CB8AC3E}">
        <p14:creationId xmlns:p14="http://schemas.microsoft.com/office/powerpoint/2010/main" val="3588694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Advanced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dirty="0" smtClean="0"/>
                  <a:t>Why is this nice?  We were able to compute the difference in wages between the three groups by using men as the omitted reference category, and then comparing the two groups of women to men (and we computed these differences by obtaining the values of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a14:m>
                <a:r>
                  <a:rPr lang="en-US" dirty="0" smtClean="0"/>
                  <a:t> and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a14:m>
                <a:r>
                  <a:rPr lang="en-US" dirty="0" smtClean="0"/>
                  <a:t>).</a:t>
                </a:r>
              </a:p>
              <a:p>
                <a:pPr>
                  <a:buNone/>
                </a:pPr>
                <a:endParaRPr lang="en-US" dirty="0"/>
              </a:p>
              <a:p>
                <a:pPr>
                  <a:buNone/>
                </a:pPr>
                <a:r>
                  <a:rPr lang="en-US" dirty="0" smtClean="0"/>
                  <a:t>And the REALLY nice part of this analysis is that we can perform hypothesis tests on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a14:m>
                <a:r>
                  <a:rPr lang="en-US" dirty="0" smtClean="0"/>
                  <a:t> and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a14:m>
                <a:r>
                  <a:rPr lang="en-US" dirty="0" smtClean="0"/>
                  <a:t> to determine whether or not the difference is zero or non-zero.</a:t>
                </a: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522"/>
                </a:stretch>
              </a:blipFill>
            </p:spPr>
            <p:txBody>
              <a:bodyPr/>
              <a:lstStyle/>
              <a:p>
                <a:r>
                  <a:rPr lang="en-US">
                    <a:noFill/>
                  </a:rPr>
                  <a:t> </a:t>
                </a:r>
              </a:p>
            </p:txBody>
          </p:sp>
        </mc:Fallback>
      </mc:AlternateContent>
    </p:spTree>
    <p:extLst>
      <p:ext uri="{BB962C8B-B14F-4D97-AF65-F5344CB8AC3E}">
        <p14:creationId xmlns:p14="http://schemas.microsoft.com/office/powerpoint/2010/main" val="278184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most advanced, flexible case</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This case can be generalized to compare </a:t>
            </a:r>
            <a:r>
              <a:rPr lang="en-US" b="1" u="sng" dirty="0" smtClean="0"/>
              <a:t>as many different groups as you would like</a:t>
            </a:r>
            <a:r>
              <a:rPr lang="en-US" dirty="0" smtClean="0"/>
              <a:t>.  For instance, suppose that you wanted to compare the wages of ten different groups of workers (or, even, ten individual workers).  Then we would set up nine different dummy variables:</a:t>
            </a:r>
          </a:p>
          <a:p>
            <a:pPr marL="514350" indent="-514350">
              <a:buAutoNum type="arabicParenBoth"/>
            </a:pPr>
            <a:r>
              <a:rPr lang="en-US" dirty="0" smtClean="0"/>
              <a:t>“Group1” is equal to one if the data pertains to the first group, and zero otherwise</a:t>
            </a:r>
          </a:p>
          <a:p>
            <a:pPr marL="514350" indent="-514350">
              <a:buFont typeface="Arial" panose="020B0604020202020204" pitchFamily="34" charset="0"/>
              <a:buAutoNum type="arabicParenBoth"/>
            </a:pPr>
            <a:r>
              <a:rPr lang="en-US" dirty="0" smtClean="0"/>
              <a:t>“Group2” is equal to one if the data pertains to the second group, and zero otherwise</a:t>
            </a:r>
          </a:p>
          <a:p>
            <a:pPr marL="0" indent="0">
              <a:buNone/>
            </a:pPr>
            <a:r>
              <a:rPr lang="en-US" dirty="0" smtClean="0"/>
              <a:t>…</a:t>
            </a:r>
          </a:p>
          <a:p>
            <a:pPr marL="0" indent="0">
              <a:buNone/>
            </a:pPr>
            <a:r>
              <a:rPr lang="en-US" dirty="0" smtClean="0"/>
              <a:t>(9) “Group9” is equal to one if the data pertains to the ninth group, and zero otherwise</a:t>
            </a:r>
            <a:endParaRPr lang="en-US" dirty="0"/>
          </a:p>
        </p:txBody>
      </p:sp>
    </p:spTree>
    <p:extLst>
      <p:ext uri="{BB962C8B-B14F-4D97-AF65-F5344CB8AC3E}">
        <p14:creationId xmlns:p14="http://schemas.microsoft.com/office/powerpoint/2010/main" val="4194217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most advanced, flexible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marL="0" indent="0">
                  <a:buNone/>
                </a:pPr>
                <a:r>
                  <a:rPr lang="en-US" dirty="0" smtClean="0"/>
                  <a:t>The regression we’d use in this case is:</a:t>
                </a:r>
              </a:p>
              <a:p>
                <a:pPr marL="0" indent="0">
                  <a:buNone/>
                </a:pPr>
                <a:endParaRPr lang="en-US" dirty="0" smtClean="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𝐺𝑟𝑜𝑢𝑝</m:t>
                          </m:r>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𝐺𝑟𝑜𝑢𝑝</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9</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𝐺𝑟𝑜𝑢𝑝</m:t>
                          </m:r>
                          <m:r>
                            <a:rPr lang="en-US" b="0" i="1" smtClean="0">
                              <a:latin typeface="Cambria Math" panose="02040503050406030204" pitchFamily="18" charset="0"/>
                            </a:rPr>
                            <m:t>9</m:t>
                          </m:r>
                        </m:e>
                      </m:d>
                    </m:oMath>
                  </m:oMathPara>
                </a14:m>
                <a:endParaRPr lang="en-US" b="0" i="1" dirty="0" smtClean="0">
                  <a:latin typeface="Cambria Math" panose="02040503050406030204" pitchFamily="18" charset="0"/>
                </a:endParaRPr>
              </a:p>
              <a:p>
                <a:pPr marL="0" indent="0">
                  <a:buNone/>
                </a:pPr>
                <a:endParaRPr lang="en-US" dirty="0" smtClean="0"/>
              </a:p>
              <a:p>
                <a:pPr marL="0" indent="0">
                  <a:buNone/>
                </a:pPr>
                <a:r>
                  <a:rPr lang="en-US" dirty="0" smtClean="0"/>
                  <a:t>And what do the coefficients represent?</a:t>
                </a:r>
              </a:p>
              <a:p>
                <a:pPr marL="0" indent="0">
                  <a:buNone/>
                </a:pPr>
                <a:endParaRPr lang="en-US" dirty="0"/>
              </a:p>
              <a:p>
                <a:pPr marL="0" indent="0">
                  <a:buNone/>
                </a:pPr>
                <a:r>
                  <a:rPr lang="en-US" dirty="0" smtClean="0"/>
                  <a:t>The logic is the same as before</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422248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most advanced, flexible case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marL="0" indent="0">
                  <a:buNone/>
                </a:pPr>
                <a:r>
                  <a:rPr lang="en-US" b="0" dirty="0" smtClean="0"/>
                  <a:t>(1)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smtClean="0"/>
                  <a:t> represents the average wage of the omitted reference group</a:t>
                </a:r>
              </a:p>
              <a:p>
                <a:pPr marL="0" indent="0">
                  <a:buNone/>
                </a:pPr>
                <a:r>
                  <a:rPr lang="en-US" dirty="0" smtClean="0"/>
                  <a:t>(2)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1</m:t>
                        </m:r>
                      </m:sub>
                    </m:sSub>
                  </m:oMath>
                </a14:m>
                <a:r>
                  <a:rPr lang="en-US" dirty="0" smtClean="0"/>
                  <a:t> represents the difference in average wages between group 1 and the omitted reference group</a:t>
                </a:r>
              </a:p>
              <a:p>
                <a:pPr marL="0" indent="0">
                  <a:buNone/>
                </a:pPr>
                <a:r>
                  <a:rPr lang="en-US" dirty="0" smtClean="0"/>
                  <a:t>(3)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2</m:t>
                        </m:r>
                      </m:sub>
                    </m:sSub>
                  </m:oMath>
                </a14:m>
                <a:r>
                  <a:rPr lang="en-US" dirty="0" smtClean="0"/>
                  <a:t> represents the difference in average wages between group </a:t>
                </a:r>
                <a:r>
                  <a:rPr lang="en-US" dirty="0" smtClean="0"/>
                  <a:t>2 </a:t>
                </a:r>
                <a:r>
                  <a:rPr lang="en-US" dirty="0" smtClean="0"/>
                  <a:t>and the omitted reference </a:t>
                </a:r>
                <a:r>
                  <a:rPr lang="en-US" dirty="0" smtClean="0"/>
                  <a:t>group</a:t>
                </a:r>
              </a:p>
              <a:p>
                <a:pPr marL="0" indent="0">
                  <a:buNone/>
                </a:pPr>
                <a:r>
                  <a:rPr lang="en-US" dirty="0" smtClean="0"/>
                  <a:t>…</a:t>
                </a:r>
              </a:p>
              <a:p>
                <a:pPr marL="0" indent="0">
                  <a:buNone/>
                </a:pPr>
                <a:r>
                  <a:rPr lang="en-US" dirty="0" smtClean="0"/>
                  <a:t>(10)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e>
                      <m:sub>
                        <m:r>
                          <a:rPr lang="en-US" b="0" i="1" smtClean="0">
                            <a:latin typeface="Cambria Math" panose="02040503050406030204" pitchFamily="18" charset="0"/>
                          </a:rPr>
                          <m:t>9</m:t>
                        </m:r>
                      </m:sub>
                    </m:sSub>
                  </m:oMath>
                </a14:m>
                <a:r>
                  <a:rPr lang="en-US" dirty="0" smtClean="0"/>
                  <a:t> represents the difference in average wages between group </a:t>
                </a:r>
                <a:r>
                  <a:rPr lang="en-US" dirty="0" smtClean="0"/>
                  <a:t>9 and </a:t>
                </a:r>
                <a:r>
                  <a:rPr lang="en-US" dirty="0" smtClean="0"/>
                  <a:t>the omitted reference group</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1821" r="-1101"/>
                </a:stretch>
              </a:blipFill>
            </p:spPr>
            <p:txBody>
              <a:bodyPr/>
              <a:lstStyle/>
              <a:p>
                <a:r>
                  <a:rPr lang="en-US">
                    <a:noFill/>
                  </a:rPr>
                  <a:t> </a:t>
                </a:r>
              </a:p>
            </p:txBody>
          </p:sp>
        </mc:Fallback>
      </mc:AlternateContent>
    </p:spTree>
    <p:extLst>
      <p:ext uri="{BB962C8B-B14F-4D97-AF65-F5344CB8AC3E}">
        <p14:creationId xmlns:p14="http://schemas.microsoft.com/office/powerpoint/2010/main" val="361823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most advanced, flexible case</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And as before, we can always test the null hypothesis that any of our coefficients are equal to zero.  If we reject this null, then the difference is not zero.  If we fail to reject this null, then the difference is (effectively) zero.</a:t>
            </a:r>
            <a:endParaRPr lang="en-US" dirty="0" smtClean="0"/>
          </a:p>
        </p:txBody>
      </p:sp>
    </p:spTree>
    <p:extLst>
      <p:ext uri="{BB962C8B-B14F-4D97-AF65-F5344CB8AC3E}">
        <p14:creationId xmlns:p14="http://schemas.microsoft.com/office/powerpoint/2010/main" val="523704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Big Point</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dirty="0" smtClean="0"/>
              <a:t>So what did this example show us?  </a:t>
            </a:r>
          </a:p>
          <a:p>
            <a:pPr marL="0" indent="0">
              <a:buNone/>
            </a:pPr>
            <a:endParaRPr lang="en-US" dirty="0"/>
          </a:p>
          <a:p>
            <a:pPr marL="0" indent="0">
              <a:buNone/>
            </a:pPr>
            <a:r>
              <a:rPr lang="en-US" dirty="0" smtClean="0"/>
              <a:t>If we have more than just two groups that we’d like to compare, it’s possible to use dummy variables to do it!</a:t>
            </a:r>
          </a:p>
          <a:p>
            <a:pPr marL="0" indent="0">
              <a:buNone/>
            </a:pPr>
            <a:endParaRPr lang="en-US" dirty="0"/>
          </a:p>
          <a:p>
            <a:pPr marL="0" indent="0">
              <a:buNone/>
            </a:pPr>
            <a:r>
              <a:rPr lang="en-US" dirty="0" smtClean="0"/>
              <a:t>What we do is set up dummy variables for all but one of the groups (who will be the omitted reference category and will have their average Y represented by the intercept term), and the coefficient on each dummy will represent the average difference in the left-hand-side variable between the omitted reference group and the group represented by the dummy variable.</a:t>
            </a:r>
            <a:endParaRPr lang="en-US" dirty="0"/>
          </a:p>
        </p:txBody>
      </p:sp>
    </p:spTree>
    <p:extLst>
      <p:ext uri="{BB962C8B-B14F-4D97-AF65-F5344CB8AC3E}">
        <p14:creationId xmlns:p14="http://schemas.microsoft.com/office/powerpoint/2010/main" val="1410581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857</Words>
  <Application>Microsoft Office PowerPoint</Application>
  <PresentationFormat>Widescreen</PresentationFormat>
  <Paragraphs>119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Cambria Math</vt:lpstr>
      <vt:lpstr>Wingdings</vt:lpstr>
      <vt:lpstr>Office Theme</vt:lpstr>
      <vt:lpstr>Using Dummy Variables  In Other Cases</vt:lpstr>
      <vt:lpstr>The Baseline Case</vt:lpstr>
      <vt:lpstr>The Baseline Case</vt:lpstr>
      <vt:lpstr>The Baseline Case</vt:lpstr>
      <vt:lpstr>The Baseline Case</vt:lpstr>
      <vt:lpstr>The Baseline Case</vt:lpstr>
      <vt:lpstr>The Baseline Case</vt:lpstr>
      <vt:lpstr>The Advanced Case</vt:lpstr>
      <vt:lpstr>The Advanced Case</vt:lpstr>
      <vt:lpstr>The Advanced Case</vt:lpstr>
      <vt:lpstr>The Advanced Case</vt:lpstr>
      <vt:lpstr>The Advanced Case</vt:lpstr>
      <vt:lpstr>The Advanced Case</vt:lpstr>
      <vt:lpstr>The Advanced Case</vt:lpstr>
      <vt:lpstr>The Advanced Case</vt:lpstr>
      <vt:lpstr>The Advanced Case</vt:lpstr>
      <vt:lpstr>The most advanced, flexible case</vt:lpstr>
      <vt:lpstr>The most advanced, flexible case</vt:lpstr>
      <vt:lpstr>The most advanced, flexible case</vt:lpstr>
      <vt:lpstr>The most advanced, flexible case</vt:lpstr>
      <vt:lpstr>The Big Point</vt:lpstr>
    </vt:vector>
  </TitlesOfParts>
  <Company>University of Toronto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Dummy Variables  In Other Cases</dc:title>
  <dc:creator>Harry Krashinsky</dc:creator>
  <cp:lastModifiedBy>Harry Krashinsky</cp:lastModifiedBy>
  <cp:revision>14</cp:revision>
  <dcterms:created xsi:type="dcterms:W3CDTF">2019-10-23T13:06:37Z</dcterms:created>
  <dcterms:modified xsi:type="dcterms:W3CDTF">2019-10-23T16:58:02Z</dcterms:modified>
</cp:coreProperties>
</file>