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02"/>
  </p:notesMasterIdLst>
  <p:sldIdLst>
    <p:sldId id="256" r:id="rId5"/>
    <p:sldId id="400" r:id="rId6"/>
    <p:sldId id="401" r:id="rId7"/>
    <p:sldId id="402" r:id="rId8"/>
    <p:sldId id="403" r:id="rId9"/>
    <p:sldId id="404" r:id="rId10"/>
    <p:sldId id="405" r:id="rId11"/>
    <p:sldId id="371" r:id="rId12"/>
    <p:sldId id="372" r:id="rId13"/>
    <p:sldId id="373" r:id="rId14"/>
    <p:sldId id="374" r:id="rId15"/>
    <p:sldId id="375" r:id="rId16"/>
    <p:sldId id="376" r:id="rId17"/>
    <p:sldId id="377" r:id="rId18"/>
    <p:sldId id="378" r:id="rId19"/>
    <p:sldId id="310" r:id="rId20"/>
    <p:sldId id="370" r:id="rId21"/>
    <p:sldId id="311" r:id="rId22"/>
    <p:sldId id="312" r:id="rId23"/>
    <p:sldId id="270" r:id="rId24"/>
    <p:sldId id="271" r:id="rId25"/>
    <p:sldId id="272" r:id="rId26"/>
    <p:sldId id="273" r:id="rId27"/>
    <p:sldId id="274" r:id="rId28"/>
    <p:sldId id="275" r:id="rId29"/>
    <p:sldId id="276" r:id="rId30"/>
    <p:sldId id="277" r:id="rId31"/>
    <p:sldId id="278" r:id="rId32"/>
    <p:sldId id="279" r:id="rId33"/>
    <p:sldId id="280" r:id="rId34"/>
    <p:sldId id="281" r:id="rId35"/>
    <p:sldId id="282" r:id="rId36"/>
    <p:sldId id="283" r:id="rId37"/>
    <p:sldId id="340" r:id="rId38"/>
    <p:sldId id="343" r:id="rId39"/>
    <p:sldId id="341" r:id="rId40"/>
    <p:sldId id="342" r:id="rId41"/>
    <p:sldId id="284" r:id="rId42"/>
    <p:sldId id="318" r:id="rId43"/>
    <p:sldId id="344" r:id="rId44"/>
    <p:sldId id="345" r:id="rId45"/>
    <p:sldId id="346" r:id="rId46"/>
    <p:sldId id="347" r:id="rId47"/>
    <p:sldId id="348" r:id="rId48"/>
    <p:sldId id="350" r:id="rId49"/>
    <p:sldId id="351" r:id="rId50"/>
    <p:sldId id="352" r:id="rId51"/>
    <p:sldId id="353" r:id="rId52"/>
    <p:sldId id="349" r:id="rId53"/>
    <p:sldId id="354" r:id="rId54"/>
    <p:sldId id="355" r:id="rId55"/>
    <p:sldId id="356" r:id="rId56"/>
    <p:sldId id="357" r:id="rId57"/>
    <p:sldId id="358" r:id="rId58"/>
    <p:sldId id="360" r:id="rId59"/>
    <p:sldId id="359" r:id="rId60"/>
    <p:sldId id="319" r:id="rId61"/>
    <p:sldId id="362" r:id="rId62"/>
    <p:sldId id="320" r:id="rId63"/>
    <p:sldId id="379" r:id="rId64"/>
    <p:sldId id="380" r:id="rId65"/>
    <p:sldId id="383" r:id="rId66"/>
    <p:sldId id="381" r:id="rId67"/>
    <p:sldId id="385" r:id="rId68"/>
    <p:sldId id="382" r:id="rId69"/>
    <p:sldId id="384" r:id="rId70"/>
    <p:sldId id="386" r:id="rId71"/>
    <p:sldId id="391" r:id="rId72"/>
    <p:sldId id="392" r:id="rId73"/>
    <p:sldId id="393" r:id="rId74"/>
    <p:sldId id="387" r:id="rId75"/>
    <p:sldId id="388" r:id="rId76"/>
    <p:sldId id="389" r:id="rId77"/>
    <p:sldId id="287" r:id="rId78"/>
    <p:sldId id="329" r:id="rId79"/>
    <p:sldId id="328" r:id="rId80"/>
    <p:sldId id="325" r:id="rId81"/>
    <p:sldId id="288" r:id="rId82"/>
    <p:sldId id="326" r:id="rId83"/>
    <p:sldId id="327" r:id="rId84"/>
    <p:sldId id="399" r:id="rId85"/>
    <p:sldId id="330" r:id="rId86"/>
    <p:sldId id="289" r:id="rId87"/>
    <p:sldId id="290" r:id="rId88"/>
    <p:sldId id="291" r:id="rId89"/>
    <p:sldId id="292" r:id="rId90"/>
    <p:sldId id="390" r:id="rId91"/>
    <p:sldId id="394" r:id="rId92"/>
    <p:sldId id="395" r:id="rId93"/>
    <p:sldId id="408" r:id="rId94"/>
    <p:sldId id="409" r:id="rId95"/>
    <p:sldId id="396" r:id="rId96"/>
    <p:sldId id="410" r:id="rId97"/>
    <p:sldId id="411" r:id="rId98"/>
    <p:sldId id="412" r:id="rId99"/>
    <p:sldId id="397" r:id="rId100"/>
    <p:sldId id="398" r:id="rId10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44" d="100"/>
          <a:sy n="44" d="100"/>
        </p:scale>
        <p:origin x="1056" y="32"/>
      </p:cViewPr>
      <p:guideLst>
        <p:guide orient="horz" pos="2160"/>
        <p:guide pos="2880"/>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slide" Target="slides/slide80.xml"/><Relationship Id="rId89" Type="http://schemas.openxmlformats.org/officeDocument/2006/relationships/slide" Target="slides/slide85.xml"/><Relationship Id="rId16" Type="http://schemas.openxmlformats.org/officeDocument/2006/relationships/slide" Target="slides/slide12.xml"/><Relationship Id="rId107" Type="http://schemas.microsoft.com/office/2016/11/relationships/changesInfo" Target="changesInfos/changesInfo1.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102" Type="http://schemas.openxmlformats.org/officeDocument/2006/relationships/notesMaster" Target="notesMasters/notesMaster1.xml"/><Relationship Id="rId5" Type="http://schemas.openxmlformats.org/officeDocument/2006/relationships/slide" Target="slides/slide1.xml"/><Relationship Id="rId90" Type="http://schemas.openxmlformats.org/officeDocument/2006/relationships/slide" Target="slides/slide86.xml"/><Relationship Id="rId95" Type="http://schemas.openxmlformats.org/officeDocument/2006/relationships/slide" Target="slides/slide91.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80" Type="http://schemas.openxmlformats.org/officeDocument/2006/relationships/slide" Target="slides/slide76.xml"/><Relationship Id="rId85" Type="http://schemas.openxmlformats.org/officeDocument/2006/relationships/slide" Target="slides/slide81.xml"/><Relationship Id="rId12" Type="http://schemas.openxmlformats.org/officeDocument/2006/relationships/slide" Target="slides/slide8.xml"/><Relationship Id="rId17" Type="http://schemas.openxmlformats.org/officeDocument/2006/relationships/slide" Target="slides/slide13.xml"/><Relationship Id="rId33" Type="http://schemas.openxmlformats.org/officeDocument/2006/relationships/slide" Target="slides/slide29.xml"/><Relationship Id="rId38" Type="http://schemas.openxmlformats.org/officeDocument/2006/relationships/slide" Target="slides/slide34.xml"/><Relationship Id="rId59" Type="http://schemas.openxmlformats.org/officeDocument/2006/relationships/slide" Target="slides/slide55.xml"/><Relationship Id="rId103" Type="http://schemas.openxmlformats.org/officeDocument/2006/relationships/presProps" Target="presProp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slide" Target="slides/slide79.xml"/><Relationship Id="rId88" Type="http://schemas.openxmlformats.org/officeDocument/2006/relationships/slide" Target="slides/slide84.xml"/><Relationship Id="rId91" Type="http://schemas.openxmlformats.org/officeDocument/2006/relationships/slide" Target="slides/slide87.xml"/><Relationship Id="rId96" Type="http://schemas.openxmlformats.org/officeDocument/2006/relationships/slide" Target="slides/slide92.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6" Type="http://schemas.openxmlformats.org/officeDocument/2006/relationships/tableStyles" Target="tableStyles.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slide" Target="slides/slide77.xml"/><Relationship Id="rId86" Type="http://schemas.openxmlformats.org/officeDocument/2006/relationships/slide" Target="slides/slide82.xml"/><Relationship Id="rId94" Type="http://schemas.openxmlformats.org/officeDocument/2006/relationships/slide" Target="slides/slide90.xml"/><Relationship Id="rId99" Type="http://schemas.openxmlformats.org/officeDocument/2006/relationships/slide" Target="slides/slide95.xml"/><Relationship Id="rId101" Type="http://schemas.openxmlformats.org/officeDocument/2006/relationships/slide" Target="slides/slide97.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slide" Target="slides/slide93.xml"/><Relationship Id="rId104" Type="http://schemas.openxmlformats.org/officeDocument/2006/relationships/viewProps" Target="viewProps.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slide" Target="slides/slide88.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61" Type="http://schemas.openxmlformats.org/officeDocument/2006/relationships/slide" Target="slides/slide57.xml"/><Relationship Id="rId82" Type="http://schemas.openxmlformats.org/officeDocument/2006/relationships/slide" Target="slides/slide78.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100" Type="http://schemas.openxmlformats.org/officeDocument/2006/relationships/slide" Target="slides/slide96.xml"/><Relationship Id="rId105" Type="http://schemas.openxmlformats.org/officeDocument/2006/relationships/theme" Target="theme/theme1.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slide" Target="slides/slide89.xml"/><Relationship Id="rId98" Type="http://schemas.openxmlformats.org/officeDocument/2006/relationships/slide" Target="slides/slide94.xml"/><Relationship Id="rId3" Type="http://schemas.openxmlformats.org/officeDocument/2006/relationships/customXml" Target="../customXml/item3.xml"/><Relationship Id="rId25" Type="http://schemas.openxmlformats.org/officeDocument/2006/relationships/slide" Target="slides/slide21.xml"/><Relationship Id="rId46" Type="http://schemas.openxmlformats.org/officeDocument/2006/relationships/slide" Target="slides/slide42.xml"/><Relationship Id="rId67" Type="http://schemas.openxmlformats.org/officeDocument/2006/relationships/slide" Target="slides/slide6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rry Krashinsky" userId="a123f403-c6e0-4a01-a4ce-0196b3397f33" providerId="ADAL" clId="{E071D3C4-3C7F-4E3D-B5ED-5A699F8144AB}"/>
    <pc:docChg chg="modSld">
      <pc:chgData name="Harry Krashinsky" userId="a123f403-c6e0-4a01-a4ce-0196b3397f33" providerId="ADAL" clId="{E071D3C4-3C7F-4E3D-B5ED-5A699F8144AB}" dt="2025-06-24T15:44:14.895" v="2" actId="20577"/>
      <pc:docMkLst>
        <pc:docMk/>
      </pc:docMkLst>
      <pc:sldChg chg="modSp">
        <pc:chgData name="Harry Krashinsky" userId="a123f403-c6e0-4a01-a4ce-0196b3397f33" providerId="ADAL" clId="{E071D3C4-3C7F-4E3D-B5ED-5A699F8144AB}" dt="2025-06-24T15:44:14.895" v="2" actId="20577"/>
        <pc:sldMkLst>
          <pc:docMk/>
          <pc:sldMk cId="1690697676" sldId="256"/>
        </pc:sldMkLst>
        <pc:spChg chg="mod">
          <ac:chgData name="Harry Krashinsky" userId="a123f403-c6e0-4a01-a4ce-0196b3397f33" providerId="ADAL" clId="{E071D3C4-3C7F-4E3D-B5ED-5A699F8144AB}" dt="2025-06-24T15:44:14.895" v="2" actId="20577"/>
          <ac:spMkLst>
            <pc:docMk/>
            <pc:sldMk cId="1690697676" sldId="256"/>
            <ac:spMk id="6"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4E8957F-FEFD-4F1E-B0B1-7CBF67EB549E}" type="datetimeFigureOut">
              <a:rPr lang="en-US" smtClean="0"/>
              <a:t>6/24/2025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FCD6F5B-21F9-4736-9C88-AD01EDD85EF3}" type="slidenum">
              <a:rPr lang="en-US" smtClean="0"/>
              <a:t>‹#›</a:t>
            </a:fld>
            <a:endParaRPr lang="en-US"/>
          </a:p>
        </p:txBody>
      </p:sp>
    </p:spTree>
    <p:extLst>
      <p:ext uri="{BB962C8B-B14F-4D97-AF65-F5344CB8AC3E}">
        <p14:creationId xmlns:p14="http://schemas.microsoft.com/office/powerpoint/2010/main" val="171067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FCD6F5B-21F9-4736-9C88-AD01EDD85EF3}" type="slidenum">
              <a:rPr lang="en-US" smtClean="0"/>
              <a:t>91</a:t>
            </a:fld>
            <a:endParaRPr lang="en-US"/>
          </a:p>
        </p:txBody>
      </p:sp>
    </p:spTree>
    <p:extLst>
      <p:ext uri="{BB962C8B-B14F-4D97-AF65-F5344CB8AC3E}">
        <p14:creationId xmlns:p14="http://schemas.microsoft.com/office/powerpoint/2010/main" val="18921400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FCD6F5B-21F9-4736-9C88-AD01EDD85EF3}" type="slidenum">
              <a:rPr lang="en-US" smtClean="0"/>
              <a:t>93</a:t>
            </a:fld>
            <a:endParaRPr lang="en-US"/>
          </a:p>
        </p:txBody>
      </p:sp>
    </p:spTree>
    <p:extLst>
      <p:ext uri="{BB962C8B-B14F-4D97-AF65-F5344CB8AC3E}">
        <p14:creationId xmlns:p14="http://schemas.microsoft.com/office/powerpoint/2010/main" val="31229858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FCD6F5B-21F9-4736-9C88-AD01EDD85EF3}" type="slidenum">
              <a:rPr lang="en-US" smtClean="0"/>
              <a:t>95</a:t>
            </a:fld>
            <a:endParaRPr lang="en-US"/>
          </a:p>
        </p:txBody>
      </p:sp>
    </p:spTree>
    <p:extLst>
      <p:ext uri="{BB962C8B-B14F-4D97-AF65-F5344CB8AC3E}">
        <p14:creationId xmlns:p14="http://schemas.microsoft.com/office/powerpoint/2010/main" val="35647123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B6980911-3783-4E87-BCF0-6A643B00DA3B}" type="datetimeFigureOut">
              <a:rPr lang="en-US" smtClean="0"/>
              <a:t>6/24/2025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B63743C-868B-40D9-974E-F067EA38B88F}" type="slidenum">
              <a:rPr lang="en-US" smtClean="0"/>
              <a:t>‹#›</a:t>
            </a:fld>
            <a:endParaRPr lang="en-US"/>
          </a:p>
        </p:txBody>
      </p:sp>
    </p:spTree>
    <p:extLst>
      <p:ext uri="{BB962C8B-B14F-4D97-AF65-F5344CB8AC3E}">
        <p14:creationId xmlns:p14="http://schemas.microsoft.com/office/powerpoint/2010/main" val="18154456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6980911-3783-4E87-BCF0-6A643B00DA3B}" type="datetimeFigureOut">
              <a:rPr lang="en-US" smtClean="0"/>
              <a:t>6/24/2025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B63743C-868B-40D9-974E-F067EA38B88F}" type="slidenum">
              <a:rPr lang="en-US" smtClean="0"/>
              <a:t>‹#›</a:t>
            </a:fld>
            <a:endParaRPr lang="en-US"/>
          </a:p>
        </p:txBody>
      </p:sp>
    </p:spTree>
    <p:extLst>
      <p:ext uri="{BB962C8B-B14F-4D97-AF65-F5344CB8AC3E}">
        <p14:creationId xmlns:p14="http://schemas.microsoft.com/office/powerpoint/2010/main" val="19741651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980911-3783-4E87-BCF0-6A643B00DA3B}" type="datetimeFigureOut">
              <a:rPr lang="en-US" smtClean="0"/>
              <a:t>6/24/2025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B63743C-868B-40D9-974E-F067EA38B88F}" type="slidenum">
              <a:rPr lang="en-US" smtClean="0"/>
              <a:t>‹#›</a:t>
            </a:fld>
            <a:endParaRPr lang="en-US"/>
          </a:p>
        </p:txBody>
      </p:sp>
    </p:spTree>
    <p:extLst>
      <p:ext uri="{BB962C8B-B14F-4D97-AF65-F5344CB8AC3E}">
        <p14:creationId xmlns:p14="http://schemas.microsoft.com/office/powerpoint/2010/main" val="24836865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B6980911-3783-4E87-BCF0-6A643B00DA3B}" type="datetimeFigureOut">
              <a:rPr lang="en-US" smtClean="0"/>
              <a:t>6/24/2025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B63743C-868B-40D9-974E-F067EA38B88F}" type="slidenum">
              <a:rPr lang="en-US" smtClean="0"/>
              <a:t>‹#›</a:t>
            </a:fld>
            <a:endParaRPr lang="en-US"/>
          </a:p>
        </p:txBody>
      </p:sp>
    </p:spTree>
    <p:extLst>
      <p:ext uri="{BB962C8B-B14F-4D97-AF65-F5344CB8AC3E}">
        <p14:creationId xmlns:p14="http://schemas.microsoft.com/office/powerpoint/2010/main" val="29052834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6980911-3783-4E87-BCF0-6A643B00DA3B}" type="datetimeFigureOut">
              <a:rPr lang="en-US" smtClean="0"/>
              <a:t>6/24/2025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B63743C-868B-40D9-974E-F067EA38B88F}" type="slidenum">
              <a:rPr lang="en-US" smtClean="0"/>
              <a:t>‹#›</a:t>
            </a:fld>
            <a:endParaRPr lang="en-US"/>
          </a:p>
        </p:txBody>
      </p:sp>
    </p:spTree>
    <p:extLst>
      <p:ext uri="{BB962C8B-B14F-4D97-AF65-F5344CB8AC3E}">
        <p14:creationId xmlns:p14="http://schemas.microsoft.com/office/powerpoint/2010/main" val="4864666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6980911-3783-4E87-BCF0-6A643B00DA3B}" type="datetimeFigureOut">
              <a:rPr lang="en-US" smtClean="0"/>
              <a:t>6/24/2025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B63743C-868B-40D9-974E-F067EA38B88F}" type="slidenum">
              <a:rPr lang="en-US" smtClean="0"/>
              <a:t>‹#›</a:t>
            </a:fld>
            <a:endParaRPr lang="en-US"/>
          </a:p>
        </p:txBody>
      </p:sp>
    </p:spTree>
    <p:extLst>
      <p:ext uri="{BB962C8B-B14F-4D97-AF65-F5344CB8AC3E}">
        <p14:creationId xmlns:p14="http://schemas.microsoft.com/office/powerpoint/2010/main" val="6214606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980911-3783-4E87-BCF0-6A643B00DA3B}" type="datetimeFigureOut">
              <a:rPr lang="en-US" smtClean="0"/>
              <a:t>6/24/2025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B63743C-868B-40D9-974E-F067EA38B88F}" type="slidenum">
              <a:rPr lang="en-US" smtClean="0"/>
              <a:t>‹#›</a:t>
            </a:fld>
            <a:endParaRPr lang="en-US"/>
          </a:p>
        </p:txBody>
      </p:sp>
    </p:spTree>
    <p:extLst>
      <p:ext uri="{BB962C8B-B14F-4D97-AF65-F5344CB8AC3E}">
        <p14:creationId xmlns:p14="http://schemas.microsoft.com/office/powerpoint/2010/main" val="41558404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980911-3783-4E87-BCF0-6A643B00DA3B}" type="datetimeFigureOut">
              <a:rPr lang="en-US" smtClean="0"/>
              <a:t>6/24/2025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B63743C-868B-40D9-974E-F067EA38B88F}" type="slidenum">
              <a:rPr lang="en-US" smtClean="0"/>
              <a:t>‹#›</a:t>
            </a:fld>
            <a:endParaRPr lang="en-US"/>
          </a:p>
        </p:txBody>
      </p:sp>
    </p:spTree>
    <p:extLst>
      <p:ext uri="{BB962C8B-B14F-4D97-AF65-F5344CB8AC3E}">
        <p14:creationId xmlns:p14="http://schemas.microsoft.com/office/powerpoint/2010/main" val="38807589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980911-3783-4E87-BCF0-6A643B00DA3B}" type="datetimeFigureOut">
              <a:rPr lang="en-US" smtClean="0"/>
              <a:t>6/24/2025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B63743C-868B-40D9-974E-F067EA38B88F}" type="slidenum">
              <a:rPr lang="en-US" smtClean="0"/>
              <a:t>‹#›</a:t>
            </a:fld>
            <a:endParaRPr lang="en-US"/>
          </a:p>
        </p:txBody>
      </p:sp>
    </p:spTree>
    <p:extLst>
      <p:ext uri="{BB962C8B-B14F-4D97-AF65-F5344CB8AC3E}">
        <p14:creationId xmlns:p14="http://schemas.microsoft.com/office/powerpoint/2010/main" val="35972949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6980911-3783-4E87-BCF0-6A643B00DA3B}" type="datetimeFigureOut">
              <a:rPr lang="en-US" smtClean="0"/>
              <a:t>6/24/2025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B63743C-868B-40D9-974E-F067EA38B88F}" type="slidenum">
              <a:rPr lang="en-US" smtClean="0"/>
              <a:t>‹#›</a:t>
            </a:fld>
            <a:endParaRPr lang="en-US"/>
          </a:p>
        </p:txBody>
      </p:sp>
    </p:spTree>
    <p:extLst>
      <p:ext uri="{BB962C8B-B14F-4D97-AF65-F5344CB8AC3E}">
        <p14:creationId xmlns:p14="http://schemas.microsoft.com/office/powerpoint/2010/main" val="21695463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6980911-3783-4E87-BCF0-6A643B00DA3B}" type="datetimeFigureOut">
              <a:rPr lang="en-US" smtClean="0"/>
              <a:t>6/24/2025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B63743C-868B-40D9-974E-F067EA38B88F}" type="slidenum">
              <a:rPr lang="en-US" smtClean="0"/>
              <a:t>‹#›</a:t>
            </a:fld>
            <a:endParaRPr lang="en-US"/>
          </a:p>
        </p:txBody>
      </p:sp>
    </p:spTree>
    <p:extLst>
      <p:ext uri="{BB962C8B-B14F-4D97-AF65-F5344CB8AC3E}">
        <p14:creationId xmlns:p14="http://schemas.microsoft.com/office/powerpoint/2010/main" val="9395334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6980911-3783-4E87-BCF0-6A643B00DA3B}" type="datetimeFigureOut">
              <a:rPr lang="en-US" smtClean="0"/>
              <a:t>6/24/2025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B63743C-868B-40D9-974E-F067EA38B88F}" type="slidenum">
              <a:rPr lang="en-US" smtClean="0"/>
              <a:t>‹#›</a:t>
            </a:fld>
            <a:endParaRPr lang="en-US"/>
          </a:p>
        </p:txBody>
      </p:sp>
    </p:spTree>
    <p:extLst>
      <p:ext uri="{BB962C8B-B14F-4D97-AF65-F5344CB8AC3E}">
        <p14:creationId xmlns:p14="http://schemas.microsoft.com/office/powerpoint/2010/main" val="91036591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4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4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5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5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54.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image" Target="../media/image35.png"/><Relationship Id="rId7" Type="http://schemas.openxmlformats.org/officeDocument/2006/relationships/image" Target="../media/image39.png"/><Relationship Id="rId2" Type="http://schemas.openxmlformats.org/officeDocument/2006/relationships/image" Target="../media/image34.png"/><Relationship Id="rId1" Type="http://schemas.openxmlformats.org/officeDocument/2006/relationships/slideLayout" Target="../slideLayouts/slideLayout2.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s>
</file>

<file path=ppt/slides/_rels/slide58.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 Id="rId4" Type="http://schemas.openxmlformats.org/officeDocument/2006/relationships/image" Target="../media/image43.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210.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8" Type="http://schemas.openxmlformats.org/officeDocument/2006/relationships/image" Target="../media/image47.png"/><Relationship Id="rId3" Type="http://schemas.openxmlformats.org/officeDocument/2006/relationships/image" Target="../media/image4.png"/><Relationship Id="rId7" Type="http://schemas.openxmlformats.org/officeDocument/2006/relationships/image" Target="../media/image46.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8.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endParaRPr lang="en-US" dirty="0"/>
          </a:p>
        </p:txBody>
      </p:sp>
      <p:sp>
        <p:nvSpPr>
          <p:cNvPr id="5" name="Content Placeholder 4"/>
          <p:cNvSpPr>
            <a:spLocks noGrp="1"/>
          </p:cNvSpPr>
          <p:nvPr>
            <p:ph idx="1"/>
          </p:nvPr>
        </p:nvSpPr>
        <p:spPr/>
        <p:txBody>
          <a:bodyPr>
            <a:normAutofit/>
          </a:bodyPr>
          <a:lstStyle/>
          <a:p>
            <a:pPr marL="0" indent="0">
              <a:buNone/>
            </a:pPr>
            <a:endParaRPr lang="en-US" dirty="0"/>
          </a:p>
          <a:p>
            <a:pPr marL="0" indent="0">
              <a:buNone/>
            </a:pPr>
            <a:endParaRPr lang="en-US" dirty="0"/>
          </a:p>
          <a:p>
            <a:pPr marL="0" indent="0" algn="ctr">
              <a:buNone/>
            </a:pPr>
            <a:r>
              <a:rPr lang="en-US" sz="5400" dirty="0"/>
              <a:t>Difference in Differences</a:t>
            </a:r>
          </a:p>
        </p:txBody>
      </p:sp>
      <p:sp>
        <p:nvSpPr>
          <p:cNvPr id="6" name="Subtitle 2"/>
          <p:cNvSpPr txBox="1">
            <a:spLocks/>
          </p:cNvSpPr>
          <p:nvPr/>
        </p:nvSpPr>
        <p:spPr>
          <a:xfrm>
            <a:off x="1371600" y="3886200"/>
            <a:ext cx="6400800" cy="175260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lang="en-US" dirty="0"/>
              <a:t>Professor Harry Krashinsky</a:t>
            </a:r>
          </a:p>
          <a:p>
            <a:pPr marL="0" indent="0" algn="ctr">
              <a:buNone/>
            </a:pPr>
            <a:r>
              <a:rPr lang="en-US" dirty="0"/>
              <a:t>EMBA 46: QRM 2025</a:t>
            </a:r>
          </a:p>
          <a:p>
            <a:endParaRPr lang="en-CA" dirty="0"/>
          </a:p>
        </p:txBody>
      </p:sp>
      <p:pic>
        <p:nvPicPr>
          <p:cNvPr id="7" name="Picture 0" descr="Rotman Signature - blue.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13338" y="404813"/>
            <a:ext cx="3130550" cy="698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906976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Causality</a:t>
            </a:r>
          </a:p>
        </p:txBody>
      </p:sp>
      <p:sp>
        <p:nvSpPr>
          <p:cNvPr id="3" name="Content Placeholder 2"/>
          <p:cNvSpPr>
            <a:spLocks noGrp="1"/>
          </p:cNvSpPr>
          <p:nvPr>
            <p:ph idx="1"/>
          </p:nvPr>
        </p:nvSpPr>
        <p:spPr/>
        <p:txBody>
          <a:bodyPr/>
          <a:lstStyle/>
          <a:p>
            <a:pPr marL="0" indent="0">
              <a:buNone/>
            </a:pPr>
            <a:r>
              <a:rPr lang="en-US" dirty="0"/>
              <a:t>The whole point of this course is to encourage you to make strategic decisions on the basis of good statistical evidence.</a:t>
            </a:r>
          </a:p>
          <a:p>
            <a:pPr marL="0" indent="0">
              <a:buNone/>
            </a:pPr>
            <a:endParaRPr lang="en-US" dirty="0"/>
          </a:p>
          <a:p>
            <a:pPr marL="0" indent="0">
              <a:buNone/>
            </a:pPr>
            <a:r>
              <a:rPr lang="en-US" dirty="0"/>
              <a:t>Here, “good” evidence is not plagued by OVB, and stems from </a:t>
            </a:r>
            <a:r>
              <a:rPr lang="en-US" u="sng" dirty="0"/>
              <a:t>causal</a:t>
            </a:r>
            <a:r>
              <a:rPr lang="en-US" dirty="0"/>
              <a:t> results.</a:t>
            </a:r>
          </a:p>
        </p:txBody>
      </p:sp>
    </p:spTree>
    <p:extLst>
      <p:ext uri="{BB962C8B-B14F-4D97-AF65-F5344CB8AC3E}">
        <p14:creationId xmlns:p14="http://schemas.microsoft.com/office/powerpoint/2010/main" val="34123261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Some motivation for causality</a:t>
            </a:r>
          </a:p>
        </p:txBody>
      </p:sp>
      <p:sp>
        <p:nvSpPr>
          <p:cNvPr id="3" name="Content Placeholder 2"/>
          <p:cNvSpPr>
            <a:spLocks noGrp="1"/>
          </p:cNvSpPr>
          <p:nvPr>
            <p:ph idx="1"/>
          </p:nvPr>
        </p:nvSpPr>
        <p:spPr/>
        <p:txBody>
          <a:bodyPr>
            <a:normAutofit fontScale="92500" lnSpcReduction="20000"/>
          </a:bodyPr>
          <a:lstStyle/>
          <a:p>
            <a:pPr marL="0" indent="0">
              <a:buNone/>
            </a:pPr>
            <a:r>
              <a:rPr lang="en-US" dirty="0"/>
              <a:t>But where does causal evidence come from?</a:t>
            </a:r>
          </a:p>
          <a:p>
            <a:pPr marL="0" indent="0">
              <a:buNone/>
            </a:pPr>
            <a:endParaRPr lang="en-US" dirty="0"/>
          </a:p>
          <a:p>
            <a:pPr marL="0" indent="0">
              <a:buNone/>
            </a:pPr>
            <a:r>
              <a:rPr lang="en-US" dirty="0"/>
              <a:t>We’ll soon see that it’s drawn from techniques that originated in </a:t>
            </a:r>
            <a:r>
              <a:rPr lang="en-US" u="sng" dirty="0"/>
              <a:t>medicine</a:t>
            </a:r>
            <a:r>
              <a:rPr lang="en-US" dirty="0"/>
              <a:t> (but are highly relevant to business applications, too).</a:t>
            </a:r>
          </a:p>
          <a:p>
            <a:pPr marL="0" indent="0">
              <a:buNone/>
            </a:pPr>
            <a:endParaRPr lang="en-US" dirty="0"/>
          </a:p>
          <a:p>
            <a:pPr marL="0" indent="0">
              <a:buNone/>
            </a:pPr>
            <a:r>
              <a:rPr lang="en-US" dirty="0"/>
              <a:t>In medicine, decisions focus on understanding how treatments </a:t>
            </a:r>
            <a:r>
              <a:rPr lang="en-US" i="1" u="sng" dirty="0"/>
              <a:t>cause</a:t>
            </a:r>
            <a:r>
              <a:rPr lang="en-US" dirty="0"/>
              <a:t> better outcomes for patients, and not treatments that are merely </a:t>
            </a:r>
            <a:r>
              <a:rPr lang="en-US" i="1" u="sng" dirty="0"/>
              <a:t>correlated</a:t>
            </a:r>
            <a:r>
              <a:rPr lang="en-US" dirty="0"/>
              <a:t> with better outcomes</a:t>
            </a:r>
          </a:p>
        </p:txBody>
      </p:sp>
    </p:spTree>
    <p:extLst>
      <p:ext uri="{BB962C8B-B14F-4D97-AF65-F5344CB8AC3E}">
        <p14:creationId xmlns:p14="http://schemas.microsoft.com/office/powerpoint/2010/main" val="16914356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Some motivation for causality</a:t>
            </a:r>
          </a:p>
        </p:txBody>
      </p:sp>
      <p:sp>
        <p:nvSpPr>
          <p:cNvPr id="3" name="Content Placeholder 2"/>
          <p:cNvSpPr>
            <a:spLocks noGrp="1"/>
          </p:cNvSpPr>
          <p:nvPr>
            <p:ph idx="1"/>
          </p:nvPr>
        </p:nvSpPr>
        <p:spPr/>
        <p:txBody>
          <a:bodyPr>
            <a:normAutofit lnSpcReduction="10000"/>
          </a:bodyPr>
          <a:lstStyle/>
          <a:p>
            <a:pPr marL="0" indent="0">
              <a:buNone/>
            </a:pPr>
            <a:r>
              <a:rPr lang="en-US" dirty="0"/>
              <a:t>But how do we distinguish between treatment strategies that are </a:t>
            </a:r>
            <a:r>
              <a:rPr lang="en-US" i="1" u="sng" dirty="0"/>
              <a:t>correlated</a:t>
            </a:r>
            <a:r>
              <a:rPr lang="en-US" dirty="0"/>
              <a:t> with better outcomes, and those that </a:t>
            </a:r>
            <a:r>
              <a:rPr lang="en-US" i="1" u="sng" dirty="0"/>
              <a:t>cause</a:t>
            </a:r>
            <a:r>
              <a:rPr lang="en-US" dirty="0"/>
              <a:t> better outcomes?</a:t>
            </a:r>
          </a:p>
          <a:p>
            <a:pPr marL="0" indent="0">
              <a:buNone/>
            </a:pPr>
            <a:endParaRPr lang="en-US" dirty="0"/>
          </a:p>
          <a:p>
            <a:pPr marL="0" indent="0">
              <a:buNone/>
            </a:pPr>
            <a:r>
              <a:rPr lang="en-US" dirty="0"/>
              <a:t>We’ll discuss exactly this issue, and I will argue that this idea is essential for determining proper business strategy (and other things) for </a:t>
            </a:r>
            <a:r>
              <a:rPr lang="en-US" i="1" u="sng" dirty="0"/>
              <a:t>everyone</a:t>
            </a:r>
          </a:p>
        </p:txBody>
      </p:sp>
    </p:spTree>
    <p:extLst>
      <p:ext uri="{BB962C8B-B14F-4D97-AF65-F5344CB8AC3E}">
        <p14:creationId xmlns:p14="http://schemas.microsoft.com/office/powerpoint/2010/main" val="4401613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Some motivation for causality</a:t>
            </a:r>
          </a:p>
        </p:txBody>
      </p:sp>
      <p:sp>
        <p:nvSpPr>
          <p:cNvPr id="3" name="Content Placeholder 2"/>
          <p:cNvSpPr>
            <a:spLocks noGrp="1"/>
          </p:cNvSpPr>
          <p:nvPr>
            <p:ph idx="1"/>
          </p:nvPr>
        </p:nvSpPr>
        <p:spPr/>
        <p:txBody>
          <a:bodyPr/>
          <a:lstStyle/>
          <a:p>
            <a:pPr marL="0" indent="0">
              <a:buNone/>
            </a:pPr>
            <a:r>
              <a:rPr lang="en-US" u="sng" dirty="0"/>
              <a:t>Key issue:</a:t>
            </a:r>
            <a:r>
              <a:rPr lang="en-US" dirty="0"/>
              <a:t> You are all faced, broadly, with the same key question in your businesses: should you pursue a particular business strategy or not?</a:t>
            </a:r>
          </a:p>
          <a:p>
            <a:pPr marL="0" indent="0">
              <a:buNone/>
            </a:pPr>
            <a:endParaRPr lang="en-US" dirty="0"/>
          </a:p>
          <a:p>
            <a:pPr marL="0" indent="0">
              <a:buNone/>
            </a:pPr>
            <a:r>
              <a:rPr lang="en-US" dirty="0"/>
              <a:t>I will argue that you should understand the </a:t>
            </a:r>
            <a:r>
              <a:rPr lang="en-US" u="sng" dirty="0"/>
              <a:t>causal</a:t>
            </a:r>
            <a:r>
              <a:rPr lang="en-US" dirty="0"/>
              <a:t> effects of a particular strategy, not just the outcomes </a:t>
            </a:r>
            <a:r>
              <a:rPr lang="en-US" u="sng" dirty="0"/>
              <a:t>correlated</a:t>
            </a:r>
            <a:r>
              <a:rPr lang="en-US" dirty="0"/>
              <a:t> with using that strategy.</a:t>
            </a:r>
          </a:p>
        </p:txBody>
      </p:sp>
    </p:spTree>
    <p:extLst>
      <p:ext uri="{BB962C8B-B14F-4D97-AF65-F5344CB8AC3E}">
        <p14:creationId xmlns:p14="http://schemas.microsoft.com/office/powerpoint/2010/main" val="22558534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Correlation vs Causation</a:t>
            </a:r>
          </a:p>
        </p:txBody>
      </p:sp>
      <p:sp>
        <p:nvSpPr>
          <p:cNvPr id="3" name="Content Placeholder 2"/>
          <p:cNvSpPr>
            <a:spLocks noGrp="1"/>
          </p:cNvSpPr>
          <p:nvPr>
            <p:ph idx="1"/>
          </p:nvPr>
        </p:nvSpPr>
        <p:spPr/>
        <p:txBody>
          <a:bodyPr/>
          <a:lstStyle/>
          <a:p>
            <a:pPr marL="0" indent="0">
              <a:buNone/>
            </a:pPr>
            <a:r>
              <a:rPr lang="en-US" dirty="0"/>
              <a:t>How do we distinguish between correlation and causation?  </a:t>
            </a:r>
          </a:p>
          <a:p>
            <a:pPr marL="0" indent="0">
              <a:buNone/>
            </a:pPr>
            <a:r>
              <a:rPr lang="en-US" dirty="0">
                <a:sym typeface="Wingdings" panose="05000000000000000000" pitchFamily="2" charset="2"/>
              </a:rPr>
              <a:t></a:t>
            </a:r>
            <a:r>
              <a:rPr lang="en-US" dirty="0"/>
              <a:t>You’ve seen how the inclusion of more variables into a regression can change the coefficients on other variables.</a:t>
            </a:r>
          </a:p>
          <a:p>
            <a:pPr marL="0" indent="0">
              <a:buNone/>
            </a:pPr>
            <a:endParaRPr lang="en-US" dirty="0"/>
          </a:p>
          <a:p>
            <a:pPr marL="0" indent="0">
              <a:buNone/>
            </a:pPr>
            <a:r>
              <a:rPr lang="en-US" dirty="0"/>
              <a:t>This is the principle of OVB</a:t>
            </a:r>
          </a:p>
        </p:txBody>
      </p:sp>
    </p:spTree>
    <p:extLst>
      <p:ext uri="{BB962C8B-B14F-4D97-AF65-F5344CB8AC3E}">
        <p14:creationId xmlns:p14="http://schemas.microsoft.com/office/powerpoint/2010/main" val="32464998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Correlation vs Causation</a:t>
            </a:r>
          </a:p>
        </p:txBody>
      </p:sp>
      <p:sp>
        <p:nvSpPr>
          <p:cNvPr id="3" name="Content Placeholder 2"/>
          <p:cNvSpPr>
            <a:spLocks noGrp="1"/>
          </p:cNvSpPr>
          <p:nvPr>
            <p:ph idx="1"/>
          </p:nvPr>
        </p:nvSpPr>
        <p:spPr/>
        <p:txBody>
          <a:bodyPr>
            <a:normAutofit/>
          </a:bodyPr>
          <a:lstStyle/>
          <a:p>
            <a:pPr marL="0" indent="0">
              <a:buNone/>
            </a:pPr>
            <a:r>
              <a:rPr lang="en-US" dirty="0"/>
              <a:t>It also showed the great problem with interpreting a regression as “causal”</a:t>
            </a:r>
          </a:p>
          <a:p>
            <a:pPr marL="0" indent="0">
              <a:buNone/>
            </a:pPr>
            <a:endParaRPr lang="en-US" dirty="0"/>
          </a:p>
          <a:p>
            <a:pPr marL="0" indent="0">
              <a:buNone/>
            </a:pPr>
            <a:r>
              <a:rPr lang="en-US" u="sng" dirty="0"/>
              <a:t>The key issue:</a:t>
            </a:r>
            <a:r>
              <a:rPr lang="en-US" dirty="0"/>
              <a:t> regressions only show us correlations.  But it’s only the regression results that aren’t prone to OVB that are considered to be “causal”</a:t>
            </a:r>
          </a:p>
        </p:txBody>
      </p:sp>
    </p:spTree>
    <p:extLst>
      <p:ext uri="{BB962C8B-B14F-4D97-AF65-F5344CB8AC3E}">
        <p14:creationId xmlns:p14="http://schemas.microsoft.com/office/powerpoint/2010/main" val="18301041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A call back to an earlier example</a:t>
            </a:r>
          </a:p>
        </p:txBody>
      </p:sp>
      <p:sp>
        <p:nvSpPr>
          <p:cNvPr id="3" name="Content Placeholder 2"/>
          <p:cNvSpPr>
            <a:spLocks noGrp="1"/>
          </p:cNvSpPr>
          <p:nvPr>
            <p:ph idx="1"/>
          </p:nvPr>
        </p:nvSpPr>
        <p:spPr/>
        <p:txBody>
          <a:bodyPr/>
          <a:lstStyle/>
          <a:p>
            <a:pPr marL="0" indent="0">
              <a:buNone/>
            </a:pPr>
            <a:r>
              <a:rPr lang="en-CA" dirty="0"/>
              <a:t>Remember those cakes we talked about?  Here’s a reminder:</a:t>
            </a:r>
          </a:p>
          <a:p>
            <a:pPr marL="0" indent="0">
              <a:buNone/>
            </a:pPr>
            <a:endParaRPr lang="en-CA" dirty="0"/>
          </a:p>
          <a:p>
            <a:pPr marL="0" indent="0">
              <a:buNone/>
            </a:pPr>
            <a:endParaRPr lang="en-CA" dirty="0"/>
          </a:p>
          <a:p>
            <a:pPr marL="0" indent="0">
              <a:buNone/>
            </a:pPr>
            <a:endParaRPr lang="en-CA" dirty="0"/>
          </a:p>
          <a:p>
            <a:pPr marL="0" indent="0">
              <a:buNone/>
            </a:pPr>
            <a:endParaRPr lang="en-CA" dirty="0"/>
          </a:p>
        </p:txBody>
      </p:sp>
      <p:graphicFrame>
        <p:nvGraphicFramePr>
          <p:cNvPr id="4" name="Table 3"/>
          <p:cNvGraphicFramePr>
            <a:graphicFrameLocks noGrp="1"/>
          </p:cNvGraphicFramePr>
          <p:nvPr>
            <p:extLst>
              <p:ext uri="{D42A27DB-BD31-4B8C-83A1-F6EECF244321}">
                <p14:modId xmlns:p14="http://schemas.microsoft.com/office/powerpoint/2010/main" val="3268217057"/>
              </p:ext>
            </p:extLst>
          </p:nvPr>
        </p:nvGraphicFramePr>
        <p:xfrm>
          <a:off x="1371600" y="2971800"/>
          <a:ext cx="6096000" cy="1285240"/>
        </p:xfrm>
        <a:graphic>
          <a:graphicData uri="http://schemas.openxmlformats.org/drawingml/2006/table">
            <a:tbl>
              <a:tblPr firstRow="1" bandRow="1">
                <a:tableStyleId>{5940675A-B579-460E-94D1-54222C63F5DA}</a:tableStyleId>
              </a:tblPr>
              <a:tblGrid>
                <a:gridCol w="3048000">
                  <a:extLst>
                    <a:ext uri="{9D8B030D-6E8A-4147-A177-3AD203B41FA5}">
                      <a16:colId xmlns:a16="http://schemas.microsoft.com/office/drawing/2014/main" val="3894897988"/>
                    </a:ext>
                  </a:extLst>
                </a:gridCol>
                <a:gridCol w="3048000">
                  <a:extLst>
                    <a:ext uri="{9D8B030D-6E8A-4147-A177-3AD203B41FA5}">
                      <a16:colId xmlns:a16="http://schemas.microsoft.com/office/drawing/2014/main" val="2748031574"/>
                    </a:ext>
                  </a:extLst>
                </a:gridCol>
              </a:tblGrid>
              <a:tr h="370840">
                <a:tc>
                  <a:txBody>
                    <a:bodyPr/>
                    <a:lstStyle/>
                    <a:p>
                      <a:pPr algn="ctr"/>
                      <a:r>
                        <a:rPr lang="en-US" dirty="0"/>
                        <a:t>One-Layer</a:t>
                      </a:r>
                      <a:r>
                        <a:rPr lang="en-US" baseline="0" dirty="0"/>
                        <a:t> Cake</a:t>
                      </a:r>
                      <a:endParaRPr lang="en-US" dirty="0"/>
                    </a:p>
                  </a:txBody>
                  <a:tcPr/>
                </a:tc>
                <a:tc>
                  <a:txBody>
                    <a:bodyPr/>
                    <a:lstStyle/>
                    <a:p>
                      <a:pPr algn="ctr"/>
                      <a:r>
                        <a:rPr lang="en-US" dirty="0"/>
                        <a:t>Two-Layer Cake</a:t>
                      </a:r>
                    </a:p>
                  </a:txBody>
                  <a:tcPr/>
                </a:tc>
                <a:extLst>
                  <a:ext uri="{0D108BD9-81ED-4DB2-BD59-A6C34878D82A}">
                    <a16:rowId xmlns:a16="http://schemas.microsoft.com/office/drawing/2014/main" val="3882440775"/>
                  </a:ext>
                </a:extLst>
              </a:tr>
              <a:tr h="370840">
                <a:tc>
                  <a:txBody>
                    <a:bodyPr/>
                    <a:lstStyle/>
                    <a:p>
                      <a:pPr algn="ctr"/>
                      <a:r>
                        <a:rPr lang="en-US" dirty="0"/>
                        <a:t>$10, $10,</a:t>
                      </a:r>
                      <a:r>
                        <a:rPr lang="en-US" baseline="0" dirty="0"/>
                        <a:t> $10, $10, $10, $10</a:t>
                      </a:r>
                    </a:p>
                    <a:p>
                      <a:pPr algn="ctr"/>
                      <a:r>
                        <a:rPr lang="en-US" baseline="0" dirty="0"/>
                        <a:t>$16, $16</a:t>
                      </a:r>
                    </a:p>
                    <a:p>
                      <a:pPr algn="ctr"/>
                      <a:r>
                        <a:rPr lang="en-US" baseline="0" dirty="0"/>
                        <a:t>Average Price = $11.5</a:t>
                      </a:r>
                      <a:endParaRPr lang="en-US" dirty="0"/>
                    </a:p>
                  </a:txBody>
                  <a:tcPr/>
                </a:tc>
                <a:tc>
                  <a:txBody>
                    <a:bodyPr/>
                    <a:lstStyle/>
                    <a:p>
                      <a:pPr algn="ctr"/>
                      <a:r>
                        <a:rPr lang="en-US" dirty="0"/>
                        <a:t>$10, $10</a:t>
                      </a:r>
                      <a:endParaRPr lang="en-US" baseline="0" dirty="0"/>
                    </a:p>
                    <a:p>
                      <a:pPr algn="ctr"/>
                      <a:r>
                        <a:rPr lang="en-US" baseline="0" dirty="0"/>
                        <a:t>$16, $16, $16, $16, $16, $16</a:t>
                      </a:r>
                    </a:p>
                    <a:p>
                      <a:pPr algn="ctr"/>
                      <a:r>
                        <a:rPr lang="en-US" baseline="0" dirty="0"/>
                        <a:t>Average Price = $14.5</a:t>
                      </a:r>
                      <a:endParaRPr lang="en-US" dirty="0"/>
                    </a:p>
                  </a:txBody>
                  <a:tcPr/>
                </a:tc>
                <a:extLst>
                  <a:ext uri="{0D108BD9-81ED-4DB2-BD59-A6C34878D82A}">
                    <a16:rowId xmlns:a16="http://schemas.microsoft.com/office/drawing/2014/main" val="4101857117"/>
                  </a:ext>
                </a:extLst>
              </a:tr>
            </a:tbl>
          </a:graphicData>
        </a:graphic>
      </p:graphicFrame>
    </p:spTree>
    <p:extLst>
      <p:ext uri="{BB962C8B-B14F-4D97-AF65-F5344CB8AC3E}">
        <p14:creationId xmlns:p14="http://schemas.microsoft.com/office/powerpoint/2010/main" val="20572370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A call back to an earlier example</a:t>
            </a:r>
          </a:p>
        </p:txBody>
      </p:sp>
      <p:sp>
        <p:nvSpPr>
          <p:cNvPr id="3" name="Content Placeholder 2"/>
          <p:cNvSpPr>
            <a:spLocks noGrp="1"/>
          </p:cNvSpPr>
          <p:nvPr>
            <p:ph idx="1"/>
          </p:nvPr>
        </p:nvSpPr>
        <p:spPr/>
        <p:txBody>
          <a:bodyPr/>
          <a:lstStyle/>
          <a:p>
            <a:pPr marL="0" indent="0">
              <a:buNone/>
            </a:pPr>
            <a:r>
              <a:rPr lang="en-CA" dirty="0"/>
              <a:t>We ran a simple regression here, and it looked something like this:</a:t>
            </a:r>
          </a:p>
          <a:p>
            <a:pPr marL="0" indent="0">
              <a:buNone/>
            </a:pPr>
            <a:endParaRPr lang="en-CA" dirty="0"/>
          </a:p>
          <a:p>
            <a:pPr marL="0" indent="0" algn="ctr">
              <a:buNone/>
            </a:pPr>
            <a:r>
              <a:rPr lang="en-CA" dirty="0"/>
              <a:t>(Cake Price) = 8.5 + 3(Number of Layers)</a:t>
            </a:r>
          </a:p>
          <a:p>
            <a:pPr marL="0" indent="0" algn="ctr">
              <a:buNone/>
            </a:pPr>
            <a:endParaRPr lang="en-CA" dirty="0"/>
          </a:p>
          <a:p>
            <a:pPr marL="0" indent="0">
              <a:buNone/>
            </a:pPr>
            <a:r>
              <a:rPr lang="en-CA" dirty="0"/>
              <a:t>But this was naive, since it suffered from OVB</a:t>
            </a:r>
          </a:p>
        </p:txBody>
      </p:sp>
    </p:spTree>
    <p:extLst>
      <p:ext uri="{BB962C8B-B14F-4D97-AF65-F5344CB8AC3E}">
        <p14:creationId xmlns:p14="http://schemas.microsoft.com/office/powerpoint/2010/main" val="29946737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A call back to an earlier example</a:t>
            </a:r>
          </a:p>
        </p:txBody>
      </p:sp>
      <p:sp>
        <p:nvSpPr>
          <p:cNvPr id="3" name="Content Placeholder 2"/>
          <p:cNvSpPr>
            <a:spLocks noGrp="1"/>
          </p:cNvSpPr>
          <p:nvPr>
            <p:ph idx="1"/>
          </p:nvPr>
        </p:nvSpPr>
        <p:spPr/>
        <p:txBody>
          <a:bodyPr/>
          <a:lstStyle/>
          <a:p>
            <a:pPr marL="0" indent="0">
              <a:buNone/>
            </a:pPr>
            <a:r>
              <a:rPr lang="en-CA" dirty="0"/>
              <a:t>Instead, when we thought about a second factor (amount of frosting), the story changed:</a:t>
            </a:r>
          </a:p>
          <a:p>
            <a:pPr marL="0" indent="0">
              <a:buNone/>
            </a:pPr>
            <a:endParaRPr lang="en-CA" dirty="0"/>
          </a:p>
          <a:p>
            <a:pPr marL="0" indent="0">
              <a:buNone/>
            </a:pPr>
            <a:endParaRPr lang="en-CA" dirty="0"/>
          </a:p>
          <a:p>
            <a:pPr marL="0" indent="0">
              <a:buNone/>
            </a:pPr>
            <a:endParaRPr lang="en-CA" dirty="0"/>
          </a:p>
          <a:p>
            <a:pPr marL="0" indent="0">
              <a:buNone/>
            </a:pPr>
            <a:r>
              <a:rPr lang="en-CA" dirty="0"/>
              <a:t>Now, the impact of layers looked a lot different (it looks like it has NO impact on price).</a:t>
            </a:r>
          </a:p>
        </p:txBody>
      </p:sp>
      <p:graphicFrame>
        <p:nvGraphicFramePr>
          <p:cNvPr id="4" name="Table 3"/>
          <p:cNvGraphicFramePr>
            <a:graphicFrameLocks noGrp="1"/>
          </p:cNvGraphicFramePr>
          <p:nvPr>
            <p:extLst>
              <p:ext uri="{D42A27DB-BD31-4B8C-83A1-F6EECF244321}">
                <p14:modId xmlns:p14="http://schemas.microsoft.com/office/powerpoint/2010/main" val="1327263771"/>
              </p:ext>
            </p:extLst>
          </p:nvPr>
        </p:nvGraphicFramePr>
        <p:xfrm>
          <a:off x="685800" y="2971800"/>
          <a:ext cx="7848600" cy="1112520"/>
        </p:xfrm>
        <a:graphic>
          <a:graphicData uri="http://schemas.openxmlformats.org/drawingml/2006/table">
            <a:tbl>
              <a:tblPr firstRow="1" bandRow="1">
                <a:tableStyleId>{5940675A-B579-460E-94D1-54222C63F5DA}</a:tableStyleId>
              </a:tblPr>
              <a:tblGrid>
                <a:gridCol w="2133600">
                  <a:extLst>
                    <a:ext uri="{9D8B030D-6E8A-4147-A177-3AD203B41FA5}">
                      <a16:colId xmlns:a16="http://schemas.microsoft.com/office/drawing/2014/main" val="1027951973"/>
                    </a:ext>
                  </a:extLst>
                </a:gridCol>
                <a:gridCol w="2895600">
                  <a:extLst>
                    <a:ext uri="{9D8B030D-6E8A-4147-A177-3AD203B41FA5}">
                      <a16:colId xmlns:a16="http://schemas.microsoft.com/office/drawing/2014/main" val="3318448335"/>
                    </a:ext>
                  </a:extLst>
                </a:gridCol>
                <a:gridCol w="2819400">
                  <a:extLst>
                    <a:ext uri="{9D8B030D-6E8A-4147-A177-3AD203B41FA5}">
                      <a16:colId xmlns:a16="http://schemas.microsoft.com/office/drawing/2014/main" val="1725225533"/>
                    </a:ext>
                  </a:extLst>
                </a:gridCol>
              </a:tblGrid>
              <a:tr h="370840">
                <a:tc>
                  <a:txBody>
                    <a:bodyPr/>
                    <a:lstStyle/>
                    <a:p>
                      <a:endParaRPr lang="en-US" dirty="0"/>
                    </a:p>
                  </a:txBody>
                  <a:tcPr/>
                </a:tc>
                <a:tc>
                  <a:txBody>
                    <a:bodyPr/>
                    <a:lstStyle/>
                    <a:p>
                      <a:pPr algn="ctr"/>
                      <a:r>
                        <a:rPr lang="en-US" dirty="0"/>
                        <a:t>One-Layer</a:t>
                      </a:r>
                      <a:r>
                        <a:rPr lang="en-US" baseline="0" dirty="0"/>
                        <a:t> Cake</a:t>
                      </a:r>
                      <a:endParaRPr lang="en-US" dirty="0"/>
                    </a:p>
                  </a:txBody>
                  <a:tcPr/>
                </a:tc>
                <a:tc>
                  <a:txBody>
                    <a:bodyPr/>
                    <a:lstStyle/>
                    <a:p>
                      <a:pPr algn="ctr"/>
                      <a:r>
                        <a:rPr lang="en-US" dirty="0"/>
                        <a:t>Two-Layer Cake</a:t>
                      </a:r>
                    </a:p>
                  </a:txBody>
                  <a:tcPr/>
                </a:tc>
                <a:extLst>
                  <a:ext uri="{0D108BD9-81ED-4DB2-BD59-A6C34878D82A}">
                    <a16:rowId xmlns:a16="http://schemas.microsoft.com/office/drawing/2014/main" val="488637332"/>
                  </a:ext>
                </a:extLst>
              </a:tr>
              <a:tr h="370840">
                <a:tc>
                  <a:txBody>
                    <a:bodyPr/>
                    <a:lstStyle/>
                    <a:p>
                      <a:r>
                        <a:rPr lang="en-US" dirty="0"/>
                        <a:t>Two</a:t>
                      </a:r>
                      <a:r>
                        <a:rPr lang="en-US" baseline="0" dirty="0"/>
                        <a:t> Cups of</a:t>
                      </a:r>
                      <a:r>
                        <a:rPr lang="en-US" dirty="0"/>
                        <a:t> frosting</a:t>
                      </a:r>
                    </a:p>
                  </a:txBody>
                  <a:tcPr/>
                </a:tc>
                <a:tc>
                  <a:txBody>
                    <a:bodyPr/>
                    <a:lstStyle/>
                    <a:p>
                      <a:pPr algn="ctr"/>
                      <a:r>
                        <a:rPr lang="en-US" baseline="0" dirty="0"/>
                        <a:t>$16, $16</a:t>
                      </a:r>
                    </a:p>
                  </a:txBody>
                  <a:tcPr/>
                </a:tc>
                <a:tc>
                  <a:txBody>
                    <a:bodyPr/>
                    <a:lstStyle/>
                    <a:p>
                      <a:pPr algn="ctr"/>
                      <a:r>
                        <a:rPr lang="en-US" baseline="0" dirty="0"/>
                        <a:t>$16, $16, $16, $16, $16, $16</a:t>
                      </a:r>
                    </a:p>
                  </a:txBody>
                  <a:tcPr/>
                </a:tc>
                <a:extLst>
                  <a:ext uri="{0D108BD9-81ED-4DB2-BD59-A6C34878D82A}">
                    <a16:rowId xmlns:a16="http://schemas.microsoft.com/office/drawing/2014/main" val="2492055249"/>
                  </a:ext>
                </a:extLst>
              </a:tr>
              <a:tr h="370840">
                <a:tc>
                  <a:txBody>
                    <a:bodyPr/>
                    <a:lstStyle/>
                    <a:p>
                      <a:r>
                        <a:rPr lang="en-US" dirty="0"/>
                        <a:t>One Cup of frosting</a:t>
                      </a:r>
                    </a:p>
                  </a:txBody>
                  <a:tcPr/>
                </a:tc>
                <a:tc>
                  <a:txBody>
                    <a:bodyPr/>
                    <a:lstStyle/>
                    <a:p>
                      <a:pPr algn="ctr"/>
                      <a:r>
                        <a:rPr lang="en-US" dirty="0"/>
                        <a:t>$10, $10,</a:t>
                      </a:r>
                      <a:r>
                        <a:rPr lang="en-US" baseline="0" dirty="0"/>
                        <a:t> $10, $10, $10, $10</a:t>
                      </a:r>
                      <a:endParaRPr 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$10, $10</a:t>
                      </a:r>
                      <a:endParaRPr lang="en-US" baseline="0" dirty="0"/>
                    </a:p>
                  </a:txBody>
                  <a:tcPr/>
                </a:tc>
                <a:extLst>
                  <a:ext uri="{0D108BD9-81ED-4DB2-BD59-A6C34878D82A}">
                    <a16:rowId xmlns:a16="http://schemas.microsoft.com/office/drawing/2014/main" val="3189150901"/>
                  </a:ext>
                </a:extLst>
              </a:tr>
            </a:tbl>
          </a:graphicData>
        </a:graphic>
      </p:graphicFrame>
    </p:spTree>
    <p:extLst>
      <p:ext uri="{BB962C8B-B14F-4D97-AF65-F5344CB8AC3E}">
        <p14:creationId xmlns:p14="http://schemas.microsoft.com/office/powerpoint/2010/main" val="38460976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A call back to an earlier example</a:t>
            </a:r>
          </a:p>
        </p:txBody>
      </p:sp>
      <p:sp>
        <p:nvSpPr>
          <p:cNvPr id="3" name="Content Placeholder 2"/>
          <p:cNvSpPr>
            <a:spLocks noGrp="1"/>
          </p:cNvSpPr>
          <p:nvPr>
            <p:ph idx="1"/>
          </p:nvPr>
        </p:nvSpPr>
        <p:spPr/>
        <p:txBody>
          <a:bodyPr/>
          <a:lstStyle/>
          <a:p>
            <a:pPr marL="0" indent="0">
              <a:buNone/>
            </a:pPr>
            <a:r>
              <a:rPr lang="en-CA" dirty="0"/>
              <a:t>Our regression looked something like this:</a:t>
            </a:r>
          </a:p>
          <a:p>
            <a:pPr marL="0" indent="0">
              <a:buNone/>
            </a:pPr>
            <a:endParaRPr lang="en-CA" dirty="0"/>
          </a:p>
          <a:p>
            <a:pPr marL="0" indent="0" algn="ctr">
              <a:buNone/>
            </a:pPr>
            <a:r>
              <a:rPr lang="en-CA" dirty="0"/>
              <a:t>(Cake Price) = 4 + 0(Number of Layers) </a:t>
            </a:r>
          </a:p>
          <a:p>
            <a:pPr marL="0" indent="0" algn="ctr">
              <a:buNone/>
            </a:pPr>
            <a:r>
              <a:rPr lang="en-CA" dirty="0"/>
              <a:t>+ 6(Cups of Frosting)</a:t>
            </a:r>
          </a:p>
          <a:p>
            <a:pPr marL="0" indent="0">
              <a:buNone/>
            </a:pPr>
            <a:endParaRPr lang="en-CA" dirty="0"/>
          </a:p>
          <a:p>
            <a:pPr marL="0" indent="0">
              <a:buNone/>
            </a:pPr>
            <a:r>
              <a:rPr lang="en-CA" dirty="0"/>
              <a:t>Why did the results change so much?</a:t>
            </a:r>
          </a:p>
          <a:p>
            <a:pPr marL="0" indent="0">
              <a:buNone/>
            </a:pPr>
            <a:endParaRPr lang="en-CA" dirty="0"/>
          </a:p>
        </p:txBody>
      </p:sp>
    </p:spTree>
    <p:extLst>
      <p:ext uri="{BB962C8B-B14F-4D97-AF65-F5344CB8AC3E}">
        <p14:creationId xmlns:p14="http://schemas.microsoft.com/office/powerpoint/2010/main" val="36835285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A call back to an earlier example</a:t>
            </a:r>
          </a:p>
        </p:txBody>
      </p:sp>
      <p:sp>
        <p:nvSpPr>
          <p:cNvPr id="3" name="Content Placeholder 2"/>
          <p:cNvSpPr>
            <a:spLocks noGrp="1"/>
          </p:cNvSpPr>
          <p:nvPr>
            <p:ph idx="1"/>
          </p:nvPr>
        </p:nvSpPr>
        <p:spPr/>
        <p:txBody>
          <a:bodyPr/>
          <a:lstStyle/>
          <a:p>
            <a:pPr marL="0" indent="0">
              <a:buNone/>
            </a:pPr>
            <a:r>
              <a:rPr lang="en-CA" dirty="0"/>
              <a:t>This was a classic case of OVB.  When we omitted Frosting from the regression, it’s impact was picked up by Layers, because the two variables were positively correlated.</a:t>
            </a:r>
          </a:p>
          <a:p>
            <a:pPr marL="0" indent="0">
              <a:buNone/>
            </a:pPr>
            <a:endParaRPr lang="en-CA" dirty="0">
              <a:sym typeface="Wingdings" panose="05000000000000000000" pitchFamily="2" charset="2"/>
            </a:endParaRPr>
          </a:p>
          <a:p>
            <a:pPr marL="0" indent="0">
              <a:buNone/>
            </a:pPr>
            <a:r>
              <a:rPr lang="en-CA" dirty="0">
                <a:sym typeface="Wingdings" panose="05000000000000000000" pitchFamily="2" charset="2"/>
              </a:rPr>
              <a:t>Why is this the case?  Here’s the logic</a:t>
            </a:r>
            <a:endParaRPr lang="en-CA" dirty="0"/>
          </a:p>
        </p:txBody>
      </p:sp>
    </p:spTree>
    <p:extLst>
      <p:ext uri="{BB962C8B-B14F-4D97-AF65-F5344CB8AC3E}">
        <p14:creationId xmlns:p14="http://schemas.microsoft.com/office/powerpoint/2010/main" val="11852168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A call back to an earlier example</a:t>
            </a:r>
          </a:p>
        </p:txBody>
      </p:sp>
      <p:sp>
        <p:nvSpPr>
          <p:cNvPr id="3" name="Content Placeholder 2"/>
          <p:cNvSpPr>
            <a:spLocks noGrp="1"/>
          </p:cNvSpPr>
          <p:nvPr>
            <p:ph idx="1"/>
          </p:nvPr>
        </p:nvSpPr>
        <p:spPr/>
        <p:txBody>
          <a:bodyPr>
            <a:normAutofit lnSpcReduction="10000"/>
          </a:bodyPr>
          <a:lstStyle/>
          <a:p>
            <a:pPr marL="514350" indent="-514350">
              <a:buAutoNum type="arabicParenBoth"/>
            </a:pPr>
            <a:r>
              <a:rPr lang="en-CA" dirty="0"/>
              <a:t>Customers really value frosting, but don’t care about layers.</a:t>
            </a:r>
          </a:p>
          <a:p>
            <a:pPr marL="514350" indent="-514350">
              <a:buAutoNum type="arabicParenBoth"/>
            </a:pPr>
            <a:r>
              <a:rPr lang="en-CA" dirty="0"/>
              <a:t>Cakes with more layers also happened to have more frosting on them.</a:t>
            </a:r>
          </a:p>
          <a:p>
            <a:pPr marL="514350" indent="-514350">
              <a:buAutoNum type="arabicParenBoth"/>
            </a:pPr>
            <a:r>
              <a:rPr lang="en-CA" dirty="0"/>
              <a:t>When we omitted Frosting, Excel told us that the price went up when Layers went up.  But this was only due to (2): when layers increased, so did frosting (the important – and missing – factor)</a:t>
            </a:r>
          </a:p>
        </p:txBody>
      </p:sp>
    </p:spTree>
    <p:extLst>
      <p:ext uri="{BB962C8B-B14F-4D97-AF65-F5344CB8AC3E}">
        <p14:creationId xmlns:p14="http://schemas.microsoft.com/office/powerpoint/2010/main" val="8063547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A call back to an earlier example</a:t>
            </a:r>
          </a:p>
        </p:txBody>
      </p:sp>
      <p:sp>
        <p:nvSpPr>
          <p:cNvPr id="3" name="Content Placeholder 2"/>
          <p:cNvSpPr>
            <a:spLocks noGrp="1"/>
          </p:cNvSpPr>
          <p:nvPr>
            <p:ph idx="1"/>
          </p:nvPr>
        </p:nvSpPr>
        <p:spPr/>
        <p:txBody>
          <a:bodyPr/>
          <a:lstStyle/>
          <a:p>
            <a:pPr marL="0" indent="0">
              <a:buNone/>
            </a:pPr>
            <a:r>
              <a:rPr lang="en-CA" dirty="0"/>
              <a:t>Hence the problem of OVB!</a:t>
            </a:r>
          </a:p>
          <a:p>
            <a:pPr marL="0" indent="0">
              <a:buNone/>
            </a:pPr>
            <a:endParaRPr lang="en-CA" dirty="0"/>
          </a:p>
          <a:p>
            <a:pPr marL="0" indent="0">
              <a:buNone/>
            </a:pPr>
            <a:r>
              <a:rPr lang="en-US" dirty="0"/>
              <a:t>It is very hard to draw causal conclusions in any study, </a:t>
            </a:r>
            <a:r>
              <a:rPr lang="en-US" b="1" i="1" dirty="0"/>
              <a:t>unless we are carefully aware of notions of omitted variables bias.</a:t>
            </a:r>
            <a:r>
              <a:rPr lang="en-US" dirty="0"/>
              <a:t>  (We also call this “</a:t>
            </a:r>
            <a:r>
              <a:rPr lang="en-US" dirty="0" err="1"/>
              <a:t>endogeneity</a:t>
            </a:r>
            <a:r>
              <a:rPr lang="en-US" dirty="0"/>
              <a:t>” or “selection bias” or problems of “sample selection”, but it’s all the same problem)</a:t>
            </a:r>
            <a:endParaRPr lang="en-US" b="1" i="1" dirty="0"/>
          </a:p>
          <a:p>
            <a:pPr marL="0" indent="0">
              <a:buNone/>
            </a:pPr>
            <a:endParaRPr lang="en-CA" dirty="0"/>
          </a:p>
          <a:p>
            <a:pPr marL="0" indent="0">
              <a:buNone/>
            </a:pPr>
            <a:endParaRPr lang="en-CA" dirty="0"/>
          </a:p>
          <a:p>
            <a:pPr marL="0" indent="0">
              <a:buNone/>
            </a:pPr>
            <a:endParaRPr lang="en-CA" dirty="0"/>
          </a:p>
        </p:txBody>
      </p:sp>
    </p:spTree>
    <p:extLst>
      <p:ext uri="{BB962C8B-B14F-4D97-AF65-F5344CB8AC3E}">
        <p14:creationId xmlns:p14="http://schemas.microsoft.com/office/powerpoint/2010/main" val="15264153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Big Point</a:t>
            </a:r>
          </a:p>
        </p:txBody>
      </p:sp>
      <p:sp>
        <p:nvSpPr>
          <p:cNvPr id="3" name="Content Placeholder 2"/>
          <p:cNvSpPr>
            <a:spLocks noGrp="1"/>
          </p:cNvSpPr>
          <p:nvPr>
            <p:ph idx="1"/>
          </p:nvPr>
        </p:nvSpPr>
        <p:spPr/>
        <p:txBody>
          <a:bodyPr/>
          <a:lstStyle/>
          <a:p>
            <a:pPr marL="0" indent="0">
              <a:buNone/>
            </a:pPr>
            <a:r>
              <a:rPr lang="en-CA" dirty="0"/>
              <a:t>We’ve said that OVB is </a:t>
            </a:r>
            <a:r>
              <a:rPr lang="en-CA" b="1" u="sng" dirty="0"/>
              <a:t>unavoidable</a:t>
            </a:r>
            <a:endParaRPr lang="en-CA" dirty="0"/>
          </a:p>
          <a:p>
            <a:pPr marL="0" indent="0">
              <a:buNone/>
            </a:pPr>
            <a:endParaRPr lang="en-CA" dirty="0"/>
          </a:p>
          <a:p>
            <a:pPr marL="0" indent="0">
              <a:buNone/>
            </a:pPr>
            <a:r>
              <a:rPr lang="en-CA" dirty="0"/>
              <a:t>We’ll always leave something out because:</a:t>
            </a:r>
          </a:p>
          <a:p>
            <a:pPr marL="571500" indent="-571500">
              <a:buAutoNum type="romanLcParenBoth"/>
            </a:pPr>
            <a:r>
              <a:rPr lang="en-CA" dirty="0"/>
              <a:t>We know about it but can’t collect information on it, or</a:t>
            </a:r>
          </a:p>
          <a:p>
            <a:pPr marL="571500" indent="-571500">
              <a:buAutoNum type="romanLcParenBoth"/>
            </a:pPr>
            <a:r>
              <a:rPr lang="en-CA" dirty="0"/>
              <a:t>We may not be aware of something important</a:t>
            </a:r>
          </a:p>
          <a:p>
            <a:pPr marL="571500" indent="-571500">
              <a:buAutoNum type="romanLcParenBoth"/>
            </a:pPr>
            <a:endParaRPr lang="en-CA" dirty="0"/>
          </a:p>
        </p:txBody>
      </p:sp>
    </p:spTree>
    <p:extLst>
      <p:ext uri="{BB962C8B-B14F-4D97-AF65-F5344CB8AC3E}">
        <p14:creationId xmlns:p14="http://schemas.microsoft.com/office/powerpoint/2010/main" val="32008793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How does this relate to our current discussion?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fontScale="92500" lnSpcReduction="10000"/>
              </a:bodyPr>
              <a:lstStyle/>
              <a:p>
                <a:pPr marL="0" indent="0">
                  <a:buNone/>
                </a:pPr>
                <a:r>
                  <a:rPr lang="en-US" dirty="0"/>
                  <a:t>Recall our earlier work on the change in productivity before and after a reorganization:</a:t>
                </a:r>
              </a:p>
              <a:p>
                <a:pPr marL="0" indent="0">
                  <a:buNone/>
                </a:pPr>
                <a:endParaRPr lang="en-US" dirty="0"/>
              </a:p>
              <a:p>
                <a:pPr marL="0" indent="0" algn="ctr">
                  <a:buNone/>
                </a:pPr>
                <a:r>
                  <a:rPr lang="en-US" dirty="0"/>
                  <a:t>Productivity = </a:t>
                </a:r>
                <a14:m>
                  <m:oMath xmlns:m="http://schemas.openxmlformats.org/officeDocument/2006/math">
                    <m:acc>
                      <m:accPr>
                        <m:chr m:val="̂"/>
                        <m:ctrlPr>
                          <a:rPr lang="en-US" i="1">
                            <a:latin typeface="Cambria Math" panose="02040503050406030204" pitchFamily="18" charset="0"/>
                          </a:rPr>
                        </m:ctrlPr>
                      </m:accPr>
                      <m:e>
                        <m:r>
                          <a:rPr lang="en-US" i="1">
                            <a:latin typeface="Cambria Math"/>
                          </a:rPr>
                          <m:t>𝑏</m:t>
                        </m:r>
                      </m:e>
                    </m:acc>
                  </m:oMath>
                </a14:m>
                <a:r>
                  <a:rPr lang="en-US" baseline="-25000" dirty="0"/>
                  <a:t>0 </a:t>
                </a:r>
                <a:r>
                  <a:rPr lang="en-US" dirty="0"/>
                  <a:t>+ </a:t>
                </a:r>
                <a14:m>
                  <m:oMath xmlns:m="http://schemas.openxmlformats.org/officeDocument/2006/math">
                    <m:acc>
                      <m:accPr>
                        <m:chr m:val="̂"/>
                        <m:ctrlPr>
                          <a:rPr lang="en-US" i="1">
                            <a:latin typeface="Cambria Math" panose="02040503050406030204" pitchFamily="18" charset="0"/>
                          </a:rPr>
                        </m:ctrlPr>
                      </m:accPr>
                      <m:e>
                        <m:r>
                          <a:rPr lang="en-US" i="1">
                            <a:latin typeface="Cambria Math"/>
                          </a:rPr>
                          <m:t>𝑏</m:t>
                        </m:r>
                      </m:e>
                    </m:acc>
                  </m:oMath>
                </a14:m>
                <a:r>
                  <a:rPr lang="en-US" baseline="-25000" dirty="0"/>
                  <a:t>1</a:t>
                </a:r>
                <a:r>
                  <a:rPr lang="en-US" dirty="0"/>
                  <a:t>(</a:t>
                </a:r>
                <a:r>
                  <a:rPr lang="en-US" dirty="0" err="1"/>
                  <a:t>Postreorg</a:t>
                </a:r>
                <a:r>
                  <a:rPr lang="en-US" dirty="0"/>
                  <a:t>)</a:t>
                </a:r>
              </a:p>
              <a:p>
                <a:pPr marL="0" indent="0" algn="ctr">
                  <a:buNone/>
                </a:pPr>
                <a:endParaRPr lang="en-US" dirty="0"/>
              </a:p>
              <a:p>
                <a:pPr marL="0" indent="0">
                  <a:buNone/>
                </a:pPr>
                <a:r>
                  <a:rPr lang="en-US" dirty="0"/>
                  <a:t>In this case:</a:t>
                </a:r>
              </a:p>
              <a:p>
                <a:pPr marL="0" indent="0">
                  <a:buNone/>
                </a:pPr>
                <a:r>
                  <a:rPr lang="en-US" dirty="0">
                    <a:latin typeface="Symbol" pitchFamily="18" charset="2"/>
                  </a:rPr>
                  <a:t>(</a:t>
                </a:r>
                <a:r>
                  <a:rPr lang="en-US" dirty="0"/>
                  <a:t>a</a:t>
                </a:r>
                <a:r>
                  <a:rPr lang="en-US" dirty="0">
                    <a:latin typeface="Symbol" pitchFamily="18" charset="2"/>
                  </a:rPr>
                  <a:t>) </a:t>
                </a:r>
                <a14:m>
                  <m:oMath xmlns:m="http://schemas.openxmlformats.org/officeDocument/2006/math">
                    <m:acc>
                      <m:accPr>
                        <m:chr m:val="̂"/>
                        <m:ctrlPr>
                          <a:rPr lang="en-US" i="1">
                            <a:latin typeface="Cambria Math" panose="02040503050406030204" pitchFamily="18" charset="0"/>
                          </a:rPr>
                        </m:ctrlPr>
                      </m:accPr>
                      <m:e>
                        <m:r>
                          <a:rPr lang="en-US" i="1">
                            <a:latin typeface="Cambria Math"/>
                          </a:rPr>
                          <m:t>𝑏</m:t>
                        </m:r>
                      </m:e>
                    </m:acc>
                  </m:oMath>
                </a14:m>
                <a:r>
                  <a:rPr lang="en-US" baseline="-25000" dirty="0">
                    <a:latin typeface="Symbol" pitchFamily="18" charset="2"/>
                  </a:rPr>
                  <a:t>0</a:t>
                </a:r>
                <a:r>
                  <a:rPr lang="en-US" dirty="0">
                    <a:latin typeface="Symbol" pitchFamily="18" charset="2"/>
                  </a:rPr>
                  <a:t> </a:t>
                </a:r>
                <a:r>
                  <a:rPr lang="en-US" dirty="0"/>
                  <a:t>gave us the average productivity prior to the reorganization, and</a:t>
                </a:r>
              </a:p>
              <a:p>
                <a:pPr marL="0" indent="0">
                  <a:buNone/>
                </a:pPr>
                <a:r>
                  <a:rPr lang="en-US" dirty="0"/>
                  <a:t>(b) </a:t>
                </a:r>
                <a14:m>
                  <m:oMath xmlns:m="http://schemas.openxmlformats.org/officeDocument/2006/math">
                    <m:acc>
                      <m:accPr>
                        <m:chr m:val="̂"/>
                        <m:ctrlPr>
                          <a:rPr lang="en-US" i="1">
                            <a:latin typeface="Cambria Math" panose="02040503050406030204" pitchFamily="18" charset="0"/>
                          </a:rPr>
                        </m:ctrlPr>
                      </m:accPr>
                      <m:e>
                        <m:r>
                          <a:rPr lang="en-US" i="1">
                            <a:latin typeface="Cambria Math"/>
                          </a:rPr>
                          <m:t>𝑏</m:t>
                        </m:r>
                      </m:e>
                    </m:acc>
                  </m:oMath>
                </a14:m>
                <a:r>
                  <a:rPr lang="en-US" baseline="-25000" dirty="0">
                    <a:latin typeface="Symbol" pitchFamily="18" charset="2"/>
                  </a:rPr>
                  <a:t>1</a:t>
                </a:r>
                <a:r>
                  <a:rPr lang="en-US" dirty="0">
                    <a:latin typeface="Symbol" pitchFamily="18" charset="2"/>
                  </a:rPr>
                  <a:t> </a:t>
                </a:r>
                <a:r>
                  <a:rPr lang="en-US" dirty="0"/>
                  <a:t>showed us the change in productivity.</a:t>
                </a:r>
              </a:p>
              <a:p>
                <a:pPr marL="0" indent="0">
                  <a:buNone/>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704" t="-2695" b="-2022"/>
                </a:stretch>
              </a:blipFill>
            </p:spPr>
            <p:txBody>
              <a:bodyPr/>
              <a:lstStyle/>
              <a:p>
                <a:r>
                  <a:rPr lang="en-US">
                    <a:noFill/>
                  </a:rPr>
                  <a:t> </a:t>
                </a:r>
              </a:p>
            </p:txBody>
          </p:sp>
        </mc:Fallback>
      </mc:AlternateContent>
    </p:spTree>
    <p:extLst>
      <p:ext uri="{BB962C8B-B14F-4D97-AF65-F5344CB8AC3E}">
        <p14:creationId xmlns:p14="http://schemas.microsoft.com/office/powerpoint/2010/main" val="21990247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How does this relate to our current discussion?</a:t>
            </a:r>
          </a:p>
        </p:txBody>
      </p:sp>
      <p:sp>
        <p:nvSpPr>
          <p:cNvPr id="3" name="Content Placeholder 2"/>
          <p:cNvSpPr>
            <a:spLocks noGrp="1"/>
          </p:cNvSpPr>
          <p:nvPr>
            <p:ph idx="1"/>
          </p:nvPr>
        </p:nvSpPr>
        <p:spPr/>
        <p:txBody>
          <a:bodyPr/>
          <a:lstStyle/>
          <a:p>
            <a:pPr marL="0" indent="0">
              <a:buNone/>
            </a:pPr>
            <a:r>
              <a:rPr lang="en-US" dirty="0"/>
              <a:t>But remember: if something is missing from our regression, we can draw the wrong conclusion from our work.</a:t>
            </a:r>
          </a:p>
          <a:p>
            <a:pPr marL="0" indent="0">
              <a:buNone/>
            </a:pPr>
            <a:endParaRPr lang="en-US" dirty="0"/>
          </a:p>
          <a:p>
            <a:pPr marL="0" indent="0">
              <a:buNone/>
            </a:pPr>
            <a:r>
              <a:rPr lang="en-US" dirty="0"/>
              <a:t>So what are the assumptions here that might be overlooking this omitted variable problem?</a:t>
            </a:r>
          </a:p>
        </p:txBody>
      </p:sp>
    </p:spTree>
    <p:extLst>
      <p:ext uri="{BB962C8B-B14F-4D97-AF65-F5344CB8AC3E}">
        <p14:creationId xmlns:p14="http://schemas.microsoft.com/office/powerpoint/2010/main" val="21601671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Oval 26"/>
          <p:cNvSpPr/>
          <p:nvPr/>
        </p:nvSpPr>
        <p:spPr>
          <a:xfrm>
            <a:off x="3875163" y="3481508"/>
            <a:ext cx="3235671" cy="1418983"/>
          </a:xfrm>
          <a:prstGeom prst="ellipse">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p:cNvSpPr/>
          <p:nvPr/>
        </p:nvSpPr>
        <p:spPr>
          <a:xfrm>
            <a:off x="1130611" y="2316846"/>
            <a:ext cx="2790825" cy="1418983"/>
          </a:xfrm>
          <a:prstGeom prst="ellipse">
            <a:avLst/>
          </a:prstGeom>
          <a:solidFill>
            <a:schemeClr val="bg1"/>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lstStyle/>
          <a:p>
            <a:r>
              <a:rPr lang="en-US" dirty="0"/>
              <a:t>Recall our earlier case</a:t>
            </a:r>
          </a:p>
        </p:txBody>
      </p:sp>
      <p:sp>
        <p:nvSpPr>
          <p:cNvPr id="3" name="Content Placeholder 2"/>
          <p:cNvSpPr>
            <a:spLocks noGrp="1"/>
          </p:cNvSpPr>
          <p:nvPr>
            <p:ph idx="1"/>
          </p:nvPr>
        </p:nvSpPr>
        <p:spPr/>
        <p:txBody>
          <a:bodyPr/>
          <a:lstStyle/>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p:txBody>
      </p:sp>
      <p:cxnSp>
        <p:nvCxnSpPr>
          <p:cNvPr id="5" name="Straight Arrow Connector 4"/>
          <p:cNvCxnSpPr/>
          <p:nvPr/>
        </p:nvCxnSpPr>
        <p:spPr>
          <a:xfrm>
            <a:off x="1219200" y="1676400"/>
            <a:ext cx="1" cy="4191000"/>
          </a:xfrm>
          <a:prstGeom prst="straightConnector1">
            <a:avLst/>
          </a:prstGeom>
          <a:ln w="28575">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7" name="Straight Arrow Connector 6"/>
          <p:cNvCxnSpPr/>
          <p:nvPr/>
        </p:nvCxnSpPr>
        <p:spPr>
          <a:xfrm flipH="1">
            <a:off x="685800" y="5410200"/>
            <a:ext cx="7543800" cy="0"/>
          </a:xfrm>
          <a:prstGeom prst="straightConnector1">
            <a:avLst/>
          </a:prstGeom>
          <a:ln w="28575">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 name="TextBox 10"/>
              <p:cNvSpPr txBox="1"/>
              <p:nvPr/>
            </p:nvSpPr>
            <p:spPr>
              <a:xfrm>
                <a:off x="284516" y="3413204"/>
                <a:ext cx="457200" cy="384144"/>
              </a:xfrm>
              <a:prstGeom prst="rect">
                <a:avLst/>
              </a:prstGeom>
              <a:noFill/>
            </p:spPr>
            <p:txBody>
              <a:bodyPr wrap="square" rtlCol="0">
                <a:spAutoFit/>
              </a:bodyPr>
              <a:lstStyle/>
              <a:p>
                <a14:m>
                  <m:oMath xmlns:m="http://schemas.openxmlformats.org/officeDocument/2006/math">
                    <m:acc>
                      <m:accPr>
                        <m:chr m:val="̂"/>
                        <m:ctrlPr>
                          <a:rPr lang="en-US" i="1">
                            <a:latin typeface="Cambria Math" panose="02040503050406030204" pitchFamily="18" charset="0"/>
                          </a:rPr>
                        </m:ctrlPr>
                      </m:accPr>
                      <m:e>
                        <m:r>
                          <a:rPr lang="en-US" i="1">
                            <a:latin typeface="Cambria Math"/>
                          </a:rPr>
                          <m:t>𝑏</m:t>
                        </m:r>
                      </m:e>
                    </m:acc>
                  </m:oMath>
                </a14:m>
                <a:r>
                  <a:rPr lang="en-US" baseline="-25000" dirty="0"/>
                  <a:t>1</a:t>
                </a:r>
                <a:endParaRPr lang="en-CA" dirty="0"/>
              </a:p>
            </p:txBody>
          </p:sp>
        </mc:Choice>
        <mc:Fallback xmlns="">
          <p:sp>
            <p:nvSpPr>
              <p:cNvPr id="11" name="TextBox 10"/>
              <p:cNvSpPr txBox="1">
                <a:spLocks noRot="1" noChangeAspect="1" noMove="1" noResize="1" noEditPoints="1" noAdjustHandles="1" noChangeArrowheads="1" noChangeShapeType="1" noTextEdit="1"/>
              </p:cNvSpPr>
              <p:nvPr/>
            </p:nvSpPr>
            <p:spPr>
              <a:xfrm>
                <a:off x="284516" y="3413204"/>
                <a:ext cx="457200" cy="384144"/>
              </a:xfrm>
              <a:prstGeom prst="rect">
                <a:avLst/>
              </a:prstGeom>
              <a:blipFill>
                <a:blip r:embed="rId2"/>
                <a:stretch>
                  <a:fillRect t="-1587" b="-2063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p:cNvSpPr txBox="1"/>
              <p:nvPr/>
            </p:nvSpPr>
            <p:spPr>
              <a:xfrm>
                <a:off x="207082" y="4536993"/>
                <a:ext cx="612068" cy="384144"/>
              </a:xfrm>
              <a:prstGeom prst="rect">
                <a:avLst/>
              </a:prstGeom>
              <a:noFill/>
            </p:spPr>
            <p:txBody>
              <a:bodyPr wrap="square" rtlCol="0">
                <a:spAutoFit/>
              </a:bodyPr>
              <a:lstStyle/>
              <a:p>
                <a14:m>
                  <m:oMath xmlns:m="http://schemas.openxmlformats.org/officeDocument/2006/math">
                    <m:acc>
                      <m:accPr>
                        <m:chr m:val="̂"/>
                        <m:ctrlPr>
                          <a:rPr lang="en-US" i="1">
                            <a:latin typeface="Cambria Math" panose="02040503050406030204" pitchFamily="18" charset="0"/>
                          </a:rPr>
                        </m:ctrlPr>
                      </m:accPr>
                      <m:e>
                        <m:r>
                          <a:rPr lang="en-US" i="1">
                            <a:latin typeface="Cambria Math"/>
                          </a:rPr>
                          <m:t>𝑏</m:t>
                        </m:r>
                      </m:e>
                    </m:acc>
                  </m:oMath>
                </a14:m>
                <a:r>
                  <a:rPr lang="en-US" baseline="-25000" dirty="0"/>
                  <a:t>0</a:t>
                </a:r>
                <a:endParaRPr lang="en-CA" dirty="0"/>
              </a:p>
            </p:txBody>
          </p:sp>
        </mc:Choice>
        <mc:Fallback xmlns="">
          <p:sp>
            <p:nvSpPr>
              <p:cNvPr id="12" name="TextBox 11"/>
              <p:cNvSpPr txBox="1">
                <a:spLocks noRot="1" noChangeAspect="1" noMove="1" noResize="1" noEditPoints="1" noAdjustHandles="1" noChangeArrowheads="1" noChangeShapeType="1" noTextEdit="1"/>
              </p:cNvSpPr>
              <p:nvPr/>
            </p:nvSpPr>
            <p:spPr>
              <a:xfrm>
                <a:off x="207082" y="4536993"/>
                <a:ext cx="612068" cy="384144"/>
              </a:xfrm>
              <a:prstGeom prst="rect">
                <a:avLst/>
              </a:prstGeom>
              <a:blipFill>
                <a:blip r:embed="rId3"/>
                <a:stretch>
                  <a:fillRect t="-1587" b="-20635"/>
                </a:stretch>
              </a:blipFill>
            </p:spPr>
            <p:txBody>
              <a:bodyPr/>
              <a:lstStyle/>
              <a:p>
                <a:r>
                  <a:rPr lang="en-US">
                    <a:noFill/>
                  </a:rPr>
                  <a:t> </a:t>
                </a:r>
              </a:p>
            </p:txBody>
          </p:sp>
        </mc:Fallback>
      </mc:AlternateContent>
      <p:cxnSp>
        <p:nvCxnSpPr>
          <p:cNvPr id="13" name="Straight Connector 12"/>
          <p:cNvCxnSpPr/>
          <p:nvPr/>
        </p:nvCxnSpPr>
        <p:spPr>
          <a:xfrm>
            <a:off x="1261113" y="4191000"/>
            <a:ext cx="2622383"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flipV="1">
            <a:off x="3875163" y="1445568"/>
            <a:ext cx="0" cy="3888432"/>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3875163" y="3082280"/>
            <a:ext cx="2525637"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flipH="1">
            <a:off x="1219200" y="3073496"/>
            <a:ext cx="2664296" cy="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flipH="1">
            <a:off x="3875163" y="4191000"/>
            <a:ext cx="2677442" cy="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22" name="TextBox 21"/>
          <p:cNvSpPr txBox="1"/>
          <p:nvPr/>
        </p:nvSpPr>
        <p:spPr>
          <a:xfrm>
            <a:off x="6629400" y="2482115"/>
            <a:ext cx="2355322" cy="1200329"/>
          </a:xfrm>
          <a:prstGeom prst="rect">
            <a:avLst/>
          </a:prstGeom>
          <a:noFill/>
        </p:spPr>
        <p:txBody>
          <a:bodyPr wrap="square" rtlCol="0">
            <a:spAutoFit/>
          </a:bodyPr>
          <a:lstStyle/>
          <a:p>
            <a:r>
              <a:rPr lang="en-US" dirty="0"/>
              <a:t>What would have happened if we had never enacted the change</a:t>
            </a:r>
            <a:endParaRPr lang="en-CA" dirty="0"/>
          </a:p>
        </p:txBody>
      </p:sp>
      <p:cxnSp>
        <p:nvCxnSpPr>
          <p:cNvPr id="24" name="Straight Arrow Connector 23"/>
          <p:cNvCxnSpPr/>
          <p:nvPr/>
        </p:nvCxnSpPr>
        <p:spPr>
          <a:xfrm flipH="1">
            <a:off x="5492998" y="3372591"/>
            <a:ext cx="1136402" cy="818408"/>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28" name="TextBox 27"/>
          <p:cNvSpPr txBox="1"/>
          <p:nvPr/>
        </p:nvSpPr>
        <p:spPr>
          <a:xfrm>
            <a:off x="1261113" y="1214735"/>
            <a:ext cx="2355322" cy="923330"/>
          </a:xfrm>
          <a:prstGeom prst="rect">
            <a:avLst/>
          </a:prstGeom>
          <a:noFill/>
        </p:spPr>
        <p:txBody>
          <a:bodyPr wrap="square" rtlCol="0">
            <a:spAutoFit/>
          </a:bodyPr>
          <a:lstStyle/>
          <a:p>
            <a:r>
              <a:rPr lang="en-US" dirty="0"/>
              <a:t>What would have happened if we had always had the change</a:t>
            </a:r>
            <a:endParaRPr lang="en-CA" dirty="0"/>
          </a:p>
        </p:txBody>
      </p:sp>
      <p:cxnSp>
        <p:nvCxnSpPr>
          <p:cNvPr id="29" name="Straight Arrow Connector 28"/>
          <p:cNvCxnSpPr>
            <a:stCxn id="28" idx="2"/>
          </p:cNvCxnSpPr>
          <p:nvPr/>
        </p:nvCxnSpPr>
        <p:spPr>
          <a:xfrm>
            <a:off x="2438774" y="2138065"/>
            <a:ext cx="0" cy="587771"/>
          </a:xfrm>
          <a:prstGeom prst="straightConnector1">
            <a:avLst/>
          </a:prstGeom>
          <a:ln>
            <a:solidFill>
              <a:srgbClr val="00B050"/>
            </a:solidFill>
            <a:tailEnd type="arrow"/>
          </a:ln>
        </p:spPr>
        <p:style>
          <a:lnRef idx="1">
            <a:schemeClr val="accent1"/>
          </a:lnRef>
          <a:fillRef idx="0">
            <a:schemeClr val="accent1"/>
          </a:fillRef>
          <a:effectRef idx="0">
            <a:schemeClr val="accent1"/>
          </a:effectRef>
          <a:fontRef idx="minor">
            <a:schemeClr val="tx1"/>
          </a:fontRef>
        </p:style>
      </p:cxnSp>
      <p:sp>
        <p:nvSpPr>
          <p:cNvPr id="36" name="Left Brace 35"/>
          <p:cNvSpPr/>
          <p:nvPr/>
        </p:nvSpPr>
        <p:spPr>
          <a:xfrm>
            <a:off x="741716" y="3073496"/>
            <a:ext cx="477484" cy="1117503"/>
          </a:xfrm>
          <a:prstGeom prst="leftBrace">
            <a:avLst/>
          </a:prstGeom>
          <a:ln w="19050"/>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cxnSp>
        <p:nvCxnSpPr>
          <p:cNvPr id="38" name="Straight Arrow Connector 37"/>
          <p:cNvCxnSpPr>
            <a:endCxn id="36" idx="2"/>
          </p:cNvCxnSpPr>
          <p:nvPr/>
        </p:nvCxnSpPr>
        <p:spPr>
          <a:xfrm flipV="1">
            <a:off x="513116" y="4190999"/>
            <a:ext cx="706084" cy="530660"/>
          </a:xfrm>
          <a:prstGeom prst="straightConnector1">
            <a:avLst/>
          </a:prstGeom>
          <a:ln w="19050">
            <a:tailEnd type="arrow"/>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7687948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21" grpId="0" animBg="1"/>
      <p:bldP spid="22" grpId="0"/>
      <p:bldP spid="28"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Note the assumption here</a:t>
            </a:r>
          </a:p>
        </p:txBody>
      </p:sp>
      <p:sp>
        <p:nvSpPr>
          <p:cNvPr id="3" name="Content Placeholder 2"/>
          <p:cNvSpPr>
            <a:spLocks noGrp="1"/>
          </p:cNvSpPr>
          <p:nvPr>
            <p:ph idx="1"/>
          </p:nvPr>
        </p:nvSpPr>
        <p:spPr/>
        <p:txBody>
          <a:bodyPr/>
          <a:lstStyle/>
          <a:p>
            <a:pPr marL="0" indent="0">
              <a:buNone/>
            </a:pPr>
            <a:r>
              <a:rPr lang="en-US" dirty="0"/>
              <a:t>We’re assuming that nothing would have been different about productivity </a:t>
            </a:r>
            <a:r>
              <a:rPr lang="en-US" b="1" u="sng" dirty="0"/>
              <a:t>had we never enacted the change</a:t>
            </a:r>
            <a:endParaRPr lang="en-US" dirty="0"/>
          </a:p>
          <a:p>
            <a:pPr marL="0" indent="0">
              <a:buNone/>
            </a:pPr>
            <a:endParaRPr lang="en-US" b="1" u="sng" dirty="0"/>
          </a:p>
          <a:p>
            <a:pPr marL="0" indent="0">
              <a:buNone/>
            </a:pPr>
            <a:r>
              <a:rPr lang="en-US" dirty="0"/>
              <a:t>But is this a reasonable assumption?</a:t>
            </a:r>
          </a:p>
          <a:p>
            <a:pPr marL="0" indent="0">
              <a:buNone/>
            </a:pPr>
            <a:endParaRPr lang="en-US" dirty="0"/>
          </a:p>
          <a:p>
            <a:pPr marL="0" indent="0">
              <a:buNone/>
            </a:pPr>
            <a:r>
              <a:rPr lang="en-US" dirty="0">
                <a:sym typeface="Wingdings" panose="05000000000000000000" pitchFamily="2" charset="2"/>
              </a:rPr>
              <a:t> Probably not.  (Uh oh)</a:t>
            </a:r>
            <a:endParaRPr lang="en-US" dirty="0"/>
          </a:p>
        </p:txBody>
      </p:sp>
    </p:spTree>
    <p:extLst>
      <p:ext uri="{BB962C8B-B14F-4D97-AF65-F5344CB8AC3E}">
        <p14:creationId xmlns:p14="http://schemas.microsoft.com/office/powerpoint/2010/main" val="262410651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So how do we circumvent this problem?</a:t>
            </a:r>
          </a:p>
        </p:txBody>
      </p:sp>
      <p:sp>
        <p:nvSpPr>
          <p:cNvPr id="3" name="Content Placeholder 2"/>
          <p:cNvSpPr>
            <a:spLocks noGrp="1"/>
          </p:cNvSpPr>
          <p:nvPr>
            <p:ph idx="1"/>
          </p:nvPr>
        </p:nvSpPr>
        <p:spPr/>
        <p:txBody>
          <a:bodyPr>
            <a:normAutofit/>
          </a:bodyPr>
          <a:lstStyle/>
          <a:p>
            <a:pPr marL="0" indent="0">
              <a:buNone/>
            </a:pPr>
            <a:r>
              <a:rPr lang="en-US" dirty="0"/>
              <a:t>Let’s take a step back and ask ourselves how we would determine the causal relationship between X and Y if we were omnipotent.</a:t>
            </a:r>
          </a:p>
          <a:p>
            <a:pPr marL="0" indent="0">
              <a:buNone/>
            </a:pPr>
            <a:endParaRPr lang="en-US" dirty="0"/>
          </a:p>
          <a:p>
            <a:pPr marL="0" indent="0">
              <a:buNone/>
            </a:pPr>
            <a:r>
              <a:rPr lang="en-US" dirty="0"/>
              <a:t>As an example, let’s suppose that I was interested in examining the impact of a new incentive system on the productivity of my workers.</a:t>
            </a:r>
          </a:p>
        </p:txBody>
      </p:sp>
    </p:spTree>
    <p:extLst>
      <p:ext uri="{BB962C8B-B14F-4D97-AF65-F5344CB8AC3E}">
        <p14:creationId xmlns:p14="http://schemas.microsoft.com/office/powerpoint/2010/main" val="212398064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85800"/>
            <a:ext cx="8229600" cy="5440363"/>
          </a:xfrm>
        </p:spPr>
        <p:txBody>
          <a:bodyPr>
            <a:normAutofit fontScale="92500" lnSpcReduction="10000"/>
          </a:bodyPr>
          <a:lstStyle/>
          <a:p>
            <a:pPr marL="0" indent="0">
              <a:buNone/>
            </a:pPr>
            <a:r>
              <a:rPr lang="en-US" dirty="0"/>
              <a:t>If I had unlimited powers, I would take a single individual, employ him/her under the incentive program (like a commission-based contract) and then measure their productivity afterwards.</a:t>
            </a:r>
          </a:p>
          <a:p>
            <a:pPr marL="0" indent="0">
              <a:buNone/>
            </a:pPr>
            <a:endParaRPr lang="en-US" dirty="0"/>
          </a:p>
          <a:p>
            <a:pPr marL="0" indent="0">
              <a:buNone/>
            </a:pPr>
            <a:r>
              <a:rPr lang="en-US" dirty="0"/>
              <a:t>Then, I would put him/her in a time machine, deny them the new system, and measure their productivity in </a:t>
            </a:r>
            <a:r>
              <a:rPr lang="en-US" i="1" dirty="0"/>
              <a:t>that</a:t>
            </a:r>
            <a:r>
              <a:rPr lang="en-US" dirty="0"/>
              <a:t> case.</a:t>
            </a:r>
          </a:p>
          <a:p>
            <a:pPr marL="0" indent="0">
              <a:buNone/>
            </a:pPr>
            <a:endParaRPr lang="en-US" dirty="0"/>
          </a:p>
          <a:p>
            <a:pPr marL="0" indent="0">
              <a:buNone/>
            </a:pPr>
            <a:r>
              <a:rPr lang="en-US" dirty="0"/>
              <a:t>The causal effect of the system would be represented by the difference in productivity in this case.</a:t>
            </a:r>
          </a:p>
        </p:txBody>
      </p:sp>
    </p:spTree>
    <p:extLst>
      <p:ext uri="{BB962C8B-B14F-4D97-AF65-F5344CB8AC3E}">
        <p14:creationId xmlns:p14="http://schemas.microsoft.com/office/powerpoint/2010/main" val="31073033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Why would this work?</a:t>
            </a:r>
          </a:p>
        </p:txBody>
      </p:sp>
      <p:sp>
        <p:nvSpPr>
          <p:cNvPr id="3" name="Content Placeholder 2"/>
          <p:cNvSpPr>
            <a:spLocks noGrp="1"/>
          </p:cNvSpPr>
          <p:nvPr>
            <p:ph idx="1"/>
          </p:nvPr>
        </p:nvSpPr>
        <p:spPr/>
        <p:txBody>
          <a:bodyPr/>
          <a:lstStyle/>
          <a:p>
            <a:pPr marL="0" indent="0">
              <a:buNone/>
            </a:pPr>
            <a:r>
              <a:rPr lang="en-US" dirty="0"/>
              <a:t>It would tell me the “counterfactual” story for the individual – what productivity they </a:t>
            </a:r>
            <a:r>
              <a:rPr lang="en-US" i="1" dirty="0"/>
              <a:t>would</a:t>
            </a:r>
            <a:r>
              <a:rPr lang="en-US" dirty="0"/>
              <a:t> have had in the absence of particular system.</a:t>
            </a:r>
          </a:p>
          <a:p>
            <a:pPr marL="0" indent="0">
              <a:buNone/>
            </a:pPr>
            <a:endParaRPr lang="en-US" dirty="0"/>
          </a:p>
          <a:p>
            <a:pPr marL="0" indent="0">
              <a:buNone/>
            </a:pPr>
            <a:r>
              <a:rPr lang="en-US" dirty="0"/>
              <a:t>But we can’t do this (or at least, not yet…)</a:t>
            </a:r>
          </a:p>
        </p:txBody>
      </p:sp>
    </p:spTree>
    <p:extLst>
      <p:ext uri="{BB962C8B-B14F-4D97-AF65-F5344CB8AC3E}">
        <p14:creationId xmlns:p14="http://schemas.microsoft.com/office/powerpoint/2010/main" val="245499943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next best thing</a:t>
            </a:r>
          </a:p>
        </p:txBody>
      </p:sp>
      <p:sp>
        <p:nvSpPr>
          <p:cNvPr id="3" name="Content Placeholder 2"/>
          <p:cNvSpPr>
            <a:spLocks noGrp="1"/>
          </p:cNvSpPr>
          <p:nvPr>
            <p:ph idx="1"/>
          </p:nvPr>
        </p:nvSpPr>
        <p:spPr/>
        <p:txBody>
          <a:bodyPr/>
          <a:lstStyle/>
          <a:p>
            <a:pPr marL="0" indent="0">
              <a:buNone/>
            </a:pPr>
            <a:r>
              <a:rPr lang="en-US" dirty="0"/>
              <a:t>In order to approximate this case, we borrow an approach from the medical literature.</a:t>
            </a:r>
          </a:p>
          <a:p>
            <a:pPr marL="0" indent="0">
              <a:buNone/>
            </a:pPr>
            <a:endParaRPr lang="en-US" dirty="0"/>
          </a:p>
          <a:p>
            <a:pPr marL="0" indent="0">
              <a:buNone/>
            </a:pPr>
            <a:r>
              <a:rPr lang="en-US" dirty="0"/>
              <a:t>In order to test the efficacy of an experimental drug, what do medical researchers do?</a:t>
            </a:r>
          </a:p>
        </p:txBody>
      </p:sp>
    </p:spTree>
    <p:extLst>
      <p:ext uri="{BB962C8B-B14F-4D97-AF65-F5344CB8AC3E}">
        <p14:creationId xmlns:p14="http://schemas.microsoft.com/office/powerpoint/2010/main" val="30887252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next best thing</a:t>
            </a:r>
          </a:p>
        </p:txBody>
      </p:sp>
      <p:sp>
        <p:nvSpPr>
          <p:cNvPr id="3" name="Content Placeholder 2"/>
          <p:cNvSpPr>
            <a:spLocks noGrp="1"/>
          </p:cNvSpPr>
          <p:nvPr>
            <p:ph idx="1"/>
          </p:nvPr>
        </p:nvSpPr>
        <p:spPr/>
        <p:txBody>
          <a:bodyPr/>
          <a:lstStyle/>
          <a:p>
            <a:pPr marL="0" indent="0">
              <a:buNone/>
            </a:pPr>
            <a:r>
              <a:rPr lang="en-US" dirty="0"/>
              <a:t>Randomized trials!  They take two groups </a:t>
            </a:r>
            <a:r>
              <a:rPr lang="en-US" b="1" u="sng" dirty="0"/>
              <a:t>who are otherwise equivalent</a:t>
            </a:r>
            <a:r>
              <a:rPr lang="en-US" dirty="0"/>
              <a:t> (this is very important), and randomly assign the drug to one group (known as the “treatment” group) and give a placebo to the other (known as the “control” group).  The outcomes for the two groups are then compared.</a:t>
            </a:r>
            <a:endParaRPr lang="en-US" b="1" u="sng" dirty="0"/>
          </a:p>
        </p:txBody>
      </p:sp>
    </p:spTree>
    <p:extLst>
      <p:ext uri="{BB962C8B-B14F-4D97-AF65-F5344CB8AC3E}">
        <p14:creationId xmlns:p14="http://schemas.microsoft.com/office/powerpoint/2010/main" val="121579401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next best thing</a:t>
            </a:r>
          </a:p>
        </p:txBody>
      </p:sp>
      <p:sp>
        <p:nvSpPr>
          <p:cNvPr id="3" name="Content Placeholder 2"/>
          <p:cNvSpPr>
            <a:spLocks noGrp="1"/>
          </p:cNvSpPr>
          <p:nvPr>
            <p:ph idx="1"/>
          </p:nvPr>
        </p:nvSpPr>
        <p:spPr/>
        <p:txBody>
          <a:bodyPr/>
          <a:lstStyle/>
          <a:p>
            <a:pPr marL="0" indent="0">
              <a:buNone/>
            </a:pPr>
            <a:r>
              <a:rPr lang="en-US" dirty="0"/>
              <a:t>Why does this work?</a:t>
            </a:r>
          </a:p>
          <a:p>
            <a:pPr marL="0" indent="0">
              <a:buNone/>
            </a:pPr>
            <a:endParaRPr lang="en-US" dirty="0"/>
          </a:p>
          <a:p>
            <a:pPr marL="0" indent="0">
              <a:buNone/>
            </a:pPr>
            <a:r>
              <a:rPr lang="en-US" dirty="0"/>
              <a:t>We can make a plausible argument that the control group provides a close approximation for what would have happened to the treatment group in the absence of the receiving the drug – the “counterfactual” outcome.</a:t>
            </a:r>
          </a:p>
        </p:txBody>
      </p:sp>
    </p:spTree>
    <p:extLst>
      <p:ext uri="{BB962C8B-B14F-4D97-AF65-F5344CB8AC3E}">
        <p14:creationId xmlns:p14="http://schemas.microsoft.com/office/powerpoint/2010/main" val="39794306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 early example</a:t>
            </a:r>
          </a:p>
        </p:txBody>
      </p:sp>
      <p:sp>
        <p:nvSpPr>
          <p:cNvPr id="3" name="Content Placeholder 2"/>
          <p:cNvSpPr>
            <a:spLocks noGrp="1"/>
          </p:cNvSpPr>
          <p:nvPr>
            <p:ph idx="1"/>
          </p:nvPr>
        </p:nvSpPr>
        <p:spPr/>
        <p:txBody>
          <a:bodyPr/>
          <a:lstStyle/>
          <a:p>
            <a:pPr marL="0" indent="0">
              <a:buNone/>
            </a:pPr>
            <a:r>
              <a:rPr lang="en-US" dirty="0"/>
              <a:t>In the mid-nineteenth century, London suffered a series of cholera epidemics, and their cause was unknown.  </a:t>
            </a:r>
          </a:p>
          <a:p>
            <a:pPr marL="0" indent="0">
              <a:buNone/>
            </a:pPr>
            <a:endParaRPr lang="en-US" dirty="0"/>
          </a:p>
          <a:p>
            <a:pPr marL="0" indent="0">
              <a:buNone/>
            </a:pPr>
            <a:r>
              <a:rPr lang="en-US" dirty="0"/>
              <a:t>The prevailing theory was that the virus was transmitted by “bad air”, but Dr. John Snow believed that cholera was transmitted by bad drinking water.</a:t>
            </a:r>
          </a:p>
        </p:txBody>
      </p:sp>
    </p:spTree>
    <p:extLst>
      <p:ext uri="{BB962C8B-B14F-4D97-AF65-F5344CB8AC3E}">
        <p14:creationId xmlns:p14="http://schemas.microsoft.com/office/powerpoint/2010/main" val="49231785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Snow’s study</a:t>
            </a:r>
          </a:p>
        </p:txBody>
      </p:sp>
      <p:sp>
        <p:nvSpPr>
          <p:cNvPr id="3" name="Content Placeholder 2"/>
          <p:cNvSpPr>
            <a:spLocks noGrp="1"/>
          </p:cNvSpPr>
          <p:nvPr>
            <p:ph idx="1"/>
          </p:nvPr>
        </p:nvSpPr>
        <p:spPr/>
        <p:txBody>
          <a:bodyPr>
            <a:normAutofit fontScale="92500" lnSpcReduction="20000"/>
          </a:bodyPr>
          <a:lstStyle/>
          <a:p>
            <a:pPr marL="0" indent="0">
              <a:buNone/>
            </a:pPr>
            <a:r>
              <a:rPr lang="en-US" dirty="0"/>
              <a:t>Two water companies (</a:t>
            </a:r>
            <a:r>
              <a:rPr lang="en-US" dirty="0" err="1"/>
              <a:t>Southwark</a:t>
            </a:r>
            <a:r>
              <a:rPr lang="en-US" dirty="0"/>
              <a:t> and Vauxhall company (SV) and Lambeth) both drew water from the polluted Thames in 1849.</a:t>
            </a:r>
          </a:p>
          <a:p>
            <a:pPr marL="0" indent="0">
              <a:buNone/>
            </a:pPr>
            <a:endParaRPr lang="en-US" dirty="0"/>
          </a:p>
          <a:p>
            <a:pPr marL="0" indent="0">
              <a:buNone/>
            </a:pPr>
            <a:r>
              <a:rPr lang="en-US" dirty="0"/>
              <a:t>In 1852, Lambeth moved its operation to a relatively sewage-free area, but SV stayed at the Thames.</a:t>
            </a:r>
          </a:p>
          <a:p>
            <a:pPr marL="0" indent="0">
              <a:buNone/>
            </a:pPr>
            <a:endParaRPr lang="en-US" dirty="0"/>
          </a:p>
          <a:p>
            <a:pPr marL="0" indent="0">
              <a:buNone/>
            </a:pPr>
            <a:r>
              <a:rPr lang="en-US" dirty="0"/>
              <a:t>Snow compared </a:t>
            </a:r>
            <a:r>
              <a:rPr lang="en-US" b="1" u="sng" dirty="0"/>
              <a:t>changes</a:t>
            </a:r>
            <a:r>
              <a:rPr lang="en-US" dirty="0"/>
              <a:t> in cholera-related death rates for customers supplied by both companies.</a:t>
            </a:r>
          </a:p>
        </p:txBody>
      </p:sp>
    </p:spTree>
    <p:extLst>
      <p:ext uri="{BB962C8B-B14F-4D97-AF65-F5344CB8AC3E}">
        <p14:creationId xmlns:p14="http://schemas.microsoft.com/office/powerpoint/2010/main" val="277817158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Snow’s study</a:t>
            </a:r>
          </a:p>
        </p:txBody>
      </p:sp>
      <p:sp>
        <p:nvSpPr>
          <p:cNvPr id="3" name="Content Placeholder 2"/>
          <p:cNvSpPr>
            <a:spLocks noGrp="1"/>
          </p:cNvSpPr>
          <p:nvPr>
            <p:ph idx="1"/>
          </p:nvPr>
        </p:nvSpPr>
        <p:spPr/>
        <p:txBody>
          <a:bodyPr/>
          <a:lstStyle/>
          <a:p>
            <a:pPr marL="0" indent="0">
              <a:buNone/>
            </a:pPr>
            <a:r>
              <a:rPr lang="en-US" dirty="0"/>
              <a:t>Snow found that death rates </a:t>
            </a:r>
            <a:r>
              <a:rPr lang="en-US" b="1" u="sng" dirty="0"/>
              <a:t>declined precipitously</a:t>
            </a:r>
            <a:r>
              <a:rPr lang="en-US" dirty="0"/>
              <a:t> in districts supplied by Lambeth </a:t>
            </a:r>
            <a:r>
              <a:rPr lang="en-US" b="1" u="sng" dirty="0"/>
              <a:t>compared to the changes in death rates for districts supplied by SV</a:t>
            </a:r>
            <a:r>
              <a:rPr lang="en-US" dirty="0"/>
              <a:t>.</a:t>
            </a:r>
          </a:p>
          <a:p>
            <a:pPr marL="0" indent="0">
              <a:buNone/>
            </a:pPr>
            <a:endParaRPr lang="en-US" dirty="0"/>
          </a:p>
          <a:p>
            <a:pPr marL="0" indent="0">
              <a:buNone/>
            </a:pPr>
            <a:r>
              <a:rPr lang="en-US" dirty="0"/>
              <a:t>A causal effect of clean water on cholera deaths!</a:t>
            </a:r>
          </a:p>
        </p:txBody>
      </p:sp>
    </p:spTree>
    <p:extLst>
      <p:ext uri="{BB962C8B-B14F-4D97-AF65-F5344CB8AC3E}">
        <p14:creationId xmlns:p14="http://schemas.microsoft.com/office/powerpoint/2010/main" val="205144027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Snow’s study</a:t>
            </a:r>
          </a:p>
        </p:txBody>
      </p:sp>
      <p:sp>
        <p:nvSpPr>
          <p:cNvPr id="3" name="Content Placeholder 2"/>
          <p:cNvSpPr>
            <a:spLocks noGrp="1"/>
          </p:cNvSpPr>
          <p:nvPr>
            <p:ph idx="1"/>
          </p:nvPr>
        </p:nvSpPr>
        <p:spPr/>
        <p:txBody>
          <a:bodyPr/>
          <a:lstStyle/>
          <a:p>
            <a:pPr marL="0" indent="0">
              <a:buNone/>
            </a:pPr>
            <a:r>
              <a:rPr lang="en-US" dirty="0"/>
              <a:t>Why were we convinced by Snow’s study?</a:t>
            </a:r>
          </a:p>
          <a:p>
            <a:pPr marL="0" indent="0">
              <a:buNone/>
            </a:pPr>
            <a:endParaRPr lang="en-US" dirty="0"/>
          </a:p>
          <a:p>
            <a:r>
              <a:rPr lang="en-US" dirty="0"/>
              <a:t>Initially, the same water is supplied by both companies</a:t>
            </a:r>
          </a:p>
          <a:p>
            <a:r>
              <a:rPr lang="en-US" dirty="0"/>
              <a:t>One company changes water supply (treatment) while the other remains at the Thames (control)</a:t>
            </a:r>
          </a:p>
          <a:p>
            <a:r>
              <a:rPr lang="en-US" dirty="0"/>
              <a:t>The differences in “differences” are compared</a:t>
            </a:r>
          </a:p>
          <a:p>
            <a:pPr marL="0" indent="0">
              <a:buNone/>
            </a:pPr>
            <a:endParaRPr lang="en-US" dirty="0"/>
          </a:p>
        </p:txBody>
      </p:sp>
    </p:spTree>
    <p:extLst>
      <p:ext uri="{BB962C8B-B14F-4D97-AF65-F5344CB8AC3E}">
        <p14:creationId xmlns:p14="http://schemas.microsoft.com/office/powerpoint/2010/main" val="158761878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Snow’s study</a:t>
            </a:r>
          </a:p>
        </p:txBody>
      </p:sp>
      <p:sp>
        <p:nvSpPr>
          <p:cNvPr id="3" name="Content Placeholder 2"/>
          <p:cNvSpPr>
            <a:spLocks noGrp="1"/>
          </p:cNvSpPr>
          <p:nvPr>
            <p:ph idx="1"/>
          </p:nvPr>
        </p:nvSpPr>
        <p:spPr/>
        <p:txBody>
          <a:bodyPr/>
          <a:lstStyle/>
          <a:p>
            <a:pPr marL="0" indent="0">
              <a:buNone/>
            </a:pPr>
            <a:r>
              <a:rPr lang="en-US" dirty="0"/>
              <a:t>But is there some issue that might undermine the study?</a:t>
            </a:r>
          </a:p>
          <a:p>
            <a:pPr marL="0" indent="0">
              <a:buNone/>
            </a:pPr>
            <a:endParaRPr lang="en-US" dirty="0"/>
          </a:p>
          <a:p>
            <a:r>
              <a:rPr lang="en-US" dirty="0"/>
              <a:t>Random assignment?</a:t>
            </a:r>
          </a:p>
          <a:p>
            <a:r>
              <a:rPr lang="en-US" dirty="0"/>
              <a:t>Comparability of treatment and control consumers?</a:t>
            </a:r>
          </a:p>
        </p:txBody>
      </p:sp>
    </p:spTree>
    <p:extLst>
      <p:ext uri="{BB962C8B-B14F-4D97-AF65-F5344CB8AC3E}">
        <p14:creationId xmlns:p14="http://schemas.microsoft.com/office/powerpoint/2010/main" val="53628500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Differences in Differences</a:t>
            </a:r>
          </a:p>
        </p:txBody>
      </p:sp>
      <p:sp>
        <p:nvSpPr>
          <p:cNvPr id="3" name="Content Placeholder 2"/>
          <p:cNvSpPr>
            <a:spLocks noGrp="1"/>
          </p:cNvSpPr>
          <p:nvPr>
            <p:ph idx="1"/>
          </p:nvPr>
        </p:nvSpPr>
        <p:spPr/>
        <p:txBody>
          <a:bodyPr>
            <a:normAutofit fontScale="92500" lnSpcReduction="10000"/>
          </a:bodyPr>
          <a:lstStyle/>
          <a:p>
            <a:r>
              <a:rPr lang="en-US" dirty="0"/>
              <a:t>The key consideration is trying to ensure that the treatment and control groups are otherwise similar prior to the intervention (otherwise, arguing that you’ve got a “causal” effect is going to be difficult)</a:t>
            </a:r>
          </a:p>
          <a:p>
            <a:r>
              <a:rPr lang="en-US" dirty="0"/>
              <a:t>To ground this discussion, suppose I want to think about the impact of a reorganization on productivity for our workers, so I provide training to one subset (the “treatment” group) but not another (the “control” group)</a:t>
            </a:r>
          </a:p>
          <a:p>
            <a:endParaRPr lang="en-US" dirty="0"/>
          </a:p>
          <a:p>
            <a:pPr>
              <a:buNone/>
            </a:pPr>
            <a:endParaRPr lang="en-US" dirty="0"/>
          </a:p>
        </p:txBody>
      </p:sp>
    </p:spTree>
    <p:extLst>
      <p:ext uri="{BB962C8B-B14F-4D97-AF65-F5344CB8AC3E}">
        <p14:creationId xmlns:p14="http://schemas.microsoft.com/office/powerpoint/2010/main" val="113334103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Differences in Differences</a:t>
            </a:r>
          </a:p>
        </p:txBody>
      </p:sp>
      <p:sp>
        <p:nvSpPr>
          <p:cNvPr id="3" name="Content Placeholder 2"/>
          <p:cNvSpPr>
            <a:spLocks noGrp="1"/>
          </p:cNvSpPr>
          <p:nvPr>
            <p:ph idx="1"/>
          </p:nvPr>
        </p:nvSpPr>
        <p:spPr/>
        <p:txBody>
          <a:bodyPr/>
          <a:lstStyle/>
          <a:p>
            <a:r>
              <a:rPr lang="en-US" dirty="0"/>
              <a:t>In fact, what we’d love to see is something like this:</a:t>
            </a:r>
          </a:p>
          <a:p>
            <a:pPr>
              <a:buNone/>
            </a:pPr>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1585476030"/>
              </p:ext>
            </p:extLst>
          </p:nvPr>
        </p:nvGraphicFramePr>
        <p:xfrm>
          <a:off x="609598" y="2667000"/>
          <a:ext cx="8214362" cy="2941320"/>
        </p:xfrm>
        <a:graphic>
          <a:graphicData uri="http://schemas.openxmlformats.org/drawingml/2006/table">
            <a:tbl>
              <a:tblPr firstRow="1" bandRow="1">
                <a:tableStyleId>{2D5ABB26-0587-4C30-8999-92F81FD0307C}</a:tableStyleId>
              </a:tblPr>
              <a:tblGrid>
                <a:gridCol w="1487105">
                  <a:extLst>
                    <a:ext uri="{9D8B030D-6E8A-4147-A177-3AD203B41FA5}">
                      <a16:colId xmlns:a16="http://schemas.microsoft.com/office/drawing/2014/main" val="20000"/>
                    </a:ext>
                  </a:extLst>
                </a:gridCol>
                <a:gridCol w="2475297">
                  <a:extLst>
                    <a:ext uri="{9D8B030D-6E8A-4147-A177-3AD203B41FA5}">
                      <a16:colId xmlns:a16="http://schemas.microsoft.com/office/drawing/2014/main" val="20001"/>
                    </a:ext>
                  </a:extLst>
                </a:gridCol>
                <a:gridCol w="2514600">
                  <a:extLst>
                    <a:ext uri="{9D8B030D-6E8A-4147-A177-3AD203B41FA5}">
                      <a16:colId xmlns:a16="http://schemas.microsoft.com/office/drawing/2014/main" val="20002"/>
                    </a:ext>
                  </a:extLst>
                </a:gridCol>
                <a:gridCol w="1737360">
                  <a:extLst>
                    <a:ext uri="{9D8B030D-6E8A-4147-A177-3AD203B41FA5}">
                      <a16:colId xmlns:a16="http://schemas.microsoft.com/office/drawing/2014/main" val="20003"/>
                    </a:ext>
                  </a:extLst>
                </a:gridCol>
              </a:tblGrid>
              <a:tr h="735330">
                <a:tc>
                  <a:txBody>
                    <a:bodyPr/>
                    <a:lstStyle/>
                    <a:p>
                      <a:endParaRPr lang="en-US" sz="2000" dirty="0"/>
                    </a:p>
                  </a:txBody>
                  <a:tcP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r>
                        <a:rPr lang="en-US" sz="2000" dirty="0"/>
                        <a:t>Pre-reorganization average</a:t>
                      </a:r>
                      <a:r>
                        <a:rPr lang="en-US" sz="2000" baseline="0" dirty="0"/>
                        <a:t> productivity</a:t>
                      </a:r>
                      <a:endParaRPr 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r>
                        <a:rPr lang="en-US" sz="2000" dirty="0"/>
                        <a:t>Post-reorganization average</a:t>
                      </a:r>
                      <a:r>
                        <a:rPr lang="en-US" sz="2000" baseline="0" dirty="0"/>
                        <a:t> productivity</a:t>
                      </a:r>
                      <a:endParaRPr 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r>
                        <a:rPr lang="en-US" sz="2000" dirty="0"/>
                        <a:t>Difference</a:t>
                      </a:r>
                    </a:p>
                  </a:txBody>
                  <a:tcP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735330">
                <a:tc>
                  <a:txBody>
                    <a:bodyPr/>
                    <a:lstStyle/>
                    <a:p>
                      <a:r>
                        <a:rPr lang="en-US" sz="2000" dirty="0"/>
                        <a:t>Treatment </a:t>
                      </a:r>
                    </a:p>
                    <a:p>
                      <a:r>
                        <a:rPr lang="en-US" sz="2000" dirty="0"/>
                        <a:t>Group</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15000"/>
                        </a:lnSpc>
                        <a:spcBef>
                          <a:spcPts val="0"/>
                        </a:spcBef>
                        <a:spcAft>
                          <a:spcPts val="0"/>
                        </a:spcAft>
                      </a:pPr>
                      <a:endParaRPr lang="en-US" sz="2000" dirty="0">
                        <a:latin typeface="Calibri"/>
                        <a:ea typeface="Calibri"/>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15000"/>
                        </a:lnSpc>
                        <a:spcBef>
                          <a:spcPts val="0"/>
                        </a:spcBef>
                        <a:spcAft>
                          <a:spcPts val="0"/>
                        </a:spcAft>
                      </a:pPr>
                      <a:endParaRPr lang="en-US" sz="2000" dirty="0">
                        <a:latin typeface="Calibri"/>
                        <a:ea typeface="Calibri"/>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15000"/>
                        </a:lnSpc>
                        <a:spcBef>
                          <a:spcPts val="0"/>
                        </a:spcBef>
                        <a:spcAft>
                          <a:spcPts val="0"/>
                        </a:spcAft>
                      </a:pPr>
                      <a:endParaRPr lang="en-US" sz="2000" dirty="0">
                        <a:latin typeface="Calibri"/>
                        <a:ea typeface="Calibri"/>
                        <a:cs typeface="Times New Roman"/>
                      </a:endParaRPr>
                    </a:p>
                  </a:txBody>
                  <a:tcPr marL="68580" marR="68580" marT="0"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735330">
                <a:tc>
                  <a:txBody>
                    <a:bodyPr/>
                    <a:lstStyle/>
                    <a:p>
                      <a:r>
                        <a:rPr lang="en-US" sz="2000" dirty="0"/>
                        <a:t>Control</a:t>
                      </a:r>
                    </a:p>
                    <a:p>
                      <a:r>
                        <a:rPr lang="en-US" sz="2000" dirty="0"/>
                        <a:t>Group</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15000"/>
                        </a:lnSpc>
                        <a:spcBef>
                          <a:spcPts val="0"/>
                        </a:spcBef>
                        <a:spcAft>
                          <a:spcPts val="0"/>
                        </a:spcAft>
                      </a:pPr>
                      <a:endParaRPr lang="en-US" sz="2000" dirty="0">
                        <a:latin typeface="Calibri"/>
                        <a:ea typeface="Calibri"/>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15000"/>
                        </a:lnSpc>
                        <a:spcBef>
                          <a:spcPts val="0"/>
                        </a:spcBef>
                        <a:spcAft>
                          <a:spcPts val="0"/>
                        </a:spcAft>
                      </a:pPr>
                      <a:endParaRPr lang="en-US" sz="2000" dirty="0">
                        <a:latin typeface="Calibri"/>
                        <a:ea typeface="Calibri"/>
                        <a:cs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15000"/>
                        </a:lnSpc>
                        <a:spcBef>
                          <a:spcPts val="0"/>
                        </a:spcBef>
                        <a:spcAft>
                          <a:spcPts val="0"/>
                        </a:spcAft>
                      </a:pPr>
                      <a:endParaRPr lang="en-US" sz="2000" dirty="0">
                        <a:latin typeface="Calibri"/>
                        <a:ea typeface="Calibri"/>
                        <a:cs typeface="Times New Roman"/>
                      </a:endParaRPr>
                    </a:p>
                  </a:txBody>
                  <a:tcPr marL="68580" marR="68580" marT="0"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735330">
                <a:tc>
                  <a:txBody>
                    <a:bodyPr/>
                    <a:lstStyle/>
                    <a:p>
                      <a:endParaRPr lang="en-US" sz="2000" dirty="0"/>
                    </a:p>
                  </a:txBody>
                  <a:tcPr>
                    <a:lnT w="12700" cap="flat" cmpd="sng" algn="ctr">
                      <a:solidFill>
                        <a:schemeClr val="tx1"/>
                      </a:solidFill>
                      <a:prstDash val="solid"/>
                      <a:round/>
                      <a:headEnd type="none" w="med" len="med"/>
                      <a:tailEnd type="none" w="med" len="med"/>
                    </a:lnT>
                  </a:tcPr>
                </a:tc>
                <a:tc gridSpan="2">
                  <a:txBody>
                    <a:bodyPr/>
                    <a:lstStyle/>
                    <a:p>
                      <a:r>
                        <a:rPr lang="en-US" sz="2000" dirty="0"/>
                        <a:t>Difference-in-Differences</a:t>
                      </a:r>
                    </a:p>
                  </a:txBody>
                  <a:tcPr>
                    <a:lnT w="12700" cap="flat" cmpd="sng" algn="ctr">
                      <a:solidFill>
                        <a:schemeClr val="tx1"/>
                      </a:solidFill>
                      <a:prstDash val="solid"/>
                      <a:round/>
                      <a:headEnd type="none" w="med" len="med"/>
                      <a:tailEnd type="none" w="med" len="med"/>
                    </a:lnT>
                  </a:tcPr>
                </a:tc>
                <a:tc hMerge="1">
                  <a:txBody>
                    <a:bodyPr/>
                    <a:lstStyle/>
                    <a:p>
                      <a:endParaRPr lang="en-US" sz="2000" dirty="0"/>
                    </a:p>
                  </a:txBody>
                  <a:tcPr>
                    <a:lnT w="12700" cap="flat" cmpd="sng" algn="ctr">
                      <a:solidFill>
                        <a:schemeClr val="tx1"/>
                      </a:solidFill>
                      <a:prstDash val="solid"/>
                      <a:round/>
                      <a:headEnd type="none" w="med" len="med"/>
                      <a:tailEnd type="none" w="med" len="med"/>
                    </a:lnT>
                  </a:tcPr>
                </a:tc>
                <a:tc>
                  <a:txBody>
                    <a:bodyPr/>
                    <a:lstStyle/>
                    <a:p>
                      <a:endParaRPr lang="en-US" sz="2000" dirty="0"/>
                    </a:p>
                  </a:txBody>
                  <a:tcP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3"/>
                  </a:ext>
                </a:extLst>
              </a:tr>
            </a:tbl>
          </a:graphicData>
        </a:graphic>
      </p:graphicFrame>
      <p:sp>
        <p:nvSpPr>
          <p:cNvPr id="5" name="TextBox 4"/>
          <p:cNvSpPr txBox="1"/>
          <p:nvPr/>
        </p:nvSpPr>
        <p:spPr>
          <a:xfrm>
            <a:off x="2895600" y="3581400"/>
            <a:ext cx="685800" cy="400110"/>
          </a:xfrm>
          <a:prstGeom prst="rect">
            <a:avLst/>
          </a:prstGeom>
          <a:noFill/>
        </p:spPr>
        <p:txBody>
          <a:bodyPr wrap="square" rtlCol="0">
            <a:spAutoFit/>
          </a:bodyPr>
          <a:lstStyle/>
          <a:p>
            <a:r>
              <a:rPr lang="en-US" sz="2000" dirty="0"/>
              <a:t>$12</a:t>
            </a:r>
          </a:p>
        </p:txBody>
      </p:sp>
      <p:sp>
        <p:nvSpPr>
          <p:cNvPr id="6" name="TextBox 5"/>
          <p:cNvSpPr txBox="1"/>
          <p:nvPr/>
        </p:nvSpPr>
        <p:spPr>
          <a:xfrm>
            <a:off x="2895600" y="4267200"/>
            <a:ext cx="685800" cy="400110"/>
          </a:xfrm>
          <a:prstGeom prst="rect">
            <a:avLst/>
          </a:prstGeom>
          <a:noFill/>
        </p:spPr>
        <p:txBody>
          <a:bodyPr wrap="square" rtlCol="0">
            <a:spAutoFit/>
          </a:bodyPr>
          <a:lstStyle/>
          <a:p>
            <a:r>
              <a:rPr lang="en-US" sz="2000" dirty="0"/>
              <a:t>$11</a:t>
            </a:r>
          </a:p>
        </p:txBody>
      </p:sp>
      <p:sp>
        <p:nvSpPr>
          <p:cNvPr id="7" name="TextBox 6"/>
          <p:cNvSpPr txBox="1"/>
          <p:nvPr/>
        </p:nvSpPr>
        <p:spPr>
          <a:xfrm>
            <a:off x="5448300" y="3581400"/>
            <a:ext cx="685800" cy="400110"/>
          </a:xfrm>
          <a:prstGeom prst="rect">
            <a:avLst/>
          </a:prstGeom>
          <a:noFill/>
        </p:spPr>
        <p:txBody>
          <a:bodyPr wrap="square" rtlCol="0">
            <a:spAutoFit/>
          </a:bodyPr>
          <a:lstStyle/>
          <a:p>
            <a:r>
              <a:rPr lang="en-US" sz="2000" dirty="0"/>
              <a:t>$20</a:t>
            </a:r>
          </a:p>
        </p:txBody>
      </p:sp>
      <p:sp>
        <p:nvSpPr>
          <p:cNvPr id="8" name="TextBox 7"/>
          <p:cNvSpPr txBox="1"/>
          <p:nvPr/>
        </p:nvSpPr>
        <p:spPr>
          <a:xfrm>
            <a:off x="5448300" y="4267200"/>
            <a:ext cx="685800" cy="400110"/>
          </a:xfrm>
          <a:prstGeom prst="rect">
            <a:avLst/>
          </a:prstGeom>
          <a:noFill/>
        </p:spPr>
        <p:txBody>
          <a:bodyPr wrap="square" rtlCol="0">
            <a:spAutoFit/>
          </a:bodyPr>
          <a:lstStyle/>
          <a:p>
            <a:r>
              <a:rPr lang="en-US" sz="2000" dirty="0"/>
              <a:t>$13</a:t>
            </a:r>
          </a:p>
        </p:txBody>
      </p:sp>
      <p:sp>
        <p:nvSpPr>
          <p:cNvPr id="9" name="TextBox 8"/>
          <p:cNvSpPr txBox="1"/>
          <p:nvPr/>
        </p:nvSpPr>
        <p:spPr>
          <a:xfrm>
            <a:off x="7543800" y="3581400"/>
            <a:ext cx="685800" cy="400110"/>
          </a:xfrm>
          <a:prstGeom prst="rect">
            <a:avLst/>
          </a:prstGeom>
          <a:noFill/>
        </p:spPr>
        <p:txBody>
          <a:bodyPr wrap="square" rtlCol="0">
            <a:spAutoFit/>
          </a:bodyPr>
          <a:lstStyle/>
          <a:p>
            <a:r>
              <a:rPr lang="en-US" sz="2000" dirty="0"/>
              <a:t>+$8</a:t>
            </a:r>
          </a:p>
        </p:txBody>
      </p:sp>
      <p:sp>
        <p:nvSpPr>
          <p:cNvPr id="10" name="TextBox 9"/>
          <p:cNvSpPr txBox="1"/>
          <p:nvPr/>
        </p:nvSpPr>
        <p:spPr>
          <a:xfrm>
            <a:off x="7543800" y="4267200"/>
            <a:ext cx="685800" cy="400110"/>
          </a:xfrm>
          <a:prstGeom prst="rect">
            <a:avLst/>
          </a:prstGeom>
          <a:noFill/>
        </p:spPr>
        <p:txBody>
          <a:bodyPr wrap="square" rtlCol="0">
            <a:spAutoFit/>
          </a:bodyPr>
          <a:lstStyle/>
          <a:p>
            <a:r>
              <a:rPr lang="en-US" sz="2000" dirty="0"/>
              <a:t>+$2</a:t>
            </a:r>
          </a:p>
        </p:txBody>
      </p:sp>
      <p:sp>
        <p:nvSpPr>
          <p:cNvPr id="11" name="TextBox 10"/>
          <p:cNvSpPr txBox="1"/>
          <p:nvPr/>
        </p:nvSpPr>
        <p:spPr>
          <a:xfrm>
            <a:off x="7138033" y="4937775"/>
            <a:ext cx="1828800" cy="400110"/>
          </a:xfrm>
          <a:prstGeom prst="rect">
            <a:avLst/>
          </a:prstGeom>
          <a:noFill/>
        </p:spPr>
        <p:txBody>
          <a:bodyPr wrap="square" rtlCol="0">
            <a:spAutoFit/>
          </a:bodyPr>
          <a:lstStyle/>
          <a:p>
            <a:r>
              <a:rPr lang="en-US" sz="2000" dirty="0"/>
              <a:t>$8 – ($2) = +$6</a:t>
            </a:r>
          </a:p>
        </p:txBody>
      </p:sp>
    </p:spTree>
    <p:extLst>
      <p:ext uri="{BB962C8B-B14F-4D97-AF65-F5344CB8AC3E}">
        <p14:creationId xmlns:p14="http://schemas.microsoft.com/office/powerpoint/2010/main" val="40178352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P spid="10" grpId="0"/>
      <p:bldP spid="11"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Differences in Differences</a:t>
            </a:r>
          </a:p>
        </p:txBody>
      </p:sp>
      <p:sp>
        <p:nvSpPr>
          <p:cNvPr id="3" name="Content Placeholder 2"/>
          <p:cNvSpPr>
            <a:spLocks noGrp="1"/>
          </p:cNvSpPr>
          <p:nvPr>
            <p:ph idx="1"/>
          </p:nvPr>
        </p:nvSpPr>
        <p:spPr/>
        <p:txBody>
          <a:bodyPr/>
          <a:lstStyle/>
          <a:p>
            <a:r>
              <a:rPr lang="en-US" dirty="0"/>
              <a:t>Why is this great?</a:t>
            </a:r>
          </a:p>
          <a:p>
            <a:pPr>
              <a:buNone/>
            </a:pPr>
            <a:r>
              <a:rPr lang="en-US" dirty="0"/>
              <a:t>(1)	The two groups are otherwise similar (in wage terms) prior to the intervention</a:t>
            </a:r>
          </a:p>
          <a:p>
            <a:pPr>
              <a:buNone/>
            </a:pPr>
            <a:r>
              <a:rPr lang="en-US" dirty="0"/>
              <a:t>(2) 	We can actually see that the treatment group improved at a far more rapid rate than the control group – shown by the D-</a:t>
            </a:r>
            <a:r>
              <a:rPr lang="en-US" dirty="0" err="1"/>
              <a:t>i</a:t>
            </a:r>
            <a:r>
              <a:rPr lang="en-US" dirty="0"/>
              <a:t>-D!</a:t>
            </a:r>
          </a:p>
        </p:txBody>
      </p:sp>
    </p:spTree>
    <p:extLst>
      <p:ext uri="{BB962C8B-B14F-4D97-AF65-F5344CB8AC3E}">
        <p14:creationId xmlns:p14="http://schemas.microsoft.com/office/powerpoint/2010/main" val="429235042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5592763"/>
          </a:xfrm>
        </p:spPr>
        <p:txBody>
          <a:bodyPr/>
          <a:lstStyle/>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p:txBody>
      </p:sp>
      <p:cxnSp>
        <p:nvCxnSpPr>
          <p:cNvPr id="5" name="Straight Arrow Connector 4"/>
          <p:cNvCxnSpPr/>
          <p:nvPr/>
        </p:nvCxnSpPr>
        <p:spPr>
          <a:xfrm>
            <a:off x="1447800" y="1676400"/>
            <a:ext cx="0" cy="4724400"/>
          </a:xfrm>
          <a:prstGeom prst="straightConnector1">
            <a:avLst/>
          </a:prstGeom>
          <a:ln w="28575">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6" name="Straight Arrow Connector 5"/>
          <p:cNvCxnSpPr/>
          <p:nvPr/>
        </p:nvCxnSpPr>
        <p:spPr>
          <a:xfrm flipH="1">
            <a:off x="549536" y="5867400"/>
            <a:ext cx="7696200" cy="0"/>
          </a:xfrm>
          <a:prstGeom prst="straightConnector1">
            <a:avLst/>
          </a:prstGeom>
          <a:ln w="28575">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1447800" y="4693920"/>
            <a:ext cx="32004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a:off x="4648200" y="1752600"/>
            <a:ext cx="0" cy="4114800"/>
          </a:xfrm>
          <a:prstGeom prst="line">
            <a:avLst/>
          </a:prstGeom>
          <a:ln>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1447800" y="4343400"/>
            <a:ext cx="3200400"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4648200" y="2057400"/>
            <a:ext cx="3200400"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a:off x="4648200" y="3962400"/>
            <a:ext cx="32004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a:off x="1447800" y="2057400"/>
            <a:ext cx="3200400" cy="0"/>
          </a:xfrm>
          <a:prstGeom prst="line">
            <a:avLst/>
          </a:prstGeom>
          <a:ln w="28575">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a:off x="1447800" y="3962400"/>
            <a:ext cx="3200400" cy="0"/>
          </a:xfrm>
          <a:prstGeom prst="line">
            <a:avLst/>
          </a:prstGeom>
          <a:ln w="28575">
            <a:prstDash val="dash"/>
          </a:ln>
        </p:spPr>
        <p:style>
          <a:lnRef idx="1">
            <a:schemeClr val="accent1"/>
          </a:lnRef>
          <a:fillRef idx="0">
            <a:schemeClr val="accent1"/>
          </a:fillRef>
          <a:effectRef idx="0">
            <a:schemeClr val="accent1"/>
          </a:effectRef>
          <a:fontRef idx="minor">
            <a:schemeClr val="tx1"/>
          </a:fontRef>
        </p:style>
      </p:cxnSp>
      <p:sp>
        <p:nvSpPr>
          <p:cNvPr id="23" name="TextBox 22"/>
          <p:cNvSpPr txBox="1"/>
          <p:nvPr/>
        </p:nvSpPr>
        <p:spPr>
          <a:xfrm>
            <a:off x="914401" y="460891"/>
            <a:ext cx="7010400" cy="769441"/>
          </a:xfrm>
          <a:prstGeom prst="rect">
            <a:avLst/>
          </a:prstGeom>
          <a:noFill/>
        </p:spPr>
        <p:txBody>
          <a:bodyPr wrap="square" rtlCol="0">
            <a:spAutoFit/>
          </a:bodyPr>
          <a:lstStyle/>
          <a:p>
            <a:pPr algn="ctr"/>
            <a:r>
              <a:rPr lang="en-US" sz="3200" dirty="0"/>
              <a:t>  </a:t>
            </a:r>
            <a:r>
              <a:rPr lang="en-US" sz="4400" dirty="0"/>
              <a:t>Graphically</a:t>
            </a:r>
          </a:p>
        </p:txBody>
      </p:sp>
      <p:sp>
        <p:nvSpPr>
          <p:cNvPr id="24" name="TextBox 23"/>
          <p:cNvSpPr txBox="1"/>
          <p:nvPr/>
        </p:nvSpPr>
        <p:spPr>
          <a:xfrm>
            <a:off x="3505200" y="6037302"/>
            <a:ext cx="2438399" cy="369332"/>
          </a:xfrm>
          <a:prstGeom prst="rect">
            <a:avLst/>
          </a:prstGeom>
          <a:noFill/>
        </p:spPr>
        <p:txBody>
          <a:bodyPr wrap="square" rtlCol="0">
            <a:spAutoFit/>
          </a:bodyPr>
          <a:lstStyle/>
          <a:p>
            <a:r>
              <a:rPr lang="en-US" dirty="0"/>
              <a:t> Time of Reorganization</a:t>
            </a:r>
          </a:p>
        </p:txBody>
      </p:sp>
      <p:cxnSp>
        <p:nvCxnSpPr>
          <p:cNvPr id="26" name="Straight Arrow Connector 25"/>
          <p:cNvCxnSpPr/>
          <p:nvPr/>
        </p:nvCxnSpPr>
        <p:spPr>
          <a:xfrm flipV="1">
            <a:off x="5029200" y="3962400"/>
            <a:ext cx="0" cy="731520"/>
          </a:xfrm>
          <a:prstGeom prst="straightConnector1">
            <a:avLst/>
          </a:prstGeom>
          <a:ln w="28575">
            <a:headEnd type="arrow"/>
            <a:tailEnd type="arrow"/>
          </a:ln>
        </p:spPr>
        <p:style>
          <a:lnRef idx="1">
            <a:schemeClr val="accent1"/>
          </a:lnRef>
          <a:fillRef idx="0">
            <a:schemeClr val="accent1"/>
          </a:fillRef>
          <a:effectRef idx="0">
            <a:schemeClr val="accent1"/>
          </a:effectRef>
          <a:fontRef idx="minor">
            <a:schemeClr val="tx1"/>
          </a:fontRef>
        </p:style>
      </p:cxnSp>
      <p:sp>
        <p:nvSpPr>
          <p:cNvPr id="29" name="TextBox 28"/>
          <p:cNvSpPr txBox="1"/>
          <p:nvPr/>
        </p:nvSpPr>
        <p:spPr>
          <a:xfrm>
            <a:off x="5105400" y="4158734"/>
            <a:ext cx="2819400" cy="369332"/>
          </a:xfrm>
          <a:prstGeom prst="rect">
            <a:avLst/>
          </a:prstGeom>
          <a:noFill/>
        </p:spPr>
        <p:txBody>
          <a:bodyPr wrap="square" rtlCol="0">
            <a:spAutoFit/>
          </a:bodyPr>
          <a:lstStyle/>
          <a:p>
            <a:r>
              <a:rPr lang="en-US" dirty="0">
                <a:solidFill>
                  <a:srgbClr val="0070C0"/>
                </a:solidFill>
              </a:rPr>
              <a:t>Control’s change</a:t>
            </a:r>
          </a:p>
        </p:txBody>
      </p:sp>
      <p:cxnSp>
        <p:nvCxnSpPr>
          <p:cNvPr id="30" name="Straight Connector 29"/>
          <p:cNvCxnSpPr/>
          <p:nvPr/>
        </p:nvCxnSpPr>
        <p:spPr>
          <a:xfrm>
            <a:off x="4648200" y="4693920"/>
            <a:ext cx="3200400" cy="0"/>
          </a:xfrm>
          <a:prstGeom prst="line">
            <a:avLst/>
          </a:prstGeom>
          <a:ln w="28575">
            <a:prstDash val="dash"/>
          </a:ln>
        </p:spPr>
        <p:style>
          <a:lnRef idx="1">
            <a:schemeClr val="accent1"/>
          </a:lnRef>
          <a:fillRef idx="0">
            <a:schemeClr val="accent1"/>
          </a:fillRef>
          <a:effectRef idx="0">
            <a:schemeClr val="accent1"/>
          </a:effectRef>
          <a:fontRef idx="minor">
            <a:schemeClr val="tx1"/>
          </a:fontRef>
        </p:style>
      </p:cxnSp>
      <p:cxnSp>
        <p:nvCxnSpPr>
          <p:cNvPr id="32" name="Straight Arrow Connector 31"/>
          <p:cNvCxnSpPr/>
          <p:nvPr/>
        </p:nvCxnSpPr>
        <p:spPr>
          <a:xfrm flipV="1">
            <a:off x="3657600" y="2057400"/>
            <a:ext cx="0" cy="2270760"/>
          </a:xfrm>
          <a:prstGeom prst="straightConnector1">
            <a:avLst/>
          </a:prstGeom>
          <a:ln w="28575">
            <a:headEnd type="arrow"/>
            <a:tailEnd type="arrow"/>
          </a:ln>
        </p:spPr>
        <p:style>
          <a:lnRef idx="1">
            <a:schemeClr val="accent2"/>
          </a:lnRef>
          <a:fillRef idx="0">
            <a:schemeClr val="accent2"/>
          </a:fillRef>
          <a:effectRef idx="0">
            <a:schemeClr val="accent2"/>
          </a:effectRef>
          <a:fontRef idx="minor">
            <a:schemeClr val="tx1"/>
          </a:fontRef>
        </p:style>
      </p:cxnSp>
      <p:sp>
        <p:nvSpPr>
          <p:cNvPr id="34" name="TextBox 33"/>
          <p:cNvSpPr txBox="1"/>
          <p:nvPr/>
        </p:nvSpPr>
        <p:spPr>
          <a:xfrm>
            <a:off x="1520078" y="2827034"/>
            <a:ext cx="2998694" cy="369332"/>
          </a:xfrm>
          <a:prstGeom prst="rect">
            <a:avLst/>
          </a:prstGeom>
          <a:noFill/>
        </p:spPr>
        <p:txBody>
          <a:bodyPr wrap="square" rtlCol="0">
            <a:spAutoFit/>
          </a:bodyPr>
          <a:lstStyle/>
          <a:p>
            <a:r>
              <a:rPr lang="en-US" dirty="0">
                <a:solidFill>
                  <a:srgbClr val="FF0000"/>
                </a:solidFill>
              </a:rPr>
              <a:t>Treatment’s change</a:t>
            </a:r>
          </a:p>
        </p:txBody>
      </p:sp>
      <p:sp>
        <p:nvSpPr>
          <p:cNvPr id="25" name="TextBox 24"/>
          <p:cNvSpPr txBox="1"/>
          <p:nvPr/>
        </p:nvSpPr>
        <p:spPr>
          <a:xfrm>
            <a:off x="581026" y="1297602"/>
            <a:ext cx="2438399" cy="369332"/>
          </a:xfrm>
          <a:prstGeom prst="rect">
            <a:avLst/>
          </a:prstGeom>
          <a:noFill/>
        </p:spPr>
        <p:txBody>
          <a:bodyPr wrap="square" rtlCol="0">
            <a:spAutoFit/>
          </a:bodyPr>
          <a:lstStyle/>
          <a:p>
            <a:r>
              <a:rPr lang="en-US" dirty="0"/>
              <a:t> Productivity (in $)</a:t>
            </a:r>
          </a:p>
        </p:txBody>
      </p:sp>
    </p:spTree>
    <p:extLst>
      <p:ext uri="{BB962C8B-B14F-4D97-AF65-F5344CB8AC3E}">
        <p14:creationId xmlns:p14="http://schemas.microsoft.com/office/powerpoint/2010/main" val="7023693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0"/>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9"/>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1"/>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4"/>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P spid="34"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Graphically</a:t>
            </a:r>
          </a:p>
        </p:txBody>
      </p:sp>
      <p:sp>
        <p:nvSpPr>
          <p:cNvPr id="3" name="Content Placeholder 2"/>
          <p:cNvSpPr>
            <a:spLocks noGrp="1"/>
          </p:cNvSpPr>
          <p:nvPr>
            <p:ph idx="1"/>
          </p:nvPr>
        </p:nvSpPr>
        <p:spPr/>
        <p:txBody>
          <a:bodyPr/>
          <a:lstStyle/>
          <a:p>
            <a:pPr marL="0" indent="0">
              <a:buNone/>
            </a:pPr>
            <a:endParaRPr lang="en-US" dirty="0"/>
          </a:p>
        </p:txBody>
      </p:sp>
      <p:cxnSp>
        <p:nvCxnSpPr>
          <p:cNvPr id="4" name="Straight Arrow Connector 3"/>
          <p:cNvCxnSpPr/>
          <p:nvPr/>
        </p:nvCxnSpPr>
        <p:spPr>
          <a:xfrm flipV="1">
            <a:off x="2409825" y="2438400"/>
            <a:ext cx="0" cy="2270760"/>
          </a:xfrm>
          <a:prstGeom prst="straightConnector1">
            <a:avLst/>
          </a:prstGeom>
          <a:ln w="28575">
            <a:headEnd type="arrow"/>
            <a:tailEnd type="arrow"/>
          </a:ln>
        </p:spPr>
        <p:style>
          <a:lnRef idx="1">
            <a:schemeClr val="accent2"/>
          </a:lnRef>
          <a:fillRef idx="0">
            <a:schemeClr val="accent2"/>
          </a:fillRef>
          <a:effectRef idx="0">
            <a:schemeClr val="accent2"/>
          </a:effectRef>
          <a:fontRef idx="minor">
            <a:schemeClr val="tx1"/>
          </a:fontRef>
        </p:style>
      </p:cxnSp>
      <p:sp>
        <p:nvSpPr>
          <p:cNvPr id="6" name="TextBox 5"/>
          <p:cNvSpPr txBox="1"/>
          <p:nvPr/>
        </p:nvSpPr>
        <p:spPr>
          <a:xfrm>
            <a:off x="314325" y="3484007"/>
            <a:ext cx="2028825" cy="369332"/>
          </a:xfrm>
          <a:prstGeom prst="rect">
            <a:avLst/>
          </a:prstGeom>
          <a:noFill/>
        </p:spPr>
        <p:txBody>
          <a:bodyPr wrap="square" rtlCol="0">
            <a:spAutoFit/>
          </a:bodyPr>
          <a:lstStyle/>
          <a:p>
            <a:r>
              <a:rPr lang="en-US" dirty="0">
                <a:solidFill>
                  <a:srgbClr val="FF0000"/>
                </a:solidFill>
              </a:rPr>
              <a:t>Treatment’s change</a:t>
            </a:r>
          </a:p>
        </p:txBody>
      </p:sp>
      <p:cxnSp>
        <p:nvCxnSpPr>
          <p:cNvPr id="7" name="Straight Arrow Connector 6"/>
          <p:cNvCxnSpPr/>
          <p:nvPr/>
        </p:nvCxnSpPr>
        <p:spPr>
          <a:xfrm flipV="1">
            <a:off x="4038600" y="3985260"/>
            <a:ext cx="0" cy="731520"/>
          </a:xfrm>
          <a:prstGeom prst="straightConnector1">
            <a:avLst/>
          </a:prstGeom>
          <a:ln w="28575">
            <a:headEnd type="arrow"/>
            <a:tailEnd type="arrow"/>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2419350" y="3962400"/>
            <a:ext cx="4838700" cy="0"/>
          </a:xfrm>
          <a:prstGeom prst="line">
            <a:avLst/>
          </a:prstGeom>
          <a:ln w="28575">
            <a:prstDash val="dash"/>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2419350" y="4709160"/>
            <a:ext cx="4838700" cy="0"/>
          </a:xfrm>
          <a:prstGeom prst="line">
            <a:avLst/>
          </a:prstGeom>
          <a:ln w="28575">
            <a:prstDash val="dash"/>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2419350" y="2461260"/>
            <a:ext cx="5181600" cy="0"/>
          </a:xfrm>
          <a:prstGeom prst="line">
            <a:avLst/>
          </a:prstGeom>
          <a:ln w="28575">
            <a:solidFill>
              <a:srgbClr val="FF0000"/>
            </a:solidFill>
            <a:prstDash val="dash"/>
          </a:ln>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4438650" y="4166354"/>
            <a:ext cx="2819400" cy="369332"/>
          </a:xfrm>
          <a:prstGeom prst="rect">
            <a:avLst/>
          </a:prstGeom>
          <a:noFill/>
        </p:spPr>
        <p:txBody>
          <a:bodyPr wrap="square" rtlCol="0">
            <a:spAutoFit/>
          </a:bodyPr>
          <a:lstStyle/>
          <a:p>
            <a:r>
              <a:rPr lang="en-US" dirty="0">
                <a:solidFill>
                  <a:srgbClr val="0070C0"/>
                </a:solidFill>
              </a:rPr>
              <a:t>Control’s change</a:t>
            </a:r>
          </a:p>
        </p:txBody>
      </p:sp>
      <p:cxnSp>
        <p:nvCxnSpPr>
          <p:cNvPr id="16" name="Straight Arrow Connector 15"/>
          <p:cNvCxnSpPr/>
          <p:nvPr/>
        </p:nvCxnSpPr>
        <p:spPr>
          <a:xfrm flipV="1">
            <a:off x="4038600" y="2461260"/>
            <a:ext cx="0" cy="1524000"/>
          </a:xfrm>
          <a:prstGeom prst="straightConnector1">
            <a:avLst/>
          </a:prstGeom>
          <a:ln w="28575">
            <a:headEnd type="arrow"/>
            <a:tailEnd type="arrow"/>
          </a:ln>
        </p:spPr>
        <p:style>
          <a:lnRef idx="1">
            <a:schemeClr val="dk1"/>
          </a:lnRef>
          <a:fillRef idx="0">
            <a:schemeClr val="dk1"/>
          </a:fillRef>
          <a:effectRef idx="0">
            <a:schemeClr val="dk1"/>
          </a:effectRef>
          <a:fontRef idx="minor">
            <a:schemeClr val="tx1"/>
          </a:fontRef>
        </p:style>
      </p:cxnSp>
      <p:sp>
        <p:nvSpPr>
          <p:cNvPr id="18" name="TextBox 17"/>
          <p:cNvSpPr txBox="1"/>
          <p:nvPr/>
        </p:nvSpPr>
        <p:spPr>
          <a:xfrm>
            <a:off x="4343400" y="3114675"/>
            <a:ext cx="2819400" cy="369332"/>
          </a:xfrm>
          <a:prstGeom prst="rect">
            <a:avLst/>
          </a:prstGeom>
          <a:noFill/>
        </p:spPr>
        <p:txBody>
          <a:bodyPr wrap="square" rtlCol="0">
            <a:spAutoFit/>
          </a:bodyPr>
          <a:lstStyle/>
          <a:p>
            <a:r>
              <a:rPr lang="en-US" dirty="0"/>
              <a:t>Difference in differences</a:t>
            </a:r>
          </a:p>
        </p:txBody>
      </p:sp>
    </p:spTree>
    <p:extLst>
      <p:ext uri="{BB962C8B-B14F-4D97-AF65-F5344CB8AC3E}">
        <p14:creationId xmlns:p14="http://schemas.microsoft.com/office/powerpoint/2010/main" val="3835617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5" grpId="0"/>
      <p:bldP spid="18"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So why are regressions relevant here?</a:t>
            </a:r>
          </a:p>
        </p:txBody>
      </p:sp>
      <p:sp>
        <p:nvSpPr>
          <p:cNvPr id="3" name="Content Placeholder 2"/>
          <p:cNvSpPr>
            <a:spLocks noGrp="1"/>
          </p:cNvSpPr>
          <p:nvPr>
            <p:ph idx="1"/>
          </p:nvPr>
        </p:nvSpPr>
        <p:spPr/>
        <p:txBody>
          <a:bodyPr/>
          <a:lstStyle/>
          <a:p>
            <a:pPr marL="0" indent="0">
              <a:buNone/>
            </a:pPr>
            <a:r>
              <a:rPr lang="en-US" dirty="0"/>
              <a:t>Two reasons:</a:t>
            </a:r>
          </a:p>
          <a:p>
            <a:pPr marL="514350" indent="-514350">
              <a:buAutoNum type="arabicParenBoth"/>
            </a:pPr>
            <a:r>
              <a:rPr lang="en-US" dirty="0"/>
              <a:t>We’d like to see if the difference-in-difference is statistically significant.</a:t>
            </a:r>
          </a:p>
          <a:p>
            <a:pPr marL="514350" indent="-514350">
              <a:buAutoNum type="arabicParenBoth"/>
            </a:pPr>
            <a:r>
              <a:rPr lang="en-US" dirty="0"/>
              <a:t>We might also like to control for some other variables, too.</a:t>
            </a:r>
          </a:p>
        </p:txBody>
      </p:sp>
    </p:spTree>
    <p:extLst>
      <p:ext uri="{BB962C8B-B14F-4D97-AF65-F5344CB8AC3E}">
        <p14:creationId xmlns:p14="http://schemas.microsoft.com/office/powerpoint/2010/main" val="52953120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 how do we use regression here?</a:t>
            </a:r>
          </a:p>
        </p:txBody>
      </p:sp>
      <p:sp>
        <p:nvSpPr>
          <p:cNvPr id="3" name="Content Placeholder 2"/>
          <p:cNvSpPr>
            <a:spLocks noGrp="1"/>
          </p:cNvSpPr>
          <p:nvPr>
            <p:ph idx="1"/>
          </p:nvPr>
        </p:nvSpPr>
        <p:spPr/>
        <p:txBody>
          <a:bodyPr/>
          <a:lstStyle/>
          <a:p>
            <a:pPr marL="0" indent="0">
              <a:buNone/>
            </a:pPr>
            <a:r>
              <a:rPr lang="en-US" dirty="0"/>
              <a:t>Well, it’s a little tricky, but it will make sense eventually.</a:t>
            </a:r>
          </a:p>
          <a:p>
            <a:pPr marL="0" indent="0">
              <a:buNone/>
            </a:pPr>
            <a:endParaRPr lang="en-US" dirty="0"/>
          </a:p>
          <a:p>
            <a:pPr marL="0" indent="0">
              <a:buNone/>
            </a:pPr>
            <a:r>
              <a:rPr lang="en-US" dirty="0"/>
              <a:t>So hang in there with me.</a:t>
            </a:r>
          </a:p>
          <a:p>
            <a:pPr marL="0" indent="0">
              <a:buNone/>
            </a:pPr>
            <a:endParaRPr lang="en-US" dirty="0"/>
          </a:p>
          <a:p>
            <a:pPr marL="0" indent="0">
              <a:buNone/>
            </a:pPr>
            <a:endParaRPr lang="en-US" dirty="0"/>
          </a:p>
        </p:txBody>
      </p:sp>
      <p:sp>
        <p:nvSpPr>
          <p:cNvPr id="4" name="TextBox 3"/>
          <p:cNvSpPr txBox="1"/>
          <p:nvPr/>
        </p:nvSpPr>
        <p:spPr>
          <a:xfrm>
            <a:off x="457200" y="4191000"/>
            <a:ext cx="2819400" cy="584775"/>
          </a:xfrm>
          <a:prstGeom prst="rect">
            <a:avLst/>
          </a:prstGeom>
          <a:noFill/>
        </p:spPr>
        <p:txBody>
          <a:bodyPr wrap="square" rtlCol="0">
            <a:spAutoFit/>
          </a:bodyPr>
          <a:lstStyle/>
          <a:p>
            <a:r>
              <a:rPr lang="en-US" sz="3200" dirty="0"/>
              <a:t>Here we go!</a:t>
            </a:r>
          </a:p>
        </p:txBody>
      </p:sp>
    </p:spTree>
    <p:extLst>
      <p:ext uri="{BB962C8B-B14F-4D97-AF65-F5344CB8AC3E}">
        <p14:creationId xmlns:p14="http://schemas.microsoft.com/office/powerpoint/2010/main" val="1807861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So how do we use regression here?</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pPr>
                  <a:buNone/>
                </a:pPr>
                <a14:m>
                  <m:oMathPara xmlns:m="http://schemas.openxmlformats.org/officeDocument/2006/math">
                    <m:oMathParaPr>
                      <m:jc m:val="centerGroup"/>
                    </m:oMathParaPr>
                    <m:oMath xmlns:m="http://schemas.openxmlformats.org/officeDocument/2006/math">
                      <m:r>
                        <a:rPr lang="en-US" i="1" dirty="0" smtClean="0">
                          <a:latin typeface="Cambria Math"/>
                        </a:rPr>
                        <m:t>𝑃𝑟𝑜𝑑𝑢𝑐𝑡𝑖𝑣𝑖𝑡𝑦</m:t>
                      </m:r>
                      <m:r>
                        <a:rPr lang="en-US" i="1" baseline="-25000" dirty="0" err="1">
                          <a:latin typeface="Cambria Math"/>
                        </a:rPr>
                        <m:t>𝑖𝑡</m:t>
                      </m:r>
                      <m:r>
                        <a:rPr lang="en-US" i="1" dirty="0">
                          <a:latin typeface="Cambria Math"/>
                        </a:rPr>
                        <m:t> =</m:t>
                      </m:r>
                      <m:acc>
                        <m:accPr>
                          <m:chr m:val="̂"/>
                          <m:ctrlPr>
                            <a:rPr lang="en-US" i="1">
                              <a:latin typeface="Cambria Math" panose="02040503050406030204" pitchFamily="18" charset="0"/>
                            </a:rPr>
                          </m:ctrlPr>
                        </m:accPr>
                        <m:e>
                          <m:r>
                            <a:rPr lang="en-US" i="1">
                              <a:latin typeface="Cambria Math"/>
                            </a:rPr>
                            <m:t>𝑏</m:t>
                          </m:r>
                        </m:e>
                      </m:acc>
                      <m:r>
                        <a:rPr lang="en-US" b="0" i="1" baseline="-25000" dirty="0" smtClean="0">
                          <a:latin typeface="Cambria Math"/>
                        </a:rPr>
                        <m:t>0</m:t>
                      </m:r>
                      <m:r>
                        <a:rPr lang="en-US" i="1" dirty="0">
                          <a:latin typeface="Cambria Math"/>
                        </a:rPr>
                        <m:t> +</m:t>
                      </m:r>
                      <m:acc>
                        <m:accPr>
                          <m:chr m:val="̂"/>
                          <m:ctrlPr>
                            <a:rPr lang="en-US" i="1">
                              <a:latin typeface="Cambria Math" panose="02040503050406030204" pitchFamily="18" charset="0"/>
                            </a:rPr>
                          </m:ctrlPr>
                        </m:accPr>
                        <m:e>
                          <m:r>
                            <a:rPr lang="en-US" i="1">
                              <a:latin typeface="Cambria Math"/>
                            </a:rPr>
                            <m:t>𝑏</m:t>
                          </m:r>
                        </m:e>
                      </m:acc>
                      <m:r>
                        <a:rPr lang="en-US" b="0" i="1" baseline="-25000" dirty="0" smtClean="0">
                          <a:latin typeface="Cambria Math"/>
                        </a:rPr>
                        <m:t>1</m:t>
                      </m:r>
                      <m:r>
                        <a:rPr lang="en-US" i="1" dirty="0">
                          <a:latin typeface="Cambria Math"/>
                        </a:rPr>
                        <m:t>(</m:t>
                      </m:r>
                      <m:r>
                        <a:rPr lang="en-US" i="1" dirty="0" err="1">
                          <a:latin typeface="Cambria Math"/>
                        </a:rPr>
                        <m:t>𝑝𝑜𝑠𝑡</m:t>
                      </m:r>
                      <m:r>
                        <a:rPr lang="en-US" i="1" baseline="-25000" dirty="0" err="1">
                          <a:latin typeface="Cambria Math"/>
                        </a:rPr>
                        <m:t>𝑖𝑡</m:t>
                      </m:r>
                      <m:r>
                        <a:rPr lang="en-US" i="1" dirty="0">
                          <a:latin typeface="Cambria Math"/>
                        </a:rPr>
                        <m:t>) +</m:t>
                      </m:r>
                      <m:acc>
                        <m:accPr>
                          <m:chr m:val="̂"/>
                          <m:ctrlPr>
                            <a:rPr lang="en-US" i="1">
                              <a:latin typeface="Cambria Math" panose="02040503050406030204" pitchFamily="18" charset="0"/>
                            </a:rPr>
                          </m:ctrlPr>
                        </m:accPr>
                        <m:e>
                          <m:r>
                            <a:rPr lang="en-US" i="1">
                              <a:latin typeface="Cambria Math"/>
                            </a:rPr>
                            <m:t>𝑏</m:t>
                          </m:r>
                        </m:e>
                      </m:acc>
                      <m:r>
                        <a:rPr lang="en-US" b="0" i="1" baseline="-25000" dirty="0" smtClean="0">
                          <a:latin typeface="Cambria Math"/>
                        </a:rPr>
                        <m:t>2</m:t>
                      </m:r>
                      <m:r>
                        <a:rPr lang="en-US" i="1" dirty="0">
                          <a:latin typeface="Cambria Math"/>
                        </a:rPr>
                        <m:t>(</m:t>
                      </m:r>
                      <m:r>
                        <a:rPr lang="en-US" i="1" dirty="0" err="1">
                          <a:latin typeface="Cambria Math"/>
                        </a:rPr>
                        <m:t>𝑡𝑟𝑒𝑎𝑡𝑚𝑒𝑛𝑡</m:t>
                      </m:r>
                      <m:r>
                        <a:rPr lang="en-US" i="1" baseline="-25000" dirty="0" err="1">
                          <a:latin typeface="Cambria Math"/>
                        </a:rPr>
                        <m:t>𝑖𝑡</m:t>
                      </m:r>
                      <m:r>
                        <a:rPr lang="en-US" i="1" dirty="0">
                          <a:latin typeface="Cambria Math"/>
                        </a:rPr>
                        <m:t>) </m:t>
                      </m:r>
                    </m:oMath>
                  </m:oMathPara>
                </a14:m>
                <a:endParaRPr lang="en-US" dirty="0"/>
              </a:p>
              <a:p>
                <a:pPr>
                  <a:buNone/>
                </a:pPr>
                <a14:m>
                  <m:oMathPara xmlns:m="http://schemas.openxmlformats.org/officeDocument/2006/math">
                    <m:oMathParaPr>
                      <m:jc m:val="centerGroup"/>
                    </m:oMathParaPr>
                    <m:oMath xmlns:m="http://schemas.openxmlformats.org/officeDocument/2006/math">
                      <m:r>
                        <a:rPr lang="en-US" i="1" dirty="0">
                          <a:latin typeface="Cambria Math"/>
                        </a:rPr>
                        <m:t>+</m:t>
                      </m:r>
                      <m:acc>
                        <m:accPr>
                          <m:chr m:val="̂"/>
                          <m:ctrlPr>
                            <a:rPr lang="en-US" i="1">
                              <a:latin typeface="Cambria Math" panose="02040503050406030204" pitchFamily="18" charset="0"/>
                            </a:rPr>
                          </m:ctrlPr>
                        </m:accPr>
                        <m:e>
                          <m:r>
                            <a:rPr lang="en-US" i="1">
                              <a:latin typeface="Cambria Math"/>
                            </a:rPr>
                            <m:t>𝑏</m:t>
                          </m:r>
                        </m:e>
                      </m:acc>
                      <m:r>
                        <a:rPr lang="en-US" b="0" i="1" baseline="-25000" dirty="0" smtClean="0">
                          <a:latin typeface="Cambria Math"/>
                        </a:rPr>
                        <m:t>3</m:t>
                      </m:r>
                      <m:r>
                        <a:rPr lang="en-US" i="1" dirty="0">
                          <a:latin typeface="Cambria Math"/>
                        </a:rPr>
                        <m:t>(</m:t>
                      </m:r>
                      <m:r>
                        <a:rPr lang="en-US" i="1" dirty="0" err="1">
                          <a:latin typeface="Cambria Math"/>
                        </a:rPr>
                        <m:t>𝑝𝑜𝑠𝑡</m:t>
                      </m:r>
                      <m:r>
                        <a:rPr lang="en-US" i="1" baseline="-25000" dirty="0" err="1">
                          <a:latin typeface="Cambria Math"/>
                        </a:rPr>
                        <m:t>𝑖𝑡</m:t>
                      </m:r>
                      <m:r>
                        <a:rPr lang="en-US" i="1" dirty="0">
                          <a:latin typeface="Cambria Math"/>
                        </a:rPr>
                        <m:t>∗</m:t>
                      </m:r>
                      <m:r>
                        <a:rPr lang="en-US" i="1" dirty="0" err="1">
                          <a:latin typeface="Cambria Math"/>
                        </a:rPr>
                        <m:t>𝑡𝑟𝑒𝑎𝑡𝑚𝑒𝑛𝑡</m:t>
                      </m:r>
                      <m:r>
                        <a:rPr lang="en-US" i="1" baseline="-25000" dirty="0" err="1">
                          <a:latin typeface="Cambria Math"/>
                        </a:rPr>
                        <m:t>𝑖𝑡</m:t>
                      </m:r>
                      <m:r>
                        <a:rPr lang="en-US" i="1" dirty="0">
                          <a:latin typeface="Cambria Math"/>
                        </a:rPr>
                        <m:t>)</m:t>
                      </m:r>
                    </m:oMath>
                  </m:oMathPara>
                </a14:m>
                <a:endParaRPr lang="en-US" baseline="-25000" dirty="0"/>
              </a:p>
              <a:p>
                <a:pPr>
                  <a:buNone/>
                </a:pPr>
                <a:r>
                  <a:rPr lang="en-US" dirty="0"/>
                  <a:t>Where:</a:t>
                </a:r>
              </a:p>
              <a:p>
                <a:pPr>
                  <a:buNone/>
                </a:pPr>
                <a:r>
                  <a:rPr lang="en-US" dirty="0" err="1"/>
                  <a:t>post</a:t>
                </a:r>
                <a:r>
                  <a:rPr lang="en-US" baseline="-25000" dirty="0" err="1"/>
                  <a:t>it</a:t>
                </a:r>
                <a:r>
                  <a:rPr lang="en-US" dirty="0"/>
                  <a:t> is a dummy = 1 if we’re in a period after the intervention has occurred.</a:t>
                </a:r>
              </a:p>
              <a:p>
                <a:pPr>
                  <a:buNone/>
                </a:pPr>
                <a:r>
                  <a:rPr lang="en-US" dirty="0" err="1"/>
                  <a:t>treatment</a:t>
                </a:r>
                <a:r>
                  <a:rPr lang="en-US" baseline="-25000" dirty="0" err="1"/>
                  <a:t>it</a:t>
                </a:r>
                <a:r>
                  <a:rPr lang="en-US" dirty="0"/>
                  <a:t> is a dummy = 1 if this is an individual who is part of the treatment group</a:t>
                </a:r>
              </a:p>
              <a:p>
                <a:pPr>
                  <a:buNone/>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852" r="-1852"/>
                </a:stretch>
              </a:blipFill>
            </p:spPr>
            <p:txBody>
              <a:bodyPr/>
              <a:lstStyle/>
              <a:p>
                <a:r>
                  <a:rPr lang="en-US">
                    <a:noFill/>
                  </a:rPr>
                  <a:t> </a:t>
                </a:r>
              </a:p>
            </p:txBody>
          </p:sp>
        </mc:Fallback>
      </mc:AlternateContent>
    </p:spTree>
    <p:extLst>
      <p:ext uri="{BB962C8B-B14F-4D97-AF65-F5344CB8AC3E}">
        <p14:creationId xmlns:p14="http://schemas.microsoft.com/office/powerpoint/2010/main" val="141846378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the heck?</a:t>
            </a:r>
          </a:p>
        </p:txBody>
      </p:sp>
      <p:sp>
        <p:nvSpPr>
          <p:cNvPr id="3" name="Content Placeholder 2"/>
          <p:cNvSpPr>
            <a:spLocks noGrp="1"/>
          </p:cNvSpPr>
          <p:nvPr>
            <p:ph idx="1"/>
          </p:nvPr>
        </p:nvSpPr>
        <p:spPr/>
        <p:txBody>
          <a:bodyPr/>
          <a:lstStyle/>
          <a:p>
            <a:pPr marL="0" indent="0">
              <a:buNone/>
            </a:pPr>
            <a:r>
              <a:rPr lang="en-US" dirty="0"/>
              <a:t>I know – this equation is a bit of a mess, but two things help to gain intuitive understanding here.</a:t>
            </a:r>
          </a:p>
          <a:p>
            <a:pPr marL="0" indent="0">
              <a:buNone/>
            </a:pPr>
            <a:endParaRPr lang="en-US" dirty="0"/>
          </a:p>
          <a:p>
            <a:pPr marL="0" indent="0">
              <a:buNone/>
            </a:pPr>
            <a:r>
              <a:rPr lang="en-US" dirty="0"/>
              <a:t>First, let’s think about the original two-by-two table we used to think about the notion of a difference-in-differences.</a:t>
            </a:r>
          </a:p>
        </p:txBody>
      </p:sp>
    </p:spTree>
    <p:extLst>
      <p:ext uri="{BB962C8B-B14F-4D97-AF65-F5344CB8AC3E}">
        <p14:creationId xmlns:p14="http://schemas.microsoft.com/office/powerpoint/2010/main" val="20481407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D-</a:t>
            </a:r>
            <a:r>
              <a:rPr lang="en-US" dirty="0" err="1"/>
              <a:t>i</a:t>
            </a:r>
            <a:r>
              <a:rPr lang="en-US" dirty="0"/>
              <a:t>-D table</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154848749"/>
              </p:ext>
            </p:extLst>
          </p:nvPr>
        </p:nvGraphicFramePr>
        <p:xfrm>
          <a:off x="381000" y="1600200"/>
          <a:ext cx="8229600" cy="2194560"/>
        </p:xfrm>
        <a:graphic>
          <a:graphicData uri="http://schemas.openxmlformats.org/drawingml/2006/table">
            <a:tbl>
              <a:tblPr firstRow="1" bandRow="1">
                <a:tableStyleId>{5940675A-B579-460E-94D1-54222C63F5DA}</a:tableStyleId>
              </a:tblPr>
              <a:tblGrid>
                <a:gridCol w="1295400">
                  <a:extLst>
                    <a:ext uri="{9D8B030D-6E8A-4147-A177-3AD203B41FA5}">
                      <a16:colId xmlns:a16="http://schemas.microsoft.com/office/drawing/2014/main" val="20000"/>
                    </a:ext>
                  </a:extLst>
                </a:gridCol>
                <a:gridCol w="1752600">
                  <a:extLst>
                    <a:ext uri="{9D8B030D-6E8A-4147-A177-3AD203B41FA5}">
                      <a16:colId xmlns:a16="http://schemas.microsoft.com/office/drawing/2014/main" val="20001"/>
                    </a:ext>
                  </a:extLst>
                </a:gridCol>
                <a:gridCol w="1752600">
                  <a:extLst>
                    <a:ext uri="{9D8B030D-6E8A-4147-A177-3AD203B41FA5}">
                      <a16:colId xmlns:a16="http://schemas.microsoft.com/office/drawing/2014/main" val="20002"/>
                    </a:ext>
                  </a:extLst>
                </a:gridCol>
                <a:gridCol w="3429000">
                  <a:extLst>
                    <a:ext uri="{9D8B030D-6E8A-4147-A177-3AD203B41FA5}">
                      <a16:colId xmlns:a16="http://schemas.microsoft.com/office/drawing/2014/main" val="20003"/>
                    </a:ext>
                  </a:extLst>
                </a:gridCol>
              </a:tblGrid>
              <a:tr h="370840">
                <a:tc>
                  <a:txBody>
                    <a:bodyPr/>
                    <a:lstStyle/>
                    <a:p>
                      <a:endParaRPr lang="en-US" sz="2000" dirty="0"/>
                    </a:p>
                  </a:txBody>
                  <a:tcPr/>
                </a:tc>
                <a:tc>
                  <a:txBody>
                    <a:bodyPr/>
                    <a:lstStyle/>
                    <a:p>
                      <a:pPr algn="ctr"/>
                      <a:r>
                        <a:rPr lang="en-US" sz="2000" dirty="0"/>
                        <a:t>“Pre”</a:t>
                      </a:r>
                      <a:r>
                        <a:rPr lang="en-US" sz="2000" baseline="0" dirty="0"/>
                        <a:t> Period</a:t>
                      </a:r>
                      <a:endParaRPr lang="en-US" sz="2000" dirty="0"/>
                    </a:p>
                  </a:txBody>
                  <a:tcPr/>
                </a:tc>
                <a:tc>
                  <a:txBody>
                    <a:bodyPr/>
                    <a:lstStyle/>
                    <a:p>
                      <a:pPr algn="ctr"/>
                      <a:r>
                        <a:rPr lang="en-US" sz="2000" dirty="0"/>
                        <a:t>“Post” period</a:t>
                      </a:r>
                    </a:p>
                  </a:txBody>
                  <a:tcPr/>
                </a:tc>
                <a:tc>
                  <a:txBody>
                    <a:bodyPr/>
                    <a:lstStyle/>
                    <a:p>
                      <a:pPr algn="ctr"/>
                      <a:r>
                        <a:rPr lang="en-US" sz="2000" dirty="0"/>
                        <a:t>Difference</a:t>
                      </a:r>
                    </a:p>
                  </a:txBody>
                  <a:tcPr/>
                </a:tc>
                <a:extLst>
                  <a:ext uri="{0D108BD9-81ED-4DB2-BD59-A6C34878D82A}">
                    <a16:rowId xmlns:a16="http://schemas.microsoft.com/office/drawing/2014/main" val="10000"/>
                  </a:ext>
                </a:extLst>
              </a:tr>
              <a:tr h="370840">
                <a:tc>
                  <a:txBody>
                    <a:bodyPr/>
                    <a:lstStyle/>
                    <a:p>
                      <a:r>
                        <a:rPr lang="en-US" sz="2000" dirty="0"/>
                        <a:t>Treatment </a:t>
                      </a:r>
                    </a:p>
                    <a:p>
                      <a:r>
                        <a:rPr lang="en-US" sz="2000" dirty="0"/>
                        <a:t>Group</a:t>
                      </a:r>
                    </a:p>
                  </a:txBody>
                  <a:tcPr/>
                </a:tc>
                <a:tc>
                  <a:txBody>
                    <a:bodyPr/>
                    <a:lstStyle/>
                    <a:p>
                      <a:pPr marL="0" marR="0" algn="ctr">
                        <a:lnSpc>
                          <a:spcPct val="115000"/>
                        </a:lnSpc>
                        <a:spcBef>
                          <a:spcPts val="0"/>
                        </a:spcBef>
                        <a:spcAft>
                          <a:spcPts val="0"/>
                        </a:spcAft>
                      </a:pPr>
                      <a:r>
                        <a:rPr lang="en-US" sz="2000" dirty="0">
                          <a:latin typeface="Calibri"/>
                          <a:ea typeface="Calibri"/>
                          <a:cs typeface="Times New Roman"/>
                        </a:rPr>
                        <a:t>A</a:t>
                      </a:r>
                    </a:p>
                  </a:txBody>
                  <a:tcPr marL="68580" marR="68580" marT="0" marB="0" anchor="ctr"/>
                </a:tc>
                <a:tc>
                  <a:txBody>
                    <a:bodyPr/>
                    <a:lstStyle/>
                    <a:p>
                      <a:pPr marL="0" marR="0" algn="ctr">
                        <a:lnSpc>
                          <a:spcPct val="115000"/>
                        </a:lnSpc>
                        <a:spcBef>
                          <a:spcPts val="0"/>
                        </a:spcBef>
                        <a:spcAft>
                          <a:spcPts val="0"/>
                        </a:spcAft>
                      </a:pPr>
                      <a:r>
                        <a:rPr lang="en-US" sz="2000" dirty="0">
                          <a:latin typeface="Calibri"/>
                          <a:ea typeface="Calibri"/>
                          <a:cs typeface="Times New Roman"/>
                        </a:rPr>
                        <a:t>B</a:t>
                      </a:r>
                    </a:p>
                  </a:txBody>
                  <a:tcPr marL="68580" marR="68580" marT="0" marB="0" anchor="ctr"/>
                </a:tc>
                <a:tc>
                  <a:txBody>
                    <a:bodyPr/>
                    <a:lstStyle/>
                    <a:p>
                      <a:pPr marL="0" marR="0" algn="ctr">
                        <a:lnSpc>
                          <a:spcPct val="115000"/>
                        </a:lnSpc>
                        <a:spcBef>
                          <a:spcPts val="0"/>
                        </a:spcBef>
                        <a:spcAft>
                          <a:spcPts val="0"/>
                        </a:spcAft>
                      </a:pPr>
                      <a:r>
                        <a:rPr lang="en-US" sz="2000" dirty="0">
                          <a:latin typeface="Calibri"/>
                          <a:ea typeface="Calibri"/>
                          <a:cs typeface="Times New Roman"/>
                        </a:rPr>
                        <a:t>B</a:t>
                      </a:r>
                      <a:r>
                        <a:rPr lang="en-US" sz="2000" baseline="0" dirty="0">
                          <a:latin typeface="Calibri"/>
                          <a:ea typeface="Calibri"/>
                          <a:cs typeface="Times New Roman"/>
                        </a:rPr>
                        <a:t> – A</a:t>
                      </a:r>
                      <a:endParaRPr lang="en-US" sz="2000" dirty="0">
                        <a:latin typeface="Calibri"/>
                        <a:ea typeface="Calibri"/>
                        <a:cs typeface="Times New Roman"/>
                      </a:endParaRPr>
                    </a:p>
                  </a:txBody>
                  <a:tcPr marL="68580" marR="68580" marT="0" marB="0" anchor="ctr"/>
                </a:tc>
                <a:extLst>
                  <a:ext uri="{0D108BD9-81ED-4DB2-BD59-A6C34878D82A}">
                    <a16:rowId xmlns:a16="http://schemas.microsoft.com/office/drawing/2014/main" val="10001"/>
                  </a:ext>
                </a:extLst>
              </a:tr>
              <a:tr h="370840">
                <a:tc>
                  <a:txBody>
                    <a:bodyPr/>
                    <a:lstStyle/>
                    <a:p>
                      <a:r>
                        <a:rPr lang="en-US" sz="2000" dirty="0"/>
                        <a:t>Control</a:t>
                      </a:r>
                    </a:p>
                    <a:p>
                      <a:r>
                        <a:rPr lang="en-US" sz="2000" dirty="0"/>
                        <a:t>Group</a:t>
                      </a:r>
                    </a:p>
                  </a:txBody>
                  <a:tcPr/>
                </a:tc>
                <a:tc>
                  <a:txBody>
                    <a:bodyPr/>
                    <a:lstStyle/>
                    <a:p>
                      <a:pPr marL="0" marR="0" algn="ctr">
                        <a:lnSpc>
                          <a:spcPct val="115000"/>
                        </a:lnSpc>
                        <a:spcBef>
                          <a:spcPts val="0"/>
                        </a:spcBef>
                        <a:spcAft>
                          <a:spcPts val="0"/>
                        </a:spcAft>
                      </a:pPr>
                      <a:r>
                        <a:rPr lang="en-US" sz="2000" dirty="0">
                          <a:latin typeface="Calibri"/>
                          <a:ea typeface="Calibri"/>
                          <a:cs typeface="Times New Roman"/>
                        </a:rPr>
                        <a:t>C</a:t>
                      </a:r>
                    </a:p>
                  </a:txBody>
                  <a:tcPr marL="68580" marR="68580" marT="0" marB="0" anchor="ctr"/>
                </a:tc>
                <a:tc>
                  <a:txBody>
                    <a:bodyPr/>
                    <a:lstStyle/>
                    <a:p>
                      <a:pPr marL="0" marR="0" algn="ctr">
                        <a:lnSpc>
                          <a:spcPct val="115000"/>
                        </a:lnSpc>
                        <a:spcBef>
                          <a:spcPts val="0"/>
                        </a:spcBef>
                        <a:spcAft>
                          <a:spcPts val="0"/>
                        </a:spcAft>
                      </a:pPr>
                      <a:r>
                        <a:rPr lang="en-US" sz="2000" dirty="0">
                          <a:latin typeface="Calibri"/>
                          <a:ea typeface="Calibri"/>
                          <a:cs typeface="Times New Roman"/>
                        </a:rPr>
                        <a:t>D</a:t>
                      </a:r>
                    </a:p>
                  </a:txBody>
                  <a:tcPr marL="68580" marR="68580" marT="0" marB="0" anchor="ctr"/>
                </a:tc>
                <a:tc>
                  <a:txBody>
                    <a:bodyPr/>
                    <a:lstStyle/>
                    <a:p>
                      <a:pPr marL="0" marR="0" algn="ctr">
                        <a:lnSpc>
                          <a:spcPct val="115000"/>
                        </a:lnSpc>
                        <a:spcBef>
                          <a:spcPts val="0"/>
                        </a:spcBef>
                        <a:spcAft>
                          <a:spcPts val="0"/>
                        </a:spcAft>
                      </a:pPr>
                      <a:r>
                        <a:rPr lang="en-US" sz="2000" dirty="0">
                          <a:latin typeface="+mn-lt"/>
                          <a:ea typeface="Calibri"/>
                          <a:cs typeface="Times New Roman"/>
                        </a:rPr>
                        <a:t>D</a:t>
                      </a:r>
                      <a:r>
                        <a:rPr lang="en-US" sz="2000" baseline="0" dirty="0">
                          <a:latin typeface="+mn-lt"/>
                          <a:ea typeface="Calibri"/>
                          <a:cs typeface="Times New Roman"/>
                        </a:rPr>
                        <a:t> – C</a:t>
                      </a:r>
                      <a:endParaRPr lang="en-US" sz="2000" dirty="0">
                        <a:latin typeface="Calibri"/>
                        <a:ea typeface="Calibri"/>
                        <a:cs typeface="Times New Roman"/>
                      </a:endParaRPr>
                    </a:p>
                  </a:txBody>
                  <a:tcPr marL="68580" marR="68580" marT="0" marB="0" anchor="ctr"/>
                </a:tc>
                <a:extLst>
                  <a:ext uri="{0D108BD9-81ED-4DB2-BD59-A6C34878D82A}">
                    <a16:rowId xmlns:a16="http://schemas.microsoft.com/office/drawing/2014/main" val="10002"/>
                  </a:ext>
                </a:extLst>
              </a:tr>
              <a:tr h="370840">
                <a:tc>
                  <a:txBody>
                    <a:bodyPr/>
                    <a:lstStyle/>
                    <a:p>
                      <a:endParaRPr lang="en-US" sz="2000" dirty="0"/>
                    </a:p>
                  </a:txBody>
                  <a:tcPr/>
                </a:tc>
                <a:tc gridSpan="2">
                  <a:txBody>
                    <a:bodyPr/>
                    <a:lstStyle/>
                    <a:p>
                      <a:r>
                        <a:rPr lang="en-US" sz="2000" dirty="0"/>
                        <a:t>Difference-in-Differences</a:t>
                      </a:r>
                    </a:p>
                  </a:txBody>
                  <a:tcPr/>
                </a:tc>
                <a:tc hMerge="1">
                  <a:txBody>
                    <a:bodyPr/>
                    <a:lstStyle/>
                    <a:p>
                      <a:endParaRPr lang="en-US" sz="200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a:t>(</a:t>
                      </a:r>
                      <a:r>
                        <a:rPr lang="en-US" sz="2000" dirty="0">
                          <a:latin typeface="+mn-lt"/>
                          <a:ea typeface="Calibri"/>
                          <a:cs typeface="Times New Roman"/>
                        </a:rPr>
                        <a:t>B</a:t>
                      </a:r>
                      <a:r>
                        <a:rPr lang="en-US" sz="2000" baseline="0" dirty="0">
                          <a:latin typeface="+mn-lt"/>
                          <a:ea typeface="Calibri"/>
                          <a:cs typeface="Times New Roman"/>
                        </a:rPr>
                        <a:t> – A</a:t>
                      </a:r>
                      <a:r>
                        <a:rPr lang="en-US" sz="2000" baseline="0" dirty="0">
                          <a:latin typeface="+mn-lt"/>
                          <a:ea typeface="+mn-ea"/>
                          <a:cs typeface="+mn-cs"/>
                        </a:rPr>
                        <a:t>) – (</a:t>
                      </a:r>
                      <a:r>
                        <a:rPr lang="en-US" sz="2000" dirty="0">
                          <a:latin typeface="+mn-lt"/>
                          <a:ea typeface="Calibri"/>
                          <a:cs typeface="Times New Roman"/>
                        </a:rPr>
                        <a:t>D</a:t>
                      </a:r>
                      <a:r>
                        <a:rPr lang="en-US" sz="2000" baseline="0" dirty="0">
                          <a:latin typeface="+mn-lt"/>
                          <a:ea typeface="Calibri"/>
                          <a:cs typeface="Times New Roman"/>
                        </a:rPr>
                        <a:t> – C)</a:t>
                      </a:r>
                      <a:endParaRPr lang="en-US" sz="2000" dirty="0">
                        <a:latin typeface="+mn-lt"/>
                        <a:ea typeface="Calibri"/>
                        <a:cs typeface="Times New Roman"/>
                      </a:endParaRP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94258333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Now, the regression</a:t>
            </a:r>
          </a:p>
        </p:txBody>
      </p:sp>
      <p:sp>
        <p:nvSpPr>
          <p:cNvPr id="3" name="Content Placeholder 2"/>
          <p:cNvSpPr>
            <a:spLocks noGrp="1"/>
          </p:cNvSpPr>
          <p:nvPr>
            <p:ph idx="1"/>
          </p:nvPr>
        </p:nvSpPr>
        <p:spPr/>
        <p:txBody>
          <a:bodyPr>
            <a:normAutofit/>
          </a:bodyPr>
          <a:lstStyle/>
          <a:p>
            <a:pPr marL="0" indent="0">
              <a:buNone/>
            </a:pPr>
            <a:r>
              <a:rPr lang="en-US" dirty="0"/>
              <a:t>With this table in mind, let’s attack the regression that I showed you.</a:t>
            </a:r>
          </a:p>
          <a:p>
            <a:pPr marL="0" indent="0">
              <a:buNone/>
            </a:pPr>
            <a:endParaRPr lang="en-US" dirty="0"/>
          </a:p>
          <a:p>
            <a:pPr marL="0" indent="0">
              <a:buNone/>
            </a:pPr>
            <a:r>
              <a:rPr lang="en-US" dirty="0">
                <a:sym typeface="Wingdings" panose="05000000000000000000" pitchFamily="2" charset="2"/>
              </a:rPr>
              <a:t>Let’s prove to ourselves that it can generate the D-</a:t>
            </a:r>
            <a:r>
              <a:rPr lang="en-US" dirty="0" err="1">
                <a:sym typeface="Wingdings" panose="05000000000000000000" pitchFamily="2" charset="2"/>
              </a:rPr>
              <a:t>i</a:t>
            </a:r>
            <a:r>
              <a:rPr lang="en-US" dirty="0">
                <a:sym typeface="Wingdings" panose="05000000000000000000" pitchFamily="2" charset="2"/>
              </a:rPr>
              <a:t>-D</a:t>
            </a:r>
          </a:p>
          <a:p>
            <a:pPr marL="0" indent="0">
              <a:buNone/>
            </a:pPr>
            <a:endParaRPr lang="en-US" dirty="0">
              <a:sym typeface="Wingdings" panose="05000000000000000000" pitchFamily="2" charset="2"/>
            </a:endParaRPr>
          </a:p>
          <a:p>
            <a:pPr marL="0" indent="0">
              <a:buNone/>
            </a:pPr>
            <a:r>
              <a:rPr lang="en-US" dirty="0">
                <a:sym typeface="Wingdings" panose="05000000000000000000" pitchFamily="2" charset="2"/>
              </a:rPr>
              <a:t>I’ll work through the regression’s conditional mean for each quadrant of our table.</a:t>
            </a:r>
            <a:endParaRPr lang="en-US" dirty="0"/>
          </a:p>
        </p:txBody>
      </p:sp>
    </p:spTree>
    <p:extLst>
      <p:ext uri="{BB962C8B-B14F-4D97-AF65-F5344CB8AC3E}">
        <p14:creationId xmlns:p14="http://schemas.microsoft.com/office/powerpoint/2010/main" val="409276179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Quadrant #1: Treatment &amp; “Pre” </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40839850"/>
              </p:ext>
            </p:extLst>
          </p:nvPr>
        </p:nvGraphicFramePr>
        <p:xfrm>
          <a:off x="457200" y="1600200"/>
          <a:ext cx="8229600" cy="2194560"/>
        </p:xfrm>
        <a:graphic>
          <a:graphicData uri="http://schemas.openxmlformats.org/drawingml/2006/table">
            <a:tbl>
              <a:tblPr firstRow="1" bandRow="1">
                <a:tableStyleId>{5940675A-B579-460E-94D1-54222C63F5DA}</a:tableStyleId>
              </a:tblPr>
              <a:tblGrid>
                <a:gridCol w="2057400">
                  <a:extLst>
                    <a:ext uri="{9D8B030D-6E8A-4147-A177-3AD203B41FA5}">
                      <a16:colId xmlns:a16="http://schemas.microsoft.com/office/drawing/2014/main" val="20000"/>
                    </a:ext>
                  </a:extLst>
                </a:gridCol>
                <a:gridCol w="2057400">
                  <a:extLst>
                    <a:ext uri="{9D8B030D-6E8A-4147-A177-3AD203B41FA5}">
                      <a16:colId xmlns:a16="http://schemas.microsoft.com/office/drawing/2014/main" val="20001"/>
                    </a:ext>
                  </a:extLst>
                </a:gridCol>
                <a:gridCol w="2057400">
                  <a:extLst>
                    <a:ext uri="{9D8B030D-6E8A-4147-A177-3AD203B41FA5}">
                      <a16:colId xmlns:a16="http://schemas.microsoft.com/office/drawing/2014/main" val="20002"/>
                    </a:ext>
                  </a:extLst>
                </a:gridCol>
                <a:gridCol w="2057400">
                  <a:extLst>
                    <a:ext uri="{9D8B030D-6E8A-4147-A177-3AD203B41FA5}">
                      <a16:colId xmlns:a16="http://schemas.microsoft.com/office/drawing/2014/main" val="20003"/>
                    </a:ext>
                  </a:extLst>
                </a:gridCol>
              </a:tblGrid>
              <a:tr h="370840">
                <a:tc>
                  <a:txBody>
                    <a:bodyPr/>
                    <a:lstStyle/>
                    <a:p>
                      <a:endParaRPr lang="en-US" sz="2000" dirty="0"/>
                    </a:p>
                  </a:txBody>
                  <a:tcPr/>
                </a:tc>
                <a:tc>
                  <a:txBody>
                    <a:bodyPr/>
                    <a:lstStyle/>
                    <a:p>
                      <a:pPr algn="ctr"/>
                      <a:r>
                        <a:rPr lang="en-US" sz="2000" dirty="0"/>
                        <a:t>“Pre”</a:t>
                      </a:r>
                      <a:r>
                        <a:rPr lang="en-US" sz="2000" baseline="0" dirty="0"/>
                        <a:t> Period</a:t>
                      </a:r>
                      <a:endParaRPr lang="en-US" sz="2000" dirty="0"/>
                    </a:p>
                  </a:txBody>
                  <a:tcPr/>
                </a:tc>
                <a:tc>
                  <a:txBody>
                    <a:bodyPr/>
                    <a:lstStyle/>
                    <a:p>
                      <a:pPr algn="ctr"/>
                      <a:r>
                        <a:rPr lang="en-US" sz="2000" dirty="0"/>
                        <a:t>“Post” period</a:t>
                      </a:r>
                    </a:p>
                  </a:txBody>
                  <a:tcPr/>
                </a:tc>
                <a:tc>
                  <a:txBody>
                    <a:bodyPr/>
                    <a:lstStyle/>
                    <a:p>
                      <a:pPr algn="ctr"/>
                      <a:r>
                        <a:rPr lang="en-US" sz="2000" dirty="0"/>
                        <a:t>Difference</a:t>
                      </a:r>
                    </a:p>
                  </a:txBody>
                  <a:tcPr/>
                </a:tc>
                <a:extLst>
                  <a:ext uri="{0D108BD9-81ED-4DB2-BD59-A6C34878D82A}">
                    <a16:rowId xmlns:a16="http://schemas.microsoft.com/office/drawing/2014/main" val="10000"/>
                  </a:ext>
                </a:extLst>
              </a:tr>
              <a:tr h="370840">
                <a:tc>
                  <a:txBody>
                    <a:bodyPr/>
                    <a:lstStyle/>
                    <a:p>
                      <a:r>
                        <a:rPr lang="en-US" sz="2000" dirty="0"/>
                        <a:t>Treatment </a:t>
                      </a:r>
                    </a:p>
                    <a:p>
                      <a:r>
                        <a:rPr lang="en-US" sz="2000" dirty="0"/>
                        <a:t>Group</a:t>
                      </a:r>
                    </a:p>
                  </a:txBody>
                  <a:tcPr/>
                </a:tc>
                <a:tc>
                  <a:txBody>
                    <a:bodyPr/>
                    <a:lstStyle/>
                    <a:p>
                      <a:pPr marL="0" marR="0" algn="ctr">
                        <a:lnSpc>
                          <a:spcPct val="115000"/>
                        </a:lnSpc>
                        <a:spcBef>
                          <a:spcPts val="0"/>
                        </a:spcBef>
                        <a:spcAft>
                          <a:spcPts val="0"/>
                        </a:spcAft>
                      </a:pPr>
                      <a:r>
                        <a:rPr lang="en-US" sz="2000" dirty="0">
                          <a:latin typeface="Calibri"/>
                          <a:ea typeface="Calibri"/>
                          <a:cs typeface="Times New Roman"/>
                        </a:rPr>
                        <a:t>What coefficients apply here?</a:t>
                      </a:r>
                    </a:p>
                  </a:txBody>
                  <a:tcPr marL="68580" marR="68580" marT="0" marB="0" anchor="ctr">
                    <a:solidFill>
                      <a:schemeClr val="accent2"/>
                    </a:solidFill>
                  </a:tcPr>
                </a:tc>
                <a:tc>
                  <a:txBody>
                    <a:bodyPr/>
                    <a:lstStyle/>
                    <a:p>
                      <a:pPr marL="0" marR="0" algn="ctr">
                        <a:lnSpc>
                          <a:spcPct val="115000"/>
                        </a:lnSpc>
                        <a:spcBef>
                          <a:spcPts val="0"/>
                        </a:spcBef>
                        <a:spcAft>
                          <a:spcPts val="0"/>
                        </a:spcAft>
                      </a:pPr>
                      <a:endParaRPr lang="en-US" sz="2000" dirty="0">
                        <a:latin typeface="Calibri"/>
                        <a:ea typeface="Calibri"/>
                        <a:cs typeface="Times New Roman"/>
                      </a:endParaRPr>
                    </a:p>
                  </a:txBody>
                  <a:tcPr marL="68580" marR="68580" marT="0" marB="0" anchor="ctr"/>
                </a:tc>
                <a:tc>
                  <a:txBody>
                    <a:bodyPr/>
                    <a:lstStyle/>
                    <a:p>
                      <a:pPr marL="0" marR="0" algn="ctr">
                        <a:lnSpc>
                          <a:spcPct val="115000"/>
                        </a:lnSpc>
                        <a:spcBef>
                          <a:spcPts val="0"/>
                        </a:spcBef>
                        <a:spcAft>
                          <a:spcPts val="0"/>
                        </a:spcAft>
                      </a:pPr>
                      <a:endParaRPr lang="en-US" sz="2000" dirty="0">
                        <a:latin typeface="Calibri"/>
                        <a:ea typeface="Calibri"/>
                        <a:cs typeface="Times New Roman"/>
                      </a:endParaRPr>
                    </a:p>
                  </a:txBody>
                  <a:tcPr marL="68580" marR="68580" marT="0" marB="0" anchor="ctr"/>
                </a:tc>
                <a:extLst>
                  <a:ext uri="{0D108BD9-81ED-4DB2-BD59-A6C34878D82A}">
                    <a16:rowId xmlns:a16="http://schemas.microsoft.com/office/drawing/2014/main" val="10001"/>
                  </a:ext>
                </a:extLst>
              </a:tr>
              <a:tr h="370840">
                <a:tc>
                  <a:txBody>
                    <a:bodyPr/>
                    <a:lstStyle/>
                    <a:p>
                      <a:r>
                        <a:rPr lang="en-US" sz="2000" dirty="0"/>
                        <a:t>Control</a:t>
                      </a:r>
                    </a:p>
                    <a:p>
                      <a:r>
                        <a:rPr lang="en-US" sz="2000" dirty="0"/>
                        <a:t>Group</a:t>
                      </a:r>
                    </a:p>
                  </a:txBody>
                  <a:tcPr/>
                </a:tc>
                <a:tc>
                  <a:txBody>
                    <a:bodyPr/>
                    <a:lstStyle/>
                    <a:p>
                      <a:pPr marL="0" marR="0" algn="ctr">
                        <a:lnSpc>
                          <a:spcPct val="115000"/>
                        </a:lnSpc>
                        <a:spcBef>
                          <a:spcPts val="0"/>
                        </a:spcBef>
                        <a:spcAft>
                          <a:spcPts val="0"/>
                        </a:spcAft>
                      </a:pPr>
                      <a:endParaRPr lang="en-US" sz="2000" dirty="0">
                        <a:latin typeface="Calibri"/>
                        <a:ea typeface="Calibri"/>
                        <a:cs typeface="Times New Roman"/>
                      </a:endParaRPr>
                    </a:p>
                  </a:txBody>
                  <a:tcPr marL="68580" marR="68580" marT="0" marB="0" anchor="ctr"/>
                </a:tc>
                <a:tc>
                  <a:txBody>
                    <a:bodyPr/>
                    <a:lstStyle/>
                    <a:p>
                      <a:pPr marL="0" marR="0" algn="ctr">
                        <a:lnSpc>
                          <a:spcPct val="115000"/>
                        </a:lnSpc>
                        <a:spcBef>
                          <a:spcPts val="0"/>
                        </a:spcBef>
                        <a:spcAft>
                          <a:spcPts val="0"/>
                        </a:spcAft>
                      </a:pPr>
                      <a:endParaRPr lang="en-US" sz="2000" dirty="0">
                        <a:latin typeface="Calibri"/>
                        <a:ea typeface="Calibri"/>
                        <a:cs typeface="Times New Roman"/>
                      </a:endParaRPr>
                    </a:p>
                  </a:txBody>
                  <a:tcPr marL="68580" marR="68580" marT="0" marB="0" anchor="ctr"/>
                </a:tc>
                <a:tc>
                  <a:txBody>
                    <a:bodyPr/>
                    <a:lstStyle/>
                    <a:p>
                      <a:pPr marL="0" marR="0" algn="ctr">
                        <a:lnSpc>
                          <a:spcPct val="115000"/>
                        </a:lnSpc>
                        <a:spcBef>
                          <a:spcPts val="0"/>
                        </a:spcBef>
                        <a:spcAft>
                          <a:spcPts val="0"/>
                        </a:spcAft>
                      </a:pPr>
                      <a:endParaRPr lang="en-US" sz="2000" dirty="0">
                        <a:latin typeface="Calibri"/>
                        <a:ea typeface="Calibri"/>
                        <a:cs typeface="Times New Roman"/>
                      </a:endParaRPr>
                    </a:p>
                  </a:txBody>
                  <a:tcPr marL="68580" marR="68580" marT="0" marB="0" anchor="ctr"/>
                </a:tc>
                <a:extLst>
                  <a:ext uri="{0D108BD9-81ED-4DB2-BD59-A6C34878D82A}">
                    <a16:rowId xmlns:a16="http://schemas.microsoft.com/office/drawing/2014/main" val="10002"/>
                  </a:ext>
                </a:extLst>
              </a:tr>
              <a:tr h="370840">
                <a:tc>
                  <a:txBody>
                    <a:bodyPr/>
                    <a:lstStyle/>
                    <a:p>
                      <a:endParaRPr lang="en-US" sz="2000" dirty="0"/>
                    </a:p>
                  </a:txBody>
                  <a:tcPr/>
                </a:tc>
                <a:tc gridSpan="2">
                  <a:txBody>
                    <a:bodyPr/>
                    <a:lstStyle/>
                    <a:p>
                      <a:r>
                        <a:rPr lang="en-US" sz="2000" dirty="0"/>
                        <a:t>Difference-in-Differences</a:t>
                      </a:r>
                    </a:p>
                  </a:txBody>
                  <a:tcPr/>
                </a:tc>
                <a:tc hMerge="1">
                  <a:txBody>
                    <a:bodyPr/>
                    <a:lstStyle/>
                    <a:p>
                      <a:endParaRPr lang="en-US" sz="200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2000" dirty="0">
                        <a:latin typeface="+mn-lt"/>
                        <a:ea typeface="Calibri"/>
                        <a:cs typeface="Times New Roman"/>
                      </a:endParaRPr>
                    </a:p>
                  </a:txBody>
                  <a:tcPr/>
                </a:tc>
                <a:extLst>
                  <a:ext uri="{0D108BD9-81ED-4DB2-BD59-A6C34878D82A}">
                    <a16:rowId xmlns:a16="http://schemas.microsoft.com/office/drawing/2014/main" val="10003"/>
                  </a:ext>
                </a:extLst>
              </a:tr>
            </a:tbl>
          </a:graphicData>
        </a:graphic>
      </p:graphicFrame>
      <p:sp>
        <p:nvSpPr>
          <p:cNvPr id="5" name="TextBox 4"/>
          <p:cNvSpPr txBox="1"/>
          <p:nvPr/>
        </p:nvSpPr>
        <p:spPr>
          <a:xfrm>
            <a:off x="457200" y="4191000"/>
            <a:ext cx="8305800" cy="1077218"/>
          </a:xfrm>
          <a:prstGeom prst="rect">
            <a:avLst/>
          </a:prstGeom>
          <a:noFill/>
        </p:spPr>
        <p:txBody>
          <a:bodyPr wrap="square" rtlCol="0">
            <a:spAutoFit/>
          </a:bodyPr>
          <a:lstStyle/>
          <a:p>
            <a:r>
              <a:rPr lang="en-US" sz="3200" dirty="0"/>
              <a:t>In this quadrant, what happens to the “treatment” dummy?  And the “post” dummy?</a:t>
            </a:r>
          </a:p>
        </p:txBody>
      </p:sp>
      <p:sp>
        <p:nvSpPr>
          <p:cNvPr id="6" name="TextBox 5"/>
          <p:cNvSpPr txBox="1"/>
          <p:nvPr/>
        </p:nvSpPr>
        <p:spPr>
          <a:xfrm>
            <a:off x="476250" y="5259586"/>
            <a:ext cx="8305800" cy="584775"/>
          </a:xfrm>
          <a:prstGeom prst="rect">
            <a:avLst/>
          </a:prstGeom>
          <a:noFill/>
        </p:spPr>
        <p:txBody>
          <a:bodyPr wrap="square" rtlCol="0">
            <a:spAutoFit/>
          </a:bodyPr>
          <a:lstStyle/>
          <a:p>
            <a:r>
              <a:rPr lang="en-US" sz="3200" dirty="0"/>
              <a:t>Treatment = 1</a:t>
            </a:r>
          </a:p>
        </p:txBody>
      </p:sp>
      <p:sp>
        <p:nvSpPr>
          <p:cNvPr id="7" name="TextBox 6"/>
          <p:cNvSpPr txBox="1"/>
          <p:nvPr/>
        </p:nvSpPr>
        <p:spPr>
          <a:xfrm>
            <a:off x="495300" y="5979497"/>
            <a:ext cx="8305800" cy="584775"/>
          </a:xfrm>
          <a:prstGeom prst="rect">
            <a:avLst/>
          </a:prstGeom>
          <a:noFill/>
        </p:spPr>
        <p:txBody>
          <a:bodyPr wrap="square" rtlCol="0">
            <a:spAutoFit/>
          </a:bodyPr>
          <a:lstStyle/>
          <a:p>
            <a:r>
              <a:rPr lang="en-US" sz="3200" dirty="0"/>
              <a:t>Post = 0</a:t>
            </a:r>
          </a:p>
        </p:txBody>
      </p:sp>
    </p:spTree>
    <p:extLst>
      <p:ext uri="{BB962C8B-B14F-4D97-AF65-F5344CB8AC3E}">
        <p14:creationId xmlns:p14="http://schemas.microsoft.com/office/powerpoint/2010/main" val="28039030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So what is the conditional mean </a:t>
            </a:r>
            <a:br>
              <a:rPr lang="en-US" dirty="0"/>
            </a:br>
            <a:r>
              <a:rPr lang="en-US" dirty="0"/>
              <a:t>in this case?</a:t>
            </a:r>
          </a:p>
        </p:txBody>
      </p:sp>
      <p:sp>
        <p:nvSpPr>
          <p:cNvPr id="3" name="Content Placeholder 2"/>
          <p:cNvSpPr>
            <a:spLocks noGrp="1"/>
          </p:cNvSpPr>
          <p:nvPr>
            <p:ph idx="1"/>
          </p:nvPr>
        </p:nvSpPr>
        <p:spPr>
          <a:xfrm>
            <a:off x="438150" y="1600200"/>
            <a:ext cx="8229600" cy="4525963"/>
          </a:xfrm>
        </p:spPr>
        <p:txBody>
          <a:bodyPr>
            <a:normAutofit/>
          </a:bodyPr>
          <a:lstStyle/>
          <a:p>
            <a:pPr marL="0" indent="0">
              <a:buNone/>
            </a:pPr>
            <a:r>
              <a:rPr lang="en-US" dirty="0"/>
              <a:t>If Treatment = 1 and Post = 0, then our regression equation looks like this:</a:t>
            </a:r>
          </a:p>
          <a:p>
            <a:pPr marL="0" indent="0">
              <a:buNone/>
            </a:pPr>
            <a:endParaRPr lang="en-US" dirty="0"/>
          </a:p>
          <a:p>
            <a:pPr marL="0" indent="0">
              <a:buNone/>
            </a:pPr>
            <a:endParaRPr lang="en-US" dirty="0"/>
          </a:p>
          <a:p>
            <a:pPr marL="0" indent="0">
              <a:buNone/>
            </a:pPr>
            <a:endParaRPr lang="en-US" dirty="0"/>
          </a:p>
          <a:p>
            <a:pPr>
              <a:buNone/>
            </a:pPr>
            <a:endParaRPr lang="en-US" dirty="0">
              <a:sym typeface="Wingdings" panose="05000000000000000000" pitchFamily="2" charset="2"/>
            </a:endParaRPr>
          </a:p>
          <a:p>
            <a:pPr>
              <a:buNone/>
            </a:pPr>
            <a:endParaRPr lang="en-US" dirty="0">
              <a:sym typeface="Wingdings" panose="05000000000000000000" pitchFamily="2" charset="2"/>
            </a:endParaRPr>
          </a:p>
          <a:p>
            <a:pPr>
              <a:buNone/>
            </a:pPr>
            <a:endParaRPr lang="en-US" dirty="0">
              <a:sym typeface="Wingdings" panose="05000000000000000000" pitchFamily="2" charset="2"/>
            </a:endParaRPr>
          </a:p>
        </p:txBody>
      </p:sp>
      <mc:AlternateContent xmlns:mc="http://schemas.openxmlformats.org/markup-compatibility/2006" xmlns:a14="http://schemas.microsoft.com/office/drawing/2010/main">
        <mc:Choice Requires="a14">
          <p:sp>
            <p:nvSpPr>
              <p:cNvPr id="5" name="TextBox 4"/>
              <p:cNvSpPr txBox="1"/>
              <p:nvPr/>
            </p:nvSpPr>
            <p:spPr>
              <a:xfrm>
                <a:off x="447675" y="2590800"/>
                <a:ext cx="8305800" cy="1611147"/>
              </a:xfrm>
              <a:prstGeom prst="rect">
                <a:avLst/>
              </a:prstGeom>
              <a:noFill/>
            </p:spPr>
            <p:txBody>
              <a:bodyPr wrap="square" rtlCol="0">
                <a:spAutoFit/>
              </a:bodyPr>
              <a:lstStyle/>
              <a:p>
                <a:pPr>
                  <a:buNone/>
                </a:pPr>
                <a14:m>
                  <m:oMathPara xmlns:m="http://schemas.openxmlformats.org/officeDocument/2006/math">
                    <m:oMathParaPr>
                      <m:jc m:val="centerGroup"/>
                    </m:oMathParaPr>
                    <m:oMath xmlns:m="http://schemas.openxmlformats.org/officeDocument/2006/math">
                      <m:r>
                        <a:rPr lang="en-US" sz="3200" i="1" dirty="0">
                          <a:latin typeface="Cambria Math"/>
                        </a:rPr>
                        <m:t>𝑃𝑟𝑜𝑑𝑢𝑐𝑡𝑖𝑣𝑖𝑡𝑦</m:t>
                      </m:r>
                      <m:r>
                        <a:rPr lang="en-US" sz="3200" i="1" baseline="-25000" dirty="0" err="1">
                          <a:latin typeface="Cambria Math"/>
                        </a:rPr>
                        <m:t>𝑖𝑡</m:t>
                      </m:r>
                      <m:r>
                        <a:rPr lang="en-US" sz="3200" i="1" dirty="0">
                          <a:latin typeface="Cambria Math"/>
                        </a:rPr>
                        <m:t> =</m:t>
                      </m:r>
                      <m:acc>
                        <m:accPr>
                          <m:chr m:val="̂"/>
                          <m:ctrlPr>
                            <a:rPr lang="en-US" sz="3200" i="1">
                              <a:latin typeface="Cambria Math" panose="02040503050406030204" pitchFamily="18" charset="0"/>
                            </a:rPr>
                          </m:ctrlPr>
                        </m:accPr>
                        <m:e>
                          <m:r>
                            <a:rPr lang="en-US" sz="3200" i="1">
                              <a:latin typeface="Cambria Math"/>
                            </a:rPr>
                            <m:t>𝑏</m:t>
                          </m:r>
                        </m:e>
                      </m:acc>
                      <m:r>
                        <a:rPr lang="en-US" sz="3200" i="1" baseline="-25000" dirty="0">
                          <a:latin typeface="Cambria Math"/>
                        </a:rPr>
                        <m:t>0</m:t>
                      </m:r>
                      <m:r>
                        <a:rPr lang="en-US" sz="3200" i="1" dirty="0">
                          <a:latin typeface="Cambria Math"/>
                        </a:rPr>
                        <m:t> +</m:t>
                      </m:r>
                      <m:acc>
                        <m:accPr>
                          <m:chr m:val="̂"/>
                          <m:ctrlPr>
                            <a:rPr lang="en-US" sz="3200" i="1">
                              <a:latin typeface="Cambria Math" panose="02040503050406030204" pitchFamily="18" charset="0"/>
                            </a:rPr>
                          </m:ctrlPr>
                        </m:accPr>
                        <m:e>
                          <m:r>
                            <a:rPr lang="en-US" sz="3200" i="1">
                              <a:latin typeface="Cambria Math"/>
                            </a:rPr>
                            <m:t>𝑏</m:t>
                          </m:r>
                        </m:e>
                      </m:acc>
                      <m:r>
                        <a:rPr lang="en-US" sz="3200" i="1" baseline="-25000" dirty="0">
                          <a:latin typeface="Cambria Math"/>
                        </a:rPr>
                        <m:t>1</m:t>
                      </m:r>
                      <m:r>
                        <a:rPr lang="en-US" sz="3200" i="1" dirty="0">
                          <a:latin typeface="Cambria Math"/>
                        </a:rPr>
                        <m:t>(</m:t>
                      </m:r>
                      <m:r>
                        <a:rPr lang="en-US" sz="3200" i="1" dirty="0" err="1">
                          <a:latin typeface="Cambria Math"/>
                        </a:rPr>
                        <m:t>𝑝𝑜𝑠𝑡</m:t>
                      </m:r>
                      <m:r>
                        <a:rPr lang="en-US" sz="3200" i="1" baseline="-25000" dirty="0" err="1">
                          <a:latin typeface="Cambria Math"/>
                        </a:rPr>
                        <m:t>𝑖𝑡</m:t>
                      </m:r>
                      <m:r>
                        <a:rPr lang="en-US" sz="3200" i="1" dirty="0">
                          <a:latin typeface="Cambria Math"/>
                        </a:rPr>
                        <m:t>) +</m:t>
                      </m:r>
                      <m:acc>
                        <m:accPr>
                          <m:chr m:val="̂"/>
                          <m:ctrlPr>
                            <a:rPr lang="en-US" sz="3200" i="1">
                              <a:latin typeface="Cambria Math" panose="02040503050406030204" pitchFamily="18" charset="0"/>
                            </a:rPr>
                          </m:ctrlPr>
                        </m:accPr>
                        <m:e>
                          <m:r>
                            <a:rPr lang="en-US" sz="3200" i="1">
                              <a:latin typeface="Cambria Math"/>
                            </a:rPr>
                            <m:t>𝑏</m:t>
                          </m:r>
                        </m:e>
                      </m:acc>
                      <m:r>
                        <a:rPr lang="en-US" sz="3200" i="1" baseline="-25000" dirty="0">
                          <a:latin typeface="Cambria Math"/>
                        </a:rPr>
                        <m:t>2</m:t>
                      </m:r>
                      <m:r>
                        <a:rPr lang="en-US" sz="3200" i="1" dirty="0">
                          <a:latin typeface="Cambria Math"/>
                        </a:rPr>
                        <m:t>(</m:t>
                      </m:r>
                      <m:r>
                        <a:rPr lang="en-US" sz="3200" i="1" dirty="0" err="1">
                          <a:latin typeface="Cambria Math"/>
                        </a:rPr>
                        <m:t>𝑡𝑟𝑒𝑎𝑡𝑚𝑒𝑛𝑡</m:t>
                      </m:r>
                      <m:r>
                        <a:rPr lang="en-US" sz="3200" i="1" baseline="-25000" dirty="0" err="1">
                          <a:latin typeface="Cambria Math"/>
                        </a:rPr>
                        <m:t>𝑖𝑡</m:t>
                      </m:r>
                      <m:r>
                        <a:rPr lang="en-US" sz="3200" i="1" dirty="0">
                          <a:latin typeface="Cambria Math"/>
                        </a:rPr>
                        <m:t>) </m:t>
                      </m:r>
                    </m:oMath>
                  </m:oMathPara>
                </a14:m>
                <a:endParaRPr lang="en-US" sz="3200" dirty="0"/>
              </a:p>
              <a:p>
                <a:pPr>
                  <a:buNone/>
                </a:pPr>
                <a14:m>
                  <m:oMathPara xmlns:m="http://schemas.openxmlformats.org/officeDocument/2006/math">
                    <m:oMathParaPr>
                      <m:jc m:val="centerGroup"/>
                    </m:oMathParaPr>
                    <m:oMath xmlns:m="http://schemas.openxmlformats.org/officeDocument/2006/math">
                      <m:r>
                        <a:rPr lang="en-US" sz="3200" i="1" dirty="0">
                          <a:latin typeface="Cambria Math"/>
                        </a:rPr>
                        <m:t>+</m:t>
                      </m:r>
                      <m:acc>
                        <m:accPr>
                          <m:chr m:val="̂"/>
                          <m:ctrlPr>
                            <a:rPr lang="en-US" sz="3200" i="1">
                              <a:latin typeface="Cambria Math" panose="02040503050406030204" pitchFamily="18" charset="0"/>
                            </a:rPr>
                          </m:ctrlPr>
                        </m:accPr>
                        <m:e>
                          <m:r>
                            <a:rPr lang="en-US" sz="3200" i="1">
                              <a:latin typeface="Cambria Math"/>
                            </a:rPr>
                            <m:t>𝑏</m:t>
                          </m:r>
                        </m:e>
                      </m:acc>
                      <m:r>
                        <a:rPr lang="en-US" sz="3200" i="1" baseline="-25000" dirty="0">
                          <a:latin typeface="Cambria Math"/>
                        </a:rPr>
                        <m:t>3</m:t>
                      </m:r>
                      <m:r>
                        <a:rPr lang="en-US" sz="3200" i="1" dirty="0">
                          <a:latin typeface="Cambria Math"/>
                        </a:rPr>
                        <m:t>(</m:t>
                      </m:r>
                      <m:r>
                        <a:rPr lang="en-US" sz="3200" i="1" dirty="0" err="1">
                          <a:latin typeface="Cambria Math"/>
                        </a:rPr>
                        <m:t>𝑝𝑜𝑠𝑡</m:t>
                      </m:r>
                      <m:r>
                        <a:rPr lang="en-US" sz="3200" i="1" baseline="-25000" dirty="0" err="1">
                          <a:latin typeface="Cambria Math"/>
                        </a:rPr>
                        <m:t>𝑖𝑡</m:t>
                      </m:r>
                      <m:r>
                        <a:rPr lang="en-US" sz="3200" i="1" dirty="0">
                          <a:latin typeface="Cambria Math"/>
                        </a:rPr>
                        <m:t>∗</m:t>
                      </m:r>
                      <m:r>
                        <a:rPr lang="en-US" sz="3200" i="1" dirty="0" err="1">
                          <a:latin typeface="Cambria Math"/>
                        </a:rPr>
                        <m:t>𝑡𝑟𝑒𝑎𝑡𝑚𝑒𝑛𝑡</m:t>
                      </m:r>
                      <m:r>
                        <a:rPr lang="en-US" sz="3200" i="1" baseline="-25000" dirty="0" err="1">
                          <a:latin typeface="Cambria Math"/>
                        </a:rPr>
                        <m:t>𝑖𝑡</m:t>
                      </m:r>
                      <m:r>
                        <a:rPr lang="en-US" sz="3200" i="1" dirty="0">
                          <a:latin typeface="Cambria Math"/>
                        </a:rPr>
                        <m:t>)</m:t>
                      </m:r>
                    </m:oMath>
                  </m:oMathPara>
                </a14:m>
                <a:endParaRPr lang="en-US" sz="3200" baseline="-25000" dirty="0"/>
              </a:p>
            </p:txBody>
          </p:sp>
        </mc:Choice>
        <mc:Fallback xmlns="">
          <p:sp>
            <p:nvSpPr>
              <p:cNvPr id="5" name="TextBox 4"/>
              <p:cNvSpPr txBox="1">
                <a:spLocks noRot="1" noChangeAspect="1" noMove="1" noResize="1" noEditPoints="1" noAdjustHandles="1" noChangeArrowheads="1" noChangeShapeType="1" noTextEdit="1"/>
              </p:cNvSpPr>
              <p:nvPr/>
            </p:nvSpPr>
            <p:spPr>
              <a:xfrm>
                <a:off x="447675" y="2590800"/>
                <a:ext cx="8305800" cy="1611147"/>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p:cNvSpPr txBox="1"/>
              <p:nvPr/>
            </p:nvSpPr>
            <p:spPr>
              <a:xfrm>
                <a:off x="228600" y="4137762"/>
                <a:ext cx="8305800" cy="1130053"/>
              </a:xfrm>
              <a:prstGeom prst="rect">
                <a:avLst/>
              </a:prstGeom>
              <a:noFill/>
            </p:spPr>
            <p:txBody>
              <a:bodyPr wrap="square" rtlCol="0">
                <a:spAutoFit/>
              </a:bodyPr>
              <a:lstStyle/>
              <a:p>
                <a:pPr>
                  <a:buNone/>
                </a:pPr>
                <a14:m>
                  <m:oMathPara xmlns:m="http://schemas.openxmlformats.org/officeDocument/2006/math">
                    <m:oMathParaPr>
                      <m:jc m:val="centerGroup"/>
                    </m:oMathParaPr>
                    <m:oMath xmlns:m="http://schemas.openxmlformats.org/officeDocument/2006/math">
                      <m:r>
                        <m:rPr>
                          <m:nor/>
                        </m:rPr>
                        <a:rPr lang="en-US" sz="3200" dirty="0" smtClean="0">
                          <a:sym typeface="Wingdings" panose="05000000000000000000" pitchFamily="2" charset="2"/>
                        </a:rPr>
                        <m:t></m:t>
                      </m:r>
                      <m:r>
                        <a:rPr lang="en-US" sz="3200" i="1" dirty="0">
                          <a:latin typeface="Cambria Math"/>
                        </a:rPr>
                        <m:t>𝑃𝑟𝑜𝑑𝑢𝑐𝑡𝑖𝑣𝑖𝑡𝑦</m:t>
                      </m:r>
                      <m:r>
                        <a:rPr lang="en-US" sz="3200" i="1" baseline="-25000" dirty="0" err="1">
                          <a:latin typeface="Cambria Math"/>
                        </a:rPr>
                        <m:t>𝑖𝑡</m:t>
                      </m:r>
                      <m:r>
                        <a:rPr lang="en-US" sz="3200" i="1" dirty="0">
                          <a:latin typeface="Cambria Math"/>
                        </a:rPr>
                        <m:t> =</m:t>
                      </m:r>
                      <m:acc>
                        <m:accPr>
                          <m:chr m:val="̂"/>
                          <m:ctrlPr>
                            <a:rPr lang="en-US" sz="3200" i="1">
                              <a:latin typeface="Cambria Math" panose="02040503050406030204" pitchFamily="18" charset="0"/>
                            </a:rPr>
                          </m:ctrlPr>
                        </m:accPr>
                        <m:e>
                          <m:r>
                            <a:rPr lang="en-US" sz="3200" i="1">
                              <a:latin typeface="Cambria Math"/>
                            </a:rPr>
                            <m:t>𝑏</m:t>
                          </m:r>
                        </m:e>
                      </m:acc>
                      <m:r>
                        <a:rPr lang="en-US" sz="3200" i="1" baseline="-25000" dirty="0">
                          <a:latin typeface="Cambria Math"/>
                        </a:rPr>
                        <m:t>0</m:t>
                      </m:r>
                      <m:r>
                        <a:rPr lang="en-US" sz="3200" i="1" dirty="0">
                          <a:latin typeface="Cambria Math"/>
                        </a:rPr>
                        <m:t> +</m:t>
                      </m:r>
                      <m:acc>
                        <m:accPr>
                          <m:chr m:val="̂"/>
                          <m:ctrlPr>
                            <a:rPr lang="en-US" sz="3200" i="1">
                              <a:latin typeface="Cambria Math" panose="02040503050406030204" pitchFamily="18" charset="0"/>
                            </a:rPr>
                          </m:ctrlPr>
                        </m:accPr>
                        <m:e>
                          <m:r>
                            <a:rPr lang="en-US" sz="3200" i="1">
                              <a:latin typeface="Cambria Math"/>
                            </a:rPr>
                            <m:t>𝑏</m:t>
                          </m:r>
                        </m:e>
                      </m:acc>
                      <m:r>
                        <a:rPr lang="en-US" sz="3200" i="1" baseline="-25000" dirty="0">
                          <a:latin typeface="Cambria Math"/>
                        </a:rPr>
                        <m:t>1</m:t>
                      </m:r>
                      <m:r>
                        <a:rPr lang="en-US" sz="3200" i="1" dirty="0">
                          <a:latin typeface="Cambria Math"/>
                        </a:rPr>
                        <m:t>(</m:t>
                      </m:r>
                      <m:r>
                        <a:rPr lang="en-US" sz="3200" b="0" i="1" dirty="0" smtClean="0">
                          <a:latin typeface="Cambria Math"/>
                        </a:rPr>
                        <m:t>0</m:t>
                      </m:r>
                      <m:r>
                        <a:rPr lang="en-US" sz="3200" i="1" dirty="0">
                          <a:latin typeface="Cambria Math"/>
                        </a:rPr>
                        <m:t>) +</m:t>
                      </m:r>
                      <m:acc>
                        <m:accPr>
                          <m:chr m:val="̂"/>
                          <m:ctrlPr>
                            <a:rPr lang="en-US" sz="3200" i="1">
                              <a:latin typeface="Cambria Math" panose="02040503050406030204" pitchFamily="18" charset="0"/>
                            </a:rPr>
                          </m:ctrlPr>
                        </m:accPr>
                        <m:e>
                          <m:r>
                            <a:rPr lang="en-US" sz="3200" i="1">
                              <a:latin typeface="Cambria Math"/>
                            </a:rPr>
                            <m:t>𝑏</m:t>
                          </m:r>
                        </m:e>
                      </m:acc>
                      <m:r>
                        <a:rPr lang="en-US" sz="3200" i="1" baseline="-25000" dirty="0">
                          <a:latin typeface="Cambria Math"/>
                        </a:rPr>
                        <m:t>2</m:t>
                      </m:r>
                      <m:r>
                        <a:rPr lang="en-US" sz="3200" i="1" dirty="0">
                          <a:latin typeface="Cambria Math"/>
                        </a:rPr>
                        <m:t>(</m:t>
                      </m:r>
                      <m:r>
                        <a:rPr lang="en-US" sz="3200" b="0" i="1" dirty="0" smtClean="0">
                          <a:latin typeface="Cambria Math"/>
                        </a:rPr>
                        <m:t>1</m:t>
                      </m:r>
                      <m:r>
                        <a:rPr lang="en-US" sz="3200" i="1" dirty="0">
                          <a:latin typeface="Cambria Math"/>
                        </a:rPr>
                        <m:t>) </m:t>
                      </m:r>
                    </m:oMath>
                  </m:oMathPara>
                </a14:m>
                <a:endParaRPr lang="en-US" sz="3200" dirty="0"/>
              </a:p>
              <a:p>
                <a:pPr>
                  <a:buNone/>
                </a:pPr>
                <a14:m>
                  <m:oMathPara xmlns:m="http://schemas.openxmlformats.org/officeDocument/2006/math">
                    <m:oMathParaPr>
                      <m:jc m:val="centerGroup"/>
                    </m:oMathParaPr>
                    <m:oMath xmlns:m="http://schemas.openxmlformats.org/officeDocument/2006/math">
                      <m:r>
                        <a:rPr lang="en-US" sz="3200" i="1" dirty="0">
                          <a:latin typeface="Cambria Math"/>
                        </a:rPr>
                        <m:t>+</m:t>
                      </m:r>
                      <m:acc>
                        <m:accPr>
                          <m:chr m:val="̂"/>
                          <m:ctrlPr>
                            <a:rPr lang="en-US" sz="3200" i="1">
                              <a:latin typeface="Cambria Math" panose="02040503050406030204" pitchFamily="18" charset="0"/>
                            </a:rPr>
                          </m:ctrlPr>
                        </m:accPr>
                        <m:e>
                          <m:r>
                            <a:rPr lang="en-US" sz="3200" i="1">
                              <a:latin typeface="Cambria Math"/>
                            </a:rPr>
                            <m:t>𝑏</m:t>
                          </m:r>
                        </m:e>
                      </m:acc>
                      <m:r>
                        <a:rPr lang="en-US" sz="3200" i="1" baseline="-25000" dirty="0">
                          <a:latin typeface="Cambria Math"/>
                        </a:rPr>
                        <m:t>3</m:t>
                      </m:r>
                      <m:r>
                        <a:rPr lang="en-US" sz="3200" i="1" dirty="0">
                          <a:latin typeface="Cambria Math"/>
                        </a:rPr>
                        <m:t>(</m:t>
                      </m:r>
                      <m:r>
                        <a:rPr lang="en-US" sz="3200" b="0" i="1" dirty="0" smtClean="0">
                          <a:latin typeface="Cambria Math"/>
                        </a:rPr>
                        <m:t>0</m:t>
                      </m:r>
                      <m:r>
                        <a:rPr lang="en-US" sz="3200" i="1" dirty="0">
                          <a:latin typeface="Cambria Math"/>
                        </a:rPr>
                        <m:t>∗</m:t>
                      </m:r>
                      <m:r>
                        <a:rPr lang="en-US" sz="3200" b="0" i="1" dirty="0" smtClean="0">
                          <a:latin typeface="Cambria Math"/>
                        </a:rPr>
                        <m:t>1</m:t>
                      </m:r>
                      <m:r>
                        <a:rPr lang="en-US" sz="3200" i="1" dirty="0">
                          <a:latin typeface="Cambria Math"/>
                        </a:rPr>
                        <m:t>)</m:t>
                      </m:r>
                    </m:oMath>
                  </m:oMathPara>
                </a14:m>
                <a:endParaRPr lang="en-US" sz="3200" baseline="-25000" dirty="0"/>
              </a:p>
            </p:txBody>
          </p:sp>
        </mc:Choice>
        <mc:Fallback xmlns="">
          <p:sp>
            <p:nvSpPr>
              <p:cNvPr id="6" name="TextBox 5"/>
              <p:cNvSpPr txBox="1">
                <a:spLocks noRot="1" noChangeAspect="1" noMove="1" noResize="1" noEditPoints="1" noAdjustHandles="1" noChangeArrowheads="1" noChangeShapeType="1" noTextEdit="1"/>
              </p:cNvSpPr>
              <p:nvPr/>
            </p:nvSpPr>
            <p:spPr>
              <a:xfrm>
                <a:off x="228600" y="4137762"/>
                <a:ext cx="8305800" cy="1130053"/>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p:cNvSpPr txBox="1"/>
              <p:nvPr/>
            </p:nvSpPr>
            <p:spPr>
              <a:xfrm>
                <a:off x="257175" y="5217068"/>
                <a:ext cx="8305800" cy="611193"/>
              </a:xfrm>
              <a:prstGeom prst="rect">
                <a:avLst/>
              </a:prstGeom>
              <a:noFill/>
            </p:spPr>
            <p:txBody>
              <a:bodyPr wrap="square" rtlCol="0">
                <a:spAutoFit/>
              </a:bodyPr>
              <a:lstStyle/>
              <a:p>
                <a:pPr>
                  <a:buNone/>
                </a:pPr>
                <a14:m>
                  <m:oMathPara xmlns:m="http://schemas.openxmlformats.org/officeDocument/2006/math">
                    <m:oMathParaPr>
                      <m:jc m:val="centerGroup"/>
                    </m:oMathParaPr>
                    <m:oMath xmlns:m="http://schemas.openxmlformats.org/officeDocument/2006/math">
                      <m:r>
                        <m:rPr>
                          <m:nor/>
                        </m:rPr>
                        <a:rPr lang="en-US" sz="3200" dirty="0" smtClean="0">
                          <a:sym typeface="Wingdings" panose="05000000000000000000" pitchFamily="2" charset="2"/>
                        </a:rPr>
                        <m:t></m:t>
                      </m:r>
                      <m:r>
                        <a:rPr lang="en-US" sz="3200" i="1" dirty="0">
                          <a:latin typeface="Cambria Math"/>
                        </a:rPr>
                        <m:t>𝑃𝑟𝑜𝑑𝑢𝑐𝑡𝑖𝑣𝑖𝑡𝑦</m:t>
                      </m:r>
                      <m:r>
                        <a:rPr lang="en-US" sz="3200" i="1" baseline="-25000" dirty="0" err="1">
                          <a:latin typeface="Cambria Math"/>
                        </a:rPr>
                        <m:t>𝑖𝑡</m:t>
                      </m:r>
                      <m:r>
                        <a:rPr lang="en-US" sz="3200" i="1" dirty="0">
                          <a:latin typeface="Cambria Math"/>
                        </a:rPr>
                        <m:t> =</m:t>
                      </m:r>
                      <m:acc>
                        <m:accPr>
                          <m:chr m:val="̂"/>
                          <m:ctrlPr>
                            <a:rPr lang="en-US" sz="3200" i="1">
                              <a:latin typeface="Cambria Math" panose="02040503050406030204" pitchFamily="18" charset="0"/>
                            </a:rPr>
                          </m:ctrlPr>
                        </m:accPr>
                        <m:e>
                          <m:r>
                            <a:rPr lang="en-US" sz="3200" i="1">
                              <a:latin typeface="Cambria Math"/>
                            </a:rPr>
                            <m:t>𝑏</m:t>
                          </m:r>
                        </m:e>
                      </m:acc>
                      <m:r>
                        <a:rPr lang="en-US" sz="3200" i="1" baseline="-25000" dirty="0">
                          <a:latin typeface="Cambria Math"/>
                        </a:rPr>
                        <m:t>0</m:t>
                      </m:r>
                      <m:r>
                        <a:rPr lang="en-US" sz="3200" i="1" dirty="0">
                          <a:latin typeface="Cambria Math"/>
                        </a:rPr>
                        <m:t> +</m:t>
                      </m:r>
                      <m:acc>
                        <m:accPr>
                          <m:chr m:val="̂"/>
                          <m:ctrlPr>
                            <a:rPr lang="en-US" sz="3200" i="1">
                              <a:latin typeface="Cambria Math" panose="02040503050406030204" pitchFamily="18" charset="0"/>
                            </a:rPr>
                          </m:ctrlPr>
                        </m:accPr>
                        <m:e>
                          <m:r>
                            <a:rPr lang="en-US" sz="3200" i="1">
                              <a:latin typeface="Cambria Math"/>
                            </a:rPr>
                            <m:t>𝑏</m:t>
                          </m:r>
                        </m:e>
                      </m:acc>
                      <m:r>
                        <a:rPr lang="en-US" sz="3200" b="0" i="1" baseline="-25000" dirty="0" smtClean="0">
                          <a:latin typeface="Cambria Math"/>
                        </a:rPr>
                        <m:t>2</m:t>
                      </m:r>
                    </m:oMath>
                  </m:oMathPara>
                </a14:m>
                <a:endParaRPr lang="en-US" sz="3200" baseline="-25000" dirty="0"/>
              </a:p>
            </p:txBody>
          </p:sp>
        </mc:Choice>
        <mc:Fallback xmlns="">
          <p:sp>
            <p:nvSpPr>
              <p:cNvPr id="7" name="TextBox 6"/>
              <p:cNvSpPr txBox="1">
                <a:spLocks noRot="1" noChangeAspect="1" noMove="1" noResize="1" noEditPoints="1" noAdjustHandles="1" noChangeArrowheads="1" noChangeShapeType="1" noTextEdit="1"/>
              </p:cNvSpPr>
              <p:nvPr/>
            </p:nvSpPr>
            <p:spPr>
              <a:xfrm>
                <a:off x="257175" y="5217068"/>
                <a:ext cx="8305800" cy="611193"/>
              </a:xfrm>
              <a:prstGeom prst="rect">
                <a:avLst/>
              </a:prstGeom>
              <a:blipFill>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0214655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Quadrant #1: Treatment &amp; “Pre” </a:t>
            </a:r>
          </a:p>
        </p:txBody>
      </p:sp>
      <p:sp>
        <p:nvSpPr>
          <p:cNvPr id="3" name="Content Placeholder 2"/>
          <p:cNvSpPr>
            <a:spLocks noGrp="1"/>
          </p:cNvSpPr>
          <p:nvPr>
            <p:ph idx="1"/>
          </p:nvPr>
        </p:nvSpPr>
        <p:spPr/>
        <p:txBody>
          <a:bodyPr/>
          <a:lstStyle/>
          <a:p>
            <a:pPr marL="0" indent="0">
              <a:buNone/>
            </a:pPr>
            <a:r>
              <a:rPr lang="en-US" dirty="0"/>
              <a:t>So in this case:</a:t>
            </a:r>
          </a:p>
          <a:p>
            <a:pPr marL="0" indent="0">
              <a:buNone/>
            </a:pPr>
            <a:endParaRPr lang="en-US" dirty="0"/>
          </a:p>
        </p:txBody>
      </p:sp>
      <mc:AlternateContent xmlns:mc="http://schemas.openxmlformats.org/markup-compatibility/2006" xmlns:a14="http://schemas.microsoft.com/office/drawing/2010/main">
        <mc:Choice Requires="a14">
          <p:graphicFrame>
            <p:nvGraphicFramePr>
              <p:cNvPr id="4" name="Table 3"/>
              <p:cNvGraphicFramePr>
                <a:graphicFrameLocks noGrp="1"/>
              </p:cNvGraphicFramePr>
              <p:nvPr>
                <p:extLst>
                  <p:ext uri="{D42A27DB-BD31-4B8C-83A1-F6EECF244321}">
                    <p14:modId xmlns:p14="http://schemas.microsoft.com/office/powerpoint/2010/main" val="3227390501"/>
                  </p:ext>
                </p:extLst>
              </p:nvPr>
            </p:nvGraphicFramePr>
            <p:xfrm>
              <a:off x="685800" y="2743200"/>
              <a:ext cx="7620000" cy="1584960"/>
            </p:xfrm>
            <a:graphic>
              <a:graphicData uri="http://schemas.openxmlformats.org/drawingml/2006/table">
                <a:tbl>
                  <a:tblPr firstRow="1" bandRow="1">
                    <a:tableStyleId>{5940675A-B579-460E-94D1-54222C63F5DA}</a:tableStyleId>
                  </a:tblPr>
                  <a:tblGrid>
                    <a:gridCol w="2133600">
                      <a:extLst>
                        <a:ext uri="{9D8B030D-6E8A-4147-A177-3AD203B41FA5}">
                          <a16:colId xmlns:a16="http://schemas.microsoft.com/office/drawing/2014/main" val="20000"/>
                        </a:ext>
                      </a:extLst>
                    </a:gridCol>
                    <a:gridCol w="1676400">
                      <a:extLst>
                        <a:ext uri="{9D8B030D-6E8A-4147-A177-3AD203B41FA5}">
                          <a16:colId xmlns:a16="http://schemas.microsoft.com/office/drawing/2014/main" val="20001"/>
                        </a:ext>
                      </a:extLst>
                    </a:gridCol>
                    <a:gridCol w="1905000">
                      <a:extLst>
                        <a:ext uri="{9D8B030D-6E8A-4147-A177-3AD203B41FA5}">
                          <a16:colId xmlns:a16="http://schemas.microsoft.com/office/drawing/2014/main" val="20002"/>
                        </a:ext>
                      </a:extLst>
                    </a:gridCol>
                    <a:gridCol w="1905000">
                      <a:extLst>
                        <a:ext uri="{9D8B030D-6E8A-4147-A177-3AD203B41FA5}">
                          <a16:colId xmlns:a16="http://schemas.microsoft.com/office/drawing/2014/main" val="20003"/>
                        </a:ext>
                      </a:extLst>
                    </a:gridCol>
                  </a:tblGrid>
                  <a:tr h="370840">
                    <a:tc>
                      <a:txBody>
                        <a:bodyPr/>
                        <a:lstStyle/>
                        <a:p>
                          <a:endParaRPr lang="en-US" sz="2000" dirty="0"/>
                        </a:p>
                      </a:txBody>
                      <a:tcPr/>
                    </a:tc>
                    <a:tc>
                      <a:txBody>
                        <a:bodyPr/>
                        <a:lstStyle/>
                        <a:p>
                          <a:pPr algn="ctr"/>
                          <a:r>
                            <a:rPr lang="en-US" sz="2000" dirty="0"/>
                            <a:t>“Pre”</a:t>
                          </a:r>
                          <a:r>
                            <a:rPr lang="en-US" sz="2000" baseline="0" dirty="0"/>
                            <a:t> Period</a:t>
                          </a:r>
                          <a:endParaRPr lang="en-US" sz="2000" dirty="0"/>
                        </a:p>
                      </a:txBody>
                      <a:tcPr/>
                    </a:tc>
                    <a:tc>
                      <a:txBody>
                        <a:bodyPr/>
                        <a:lstStyle/>
                        <a:p>
                          <a:pPr algn="ctr"/>
                          <a:r>
                            <a:rPr lang="en-US" sz="2000" dirty="0"/>
                            <a:t>“Post” period</a:t>
                          </a:r>
                        </a:p>
                      </a:txBody>
                      <a:tcPr/>
                    </a:tc>
                    <a:tc>
                      <a:txBody>
                        <a:bodyPr/>
                        <a:lstStyle/>
                        <a:p>
                          <a:pPr algn="ctr"/>
                          <a:r>
                            <a:rPr lang="en-US" sz="2000" dirty="0"/>
                            <a:t>Difference</a:t>
                          </a:r>
                        </a:p>
                      </a:txBody>
                      <a:tcPr/>
                    </a:tc>
                    <a:extLst>
                      <a:ext uri="{0D108BD9-81ED-4DB2-BD59-A6C34878D82A}">
                        <a16:rowId xmlns:a16="http://schemas.microsoft.com/office/drawing/2014/main" val="10000"/>
                      </a:ext>
                    </a:extLst>
                  </a:tr>
                  <a:tr h="370840">
                    <a:tc>
                      <a:txBody>
                        <a:bodyPr/>
                        <a:lstStyle/>
                        <a:p>
                          <a:r>
                            <a:rPr lang="en-US" sz="2000" dirty="0"/>
                            <a:t>Treatment Group</a:t>
                          </a:r>
                        </a:p>
                      </a:txBody>
                      <a:tcPr/>
                    </a:tc>
                    <a:tc>
                      <a:txBody>
                        <a:body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acc>
                                  <m:accPr>
                                    <m:chr m:val="̂"/>
                                    <m:ctrlPr>
                                      <a:rPr lang="en-US" sz="2000" i="1" smtClean="0">
                                        <a:latin typeface="Cambria Math" panose="02040503050406030204" pitchFamily="18" charset="0"/>
                                      </a:rPr>
                                    </m:ctrlPr>
                                  </m:accPr>
                                  <m:e>
                                    <m:r>
                                      <a:rPr lang="en-US" sz="2000" i="1">
                                        <a:latin typeface="Cambria Math"/>
                                      </a:rPr>
                                      <m:t>𝑏</m:t>
                                    </m:r>
                                  </m:e>
                                </m:acc>
                                <m:r>
                                  <a:rPr lang="en-US" sz="2000" i="1" baseline="-25000" dirty="0">
                                    <a:latin typeface="Cambria Math"/>
                                  </a:rPr>
                                  <m:t>0</m:t>
                                </m:r>
                                <m:r>
                                  <a:rPr lang="en-US" sz="2000" i="1" dirty="0">
                                    <a:latin typeface="Cambria Math"/>
                                  </a:rPr>
                                  <m:t> +</m:t>
                                </m:r>
                                <m:acc>
                                  <m:accPr>
                                    <m:chr m:val="̂"/>
                                    <m:ctrlPr>
                                      <a:rPr lang="en-US" sz="2000" i="1" smtClean="0">
                                        <a:latin typeface="Cambria Math" panose="02040503050406030204" pitchFamily="18" charset="0"/>
                                      </a:rPr>
                                    </m:ctrlPr>
                                  </m:accPr>
                                  <m:e>
                                    <m:r>
                                      <a:rPr lang="en-US" sz="2000" i="1">
                                        <a:latin typeface="Cambria Math"/>
                                      </a:rPr>
                                      <m:t>𝑏</m:t>
                                    </m:r>
                                  </m:e>
                                </m:acc>
                                <m:r>
                                  <a:rPr lang="en-US" sz="2000" b="0" i="1" baseline="-25000" dirty="0" smtClean="0">
                                    <a:latin typeface="Cambria Math"/>
                                  </a:rPr>
                                  <m:t>2</m:t>
                                </m:r>
                              </m:oMath>
                            </m:oMathPara>
                          </a14:m>
                          <a:endParaRPr lang="en-US" sz="2000" dirty="0">
                            <a:latin typeface="Calibri"/>
                            <a:ea typeface="Calibri"/>
                            <a:cs typeface="Times New Roman"/>
                          </a:endParaRPr>
                        </a:p>
                      </a:txBody>
                      <a:tcPr marL="68580" marR="68580" marT="0" marB="0" anchor="ctr">
                        <a:solidFill>
                          <a:schemeClr val="accent2"/>
                        </a:solidFill>
                      </a:tcPr>
                    </a:tc>
                    <a:tc>
                      <a:txBody>
                        <a:bodyPr/>
                        <a:lstStyle/>
                        <a:p>
                          <a:pPr marL="0" marR="0" algn="ctr">
                            <a:lnSpc>
                              <a:spcPct val="115000"/>
                            </a:lnSpc>
                            <a:spcBef>
                              <a:spcPts val="0"/>
                            </a:spcBef>
                            <a:spcAft>
                              <a:spcPts val="0"/>
                            </a:spcAft>
                          </a:pPr>
                          <a:endParaRPr lang="en-US" sz="2000" dirty="0">
                            <a:latin typeface="Calibri"/>
                            <a:ea typeface="Calibri"/>
                            <a:cs typeface="Times New Roman"/>
                          </a:endParaRPr>
                        </a:p>
                      </a:txBody>
                      <a:tcPr marL="68580" marR="68580" marT="0" marB="0" anchor="ctr"/>
                    </a:tc>
                    <a:tc>
                      <a:txBody>
                        <a:bodyPr/>
                        <a:lstStyle/>
                        <a:p>
                          <a:pPr marL="0" marR="0" algn="ctr">
                            <a:lnSpc>
                              <a:spcPct val="115000"/>
                            </a:lnSpc>
                            <a:spcBef>
                              <a:spcPts val="0"/>
                            </a:spcBef>
                            <a:spcAft>
                              <a:spcPts val="0"/>
                            </a:spcAft>
                          </a:pPr>
                          <a:endParaRPr lang="en-US" sz="2000" dirty="0">
                            <a:latin typeface="Calibri"/>
                            <a:ea typeface="Calibri"/>
                            <a:cs typeface="Times New Roman"/>
                          </a:endParaRPr>
                        </a:p>
                      </a:txBody>
                      <a:tcPr marL="68580" marR="68580" marT="0" marB="0" anchor="ctr"/>
                    </a:tc>
                    <a:extLst>
                      <a:ext uri="{0D108BD9-81ED-4DB2-BD59-A6C34878D82A}">
                        <a16:rowId xmlns:a16="http://schemas.microsoft.com/office/drawing/2014/main" val="10001"/>
                      </a:ext>
                    </a:extLst>
                  </a:tr>
                  <a:tr h="370840">
                    <a:tc>
                      <a:txBody>
                        <a:bodyPr/>
                        <a:lstStyle/>
                        <a:p>
                          <a:r>
                            <a:rPr lang="en-US" sz="2000" dirty="0"/>
                            <a:t>Control Group</a:t>
                          </a:r>
                        </a:p>
                      </a:txBody>
                      <a:tcPr/>
                    </a:tc>
                    <a:tc>
                      <a:txBody>
                        <a:bodyPr/>
                        <a:lstStyle/>
                        <a:p>
                          <a:pPr marL="0" marR="0" algn="ctr">
                            <a:lnSpc>
                              <a:spcPct val="115000"/>
                            </a:lnSpc>
                            <a:spcBef>
                              <a:spcPts val="0"/>
                            </a:spcBef>
                            <a:spcAft>
                              <a:spcPts val="0"/>
                            </a:spcAft>
                          </a:pPr>
                          <a:endParaRPr lang="en-US" sz="2000" dirty="0">
                            <a:latin typeface="Calibri"/>
                            <a:ea typeface="Calibri"/>
                            <a:cs typeface="Times New Roman"/>
                          </a:endParaRPr>
                        </a:p>
                      </a:txBody>
                      <a:tcPr marL="68580" marR="68580" marT="0" marB="0" anchor="ctr"/>
                    </a:tc>
                    <a:tc>
                      <a:txBody>
                        <a:bodyPr/>
                        <a:lstStyle/>
                        <a:p>
                          <a:pPr marL="0" marR="0" algn="ctr">
                            <a:lnSpc>
                              <a:spcPct val="115000"/>
                            </a:lnSpc>
                            <a:spcBef>
                              <a:spcPts val="0"/>
                            </a:spcBef>
                            <a:spcAft>
                              <a:spcPts val="0"/>
                            </a:spcAft>
                          </a:pPr>
                          <a:endParaRPr lang="en-US" sz="2000" dirty="0">
                            <a:latin typeface="Calibri"/>
                            <a:ea typeface="Calibri"/>
                            <a:cs typeface="Times New Roman"/>
                          </a:endParaRPr>
                        </a:p>
                      </a:txBody>
                      <a:tcPr marL="68580" marR="68580" marT="0" marB="0" anchor="ctr"/>
                    </a:tc>
                    <a:tc>
                      <a:txBody>
                        <a:bodyPr/>
                        <a:lstStyle/>
                        <a:p>
                          <a:pPr marL="0" marR="0" algn="ctr">
                            <a:lnSpc>
                              <a:spcPct val="115000"/>
                            </a:lnSpc>
                            <a:spcBef>
                              <a:spcPts val="0"/>
                            </a:spcBef>
                            <a:spcAft>
                              <a:spcPts val="0"/>
                            </a:spcAft>
                          </a:pPr>
                          <a:endParaRPr lang="en-US" sz="2000" dirty="0">
                            <a:latin typeface="Calibri"/>
                            <a:ea typeface="Calibri"/>
                            <a:cs typeface="Times New Roman"/>
                          </a:endParaRPr>
                        </a:p>
                      </a:txBody>
                      <a:tcPr marL="68580" marR="68580" marT="0" marB="0" anchor="ctr"/>
                    </a:tc>
                    <a:extLst>
                      <a:ext uri="{0D108BD9-81ED-4DB2-BD59-A6C34878D82A}">
                        <a16:rowId xmlns:a16="http://schemas.microsoft.com/office/drawing/2014/main" val="10002"/>
                      </a:ext>
                    </a:extLst>
                  </a:tr>
                  <a:tr h="370840">
                    <a:tc>
                      <a:txBody>
                        <a:bodyPr/>
                        <a:lstStyle/>
                        <a:p>
                          <a:endParaRPr lang="en-US" sz="2000" dirty="0"/>
                        </a:p>
                      </a:txBody>
                      <a:tcPr/>
                    </a:tc>
                    <a:tc gridSpan="2">
                      <a:txBody>
                        <a:bodyPr/>
                        <a:lstStyle/>
                        <a:p>
                          <a:r>
                            <a:rPr lang="en-US" sz="2000" dirty="0"/>
                            <a:t>Difference-in-Differences</a:t>
                          </a:r>
                        </a:p>
                      </a:txBody>
                      <a:tcPr/>
                    </a:tc>
                    <a:tc hMerge="1">
                      <a:txBody>
                        <a:bodyPr/>
                        <a:lstStyle/>
                        <a:p>
                          <a:endParaRPr lang="en-US" sz="200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2000" dirty="0">
                            <a:latin typeface="+mn-lt"/>
                            <a:ea typeface="Calibri"/>
                            <a:cs typeface="Times New Roman"/>
                          </a:endParaRPr>
                        </a:p>
                      </a:txBody>
                      <a:tcPr/>
                    </a:tc>
                    <a:extLst>
                      <a:ext uri="{0D108BD9-81ED-4DB2-BD59-A6C34878D82A}">
                        <a16:rowId xmlns:a16="http://schemas.microsoft.com/office/drawing/2014/main" val="10003"/>
                      </a:ext>
                    </a:extLst>
                  </a:tr>
                </a:tbl>
              </a:graphicData>
            </a:graphic>
          </p:graphicFrame>
        </mc:Choice>
        <mc:Fallback xmlns="">
          <p:graphicFrame>
            <p:nvGraphicFramePr>
              <p:cNvPr id="4" name="Table 3"/>
              <p:cNvGraphicFramePr>
                <a:graphicFrameLocks noGrp="1"/>
              </p:cNvGraphicFramePr>
              <p:nvPr>
                <p:extLst>
                  <p:ext uri="{D42A27DB-BD31-4B8C-83A1-F6EECF244321}">
                    <p14:modId xmlns:p14="http://schemas.microsoft.com/office/powerpoint/2010/main" val="3227390501"/>
                  </p:ext>
                </p:extLst>
              </p:nvPr>
            </p:nvGraphicFramePr>
            <p:xfrm>
              <a:off x="685800" y="2743200"/>
              <a:ext cx="7620000" cy="1584960"/>
            </p:xfrm>
            <a:graphic>
              <a:graphicData uri="http://schemas.openxmlformats.org/drawingml/2006/table">
                <a:tbl>
                  <a:tblPr firstRow="1" bandRow="1">
                    <a:tableStyleId>{5940675A-B579-460E-94D1-54222C63F5DA}</a:tableStyleId>
                  </a:tblPr>
                  <a:tblGrid>
                    <a:gridCol w="2133600">
                      <a:extLst>
                        <a:ext uri="{9D8B030D-6E8A-4147-A177-3AD203B41FA5}">
                          <a16:colId xmlns:a16="http://schemas.microsoft.com/office/drawing/2014/main" val="20000"/>
                        </a:ext>
                      </a:extLst>
                    </a:gridCol>
                    <a:gridCol w="1676400">
                      <a:extLst>
                        <a:ext uri="{9D8B030D-6E8A-4147-A177-3AD203B41FA5}">
                          <a16:colId xmlns:a16="http://schemas.microsoft.com/office/drawing/2014/main" val="20001"/>
                        </a:ext>
                      </a:extLst>
                    </a:gridCol>
                    <a:gridCol w="1905000">
                      <a:extLst>
                        <a:ext uri="{9D8B030D-6E8A-4147-A177-3AD203B41FA5}">
                          <a16:colId xmlns:a16="http://schemas.microsoft.com/office/drawing/2014/main" val="20002"/>
                        </a:ext>
                      </a:extLst>
                    </a:gridCol>
                    <a:gridCol w="1905000">
                      <a:extLst>
                        <a:ext uri="{9D8B030D-6E8A-4147-A177-3AD203B41FA5}">
                          <a16:colId xmlns:a16="http://schemas.microsoft.com/office/drawing/2014/main" val="20003"/>
                        </a:ext>
                      </a:extLst>
                    </a:gridCol>
                  </a:tblGrid>
                  <a:tr h="396240">
                    <a:tc>
                      <a:txBody>
                        <a:bodyPr/>
                        <a:lstStyle/>
                        <a:p>
                          <a:endParaRPr lang="en-US" sz="2000" dirty="0"/>
                        </a:p>
                      </a:txBody>
                      <a:tcPr/>
                    </a:tc>
                    <a:tc>
                      <a:txBody>
                        <a:bodyPr/>
                        <a:lstStyle/>
                        <a:p>
                          <a:pPr algn="ctr"/>
                          <a:r>
                            <a:rPr lang="en-US" sz="2000" dirty="0" smtClean="0"/>
                            <a:t>“Pre”</a:t>
                          </a:r>
                          <a:r>
                            <a:rPr lang="en-US" sz="2000" baseline="0" dirty="0" smtClean="0"/>
                            <a:t> Period</a:t>
                          </a:r>
                          <a:endParaRPr lang="en-US" sz="2000" dirty="0"/>
                        </a:p>
                      </a:txBody>
                      <a:tcPr/>
                    </a:tc>
                    <a:tc>
                      <a:txBody>
                        <a:bodyPr/>
                        <a:lstStyle/>
                        <a:p>
                          <a:pPr algn="ctr"/>
                          <a:r>
                            <a:rPr lang="en-US" sz="2000" dirty="0" smtClean="0"/>
                            <a:t>“Post” period</a:t>
                          </a:r>
                          <a:endParaRPr lang="en-US" sz="2000" dirty="0"/>
                        </a:p>
                      </a:txBody>
                      <a:tcPr/>
                    </a:tc>
                    <a:tc>
                      <a:txBody>
                        <a:bodyPr/>
                        <a:lstStyle/>
                        <a:p>
                          <a:pPr algn="ctr"/>
                          <a:r>
                            <a:rPr lang="en-US" sz="2000" dirty="0" smtClean="0"/>
                            <a:t>Difference</a:t>
                          </a:r>
                          <a:endParaRPr lang="en-US" sz="2000" dirty="0"/>
                        </a:p>
                      </a:txBody>
                      <a:tcPr/>
                    </a:tc>
                    <a:extLst>
                      <a:ext uri="{0D108BD9-81ED-4DB2-BD59-A6C34878D82A}">
                        <a16:rowId xmlns:a16="http://schemas.microsoft.com/office/drawing/2014/main" val="10000"/>
                      </a:ext>
                    </a:extLst>
                  </a:tr>
                  <a:tr h="396240">
                    <a:tc>
                      <a:txBody>
                        <a:bodyPr/>
                        <a:lstStyle/>
                        <a:p>
                          <a:r>
                            <a:rPr lang="en-US" sz="2000" dirty="0" smtClean="0"/>
                            <a:t>Treatment Group</a:t>
                          </a:r>
                          <a:endParaRPr lang="en-US" sz="2000" dirty="0"/>
                        </a:p>
                      </a:txBody>
                      <a:tcPr/>
                    </a:tc>
                    <a:tc>
                      <a:txBody>
                        <a:bodyPr/>
                        <a:lstStyle/>
                        <a:p>
                          <a:endParaRPr lang="en-US"/>
                        </a:p>
                      </a:txBody>
                      <a:tcPr marL="68580" marR="68580" marT="0" marB="0" anchor="ctr">
                        <a:blipFill>
                          <a:blip r:embed="rId2"/>
                          <a:stretch>
                            <a:fillRect l="-127174" t="-107692" r="-227174" b="-227692"/>
                          </a:stretch>
                        </a:blipFill>
                      </a:tcPr>
                    </a:tc>
                    <a:tc>
                      <a:txBody>
                        <a:bodyPr/>
                        <a:lstStyle/>
                        <a:p>
                          <a:pPr marL="0" marR="0" algn="ctr">
                            <a:lnSpc>
                              <a:spcPct val="115000"/>
                            </a:lnSpc>
                            <a:spcBef>
                              <a:spcPts val="0"/>
                            </a:spcBef>
                            <a:spcAft>
                              <a:spcPts val="0"/>
                            </a:spcAft>
                          </a:pPr>
                          <a:endParaRPr lang="en-US" sz="2000" dirty="0">
                            <a:latin typeface="Calibri"/>
                            <a:ea typeface="Calibri"/>
                            <a:cs typeface="Times New Roman"/>
                          </a:endParaRPr>
                        </a:p>
                      </a:txBody>
                      <a:tcPr marL="68580" marR="68580" marT="0" marB="0" anchor="ctr"/>
                    </a:tc>
                    <a:tc>
                      <a:txBody>
                        <a:bodyPr/>
                        <a:lstStyle/>
                        <a:p>
                          <a:pPr marL="0" marR="0" algn="ctr">
                            <a:lnSpc>
                              <a:spcPct val="115000"/>
                            </a:lnSpc>
                            <a:spcBef>
                              <a:spcPts val="0"/>
                            </a:spcBef>
                            <a:spcAft>
                              <a:spcPts val="0"/>
                            </a:spcAft>
                          </a:pPr>
                          <a:endParaRPr lang="en-US" sz="2000" dirty="0">
                            <a:latin typeface="Calibri"/>
                            <a:ea typeface="Calibri"/>
                            <a:cs typeface="Times New Roman"/>
                          </a:endParaRPr>
                        </a:p>
                      </a:txBody>
                      <a:tcPr marL="68580" marR="68580" marT="0" marB="0" anchor="ctr"/>
                    </a:tc>
                    <a:extLst>
                      <a:ext uri="{0D108BD9-81ED-4DB2-BD59-A6C34878D82A}">
                        <a16:rowId xmlns:a16="http://schemas.microsoft.com/office/drawing/2014/main" val="10001"/>
                      </a:ext>
                    </a:extLst>
                  </a:tr>
                  <a:tr h="396240">
                    <a:tc>
                      <a:txBody>
                        <a:bodyPr/>
                        <a:lstStyle/>
                        <a:p>
                          <a:r>
                            <a:rPr lang="en-US" sz="2000" dirty="0" smtClean="0"/>
                            <a:t>Control Group</a:t>
                          </a:r>
                          <a:endParaRPr lang="en-US" sz="2000" dirty="0"/>
                        </a:p>
                      </a:txBody>
                      <a:tcPr/>
                    </a:tc>
                    <a:tc>
                      <a:txBody>
                        <a:bodyPr/>
                        <a:lstStyle/>
                        <a:p>
                          <a:pPr marL="0" marR="0" algn="ctr">
                            <a:lnSpc>
                              <a:spcPct val="115000"/>
                            </a:lnSpc>
                            <a:spcBef>
                              <a:spcPts val="0"/>
                            </a:spcBef>
                            <a:spcAft>
                              <a:spcPts val="0"/>
                            </a:spcAft>
                          </a:pPr>
                          <a:endParaRPr lang="en-US" sz="2000" dirty="0">
                            <a:latin typeface="Calibri"/>
                            <a:ea typeface="Calibri"/>
                            <a:cs typeface="Times New Roman"/>
                          </a:endParaRPr>
                        </a:p>
                      </a:txBody>
                      <a:tcPr marL="68580" marR="68580" marT="0" marB="0" anchor="ctr"/>
                    </a:tc>
                    <a:tc>
                      <a:txBody>
                        <a:bodyPr/>
                        <a:lstStyle/>
                        <a:p>
                          <a:pPr marL="0" marR="0" algn="ctr">
                            <a:lnSpc>
                              <a:spcPct val="115000"/>
                            </a:lnSpc>
                            <a:spcBef>
                              <a:spcPts val="0"/>
                            </a:spcBef>
                            <a:spcAft>
                              <a:spcPts val="0"/>
                            </a:spcAft>
                          </a:pPr>
                          <a:endParaRPr lang="en-US" sz="2000" dirty="0">
                            <a:latin typeface="Calibri"/>
                            <a:ea typeface="Calibri"/>
                            <a:cs typeface="Times New Roman"/>
                          </a:endParaRPr>
                        </a:p>
                      </a:txBody>
                      <a:tcPr marL="68580" marR="68580" marT="0" marB="0" anchor="ctr"/>
                    </a:tc>
                    <a:tc>
                      <a:txBody>
                        <a:bodyPr/>
                        <a:lstStyle/>
                        <a:p>
                          <a:pPr marL="0" marR="0" algn="ctr">
                            <a:lnSpc>
                              <a:spcPct val="115000"/>
                            </a:lnSpc>
                            <a:spcBef>
                              <a:spcPts val="0"/>
                            </a:spcBef>
                            <a:spcAft>
                              <a:spcPts val="0"/>
                            </a:spcAft>
                          </a:pPr>
                          <a:endParaRPr lang="en-US" sz="2000" dirty="0">
                            <a:latin typeface="Calibri"/>
                            <a:ea typeface="Calibri"/>
                            <a:cs typeface="Times New Roman"/>
                          </a:endParaRPr>
                        </a:p>
                      </a:txBody>
                      <a:tcPr marL="68580" marR="68580" marT="0" marB="0" anchor="ctr"/>
                    </a:tc>
                    <a:extLst>
                      <a:ext uri="{0D108BD9-81ED-4DB2-BD59-A6C34878D82A}">
                        <a16:rowId xmlns:a16="http://schemas.microsoft.com/office/drawing/2014/main" val="10002"/>
                      </a:ext>
                    </a:extLst>
                  </a:tr>
                  <a:tr h="396240">
                    <a:tc>
                      <a:txBody>
                        <a:bodyPr/>
                        <a:lstStyle/>
                        <a:p>
                          <a:endParaRPr lang="en-US" sz="2000" dirty="0"/>
                        </a:p>
                      </a:txBody>
                      <a:tcPr/>
                    </a:tc>
                    <a:tc gridSpan="2">
                      <a:txBody>
                        <a:bodyPr/>
                        <a:lstStyle/>
                        <a:p>
                          <a:r>
                            <a:rPr lang="en-US" sz="2000" dirty="0" smtClean="0"/>
                            <a:t>Difference-in-Differences</a:t>
                          </a:r>
                          <a:endParaRPr lang="en-US" sz="2000" dirty="0"/>
                        </a:p>
                      </a:txBody>
                      <a:tcPr/>
                    </a:tc>
                    <a:tc hMerge="1">
                      <a:txBody>
                        <a:bodyPr/>
                        <a:lstStyle/>
                        <a:p>
                          <a:endParaRPr lang="en-US" sz="200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2000" dirty="0" smtClean="0">
                            <a:latin typeface="+mn-lt"/>
                            <a:ea typeface="Calibri"/>
                            <a:cs typeface="Times New Roman"/>
                          </a:endParaRPr>
                        </a:p>
                      </a:txBody>
                      <a:tcPr/>
                    </a:tc>
                    <a:extLst>
                      <a:ext uri="{0D108BD9-81ED-4DB2-BD59-A6C34878D82A}">
                        <a16:rowId xmlns:a16="http://schemas.microsoft.com/office/drawing/2014/main" val="10003"/>
                      </a:ext>
                    </a:extLst>
                  </a:tr>
                </a:tbl>
              </a:graphicData>
            </a:graphic>
          </p:graphicFrame>
        </mc:Fallback>
      </mc:AlternateContent>
    </p:spTree>
    <p:extLst>
      <p:ext uri="{BB962C8B-B14F-4D97-AF65-F5344CB8AC3E}">
        <p14:creationId xmlns:p14="http://schemas.microsoft.com/office/powerpoint/2010/main" val="360995105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Quadrant #2: Treatment &amp; “Post” </a:t>
            </a:r>
          </a:p>
        </p:txBody>
      </p:sp>
      <mc:AlternateContent xmlns:mc="http://schemas.openxmlformats.org/markup-compatibility/2006" xmlns:a14="http://schemas.microsoft.com/office/drawing/2010/main">
        <mc:Choice Requires="a14">
          <p:graphicFrame>
            <p:nvGraphicFramePr>
              <p:cNvPr id="5" name="Content Placeholder 4"/>
              <p:cNvGraphicFramePr>
                <a:graphicFrameLocks noGrp="1"/>
              </p:cNvGraphicFramePr>
              <p:nvPr>
                <p:ph idx="1"/>
                <p:extLst>
                  <p:ext uri="{D42A27DB-BD31-4B8C-83A1-F6EECF244321}">
                    <p14:modId xmlns:p14="http://schemas.microsoft.com/office/powerpoint/2010/main" val="2205426425"/>
                  </p:ext>
                </p:extLst>
              </p:nvPr>
            </p:nvGraphicFramePr>
            <p:xfrm>
              <a:off x="457200" y="1600200"/>
              <a:ext cx="8229600" cy="1869186"/>
            </p:xfrm>
            <a:graphic>
              <a:graphicData uri="http://schemas.openxmlformats.org/drawingml/2006/table">
                <a:tbl>
                  <a:tblPr firstRow="1" bandRow="1">
                    <a:tableStyleId>{5940675A-B579-460E-94D1-54222C63F5DA}</a:tableStyleId>
                  </a:tblPr>
                  <a:tblGrid>
                    <a:gridCol w="2057400">
                      <a:extLst>
                        <a:ext uri="{9D8B030D-6E8A-4147-A177-3AD203B41FA5}">
                          <a16:colId xmlns:a16="http://schemas.microsoft.com/office/drawing/2014/main" val="20000"/>
                        </a:ext>
                      </a:extLst>
                    </a:gridCol>
                    <a:gridCol w="2057400">
                      <a:extLst>
                        <a:ext uri="{9D8B030D-6E8A-4147-A177-3AD203B41FA5}">
                          <a16:colId xmlns:a16="http://schemas.microsoft.com/office/drawing/2014/main" val="20001"/>
                        </a:ext>
                      </a:extLst>
                    </a:gridCol>
                    <a:gridCol w="2057400">
                      <a:extLst>
                        <a:ext uri="{9D8B030D-6E8A-4147-A177-3AD203B41FA5}">
                          <a16:colId xmlns:a16="http://schemas.microsoft.com/office/drawing/2014/main" val="20002"/>
                        </a:ext>
                      </a:extLst>
                    </a:gridCol>
                    <a:gridCol w="2057400">
                      <a:extLst>
                        <a:ext uri="{9D8B030D-6E8A-4147-A177-3AD203B41FA5}">
                          <a16:colId xmlns:a16="http://schemas.microsoft.com/office/drawing/2014/main" val="20003"/>
                        </a:ext>
                      </a:extLst>
                    </a:gridCol>
                  </a:tblGrid>
                  <a:tr h="370840">
                    <a:tc>
                      <a:txBody>
                        <a:bodyPr/>
                        <a:lstStyle/>
                        <a:p>
                          <a:endParaRPr lang="en-US" sz="2000" dirty="0"/>
                        </a:p>
                      </a:txBody>
                      <a:tcPr/>
                    </a:tc>
                    <a:tc>
                      <a:txBody>
                        <a:bodyPr/>
                        <a:lstStyle/>
                        <a:p>
                          <a:pPr algn="ctr"/>
                          <a:r>
                            <a:rPr lang="en-US" sz="2000" dirty="0"/>
                            <a:t>“Pre”</a:t>
                          </a:r>
                          <a:r>
                            <a:rPr lang="en-US" sz="2000" baseline="0" dirty="0"/>
                            <a:t> Period</a:t>
                          </a:r>
                          <a:endParaRPr lang="en-US" sz="2000" dirty="0"/>
                        </a:p>
                      </a:txBody>
                      <a:tcPr/>
                    </a:tc>
                    <a:tc>
                      <a:txBody>
                        <a:bodyPr/>
                        <a:lstStyle/>
                        <a:p>
                          <a:pPr algn="ctr"/>
                          <a:r>
                            <a:rPr lang="en-US" sz="2000" dirty="0"/>
                            <a:t>“Post” period</a:t>
                          </a:r>
                        </a:p>
                      </a:txBody>
                      <a:tcPr/>
                    </a:tc>
                    <a:tc>
                      <a:txBody>
                        <a:bodyPr/>
                        <a:lstStyle/>
                        <a:p>
                          <a:pPr algn="ctr"/>
                          <a:r>
                            <a:rPr lang="en-US" sz="2000" dirty="0"/>
                            <a:t>Difference</a:t>
                          </a:r>
                        </a:p>
                      </a:txBody>
                      <a:tcPr/>
                    </a:tc>
                    <a:extLst>
                      <a:ext uri="{0D108BD9-81ED-4DB2-BD59-A6C34878D82A}">
                        <a16:rowId xmlns:a16="http://schemas.microsoft.com/office/drawing/2014/main" val="10000"/>
                      </a:ext>
                    </a:extLst>
                  </a:tr>
                  <a:tr h="370840">
                    <a:tc>
                      <a:txBody>
                        <a:bodyPr/>
                        <a:lstStyle/>
                        <a:p>
                          <a:r>
                            <a:rPr lang="en-US" sz="2000" dirty="0"/>
                            <a:t>Treatment Group</a:t>
                          </a:r>
                        </a:p>
                      </a:txBody>
                      <a:tcPr anchor="ctr"/>
                    </a:tc>
                    <a:tc>
                      <a:txBody>
                        <a:body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acc>
                                  <m:accPr>
                                    <m:chr m:val="̂"/>
                                    <m:ctrlPr>
                                      <a:rPr lang="en-US" sz="2000" i="1" smtClean="0">
                                        <a:latin typeface="Cambria Math" panose="02040503050406030204" pitchFamily="18" charset="0"/>
                                      </a:rPr>
                                    </m:ctrlPr>
                                  </m:accPr>
                                  <m:e>
                                    <m:r>
                                      <a:rPr lang="en-US" sz="2000" i="1">
                                        <a:latin typeface="Cambria Math"/>
                                      </a:rPr>
                                      <m:t>𝑏</m:t>
                                    </m:r>
                                  </m:e>
                                </m:acc>
                                <m:r>
                                  <a:rPr lang="en-US" sz="2000" i="1" baseline="-25000" dirty="0">
                                    <a:latin typeface="Cambria Math"/>
                                  </a:rPr>
                                  <m:t>0</m:t>
                                </m:r>
                                <m:r>
                                  <a:rPr lang="en-US" sz="2000" i="1" dirty="0">
                                    <a:latin typeface="Cambria Math"/>
                                  </a:rPr>
                                  <m:t> +</m:t>
                                </m:r>
                                <m:acc>
                                  <m:accPr>
                                    <m:chr m:val="̂"/>
                                    <m:ctrlPr>
                                      <a:rPr lang="en-US" sz="2000" i="1" smtClean="0">
                                        <a:latin typeface="Cambria Math" panose="02040503050406030204" pitchFamily="18" charset="0"/>
                                      </a:rPr>
                                    </m:ctrlPr>
                                  </m:accPr>
                                  <m:e>
                                    <m:r>
                                      <a:rPr lang="en-US" sz="2000" i="1">
                                        <a:latin typeface="Cambria Math"/>
                                      </a:rPr>
                                      <m:t>𝑏</m:t>
                                    </m:r>
                                  </m:e>
                                </m:acc>
                                <m:r>
                                  <a:rPr lang="en-US" sz="2000" b="0" i="1" baseline="-25000" dirty="0" smtClean="0">
                                    <a:latin typeface="Cambria Math"/>
                                  </a:rPr>
                                  <m:t>2</m:t>
                                </m:r>
                              </m:oMath>
                            </m:oMathPara>
                          </a14:m>
                          <a:endParaRPr lang="en-US" sz="2000" dirty="0">
                            <a:latin typeface="Calibri"/>
                            <a:ea typeface="Calibri"/>
                            <a:cs typeface="Times New Roman"/>
                          </a:endParaRPr>
                        </a:p>
                      </a:txBody>
                      <a:tcPr marL="68580" marR="68580" marT="0" marB="0" anchor="ctr"/>
                    </a:tc>
                    <a:tc>
                      <a:txBody>
                        <a:bodyPr/>
                        <a:lstStyle/>
                        <a:p>
                          <a:pPr marL="0" marR="0" indent="0" algn="ctr" defTabSz="914400" rtl="0" eaLnBrk="1" fontAlgn="auto" latinLnBrk="0" hangingPunct="1">
                            <a:lnSpc>
                              <a:spcPct val="115000"/>
                            </a:lnSpc>
                            <a:spcBef>
                              <a:spcPts val="0"/>
                            </a:spcBef>
                            <a:spcAft>
                              <a:spcPts val="0"/>
                            </a:spcAft>
                            <a:buClrTx/>
                            <a:buSzTx/>
                            <a:buFontTx/>
                            <a:buNone/>
                            <a:tabLst/>
                            <a:defRPr/>
                          </a:pPr>
                          <a:r>
                            <a:rPr lang="en-US" sz="2000" dirty="0">
                              <a:latin typeface="+mn-lt"/>
                              <a:ea typeface="Calibri"/>
                              <a:cs typeface="Times New Roman"/>
                            </a:rPr>
                            <a:t>What coefficients apply here?</a:t>
                          </a:r>
                        </a:p>
                      </a:txBody>
                      <a:tcPr marL="68580" marR="68580" marT="0" marB="0" anchor="ctr">
                        <a:solidFill>
                          <a:schemeClr val="accent2"/>
                        </a:solidFill>
                      </a:tcPr>
                    </a:tc>
                    <a:tc>
                      <a:txBody>
                        <a:bodyPr/>
                        <a:lstStyle/>
                        <a:p>
                          <a:pPr marL="0" marR="0" algn="ctr">
                            <a:lnSpc>
                              <a:spcPct val="115000"/>
                            </a:lnSpc>
                            <a:spcBef>
                              <a:spcPts val="0"/>
                            </a:spcBef>
                            <a:spcAft>
                              <a:spcPts val="0"/>
                            </a:spcAft>
                          </a:pPr>
                          <a:endParaRPr lang="en-US" sz="2000" dirty="0">
                            <a:latin typeface="Calibri"/>
                            <a:ea typeface="Calibri"/>
                            <a:cs typeface="Times New Roman"/>
                          </a:endParaRPr>
                        </a:p>
                      </a:txBody>
                      <a:tcPr marL="68580" marR="68580" marT="0" marB="0" anchor="ctr"/>
                    </a:tc>
                    <a:extLst>
                      <a:ext uri="{0D108BD9-81ED-4DB2-BD59-A6C34878D82A}">
                        <a16:rowId xmlns:a16="http://schemas.microsoft.com/office/drawing/2014/main" val="10001"/>
                      </a:ext>
                    </a:extLst>
                  </a:tr>
                  <a:tr h="370840">
                    <a:tc>
                      <a:txBody>
                        <a:bodyPr/>
                        <a:lstStyle/>
                        <a:p>
                          <a:r>
                            <a:rPr lang="en-US" sz="2000" dirty="0"/>
                            <a:t>Control Group</a:t>
                          </a:r>
                        </a:p>
                      </a:txBody>
                      <a:tcPr/>
                    </a:tc>
                    <a:tc>
                      <a:txBody>
                        <a:bodyPr/>
                        <a:lstStyle/>
                        <a:p>
                          <a:pPr marL="0" marR="0" algn="ctr">
                            <a:lnSpc>
                              <a:spcPct val="115000"/>
                            </a:lnSpc>
                            <a:spcBef>
                              <a:spcPts val="0"/>
                            </a:spcBef>
                            <a:spcAft>
                              <a:spcPts val="0"/>
                            </a:spcAft>
                          </a:pPr>
                          <a:endParaRPr lang="en-US" sz="2000" dirty="0">
                            <a:latin typeface="Calibri"/>
                            <a:ea typeface="Calibri"/>
                            <a:cs typeface="Times New Roman"/>
                          </a:endParaRPr>
                        </a:p>
                      </a:txBody>
                      <a:tcPr marL="68580" marR="68580" marT="0" marB="0" anchor="ctr"/>
                    </a:tc>
                    <a:tc>
                      <a:txBody>
                        <a:bodyPr/>
                        <a:lstStyle/>
                        <a:p>
                          <a:pPr marL="0" marR="0" algn="ctr">
                            <a:lnSpc>
                              <a:spcPct val="115000"/>
                            </a:lnSpc>
                            <a:spcBef>
                              <a:spcPts val="0"/>
                            </a:spcBef>
                            <a:spcAft>
                              <a:spcPts val="0"/>
                            </a:spcAft>
                          </a:pPr>
                          <a:endParaRPr lang="en-US" sz="2000" dirty="0">
                            <a:latin typeface="Calibri"/>
                            <a:ea typeface="Calibri"/>
                            <a:cs typeface="Times New Roman"/>
                          </a:endParaRPr>
                        </a:p>
                      </a:txBody>
                      <a:tcPr marL="68580" marR="68580" marT="0" marB="0" anchor="ctr"/>
                    </a:tc>
                    <a:tc>
                      <a:txBody>
                        <a:bodyPr/>
                        <a:lstStyle/>
                        <a:p>
                          <a:pPr marL="0" marR="0" algn="ctr">
                            <a:lnSpc>
                              <a:spcPct val="115000"/>
                            </a:lnSpc>
                            <a:spcBef>
                              <a:spcPts val="0"/>
                            </a:spcBef>
                            <a:spcAft>
                              <a:spcPts val="0"/>
                            </a:spcAft>
                          </a:pPr>
                          <a:endParaRPr lang="en-US" sz="2000" dirty="0">
                            <a:latin typeface="Calibri"/>
                            <a:ea typeface="Calibri"/>
                            <a:cs typeface="Times New Roman"/>
                          </a:endParaRPr>
                        </a:p>
                      </a:txBody>
                      <a:tcPr marL="68580" marR="68580" marT="0" marB="0" anchor="ctr"/>
                    </a:tc>
                    <a:extLst>
                      <a:ext uri="{0D108BD9-81ED-4DB2-BD59-A6C34878D82A}">
                        <a16:rowId xmlns:a16="http://schemas.microsoft.com/office/drawing/2014/main" val="10002"/>
                      </a:ext>
                    </a:extLst>
                  </a:tr>
                  <a:tr h="370840">
                    <a:tc>
                      <a:txBody>
                        <a:bodyPr/>
                        <a:lstStyle/>
                        <a:p>
                          <a:endParaRPr lang="en-US" sz="2000" dirty="0"/>
                        </a:p>
                      </a:txBody>
                      <a:tcPr/>
                    </a:tc>
                    <a:tc gridSpan="2">
                      <a:txBody>
                        <a:bodyPr/>
                        <a:lstStyle/>
                        <a:p>
                          <a:r>
                            <a:rPr lang="en-US" sz="2000" dirty="0"/>
                            <a:t>Difference-in-Differences</a:t>
                          </a:r>
                        </a:p>
                      </a:txBody>
                      <a:tcPr/>
                    </a:tc>
                    <a:tc hMerge="1">
                      <a:txBody>
                        <a:bodyPr/>
                        <a:lstStyle/>
                        <a:p>
                          <a:endParaRPr lang="en-US" sz="200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2000" dirty="0">
                            <a:latin typeface="+mn-lt"/>
                            <a:ea typeface="Calibri"/>
                            <a:cs typeface="Times New Roman"/>
                          </a:endParaRPr>
                        </a:p>
                      </a:txBody>
                      <a:tcPr/>
                    </a:tc>
                    <a:extLst>
                      <a:ext uri="{0D108BD9-81ED-4DB2-BD59-A6C34878D82A}">
                        <a16:rowId xmlns:a16="http://schemas.microsoft.com/office/drawing/2014/main" val="10003"/>
                      </a:ext>
                    </a:extLst>
                  </a:tr>
                </a:tbl>
              </a:graphicData>
            </a:graphic>
          </p:graphicFrame>
        </mc:Choice>
        <mc:Fallback xmlns="">
          <p:graphicFrame>
            <p:nvGraphicFramePr>
              <p:cNvPr id="5" name="Content Placeholder 4"/>
              <p:cNvGraphicFramePr>
                <a:graphicFrameLocks noGrp="1"/>
              </p:cNvGraphicFramePr>
              <p:nvPr>
                <p:ph idx="1"/>
                <p:extLst>
                  <p:ext uri="{D42A27DB-BD31-4B8C-83A1-F6EECF244321}">
                    <p14:modId xmlns:p14="http://schemas.microsoft.com/office/powerpoint/2010/main" val="2205426425"/>
                  </p:ext>
                </p:extLst>
              </p:nvPr>
            </p:nvGraphicFramePr>
            <p:xfrm>
              <a:off x="457200" y="1600200"/>
              <a:ext cx="8229600" cy="1889760"/>
            </p:xfrm>
            <a:graphic>
              <a:graphicData uri="http://schemas.openxmlformats.org/drawingml/2006/table">
                <a:tbl>
                  <a:tblPr firstRow="1" bandRow="1">
                    <a:tableStyleId>{5940675A-B579-460E-94D1-54222C63F5DA}</a:tableStyleId>
                  </a:tblPr>
                  <a:tblGrid>
                    <a:gridCol w="2057400">
                      <a:extLst>
                        <a:ext uri="{9D8B030D-6E8A-4147-A177-3AD203B41FA5}">
                          <a16:colId xmlns:a16="http://schemas.microsoft.com/office/drawing/2014/main" val="20000"/>
                        </a:ext>
                      </a:extLst>
                    </a:gridCol>
                    <a:gridCol w="2057400">
                      <a:extLst>
                        <a:ext uri="{9D8B030D-6E8A-4147-A177-3AD203B41FA5}">
                          <a16:colId xmlns:a16="http://schemas.microsoft.com/office/drawing/2014/main" val="20001"/>
                        </a:ext>
                      </a:extLst>
                    </a:gridCol>
                    <a:gridCol w="2057400">
                      <a:extLst>
                        <a:ext uri="{9D8B030D-6E8A-4147-A177-3AD203B41FA5}">
                          <a16:colId xmlns:a16="http://schemas.microsoft.com/office/drawing/2014/main" val="20002"/>
                        </a:ext>
                      </a:extLst>
                    </a:gridCol>
                    <a:gridCol w="2057400">
                      <a:extLst>
                        <a:ext uri="{9D8B030D-6E8A-4147-A177-3AD203B41FA5}">
                          <a16:colId xmlns:a16="http://schemas.microsoft.com/office/drawing/2014/main" val="20003"/>
                        </a:ext>
                      </a:extLst>
                    </a:gridCol>
                  </a:tblGrid>
                  <a:tr h="396240">
                    <a:tc>
                      <a:txBody>
                        <a:bodyPr/>
                        <a:lstStyle/>
                        <a:p>
                          <a:endParaRPr lang="en-US" sz="2000" dirty="0"/>
                        </a:p>
                      </a:txBody>
                      <a:tcPr/>
                    </a:tc>
                    <a:tc>
                      <a:txBody>
                        <a:bodyPr/>
                        <a:lstStyle/>
                        <a:p>
                          <a:pPr algn="ctr"/>
                          <a:r>
                            <a:rPr lang="en-US" sz="2000" dirty="0" smtClean="0"/>
                            <a:t>“Pre”</a:t>
                          </a:r>
                          <a:r>
                            <a:rPr lang="en-US" sz="2000" baseline="0" dirty="0" smtClean="0"/>
                            <a:t> Period</a:t>
                          </a:r>
                          <a:endParaRPr lang="en-US" sz="2000" dirty="0"/>
                        </a:p>
                      </a:txBody>
                      <a:tcPr/>
                    </a:tc>
                    <a:tc>
                      <a:txBody>
                        <a:bodyPr/>
                        <a:lstStyle/>
                        <a:p>
                          <a:pPr algn="ctr"/>
                          <a:r>
                            <a:rPr lang="en-US" sz="2000" dirty="0" smtClean="0"/>
                            <a:t>“Post” period</a:t>
                          </a:r>
                          <a:endParaRPr lang="en-US" sz="2000" dirty="0"/>
                        </a:p>
                      </a:txBody>
                      <a:tcPr/>
                    </a:tc>
                    <a:tc>
                      <a:txBody>
                        <a:bodyPr/>
                        <a:lstStyle/>
                        <a:p>
                          <a:pPr algn="ctr"/>
                          <a:r>
                            <a:rPr lang="en-US" sz="2000" dirty="0" smtClean="0"/>
                            <a:t>Difference</a:t>
                          </a:r>
                          <a:endParaRPr lang="en-US" sz="2000" dirty="0"/>
                        </a:p>
                      </a:txBody>
                      <a:tcPr/>
                    </a:tc>
                    <a:extLst>
                      <a:ext uri="{0D108BD9-81ED-4DB2-BD59-A6C34878D82A}">
                        <a16:rowId xmlns:a16="http://schemas.microsoft.com/office/drawing/2014/main" val="10000"/>
                      </a:ext>
                    </a:extLst>
                  </a:tr>
                  <a:tr h="701040">
                    <a:tc>
                      <a:txBody>
                        <a:bodyPr/>
                        <a:lstStyle/>
                        <a:p>
                          <a:r>
                            <a:rPr lang="en-US" sz="2000" dirty="0" smtClean="0"/>
                            <a:t>Treatment Group</a:t>
                          </a:r>
                          <a:endParaRPr lang="en-US" sz="2000" dirty="0"/>
                        </a:p>
                      </a:txBody>
                      <a:tcPr anchor="ctr"/>
                    </a:tc>
                    <a:tc>
                      <a:txBody>
                        <a:bodyPr/>
                        <a:lstStyle/>
                        <a:p>
                          <a:endParaRPr lang="en-US"/>
                        </a:p>
                      </a:txBody>
                      <a:tcPr marL="68580" marR="68580" marT="0" marB="0" anchor="ctr">
                        <a:blipFill>
                          <a:blip r:embed="rId2"/>
                          <a:stretch>
                            <a:fillRect l="-100890" t="-60345" r="-201187" b="-126724"/>
                          </a:stretch>
                        </a:blipFill>
                      </a:tcPr>
                    </a:tc>
                    <a:tc>
                      <a:txBody>
                        <a:bodyPr/>
                        <a:lstStyle/>
                        <a:p>
                          <a:pPr marL="0" marR="0" indent="0" algn="ctr" defTabSz="914400" rtl="0" eaLnBrk="1" fontAlgn="auto" latinLnBrk="0" hangingPunct="1">
                            <a:lnSpc>
                              <a:spcPct val="115000"/>
                            </a:lnSpc>
                            <a:spcBef>
                              <a:spcPts val="0"/>
                            </a:spcBef>
                            <a:spcAft>
                              <a:spcPts val="0"/>
                            </a:spcAft>
                            <a:buClrTx/>
                            <a:buSzTx/>
                            <a:buFontTx/>
                            <a:buNone/>
                            <a:tabLst/>
                            <a:defRPr/>
                          </a:pPr>
                          <a:r>
                            <a:rPr lang="en-US" sz="2000" dirty="0" smtClean="0">
                              <a:latin typeface="+mn-lt"/>
                              <a:ea typeface="Calibri"/>
                              <a:cs typeface="Times New Roman"/>
                            </a:rPr>
                            <a:t>What coefficients apply here?</a:t>
                          </a:r>
                        </a:p>
                      </a:txBody>
                      <a:tcPr marL="68580" marR="68580" marT="0" marB="0" anchor="ctr">
                        <a:solidFill>
                          <a:schemeClr val="accent2"/>
                        </a:solidFill>
                      </a:tcPr>
                    </a:tc>
                    <a:tc>
                      <a:txBody>
                        <a:bodyPr/>
                        <a:lstStyle/>
                        <a:p>
                          <a:pPr marL="0" marR="0" algn="ctr">
                            <a:lnSpc>
                              <a:spcPct val="115000"/>
                            </a:lnSpc>
                            <a:spcBef>
                              <a:spcPts val="0"/>
                            </a:spcBef>
                            <a:spcAft>
                              <a:spcPts val="0"/>
                            </a:spcAft>
                          </a:pPr>
                          <a:endParaRPr lang="en-US" sz="2000" dirty="0">
                            <a:latin typeface="Calibri"/>
                            <a:ea typeface="Calibri"/>
                            <a:cs typeface="Times New Roman"/>
                          </a:endParaRPr>
                        </a:p>
                      </a:txBody>
                      <a:tcPr marL="68580" marR="68580" marT="0" marB="0" anchor="ctr"/>
                    </a:tc>
                    <a:extLst>
                      <a:ext uri="{0D108BD9-81ED-4DB2-BD59-A6C34878D82A}">
                        <a16:rowId xmlns:a16="http://schemas.microsoft.com/office/drawing/2014/main" val="10001"/>
                      </a:ext>
                    </a:extLst>
                  </a:tr>
                  <a:tr h="396240">
                    <a:tc>
                      <a:txBody>
                        <a:bodyPr/>
                        <a:lstStyle/>
                        <a:p>
                          <a:r>
                            <a:rPr lang="en-US" sz="2000" dirty="0" smtClean="0"/>
                            <a:t>Control Group</a:t>
                          </a:r>
                          <a:endParaRPr lang="en-US" sz="2000" dirty="0"/>
                        </a:p>
                      </a:txBody>
                      <a:tcPr/>
                    </a:tc>
                    <a:tc>
                      <a:txBody>
                        <a:bodyPr/>
                        <a:lstStyle/>
                        <a:p>
                          <a:pPr marL="0" marR="0" algn="ctr">
                            <a:lnSpc>
                              <a:spcPct val="115000"/>
                            </a:lnSpc>
                            <a:spcBef>
                              <a:spcPts val="0"/>
                            </a:spcBef>
                            <a:spcAft>
                              <a:spcPts val="0"/>
                            </a:spcAft>
                          </a:pPr>
                          <a:endParaRPr lang="en-US" sz="2000" dirty="0">
                            <a:latin typeface="Calibri"/>
                            <a:ea typeface="Calibri"/>
                            <a:cs typeface="Times New Roman"/>
                          </a:endParaRPr>
                        </a:p>
                      </a:txBody>
                      <a:tcPr marL="68580" marR="68580" marT="0" marB="0" anchor="ctr"/>
                    </a:tc>
                    <a:tc>
                      <a:txBody>
                        <a:bodyPr/>
                        <a:lstStyle/>
                        <a:p>
                          <a:pPr marL="0" marR="0" algn="ctr">
                            <a:lnSpc>
                              <a:spcPct val="115000"/>
                            </a:lnSpc>
                            <a:spcBef>
                              <a:spcPts val="0"/>
                            </a:spcBef>
                            <a:spcAft>
                              <a:spcPts val="0"/>
                            </a:spcAft>
                          </a:pPr>
                          <a:endParaRPr lang="en-US" sz="2000" dirty="0">
                            <a:latin typeface="Calibri"/>
                            <a:ea typeface="Calibri"/>
                            <a:cs typeface="Times New Roman"/>
                          </a:endParaRPr>
                        </a:p>
                      </a:txBody>
                      <a:tcPr marL="68580" marR="68580" marT="0" marB="0" anchor="ctr"/>
                    </a:tc>
                    <a:tc>
                      <a:txBody>
                        <a:bodyPr/>
                        <a:lstStyle/>
                        <a:p>
                          <a:pPr marL="0" marR="0" algn="ctr">
                            <a:lnSpc>
                              <a:spcPct val="115000"/>
                            </a:lnSpc>
                            <a:spcBef>
                              <a:spcPts val="0"/>
                            </a:spcBef>
                            <a:spcAft>
                              <a:spcPts val="0"/>
                            </a:spcAft>
                          </a:pPr>
                          <a:endParaRPr lang="en-US" sz="2000" dirty="0">
                            <a:latin typeface="Calibri"/>
                            <a:ea typeface="Calibri"/>
                            <a:cs typeface="Times New Roman"/>
                          </a:endParaRPr>
                        </a:p>
                      </a:txBody>
                      <a:tcPr marL="68580" marR="68580" marT="0" marB="0" anchor="ctr"/>
                    </a:tc>
                    <a:extLst>
                      <a:ext uri="{0D108BD9-81ED-4DB2-BD59-A6C34878D82A}">
                        <a16:rowId xmlns:a16="http://schemas.microsoft.com/office/drawing/2014/main" val="10002"/>
                      </a:ext>
                    </a:extLst>
                  </a:tr>
                  <a:tr h="396240">
                    <a:tc>
                      <a:txBody>
                        <a:bodyPr/>
                        <a:lstStyle/>
                        <a:p>
                          <a:endParaRPr lang="en-US" sz="2000" dirty="0"/>
                        </a:p>
                      </a:txBody>
                      <a:tcPr/>
                    </a:tc>
                    <a:tc gridSpan="2">
                      <a:txBody>
                        <a:bodyPr/>
                        <a:lstStyle/>
                        <a:p>
                          <a:r>
                            <a:rPr lang="en-US" sz="2000" dirty="0" smtClean="0"/>
                            <a:t>Difference-in-Differences</a:t>
                          </a:r>
                          <a:endParaRPr lang="en-US" sz="2000" dirty="0"/>
                        </a:p>
                      </a:txBody>
                      <a:tcPr/>
                    </a:tc>
                    <a:tc hMerge="1">
                      <a:txBody>
                        <a:bodyPr/>
                        <a:lstStyle/>
                        <a:p>
                          <a:endParaRPr lang="en-US" sz="200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2000" dirty="0" smtClean="0">
                            <a:latin typeface="+mn-lt"/>
                            <a:ea typeface="Calibri"/>
                            <a:cs typeface="Times New Roman"/>
                          </a:endParaRPr>
                        </a:p>
                      </a:txBody>
                      <a:tcPr/>
                    </a:tc>
                    <a:extLst>
                      <a:ext uri="{0D108BD9-81ED-4DB2-BD59-A6C34878D82A}">
                        <a16:rowId xmlns:a16="http://schemas.microsoft.com/office/drawing/2014/main" val="10003"/>
                      </a:ext>
                    </a:extLst>
                  </a:tr>
                </a:tbl>
              </a:graphicData>
            </a:graphic>
          </p:graphicFrame>
        </mc:Fallback>
      </mc:AlternateContent>
      <p:sp>
        <p:nvSpPr>
          <p:cNvPr id="6" name="TextBox 5"/>
          <p:cNvSpPr txBox="1"/>
          <p:nvPr/>
        </p:nvSpPr>
        <p:spPr>
          <a:xfrm>
            <a:off x="457200" y="3733800"/>
            <a:ext cx="8305800" cy="1077218"/>
          </a:xfrm>
          <a:prstGeom prst="rect">
            <a:avLst/>
          </a:prstGeom>
          <a:noFill/>
        </p:spPr>
        <p:txBody>
          <a:bodyPr wrap="square" rtlCol="0">
            <a:spAutoFit/>
          </a:bodyPr>
          <a:lstStyle/>
          <a:p>
            <a:r>
              <a:rPr lang="en-US" sz="3200" dirty="0"/>
              <a:t>In this quadrant, what happens to the “treatment” dummy?  And the “post” dummy?</a:t>
            </a:r>
          </a:p>
        </p:txBody>
      </p:sp>
      <p:sp>
        <p:nvSpPr>
          <p:cNvPr id="7" name="TextBox 6"/>
          <p:cNvSpPr txBox="1"/>
          <p:nvPr/>
        </p:nvSpPr>
        <p:spPr>
          <a:xfrm>
            <a:off x="476250" y="4811018"/>
            <a:ext cx="8305800" cy="584775"/>
          </a:xfrm>
          <a:prstGeom prst="rect">
            <a:avLst/>
          </a:prstGeom>
          <a:noFill/>
        </p:spPr>
        <p:txBody>
          <a:bodyPr wrap="square" rtlCol="0">
            <a:spAutoFit/>
          </a:bodyPr>
          <a:lstStyle/>
          <a:p>
            <a:r>
              <a:rPr lang="en-US" sz="3200" dirty="0"/>
              <a:t>Treatment = 1</a:t>
            </a:r>
          </a:p>
        </p:txBody>
      </p:sp>
      <p:sp>
        <p:nvSpPr>
          <p:cNvPr id="8" name="TextBox 7"/>
          <p:cNvSpPr txBox="1"/>
          <p:nvPr/>
        </p:nvSpPr>
        <p:spPr>
          <a:xfrm>
            <a:off x="485775" y="5638800"/>
            <a:ext cx="8305800" cy="584775"/>
          </a:xfrm>
          <a:prstGeom prst="rect">
            <a:avLst/>
          </a:prstGeom>
          <a:noFill/>
        </p:spPr>
        <p:txBody>
          <a:bodyPr wrap="square" rtlCol="0">
            <a:spAutoFit/>
          </a:bodyPr>
          <a:lstStyle/>
          <a:p>
            <a:r>
              <a:rPr lang="en-US" sz="3200" dirty="0"/>
              <a:t>Post = 1</a:t>
            </a:r>
          </a:p>
        </p:txBody>
      </p:sp>
    </p:spTree>
    <p:extLst>
      <p:ext uri="{BB962C8B-B14F-4D97-AF65-F5344CB8AC3E}">
        <p14:creationId xmlns:p14="http://schemas.microsoft.com/office/powerpoint/2010/main" val="35774742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So what is the conditional mean </a:t>
            </a:r>
            <a:br>
              <a:rPr lang="en-US" dirty="0"/>
            </a:br>
            <a:r>
              <a:rPr lang="en-US" dirty="0"/>
              <a:t>in this case?</a:t>
            </a:r>
          </a:p>
        </p:txBody>
      </p:sp>
      <p:sp>
        <p:nvSpPr>
          <p:cNvPr id="4" name="Content Placeholder 2"/>
          <p:cNvSpPr>
            <a:spLocks noGrp="1"/>
          </p:cNvSpPr>
          <p:nvPr>
            <p:ph idx="1"/>
          </p:nvPr>
        </p:nvSpPr>
        <p:spPr/>
        <p:txBody>
          <a:bodyPr>
            <a:normAutofit/>
          </a:bodyPr>
          <a:lstStyle/>
          <a:p>
            <a:pPr marL="0" indent="0">
              <a:buNone/>
            </a:pPr>
            <a:r>
              <a:rPr lang="en-US" dirty="0"/>
              <a:t>If Treatment = 1 and Post = 1, then our regression equation looks like this:</a:t>
            </a:r>
          </a:p>
          <a:p>
            <a:pPr marL="0" indent="0">
              <a:buNone/>
            </a:pPr>
            <a:endParaRPr lang="en-US" dirty="0"/>
          </a:p>
          <a:p>
            <a:pPr marL="0" indent="0">
              <a:buNone/>
            </a:pPr>
            <a:endParaRPr lang="en-US" dirty="0"/>
          </a:p>
          <a:p>
            <a:pPr marL="0" indent="0">
              <a:buNone/>
            </a:pPr>
            <a:endParaRPr lang="en-US" dirty="0"/>
          </a:p>
          <a:p>
            <a:pPr>
              <a:buNone/>
            </a:pPr>
            <a:endParaRPr lang="en-US" dirty="0">
              <a:sym typeface="Wingdings" panose="05000000000000000000" pitchFamily="2" charset="2"/>
            </a:endParaRPr>
          </a:p>
          <a:p>
            <a:pPr>
              <a:buNone/>
            </a:pPr>
            <a:endParaRPr lang="en-US" dirty="0">
              <a:sym typeface="Wingdings" panose="05000000000000000000" pitchFamily="2" charset="2"/>
            </a:endParaRPr>
          </a:p>
          <a:p>
            <a:pPr>
              <a:buNone/>
            </a:pPr>
            <a:endParaRPr lang="en-US" dirty="0">
              <a:sym typeface="Wingdings" panose="05000000000000000000" pitchFamily="2" charset="2"/>
            </a:endParaRPr>
          </a:p>
        </p:txBody>
      </p:sp>
      <mc:AlternateContent xmlns:mc="http://schemas.openxmlformats.org/markup-compatibility/2006" xmlns:a14="http://schemas.microsoft.com/office/drawing/2010/main">
        <mc:Choice Requires="a14">
          <p:sp>
            <p:nvSpPr>
              <p:cNvPr id="5" name="TextBox 4"/>
              <p:cNvSpPr txBox="1"/>
              <p:nvPr/>
            </p:nvSpPr>
            <p:spPr>
              <a:xfrm>
                <a:off x="447675" y="2590800"/>
                <a:ext cx="8305800" cy="1611147"/>
              </a:xfrm>
              <a:prstGeom prst="rect">
                <a:avLst/>
              </a:prstGeom>
              <a:noFill/>
            </p:spPr>
            <p:txBody>
              <a:bodyPr wrap="square" rtlCol="0">
                <a:spAutoFit/>
              </a:bodyPr>
              <a:lstStyle/>
              <a:p>
                <a:pPr>
                  <a:buNone/>
                </a:pPr>
                <a14:m>
                  <m:oMathPara xmlns:m="http://schemas.openxmlformats.org/officeDocument/2006/math">
                    <m:oMathParaPr>
                      <m:jc m:val="centerGroup"/>
                    </m:oMathParaPr>
                    <m:oMath xmlns:m="http://schemas.openxmlformats.org/officeDocument/2006/math">
                      <m:r>
                        <a:rPr lang="en-US" sz="3200" i="1" dirty="0">
                          <a:latin typeface="Cambria Math"/>
                        </a:rPr>
                        <m:t>𝑃𝑟𝑜𝑑𝑢𝑐𝑡𝑖𝑣𝑖𝑡𝑦</m:t>
                      </m:r>
                      <m:r>
                        <a:rPr lang="en-US" sz="3200" i="1" baseline="-25000" dirty="0" err="1">
                          <a:latin typeface="Cambria Math"/>
                        </a:rPr>
                        <m:t>𝑖𝑡</m:t>
                      </m:r>
                      <m:r>
                        <a:rPr lang="en-US" sz="3200" i="1" dirty="0">
                          <a:latin typeface="Cambria Math"/>
                        </a:rPr>
                        <m:t> =</m:t>
                      </m:r>
                      <m:acc>
                        <m:accPr>
                          <m:chr m:val="̂"/>
                          <m:ctrlPr>
                            <a:rPr lang="en-US" sz="3200" i="1">
                              <a:latin typeface="Cambria Math" panose="02040503050406030204" pitchFamily="18" charset="0"/>
                            </a:rPr>
                          </m:ctrlPr>
                        </m:accPr>
                        <m:e>
                          <m:r>
                            <a:rPr lang="en-US" sz="3200" i="1">
                              <a:latin typeface="Cambria Math"/>
                            </a:rPr>
                            <m:t>𝑏</m:t>
                          </m:r>
                        </m:e>
                      </m:acc>
                      <m:r>
                        <a:rPr lang="en-US" sz="3200" i="1" baseline="-25000" dirty="0">
                          <a:latin typeface="Cambria Math"/>
                        </a:rPr>
                        <m:t>0</m:t>
                      </m:r>
                      <m:r>
                        <a:rPr lang="en-US" sz="3200" i="1" dirty="0">
                          <a:latin typeface="Cambria Math"/>
                        </a:rPr>
                        <m:t>+</m:t>
                      </m:r>
                      <m:acc>
                        <m:accPr>
                          <m:chr m:val="̂"/>
                          <m:ctrlPr>
                            <a:rPr lang="en-US" sz="3200" i="1">
                              <a:latin typeface="Cambria Math" panose="02040503050406030204" pitchFamily="18" charset="0"/>
                            </a:rPr>
                          </m:ctrlPr>
                        </m:accPr>
                        <m:e>
                          <m:r>
                            <a:rPr lang="en-US" sz="3200" i="1">
                              <a:latin typeface="Cambria Math"/>
                            </a:rPr>
                            <m:t>𝑏</m:t>
                          </m:r>
                        </m:e>
                      </m:acc>
                      <m:r>
                        <a:rPr lang="en-US" sz="3200" i="1" baseline="-25000" dirty="0">
                          <a:latin typeface="Cambria Math"/>
                        </a:rPr>
                        <m:t>1</m:t>
                      </m:r>
                      <m:r>
                        <a:rPr lang="en-US" sz="3200" i="1" dirty="0">
                          <a:latin typeface="Cambria Math"/>
                        </a:rPr>
                        <m:t>(</m:t>
                      </m:r>
                      <m:r>
                        <a:rPr lang="en-US" sz="3200" i="1" dirty="0" err="1">
                          <a:latin typeface="Cambria Math"/>
                        </a:rPr>
                        <m:t>𝑝𝑜𝑠𝑡</m:t>
                      </m:r>
                      <m:r>
                        <a:rPr lang="en-US" sz="3200" i="1" baseline="-25000" dirty="0" err="1">
                          <a:latin typeface="Cambria Math"/>
                        </a:rPr>
                        <m:t>𝑖𝑡</m:t>
                      </m:r>
                      <m:r>
                        <a:rPr lang="en-US" sz="3200" i="1" dirty="0" smtClean="0">
                          <a:latin typeface="Cambria Math"/>
                        </a:rPr>
                        <m:t>)</m:t>
                      </m:r>
                      <m:r>
                        <a:rPr lang="en-US" sz="3200" i="1" dirty="0">
                          <a:latin typeface="Cambria Math"/>
                        </a:rPr>
                        <m:t>+</m:t>
                      </m:r>
                      <m:acc>
                        <m:accPr>
                          <m:chr m:val="̂"/>
                          <m:ctrlPr>
                            <a:rPr lang="en-US" sz="3200" i="1">
                              <a:latin typeface="Cambria Math" panose="02040503050406030204" pitchFamily="18" charset="0"/>
                            </a:rPr>
                          </m:ctrlPr>
                        </m:accPr>
                        <m:e>
                          <m:r>
                            <a:rPr lang="en-US" sz="3200" i="1">
                              <a:latin typeface="Cambria Math"/>
                            </a:rPr>
                            <m:t>𝑏</m:t>
                          </m:r>
                        </m:e>
                      </m:acc>
                      <m:r>
                        <a:rPr lang="en-US" sz="3200" i="1" baseline="-25000" dirty="0">
                          <a:latin typeface="Cambria Math"/>
                        </a:rPr>
                        <m:t>2</m:t>
                      </m:r>
                      <m:r>
                        <a:rPr lang="en-US" sz="3200" i="1" dirty="0">
                          <a:latin typeface="Cambria Math"/>
                        </a:rPr>
                        <m:t>(</m:t>
                      </m:r>
                      <m:r>
                        <a:rPr lang="en-US" sz="3200" i="1" dirty="0" err="1">
                          <a:latin typeface="Cambria Math"/>
                        </a:rPr>
                        <m:t>𝑡𝑟𝑒𝑎𝑡𝑚𝑒𝑛𝑡</m:t>
                      </m:r>
                      <m:r>
                        <a:rPr lang="en-US" sz="3200" i="1" baseline="-25000" dirty="0" err="1">
                          <a:latin typeface="Cambria Math"/>
                        </a:rPr>
                        <m:t>𝑖𝑡</m:t>
                      </m:r>
                      <m:r>
                        <a:rPr lang="en-US" sz="3200" i="1" dirty="0">
                          <a:latin typeface="Cambria Math"/>
                        </a:rPr>
                        <m:t>) </m:t>
                      </m:r>
                    </m:oMath>
                  </m:oMathPara>
                </a14:m>
                <a:endParaRPr lang="en-US" sz="3200" dirty="0"/>
              </a:p>
              <a:p>
                <a:pPr>
                  <a:buNone/>
                </a:pPr>
                <a14:m>
                  <m:oMathPara xmlns:m="http://schemas.openxmlformats.org/officeDocument/2006/math">
                    <m:oMathParaPr>
                      <m:jc m:val="centerGroup"/>
                    </m:oMathParaPr>
                    <m:oMath xmlns:m="http://schemas.openxmlformats.org/officeDocument/2006/math">
                      <m:r>
                        <a:rPr lang="en-US" sz="3200" i="1" dirty="0">
                          <a:latin typeface="Cambria Math"/>
                        </a:rPr>
                        <m:t>+</m:t>
                      </m:r>
                      <m:acc>
                        <m:accPr>
                          <m:chr m:val="̂"/>
                          <m:ctrlPr>
                            <a:rPr lang="en-US" sz="3200" i="1">
                              <a:latin typeface="Cambria Math" panose="02040503050406030204" pitchFamily="18" charset="0"/>
                            </a:rPr>
                          </m:ctrlPr>
                        </m:accPr>
                        <m:e>
                          <m:r>
                            <a:rPr lang="en-US" sz="3200" i="1">
                              <a:latin typeface="Cambria Math"/>
                            </a:rPr>
                            <m:t>𝑏</m:t>
                          </m:r>
                        </m:e>
                      </m:acc>
                      <m:r>
                        <a:rPr lang="en-US" sz="3200" i="1" baseline="-25000" dirty="0">
                          <a:latin typeface="Cambria Math"/>
                        </a:rPr>
                        <m:t>3</m:t>
                      </m:r>
                      <m:r>
                        <a:rPr lang="en-US" sz="3200" i="1" dirty="0">
                          <a:latin typeface="Cambria Math"/>
                        </a:rPr>
                        <m:t>(</m:t>
                      </m:r>
                      <m:r>
                        <a:rPr lang="en-US" sz="3200" i="1" dirty="0" err="1">
                          <a:latin typeface="Cambria Math"/>
                        </a:rPr>
                        <m:t>𝑝𝑜𝑠𝑡</m:t>
                      </m:r>
                      <m:r>
                        <a:rPr lang="en-US" sz="3200" i="1" baseline="-25000" dirty="0" err="1">
                          <a:latin typeface="Cambria Math"/>
                        </a:rPr>
                        <m:t>𝑖𝑡</m:t>
                      </m:r>
                      <m:r>
                        <a:rPr lang="en-US" sz="3200" i="1" dirty="0">
                          <a:latin typeface="Cambria Math"/>
                        </a:rPr>
                        <m:t>∗</m:t>
                      </m:r>
                      <m:r>
                        <a:rPr lang="en-US" sz="3200" i="1" dirty="0" err="1">
                          <a:latin typeface="Cambria Math"/>
                        </a:rPr>
                        <m:t>𝑡𝑟𝑒𝑎𝑡𝑚𝑒𝑛𝑡</m:t>
                      </m:r>
                      <m:r>
                        <a:rPr lang="en-US" sz="3200" i="1" baseline="-25000" dirty="0" err="1">
                          <a:latin typeface="Cambria Math"/>
                        </a:rPr>
                        <m:t>𝑖𝑡</m:t>
                      </m:r>
                      <m:r>
                        <a:rPr lang="en-US" sz="3200" i="1" dirty="0">
                          <a:latin typeface="Cambria Math"/>
                        </a:rPr>
                        <m:t>)</m:t>
                      </m:r>
                    </m:oMath>
                  </m:oMathPara>
                </a14:m>
                <a:endParaRPr lang="en-US" sz="3200" baseline="-25000" dirty="0"/>
              </a:p>
            </p:txBody>
          </p:sp>
        </mc:Choice>
        <mc:Fallback xmlns="">
          <p:sp>
            <p:nvSpPr>
              <p:cNvPr id="5" name="TextBox 4"/>
              <p:cNvSpPr txBox="1">
                <a:spLocks noRot="1" noChangeAspect="1" noMove="1" noResize="1" noEditPoints="1" noAdjustHandles="1" noChangeArrowheads="1" noChangeShapeType="1" noTextEdit="1"/>
              </p:cNvSpPr>
              <p:nvPr/>
            </p:nvSpPr>
            <p:spPr>
              <a:xfrm>
                <a:off x="447675" y="2590800"/>
                <a:ext cx="8305800" cy="1611147"/>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p:cNvSpPr txBox="1"/>
              <p:nvPr/>
            </p:nvSpPr>
            <p:spPr>
              <a:xfrm>
                <a:off x="228600" y="4137762"/>
                <a:ext cx="8305800" cy="1130053"/>
              </a:xfrm>
              <a:prstGeom prst="rect">
                <a:avLst/>
              </a:prstGeom>
              <a:noFill/>
            </p:spPr>
            <p:txBody>
              <a:bodyPr wrap="square" rtlCol="0">
                <a:spAutoFit/>
              </a:bodyPr>
              <a:lstStyle/>
              <a:p>
                <a:pPr>
                  <a:buNone/>
                </a:pPr>
                <a14:m>
                  <m:oMathPara xmlns:m="http://schemas.openxmlformats.org/officeDocument/2006/math">
                    <m:oMathParaPr>
                      <m:jc m:val="centerGroup"/>
                    </m:oMathParaPr>
                    <m:oMath xmlns:m="http://schemas.openxmlformats.org/officeDocument/2006/math">
                      <m:r>
                        <m:rPr>
                          <m:nor/>
                        </m:rPr>
                        <a:rPr lang="en-US" sz="3200" dirty="0" smtClean="0">
                          <a:sym typeface="Wingdings" panose="05000000000000000000" pitchFamily="2" charset="2"/>
                        </a:rPr>
                        <m:t></m:t>
                      </m:r>
                      <m:r>
                        <a:rPr lang="en-US" sz="3200" i="1" dirty="0">
                          <a:latin typeface="Cambria Math"/>
                        </a:rPr>
                        <m:t>𝑃𝑟𝑜𝑑𝑢𝑐𝑡𝑖𝑣𝑖𝑡𝑦</m:t>
                      </m:r>
                      <m:r>
                        <a:rPr lang="en-US" sz="3200" i="1" baseline="-25000" dirty="0" err="1">
                          <a:latin typeface="Cambria Math"/>
                        </a:rPr>
                        <m:t>𝑖𝑡</m:t>
                      </m:r>
                      <m:r>
                        <a:rPr lang="en-US" sz="3200" i="1" dirty="0">
                          <a:latin typeface="Cambria Math"/>
                        </a:rPr>
                        <m:t> =</m:t>
                      </m:r>
                      <m:acc>
                        <m:accPr>
                          <m:chr m:val="̂"/>
                          <m:ctrlPr>
                            <a:rPr lang="en-US" sz="3200" i="1">
                              <a:latin typeface="Cambria Math" panose="02040503050406030204" pitchFamily="18" charset="0"/>
                            </a:rPr>
                          </m:ctrlPr>
                        </m:accPr>
                        <m:e>
                          <m:r>
                            <a:rPr lang="en-US" sz="3200" i="1">
                              <a:latin typeface="Cambria Math"/>
                            </a:rPr>
                            <m:t>𝑏</m:t>
                          </m:r>
                        </m:e>
                      </m:acc>
                      <m:r>
                        <a:rPr lang="en-US" sz="3200" i="1" baseline="-25000" dirty="0">
                          <a:latin typeface="Cambria Math"/>
                        </a:rPr>
                        <m:t>0</m:t>
                      </m:r>
                      <m:r>
                        <a:rPr lang="en-US" sz="3200" i="1" dirty="0">
                          <a:latin typeface="Cambria Math"/>
                        </a:rPr>
                        <m:t>+</m:t>
                      </m:r>
                      <m:acc>
                        <m:accPr>
                          <m:chr m:val="̂"/>
                          <m:ctrlPr>
                            <a:rPr lang="en-US" sz="3200" i="1">
                              <a:latin typeface="Cambria Math" panose="02040503050406030204" pitchFamily="18" charset="0"/>
                            </a:rPr>
                          </m:ctrlPr>
                        </m:accPr>
                        <m:e>
                          <m:r>
                            <a:rPr lang="en-US" sz="3200" i="1">
                              <a:latin typeface="Cambria Math"/>
                            </a:rPr>
                            <m:t>𝑏</m:t>
                          </m:r>
                        </m:e>
                      </m:acc>
                      <m:r>
                        <a:rPr lang="en-US" sz="3200" i="1" baseline="-25000" dirty="0">
                          <a:latin typeface="Cambria Math"/>
                        </a:rPr>
                        <m:t>1</m:t>
                      </m:r>
                      <m:r>
                        <a:rPr lang="en-US" sz="3200" i="1" dirty="0">
                          <a:latin typeface="Cambria Math"/>
                        </a:rPr>
                        <m:t>(1)+</m:t>
                      </m:r>
                      <m:acc>
                        <m:accPr>
                          <m:chr m:val="̂"/>
                          <m:ctrlPr>
                            <a:rPr lang="en-US" sz="3200" i="1">
                              <a:latin typeface="Cambria Math" panose="02040503050406030204" pitchFamily="18" charset="0"/>
                            </a:rPr>
                          </m:ctrlPr>
                        </m:accPr>
                        <m:e>
                          <m:r>
                            <a:rPr lang="en-US" sz="3200" i="1">
                              <a:latin typeface="Cambria Math"/>
                            </a:rPr>
                            <m:t>𝑏</m:t>
                          </m:r>
                        </m:e>
                      </m:acc>
                      <m:r>
                        <a:rPr lang="en-US" sz="3200" i="1" baseline="-25000" dirty="0">
                          <a:latin typeface="Cambria Math"/>
                        </a:rPr>
                        <m:t>2</m:t>
                      </m:r>
                      <m:r>
                        <a:rPr lang="en-US" sz="3200" i="1" dirty="0">
                          <a:latin typeface="Cambria Math"/>
                        </a:rPr>
                        <m:t>(</m:t>
                      </m:r>
                      <m:r>
                        <a:rPr lang="en-US" sz="3200" b="0" i="1" dirty="0" smtClean="0">
                          <a:latin typeface="Cambria Math"/>
                        </a:rPr>
                        <m:t>1</m:t>
                      </m:r>
                      <m:r>
                        <a:rPr lang="en-US" sz="3200" i="1" dirty="0">
                          <a:latin typeface="Cambria Math"/>
                        </a:rPr>
                        <m:t>) </m:t>
                      </m:r>
                    </m:oMath>
                  </m:oMathPara>
                </a14:m>
                <a:endParaRPr lang="en-US" sz="3200" dirty="0"/>
              </a:p>
              <a:p>
                <a:pPr>
                  <a:buNone/>
                </a:pPr>
                <a14:m>
                  <m:oMathPara xmlns:m="http://schemas.openxmlformats.org/officeDocument/2006/math">
                    <m:oMathParaPr>
                      <m:jc m:val="centerGroup"/>
                    </m:oMathParaPr>
                    <m:oMath xmlns:m="http://schemas.openxmlformats.org/officeDocument/2006/math">
                      <m:r>
                        <a:rPr lang="en-US" sz="3200" i="1" dirty="0">
                          <a:latin typeface="Cambria Math"/>
                        </a:rPr>
                        <m:t>+</m:t>
                      </m:r>
                      <m:acc>
                        <m:accPr>
                          <m:chr m:val="̂"/>
                          <m:ctrlPr>
                            <a:rPr lang="en-US" sz="3200" i="1">
                              <a:latin typeface="Cambria Math" panose="02040503050406030204" pitchFamily="18" charset="0"/>
                            </a:rPr>
                          </m:ctrlPr>
                        </m:accPr>
                        <m:e>
                          <m:r>
                            <a:rPr lang="en-US" sz="3200" i="1">
                              <a:latin typeface="Cambria Math"/>
                            </a:rPr>
                            <m:t>𝑏</m:t>
                          </m:r>
                        </m:e>
                      </m:acc>
                      <m:r>
                        <a:rPr lang="en-US" sz="3200" i="1" baseline="-25000" dirty="0">
                          <a:latin typeface="Cambria Math"/>
                        </a:rPr>
                        <m:t>3</m:t>
                      </m:r>
                      <m:r>
                        <a:rPr lang="en-US" sz="3200" i="1" dirty="0">
                          <a:latin typeface="Cambria Math"/>
                        </a:rPr>
                        <m:t>(1∗</m:t>
                      </m:r>
                      <m:r>
                        <a:rPr lang="en-US" sz="3200" b="0" i="1" dirty="0" smtClean="0">
                          <a:latin typeface="Cambria Math"/>
                        </a:rPr>
                        <m:t>1</m:t>
                      </m:r>
                      <m:r>
                        <a:rPr lang="en-US" sz="3200" i="1" dirty="0">
                          <a:latin typeface="Cambria Math"/>
                        </a:rPr>
                        <m:t>)</m:t>
                      </m:r>
                    </m:oMath>
                  </m:oMathPara>
                </a14:m>
                <a:endParaRPr lang="en-US" sz="3200" baseline="-25000" dirty="0"/>
              </a:p>
            </p:txBody>
          </p:sp>
        </mc:Choice>
        <mc:Fallback xmlns="">
          <p:sp>
            <p:nvSpPr>
              <p:cNvPr id="6" name="TextBox 5"/>
              <p:cNvSpPr txBox="1">
                <a:spLocks noRot="1" noChangeAspect="1" noMove="1" noResize="1" noEditPoints="1" noAdjustHandles="1" noChangeArrowheads="1" noChangeShapeType="1" noTextEdit="1"/>
              </p:cNvSpPr>
              <p:nvPr/>
            </p:nvSpPr>
            <p:spPr>
              <a:xfrm>
                <a:off x="228600" y="4137762"/>
                <a:ext cx="8305800" cy="1130053"/>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p:cNvSpPr txBox="1"/>
              <p:nvPr/>
            </p:nvSpPr>
            <p:spPr>
              <a:xfrm>
                <a:off x="381000" y="5369468"/>
                <a:ext cx="8305800" cy="611193"/>
              </a:xfrm>
              <a:prstGeom prst="rect">
                <a:avLst/>
              </a:prstGeom>
              <a:noFill/>
            </p:spPr>
            <p:txBody>
              <a:bodyPr wrap="square" rtlCol="0">
                <a:spAutoFit/>
              </a:bodyPr>
              <a:lstStyle/>
              <a:p>
                <a:pPr>
                  <a:buNone/>
                </a:pPr>
                <a14:m>
                  <m:oMathPara xmlns:m="http://schemas.openxmlformats.org/officeDocument/2006/math">
                    <m:oMathParaPr>
                      <m:jc m:val="centerGroup"/>
                    </m:oMathParaPr>
                    <m:oMath xmlns:m="http://schemas.openxmlformats.org/officeDocument/2006/math">
                      <m:r>
                        <m:rPr>
                          <m:nor/>
                        </m:rPr>
                        <a:rPr lang="en-US" sz="3200" dirty="0" smtClean="0">
                          <a:sym typeface="Wingdings" panose="05000000000000000000" pitchFamily="2" charset="2"/>
                        </a:rPr>
                        <m:t></m:t>
                      </m:r>
                      <m:r>
                        <a:rPr lang="en-US" sz="3200" i="1" dirty="0">
                          <a:latin typeface="Cambria Math"/>
                        </a:rPr>
                        <m:t>𝑃𝑟𝑜𝑑𝑢𝑐𝑡𝑖𝑣𝑖𝑡𝑦</m:t>
                      </m:r>
                      <m:r>
                        <a:rPr lang="en-US" sz="3200" i="1" baseline="-25000" dirty="0" err="1">
                          <a:latin typeface="Cambria Math"/>
                        </a:rPr>
                        <m:t>𝑖𝑡</m:t>
                      </m:r>
                      <m:r>
                        <a:rPr lang="en-US" sz="3200" i="1" dirty="0">
                          <a:latin typeface="Cambria Math"/>
                        </a:rPr>
                        <m:t> =</m:t>
                      </m:r>
                      <m:acc>
                        <m:accPr>
                          <m:chr m:val="̂"/>
                          <m:ctrlPr>
                            <a:rPr lang="en-US" sz="3200" i="1">
                              <a:latin typeface="Cambria Math" panose="02040503050406030204" pitchFamily="18" charset="0"/>
                            </a:rPr>
                          </m:ctrlPr>
                        </m:accPr>
                        <m:e>
                          <m:r>
                            <a:rPr lang="en-US" sz="3200" i="1">
                              <a:latin typeface="Cambria Math"/>
                            </a:rPr>
                            <m:t>𝑏</m:t>
                          </m:r>
                        </m:e>
                      </m:acc>
                      <m:r>
                        <a:rPr lang="en-US" sz="3200" i="1" baseline="-25000" dirty="0">
                          <a:latin typeface="Cambria Math"/>
                        </a:rPr>
                        <m:t>0</m:t>
                      </m:r>
                      <m:r>
                        <a:rPr lang="en-US" sz="3200" i="1" dirty="0">
                          <a:latin typeface="Cambria Math"/>
                        </a:rPr>
                        <m:t> +</m:t>
                      </m:r>
                      <m:acc>
                        <m:accPr>
                          <m:chr m:val="̂"/>
                          <m:ctrlPr>
                            <a:rPr lang="en-US" sz="3200" i="1">
                              <a:latin typeface="Cambria Math" panose="02040503050406030204" pitchFamily="18" charset="0"/>
                            </a:rPr>
                          </m:ctrlPr>
                        </m:accPr>
                        <m:e>
                          <m:r>
                            <a:rPr lang="en-US" sz="3200" i="1">
                              <a:latin typeface="Cambria Math"/>
                            </a:rPr>
                            <m:t>𝑏</m:t>
                          </m:r>
                        </m:e>
                      </m:acc>
                      <m:r>
                        <a:rPr lang="en-US" sz="3200" i="1" baseline="-25000" dirty="0">
                          <a:latin typeface="Cambria Math"/>
                        </a:rPr>
                        <m:t>1</m:t>
                      </m:r>
                      <m:r>
                        <a:rPr lang="en-US" sz="3200" i="1" dirty="0">
                          <a:latin typeface="Cambria Math"/>
                        </a:rPr>
                        <m:t>+</m:t>
                      </m:r>
                      <m:acc>
                        <m:accPr>
                          <m:chr m:val="̂"/>
                          <m:ctrlPr>
                            <a:rPr lang="en-US" sz="3200" i="1">
                              <a:latin typeface="Cambria Math" panose="02040503050406030204" pitchFamily="18" charset="0"/>
                            </a:rPr>
                          </m:ctrlPr>
                        </m:accPr>
                        <m:e>
                          <m:r>
                            <a:rPr lang="en-US" sz="3200" i="1">
                              <a:latin typeface="Cambria Math"/>
                            </a:rPr>
                            <m:t>𝑏</m:t>
                          </m:r>
                        </m:e>
                      </m:acc>
                      <m:r>
                        <a:rPr lang="en-US" sz="3200" i="1" baseline="-25000" dirty="0">
                          <a:latin typeface="Cambria Math"/>
                        </a:rPr>
                        <m:t>2</m:t>
                      </m:r>
                      <m:r>
                        <a:rPr lang="en-US" sz="3200" i="1" dirty="0">
                          <a:latin typeface="Cambria Math"/>
                        </a:rPr>
                        <m:t>+</m:t>
                      </m:r>
                      <m:acc>
                        <m:accPr>
                          <m:chr m:val="̂"/>
                          <m:ctrlPr>
                            <a:rPr lang="en-US" sz="3200" i="1">
                              <a:latin typeface="Cambria Math" panose="02040503050406030204" pitchFamily="18" charset="0"/>
                            </a:rPr>
                          </m:ctrlPr>
                        </m:accPr>
                        <m:e>
                          <m:r>
                            <a:rPr lang="en-US" sz="3200" i="1">
                              <a:latin typeface="Cambria Math"/>
                            </a:rPr>
                            <m:t>𝑏</m:t>
                          </m:r>
                        </m:e>
                      </m:acc>
                      <m:r>
                        <a:rPr lang="en-US" sz="3200" i="1" baseline="-25000" dirty="0">
                          <a:latin typeface="Cambria Math"/>
                        </a:rPr>
                        <m:t>3</m:t>
                      </m:r>
                    </m:oMath>
                  </m:oMathPara>
                </a14:m>
                <a:endParaRPr lang="en-US" sz="3200" baseline="-25000" dirty="0"/>
              </a:p>
            </p:txBody>
          </p:sp>
        </mc:Choice>
        <mc:Fallback xmlns="">
          <p:sp>
            <p:nvSpPr>
              <p:cNvPr id="7" name="TextBox 6"/>
              <p:cNvSpPr txBox="1">
                <a:spLocks noRot="1" noChangeAspect="1" noMove="1" noResize="1" noEditPoints="1" noAdjustHandles="1" noChangeArrowheads="1" noChangeShapeType="1" noTextEdit="1"/>
              </p:cNvSpPr>
              <p:nvPr/>
            </p:nvSpPr>
            <p:spPr>
              <a:xfrm>
                <a:off x="381000" y="5369468"/>
                <a:ext cx="8305800" cy="611193"/>
              </a:xfrm>
              <a:prstGeom prst="rect">
                <a:avLst/>
              </a:prstGeom>
              <a:blipFill>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2398702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Quadrant #2: Treatment &amp; “Post” </a:t>
            </a:r>
          </a:p>
        </p:txBody>
      </p:sp>
      <p:sp>
        <p:nvSpPr>
          <p:cNvPr id="3" name="Content Placeholder 2"/>
          <p:cNvSpPr>
            <a:spLocks noGrp="1"/>
          </p:cNvSpPr>
          <p:nvPr>
            <p:ph idx="1"/>
          </p:nvPr>
        </p:nvSpPr>
        <p:spPr/>
        <p:txBody>
          <a:bodyPr/>
          <a:lstStyle/>
          <a:p>
            <a:pPr marL="0" indent="0">
              <a:buNone/>
            </a:pPr>
            <a:r>
              <a:rPr lang="en-US" dirty="0"/>
              <a:t>So in this case:</a:t>
            </a:r>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r>
              <a:rPr lang="en-US" dirty="0"/>
              <a:t>And we can go further here to the think about the “difference” between the post and pre periods for the treatment group.</a:t>
            </a:r>
          </a:p>
          <a:p>
            <a:pPr marL="0" indent="0">
              <a:buNone/>
            </a:pPr>
            <a:endParaRPr lang="en-US" dirty="0"/>
          </a:p>
        </p:txBody>
      </p:sp>
      <mc:AlternateContent xmlns:mc="http://schemas.openxmlformats.org/markup-compatibility/2006" xmlns:a14="http://schemas.microsoft.com/office/drawing/2010/main">
        <mc:Choice Requires="a14">
          <p:graphicFrame>
            <p:nvGraphicFramePr>
              <p:cNvPr id="4" name="Table 3"/>
              <p:cNvGraphicFramePr>
                <a:graphicFrameLocks noGrp="1"/>
              </p:cNvGraphicFramePr>
              <p:nvPr>
                <p:extLst>
                  <p:ext uri="{D42A27DB-BD31-4B8C-83A1-F6EECF244321}">
                    <p14:modId xmlns:p14="http://schemas.microsoft.com/office/powerpoint/2010/main" val="3245417147"/>
                  </p:ext>
                </p:extLst>
              </p:nvPr>
            </p:nvGraphicFramePr>
            <p:xfrm>
              <a:off x="685800" y="2362200"/>
              <a:ext cx="7696200" cy="1584960"/>
            </p:xfrm>
            <a:graphic>
              <a:graphicData uri="http://schemas.openxmlformats.org/drawingml/2006/table">
                <a:tbl>
                  <a:tblPr firstRow="1" bandRow="1">
                    <a:tableStyleId>{5940675A-B579-460E-94D1-54222C63F5DA}</a:tableStyleId>
                  </a:tblPr>
                  <a:tblGrid>
                    <a:gridCol w="2057400">
                      <a:extLst>
                        <a:ext uri="{9D8B030D-6E8A-4147-A177-3AD203B41FA5}">
                          <a16:colId xmlns:a16="http://schemas.microsoft.com/office/drawing/2014/main" val="20000"/>
                        </a:ext>
                      </a:extLst>
                    </a:gridCol>
                    <a:gridCol w="1790700">
                      <a:extLst>
                        <a:ext uri="{9D8B030D-6E8A-4147-A177-3AD203B41FA5}">
                          <a16:colId xmlns:a16="http://schemas.microsoft.com/office/drawing/2014/main" val="20001"/>
                        </a:ext>
                      </a:extLst>
                    </a:gridCol>
                    <a:gridCol w="2095500">
                      <a:extLst>
                        <a:ext uri="{9D8B030D-6E8A-4147-A177-3AD203B41FA5}">
                          <a16:colId xmlns:a16="http://schemas.microsoft.com/office/drawing/2014/main" val="20002"/>
                        </a:ext>
                      </a:extLst>
                    </a:gridCol>
                    <a:gridCol w="1752600">
                      <a:extLst>
                        <a:ext uri="{9D8B030D-6E8A-4147-A177-3AD203B41FA5}">
                          <a16:colId xmlns:a16="http://schemas.microsoft.com/office/drawing/2014/main" val="20003"/>
                        </a:ext>
                      </a:extLst>
                    </a:gridCol>
                  </a:tblGrid>
                  <a:tr h="370840">
                    <a:tc>
                      <a:txBody>
                        <a:bodyPr/>
                        <a:lstStyle/>
                        <a:p>
                          <a:endParaRPr lang="en-US" sz="2000" dirty="0"/>
                        </a:p>
                      </a:txBody>
                      <a:tcPr/>
                    </a:tc>
                    <a:tc>
                      <a:txBody>
                        <a:bodyPr/>
                        <a:lstStyle/>
                        <a:p>
                          <a:pPr algn="ctr"/>
                          <a:r>
                            <a:rPr lang="en-US" sz="2000" dirty="0"/>
                            <a:t>“Pre”</a:t>
                          </a:r>
                          <a:r>
                            <a:rPr lang="en-US" sz="2000" baseline="0" dirty="0"/>
                            <a:t> Period</a:t>
                          </a:r>
                          <a:endParaRPr lang="en-US" sz="2000" dirty="0"/>
                        </a:p>
                      </a:txBody>
                      <a:tcPr/>
                    </a:tc>
                    <a:tc>
                      <a:txBody>
                        <a:bodyPr/>
                        <a:lstStyle/>
                        <a:p>
                          <a:pPr algn="ctr"/>
                          <a:r>
                            <a:rPr lang="en-US" sz="2000" dirty="0"/>
                            <a:t>“Post” period</a:t>
                          </a:r>
                        </a:p>
                      </a:txBody>
                      <a:tcPr/>
                    </a:tc>
                    <a:tc>
                      <a:txBody>
                        <a:bodyPr/>
                        <a:lstStyle/>
                        <a:p>
                          <a:pPr algn="ctr"/>
                          <a:r>
                            <a:rPr lang="en-US" sz="2000" dirty="0"/>
                            <a:t>Difference</a:t>
                          </a:r>
                        </a:p>
                      </a:txBody>
                      <a:tcPr/>
                    </a:tc>
                    <a:extLst>
                      <a:ext uri="{0D108BD9-81ED-4DB2-BD59-A6C34878D82A}">
                        <a16:rowId xmlns:a16="http://schemas.microsoft.com/office/drawing/2014/main" val="10000"/>
                      </a:ext>
                    </a:extLst>
                  </a:tr>
                  <a:tr h="370840">
                    <a:tc>
                      <a:txBody>
                        <a:bodyPr/>
                        <a:lstStyle/>
                        <a:p>
                          <a:r>
                            <a:rPr lang="en-US" sz="2000" dirty="0"/>
                            <a:t>Treatment Group</a:t>
                          </a:r>
                        </a:p>
                      </a:txBody>
                      <a:tcPr/>
                    </a:tc>
                    <a:tc>
                      <a:txBody>
                        <a:body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acc>
                                  <m:accPr>
                                    <m:chr m:val="̂"/>
                                    <m:ctrlPr>
                                      <a:rPr lang="en-US" sz="2000" i="1" smtClean="0">
                                        <a:latin typeface="Cambria Math" panose="02040503050406030204" pitchFamily="18" charset="0"/>
                                      </a:rPr>
                                    </m:ctrlPr>
                                  </m:accPr>
                                  <m:e>
                                    <m:r>
                                      <a:rPr lang="en-US" sz="2000" i="1">
                                        <a:latin typeface="Cambria Math"/>
                                      </a:rPr>
                                      <m:t>𝑏</m:t>
                                    </m:r>
                                  </m:e>
                                </m:acc>
                                <m:r>
                                  <a:rPr lang="en-US" sz="2000" baseline="-25000" dirty="0">
                                    <a:latin typeface="Cambria Math" panose="02040503050406030204" pitchFamily="18" charset="0"/>
                                  </a:rPr>
                                  <m:t>0</m:t>
                                </m:r>
                                <m:r>
                                  <a:rPr lang="en-US" sz="2000" dirty="0">
                                    <a:latin typeface="Cambria Math" panose="02040503050406030204" pitchFamily="18" charset="0"/>
                                  </a:rPr>
                                  <m:t> +</m:t>
                                </m:r>
                                <m:acc>
                                  <m:accPr>
                                    <m:chr m:val="̂"/>
                                    <m:ctrlPr>
                                      <a:rPr lang="en-US" sz="2000" i="1" smtClean="0">
                                        <a:latin typeface="Cambria Math" panose="02040503050406030204" pitchFamily="18" charset="0"/>
                                      </a:rPr>
                                    </m:ctrlPr>
                                  </m:accPr>
                                  <m:e>
                                    <m:r>
                                      <a:rPr lang="en-US" sz="2000" i="1">
                                        <a:latin typeface="Cambria Math"/>
                                      </a:rPr>
                                      <m:t>𝑏</m:t>
                                    </m:r>
                                  </m:e>
                                </m:acc>
                                <m:r>
                                  <a:rPr lang="en-US" sz="2000" b="0" i="0" baseline="-25000" dirty="0" smtClean="0">
                                    <a:latin typeface="Cambria Math"/>
                                  </a:rPr>
                                  <m:t>2</m:t>
                                </m:r>
                              </m:oMath>
                            </m:oMathPara>
                          </a14:m>
                          <a:endParaRPr lang="en-US" sz="2000" dirty="0">
                            <a:latin typeface="Calibri"/>
                            <a:ea typeface="Calibri"/>
                            <a:cs typeface="Times New Roman"/>
                          </a:endParaRPr>
                        </a:p>
                      </a:txBody>
                      <a:tcPr marL="68580" marR="68580" marT="0" marB="0" anchor="ctr"/>
                    </a:tc>
                    <a:tc>
                      <a:txBody>
                        <a:bodyPr/>
                        <a:lstStyle/>
                        <a:p>
                          <a:pPr marL="0" marR="0" indent="0" algn="ctr" defTabSz="914400" rtl="0" eaLnBrk="1" fontAlgn="auto" latinLnBrk="0" hangingPunct="1">
                            <a:lnSpc>
                              <a:spcPct val="115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acc>
                                  <m:accPr>
                                    <m:chr m:val="̂"/>
                                    <m:ctrlPr>
                                      <a:rPr lang="en-US" sz="2000" i="1" smtClean="0">
                                        <a:latin typeface="Cambria Math" panose="02040503050406030204" pitchFamily="18" charset="0"/>
                                      </a:rPr>
                                    </m:ctrlPr>
                                  </m:accPr>
                                  <m:e>
                                    <m:r>
                                      <a:rPr lang="en-US" sz="2000" i="1">
                                        <a:latin typeface="Cambria Math"/>
                                      </a:rPr>
                                      <m:t>𝑏</m:t>
                                    </m:r>
                                  </m:e>
                                </m:acc>
                                <m:r>
                                  <a:rPr lang="en-US" sz="2000" baseline="-25000" dirty="0">
                                    <a:latin typeface="Cambria Math"/>
                                  </a:rPr>
                                  <m:t>0</m:t>
                                </m:r>
                                <m:r>
                                  <a:rPr lang="en-US" sz="2000" dirty="0" smtClean="0">
                                    <a:latin typeface="Cambria Math"/>
                                  </a:rPr>
                                  <m:t>+</m:t>
                                </m:r>
                                <m:acc>
                                  <m:accPr>
                                    <m:chr m:val="̂"/>
                                    <m:ctrlPr>
                                      <a:rPr lang="en-US" sz="2000" i="1" smtClean="0">
                                        <a:latin typeface="Cambria Math" panose="02040503050406030204" pitchFamily="18" charset="0"/>
                                      </a:rPr>
                                    </m:ctrlPr>
                                  </m:accPr>
                                  <m:e>
                                    <m:r>
                                      <a:rPr lang="en-US" sz="2000" i="1">
                                        <a:latin typeface="Cambria Math"/>
                                      </a:rPr>
                                      <m:t>𝑏</m:t>
                                    </m:r>
                                  </m:e>
                                </m:acc>
                                <m:r>
                                  <a:rPr lang="en-US" sz="2000" baseline="-25000" dirty="0">
                                    <a:latin typeface="Cambria Math"/>
                                  </a:rPr>
                                  <m:t>1</m:t>
                                </m:r>
                                <m:r>
                                  <a:rPr lang="en-US" sz="2000" dirty="0" smtClean="0">
                                    <a:latin typeface="Cambria Math"/>
                                  </a:rPr>
                                  <m:t>+</m:t>
                                </m:r>
                                <m:acc>
                                  <m:accPr>
                                    <m:chr m:val="̂"/>
                                    <m:ctrlPr>
                                      <a:rPr lang="en-US" sz="2000" i="1" smtClean="0">
                                        <a:latin typeface="Cambria Math" panose="02040503050406030204" pitchFamily="18" charset="0"/>
                                      </a:rPr>
                                    </m:ctrlPr>
                                  </m:accPr>
                                  <m:e>
                                    <m:r>
                                      <a:rPr lang="en-US" sz="2000" i="1">
                                        <a:latin typeface="Cambria Math"/>
                                      </a:rPr>
                                      <m:t>𝑏</m:t>
                                    </m:r>
                                  </m:e>
                                </m:acc>
                                <m:r>
                                  <a:rPr lang="en-US" sz="2000" b="0" i="0" baseline="-25000" dirty="0" smtClean="0">
                                    <a:latin typeface="Cambria Math"/>
                                  </a:rPr>
                                  <m:t>2</m:t>
                                </m:r>
                                <m:r>
                                  <a:rPr lang="en-US" sz="2000" dirty="0" smtClean="0">
                                    <a:latin typeface="Cambria Math"/>
                                  </a:rPr>
                                  <m:t>+</m:t>
                                </m:r>
                                <m:acc>
                                  <m:accPr>
                                    <m:chr m:val="̂"/>
                                    <m:ctrlPr>
                                      <a:rPr lang="en-US" sz="2000" i="1" smtClean="0">
                                        <a:latin typeface="Cambria Math" panose="02040503050406030204" pitchFamily="18" charset="0"/>
                                      </a:rPr>
                                    </m:ctrlPr>
                                  </m:accPr>
                                  <m:e>
                                    <m:r>
                                      <a:rPr lang="en-US" sz="2000" i="1">
                                        <a:latin typeface="Cambria Math"/>
                                      </a:rPr>
                                      <m:t>𝑏</m:t>
                                    </m:r>
                                  </m:e>
                                </m:acc>
                                <m:r>
                                  <a:rPr lang="en-US" sz="2000" b="0" i="0" baseline="-25000" dirty="0" smtClean="0">
                                    <a:latin typeface="Cambria Math"/>
                                  </a:rPr>
                                  <m:t>3</m:t>
                                </m:r>
                              </m:oMath>
                            </m:oMathPara>
                          </a14:m>
                          <a:endParaRPr lang="en-US" sz="2000" dirty="0">
                            <a:latin typeface="+mn-lt"/>
                            <a:ea typeface="Calibri"/>
                            <a:cs typeface="Times New Roman"/>
                          </a:endParaRPr>
                        </a:p>
                      </a:txBody>
                      <a:tcPr marL="68580" marR="68580" marT="0" marB="0" anchor="ctr">
                        <a:solidFill>
                          <a:schemeClr val="accent2"/>
                        </a:solidFill>
                      </a:tcPr>
                    </a:tc>
                    <a:tc>
                      <a:txBody>
                        <a:bodyPr/>
                        <a:lstStyle/>
                        <a:p>
                          <a:pPr marL="0" marR="0" indent="0" algn="ctr" defTabSz="914400" rtl="0" eaLnBrk="1" fontAlgn="auto" latinLnBrk="0" hangingPunct="1">
                            <a:lnSpc>
                              <a:spcPct val="115000"/>
                            </a:lnSpc>
                            <a:spcBef>
                              <a:spcPts val="0"/>
                            </a:spcBef>
                            <a:spcAft>
                              <a:spcPts val="0"/>
                            </a:spcAft>
                            <a:buClrTx/>
                            <a:buSzTx/>
                            <a:buFontTx/>
                            <a:buNone/>
                            <a:tabLst/>
                            <a:defRPr/>
                          </a:pPr>
                          <a:endParaRPr lang="en-US" sz="2000" dirty="0">
                            <a:latin typeface="+mn-lt"/>
                            <a:ea typeface="Calibri"/>
                            <a:cs typeface="Times New Roman"/>
                          </a:endParaRPr>
                        </a:p>
                      </a:txBody>
                      <a:tcPr marL="68580" marR="68580" marT="0" marB="0" anchor="ctr"/>
                    </a:tc>
                    <a:extLst>
                      <a:ext uri="{0D108BD9-81ED-4DB2-BD59-A6C34878D82A}">
                        <a16:rowId xmlns:a16="http://schemas.microsoft.com/office/drawing/2014/main" val="10001"/>
                      </a:ext>
                    </a:extLst>
                  </a:tr>
                  <a:tr h="370840">
                    <a:tc>
                      <a:txBody>
                        <a:bodyPr/>
                        <a:lstStyle/>
                        <a:p>
                          <a:r>
                            <a:rPr lang="en-US" sz="2000" dirty="0"/>
                            <a:t>Control Group</a:t>
                          </a:r>
                        </a:p>
                      </a:txBody>
                      <a:tcPr/>
                    </a:tc>
                    <a:tc>
                      <a:txBody>
                        <a:bodyPr/>
                        <a:lstStyle/>
                        <a:p>
                          <a:pPr marL="0" marR="0" algn="ctr">
                            <a:lnSpc>
                              <a:spcPct val="115000"/>
                            </a:lnSpc>
                            <a:spcBef>
                              <a:spcPts val="0"/>
                            </a:spcBef>
                            <a:spcAft>
                              <a:spcPts val="0"/>
                            </a:spcAft>
                          </a:pPr>
                          <a:endParaRPr lang="en-US" sz="2000" dirty="0">
                            <a:latin typeface="Calibri"/>
                            <a:ea typeface="Calibri"/>
                            <a:cs typeface="Times New Roman"/>
                          </a:endParaRPr>
                        </a:p>
                      </a:txBody>
                      <a:tcPr marL="68580" marR="68580" marT="0" marB="0" anchor="ctr"/>
                    </a:tc>
                    <a:tc>
                      <a:txBody>
                        <a:bodyPr/>
                        <a:lstStyle/>
                        <a:p>
                          <a:pPr marL="0" marR="0" algn="ctr">
                            <a:lnSpc>
                              <a:spcPct val="115000"/>
                            </a:lnSpc>
                            <a:spcBef>
                              <a:spcPts val="0"/>
                            </a:spcBef>
                            <a:spcAft>
                              <a:spcPts val="0"/>
                            </a:spcAft>
                          </a:pPr>
                          <a:endParaRPr lang="en-US" sz="2000" dirty="0">
                            <a:latin typeface="Calibri"/>
                            <a:ea typeface="Calibri"/>
                            <a:cs typeface="Times New Roman"/>
                          </a:endParaRPr>
                        </a:p>
                      </a:txBody>
                      <a:tcPr marL="68580" marR="68580" marT="0" marB="0" anchor="ctr"/>
                    </a:tc>
                    <a:tc>
                      <a:txBody>
                        <a:bodyPr/>
                        <a:lstStyle/>
                        <a:p>
                          <a:pPr marL="0" marR="0" algn="ctr">
                            <a:lnSpc>
                              <a:spcPct val="115000"/>
                            </a:lnSpc>
                            <a:spcBef>
                              <a:spcPts val="0"/>
                            </a:spcBef>
                            <a:spcAft>
                              <a:spcPts val="0"/>
                            </a:spcAft>
                          </a:pPr>
                          <a:endParaRPr lang="en-US" sz="2000" dirty="0">
                            <a:latin typeface="Calibri"/>
                            <a:ea typeface="Calibri"/>
                            <a:cs typeface="Times New Roman"/>
                          </a:endParaRPr>
                        </a:p>
                      </a:txBody>
                      <a:tcPr marL="68580" marR="68580" marT="0" marB="0" anchor="ctr"/>
                    </a:tc>
                    <a:extLst>
                      <a:ext uri="{0D108BD9-81ED-4DB2-BD59-A6C34878D82A}">
                        <a16:rowId xmlns:a16="http://schemas.microsoft.com/office/drawing/2014/main" val="10002"/>
                      </a:ext>
                    </a:extLst>
                  </a:tr>
                  <a:tr h="370840">
                    <a:tc>
                      <a:txBody>
                        <a:bodyPr/>
                        <a:lstStyle/>
                        <a:p>
                          <a:endParaRPr lang="en-US" sz="2000" dirty="0"/>
                        </a:p>
                      </a:txBody>
                      <a:tcPr/>
                    </a:tc>
                    <a:tc gridSpan="2">
                      <a:txBody>
                        <a:bodyPr/>
                        <a:lstStyle/>
                        <a:p>
                          <a:r>
                            <a:rPr lang="en-US" sz="2000" dirty="0"/>
                            <a:t>Difference-in-Differences</a:t>
                          </a:r>
                        </a:p>
                      </a:txBody>
                      <a:tcPr/>
                    </a:tc>
                    <a:tc hMerge="1">
                      <a:txBody>
                        <a:bodyPr/>
                        <a:lstStyle/>
                        <a:p>
                          <a:endParaRPr lang="en-US" sz="200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2000" dirty="0">
                            <a:latin typeface="+mn-lt"/>
                            <a:ea typeface="Calibri"/>
                            <a:cs typeface="Times New Roman"/>
                          </a:endParaRPr>
                        </a:p>
                      </a:txBody>
                      <a:tcPr/>
                    </a:tc>
                    <a:extLst>
                      <a:ext uri="{0D108BD9-81ED-4DB2-BD59-A6C34878D82A}">
                        <a16:rowId xmlns:a16="http://schemas.microsoft.com/office/drawing/2014/main" val="10003"/>
                      </a:ext>
                    </a:extLst>
                  </a:tr>
                </a:tbl>
              </a:graphicData>
            </a:graphic>
          </p:graphicFrame>
        </mc:Choice>
        <mc:Fallback xmlns="">
          <p:graphicFrame>
            <p:nvGraphicFramePr>
              <p:cNvPr id="4" name="Table 3"/>
              <p:cNvGraphicFramePr>
                <a:graphicFrameLocks noGrp="1"/>
              </p:cNvGraphicFramePr>
              <p:nvPr>
                <p:extLst>
                  <p:ext uri="{D42A27DB-BD31-4B8C-83A1-F6EECF244321}">
                    <p14:modId xmlns:p14="http://schemas.microsoft.com/office/powerpoint/2010/main" val="3245417147"/>
                  </p:ext>
                </p:extLst>
              </p:nvPr>
            </p:nvGraphicFramePr>
            <p:xfrm>
              <a:off x="685800" y="2362200"/>
              <a:ext cx="7696200" cy="1584960"/>
            </p:xfrm>
            <a:graphic>
              <a:graphicData uri="http://schemas.openxmlformats.org/drawingml/2006/table">
                <a:tbl>
                  <a:tblPr firstRow="1" bandRow="1">
                    <a:tableStyleId>{5940675A-B579-460E-94D1-54222C63F5DA}</a:tableStyleId>
                  </a:tblPr>
                  <a:tblGrid>
                    <a:gridCol w="2057400">
                      <a:extLst>
                        <a:ext uri="{9D8B030D-6E8A-4147-A177-3AD203B41FA5}">
                          <a16:colId xmlns:a16="http://schemas.microsoft.com/office/drawing/2014/main" val="20000"/>
                        </a:ext>
                      </a:extLst>
                    </a:gridCol>
                    <a:gridCol w="1790700">
                      <a:extLst>
                        <a:ext uri="{9D8B030D-6E8A-4147-A177-3AD203B41FA5}">
                          <a16:colId xmlns:a16="http://schemas.microsoft.com/office/drawing/2014/main" val="20001"/>
                        </a:ext>
                      </a:extLst>
                    </a:gridCol>
                    <a:gridCol w="2095500">
                      <a:extLst>
                        <a:ext uri="{9D8B030D-6E8A-4147-A177-3AD203B41FA5}">
                          <a16:colId xmlns:a16="http://schemas.microsoft.com/office/drawing/2014/main" val="20002"/>
                        </a:ext>
                      </a:extLst>
                    </a:gridCol>
                    <a:gridCol w="1752600">
                      <a:extLst>
                        <a:ext uri="{9D8B030D-6E8A-4147-A177-3AD203B41FA5}">
                          <a16:colId xmlns:a16="http://schemas.microsoft.com/office/drawing/2014/main" val="20003"/>
                        </a:ext>
                      </a:extLst>
                    </a:gridCol>
                  </a:tblGrid>
                  <a:tr h="396240">
                    <a:tc>
                      <a:txBody>
                        <a:bodyPr/>
                        <a:lstStyle/>
                        <a:p>
                          <a:endParaRPr lang="en-US" sz="2000" dirty="0"/>
                        </a:p>
                      </a:txBody>
                      <a:tcPr/>
                    </a:tc>
                    <a:tc>
                      <a:txBody>
                        <a:bodyPr/>
                        <a:lstStyle/>
                        <a:p>
                          <a:pPr algn="ctr"/>
                          <a:r>
                            <a:rPr lang="en-US" sz="2000" dirty="0" smtClean="0"/>
                            <a:t>“Pre”</a:t>
                          </a:r>
                          <a:r>
                            <a:rPr lang="en-US" sz="2000" baseline="0" dirty="0" smtClean="0"/>
                            <a:t> Period</a:t>
                          </a:r>
                          <a:endParaRPr lang="en-US" sz="2000" dirty="0"/>
                        </a:p>
                      </a:txBody>
                      <a:tcPr/>
                    </a:tc>
                    <a:tc>
                      <a:txBody>
                        <a:bodyPr/>
                        <a:lstStyle/>
                        <a:p>
                          <a:pPr algn="ctr"/>
                          <a:r>
                            <a:rPr lang="en-US" sz="2000" dirty="0" smtClean="0"/>
                            <a:t>“Post” period</a:t>
                          </a:r>
                          <a:endParaRPr lang="en-US" sz="2000" dirty="0"/>
                        </a:p>
                      </a:txBody>
                      <a:tcPr/>
                    </a:tc>
                    <a:tc>
                      <a:txBody>
                        <a:bodyPr/>
                        <a:lstStyle/>
                        <a:p>
                          <a:pPr algn="ctr"/>
                          <a:r>
                            <a:rPr lang="en-US" sz="2000" dirty="0" smtClean="0"/>
                            <a:t>Difference</a:t>
                          </a:r>
                          <a:endParaRPr lang="en-US" sz="2000" dirty="0"/>
                        </a:p>
                      </a:txBody>
                      <a:tcPr/>
                    </a:tc>
                    <a:extLst>
                      <a:ext uri="{0D108BD9-81ED-4DB2-BD59-A6C34878D82A}">
                        <a16:rowId xmlns:a16="http://schemas.microsoft.com/office/drawing/2014/main" val="10000"/>
                      </a:ext>
                    </a:extLst>
                  </a:tr>
                  <a:tr h="396240">
                    <a:tc>
                      <a:txBody>
                        <a:bodyPr/>
                        <a:lstStyle/>
                        <a:p>
                          <a:r>
                            <a:rPr lang="en-US" sz="2000" dirty="0" smtClean="0"/>
                            <a:t>Treatment Group</a:t>
                          </a:r>
                          <a:endParaRPr lang="en-US" sz="2000" dirty="0"/>
                        </a:p>
                      </a:txBody>
                      <a:tcPr/>
                    </a:tc>
                    <a:tc>
                      <a:txBody>
                        <a:bodyPr/>
                        <a:lstStyle/>
                        <a:p>
                          <a:endParaRPr lang="en-US"/>
                        </a:p>
                      </a:txBody>
                      <a:tcPr marL="68580" marR="68580" marT="0" marB="0" anchor="ctr">
                        <a:blipFill>
                          <a:blip r:embed="rId2"/>
                          <a:stretch>
                            <a:fillRect l="-115306" t="-106061" r="-215646" b="-222727"/>
                          </a:stretch>
                        </a:blipFill>
                      </a:tcPr>
                    </a:tc>
                    <a:tc>
                      <a:txBody>
                        <a:bodyPr/>
                        <a:lstStyle/>
                        <a:p>
                          <a:endParaRPr lang="en-US"/>
                        </a:p>
                      </a:txBody>
                      <a:tcPr marL="68580" marR="68580" marT="0" marB="0" anchor="ctr">
                        <a:blipFill>
                          <a:blip r:embed="rId2"/>
                          <a:stretch>
                            <a:fillRect l="-184548" t="-106061" r="-84840" b="-222727"/>
                          </a:stretch>
                        </a:blipFill>
                      </a:tcPr>
                    </a:tc>
                    <a:tc>
                      <a:txBody>
                        <a:bodyPr/>
                        <a:lstStyle/>
                        <a:p>
                          <a:pPr marL="0" marR="0" indent="0" algn="ctr" defTabSz="914400" rtl="0" eaLnBrk="1" fontAlgn="auto" latinLnBrk="0" hangingPunct="1">
                            <a:lnSpc>
                              <a:spcPct val="115000"/>
                            </a:lnSpc>
                            <a:spcBef>
                              <a:spcPts val="0"/>
                            </a:spcBef>
                            <a:spcAft>
                              <a:spcPts val="0"/>
                            </a:spcAft>
                            <a:buClrTx/>
                            <a:buSzTx/>
                            <a:buFontTx/>
                            <a:buNone/>
                            <a:tabLst/>
                            <a:defRPr/>
                          </a:pPr>
                          <a:endParaRPr lang="en-US" sz="2000" dirty="0">
                            <a:latin typeface="+mn-lt"/>
                            <a:ea typeface="Calibri"/>
                            <a:cs typeface="Times New Roman"/>
                          </a:endParaRPr>
                        </a:p>
                      </a:txBody>
                      <a:tcPr marL="68580" marR="68580" marT="0" marB="0" anchor="ctr"/>
                    </a:tc>
                    <a:extLst>
                      <a:ext uri="{0D108BD9-81ED-4DB2-BD59-A6C34878D82A}">
                        <a16:rowId xmlns:a16="http://schemas.microsoft.com/office/drawing/2014/main" val="10001"/>
                      </a:ext>
                    </a:extLst>
                  </a:tr>
                  <a:tr h="396240">
                    <a:tc>
                      <a:txBody>
                        <a:bodyPr/>
                        <a:lstStyle/>
                        <a:p>
                          <a:r>
                            <a:rPr lang="en-US" sz="2000" dirty="0" smtClean="0"/>
                            <a:t>Control Group</a:t>
                          </a:r>
                          <a:endParaRPr lang="en-US" sz="2000" dirty="0"/>
                        </a:p>
                      </a:txBody>
                      <a:tcPr/>
                    </a:tc>
                    <a:tc>
                      <a:txBody>
                        <a:bodyPr/>
                        <a:lstStyle/>
                        <a:p>
                          <a:pPr marL="0" marR="0" algn="ctr">
                            <a:lnSpc>
                              <a:spcPct val="115000"/>
                            </a:lnSpc>
                            <a:spcBef>
                              <a:spcPts val="0"/>
                            </a:spcBef>
                            <a:spcAft>
                              <a:spcPts val="0"/>
                            </a:spcAft>
                          </a:pPr>
                          <a:endParaRPr lang="en-US" sz="2000" dirty="0">
                            <a:latin typeface="Calibri"/>
                            <a:ea typeface="Calibri"/>
                            <a:cs typeface="Times New Roman"/>
                          </a:endParaRPr>
                        </a:p>
                      </a:txBody>
                      <a:tcPr marL="68580" marR="68580" marT="0" marB="0" anchor="ctr"/>
                    </a:tc>
                    <a:tc>
                      <a:txBody>
                        <a:bodyPr/>
                        <a:lstStyle/>
                        <a:p>
                          <a:pPr marL="0" marR="0" algn="ctr">
                            <a:lnSpc>
                              <a:spcPct val="115000"/>
                            </a:lnSpc>
                            <a:spcBef>
                              <a:spcPts val="0"/>
                            </a:spcBef>
                            <a:spcAft>
                              <a:spcPts val="0"/>
                            </a:spcAft>
                          </a:pPr>
                          <a:endParaRPr lang="en-US" sz="2000" dirty="0">
                            <a:latin typeface="Calibri"/>
                            <a:ea typeface="Calibri"/>
                            <a:cs typeface="Times New Roman"/>
                          </a:endParaRPr>
                        </a:p>
                      </a:txBody>
                      <a:tcPr marL="68580" marR="68580" marT="0" marB="0" anchor="ctr"/>
                    </a:tc>
                    <a:tc>
                      <a:txBody>
                        <a:bodyPr/>
                        <a:lstStyle/>
                        <a:p>
                          <a:pPr marL="0" marR="0" algn="ctr">
                            <a:lnSpc>
                              <a:spcPct val="115000"/>
                            </a:lnSpc>
                            <a:spcBef>
                              <a:spcPts val="0"/>
                            </a:spcBef>
                            <a:spcAft>
                              <a:spcPts val="0"/>
                            </a:spcAft>
                          </a:pPr>
                          <a:endParaRPr lang="en-US" sz="2000" dirty="0">
                            <a:latin typeface="Calibri"/>
                            <a:ea typeface="Calibri"/>
                            <a:cs typeface="Times New Roman"/>
                          </a:endParaRPr>
                        </a:p>
                      </a:txBody>
                      <a:tcPr marL="68580" marR="68580" marT="0" marB="0" anchor="ctr"/>
                    </a:tc>
                    <a:extLst>
                      <a:ext uri="{0D108BD9-81ED-4DB2-BD59-A6C34878D82A}">
                        <a16:rowId xmlns:a16="http://schemas.microsoft.com/office/drawing/2014/main" val="10002"/>
                      </a:ext>
                    </a:extLst>
                  </a:tr>
                  <a:tr h="396240">
                    <a:tc>
                      <a:txBody>
                        <a:bodyPr/>
                        <a:lstStyle/>
                        <a:p>
                          <a:endParaRPr lang="en-US" sz="2000" dirty="0"/>
                        </a:p>
                      </a:txBody>
                      <a:tcPr/>
                    </a:tc>
                    <a:tc gridSpan="2">
                      <a:txBody>
                        <a:bodyPr/>
                        <a:lstStyle/>
                        <a:p>
                          <a:r>
                            <a:rPr lang="en-US" sz="2000" dirty="0" smtClean="0"/>
                            <a:t>Difference-in-Differences</a:t>
                          </a:r>
                          <a:endParaRPr lang="en-US" sz="2000" dirty="0"/>
                        </a:p>
                      </a:txBody>
                      <a:tcPr/>
                    </a:tc>
                    <a:tc hMerge="1">
                      <a:txBody>
                        <a:bodyPr/>
                        <a:lstStyle/>
                        <a:p>
                          <a:endParaRPr lang="en-US" sz="200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2000" dirty="0" smtClean="0">
                            <a:latin typeface="+mn-lt"/>
                            <a:ea typeface="Calibri"/>
                            <a:cs typeface="Times New Roman"/>
                          </a:endParaRPr>
                        </a:p>
                      </a:txBody>
                      <a:tcPr/>
                    </a:tc>
                    <a:extLst>
                      <a:ext uri="{0D108BD9-81ED-4DB2-BD59-A6C34878D82A}">
                        <a16:rowId xmlns:a16="http://schemas.microsoft.com/office/drawing/2014/main" val="10003"/>
                      </a:ext>
                    </a:extLst>
                  </a:tr>
                </a:tbl>
              </a:graphicData>
            </a:graphic>
          </p:graphicFrame>
        </mc:Fallback>
      </mc:AlternateContent>
      <mc:AlternateContent xmlns:mc="http://schemas.openxmlformats.org/markup-compatibility/2006" xmlns:a14="http://schemas.microsoft.com/office/drawing/2010/main">
        <mc:Choice Requires="a14">
          <p:sp>
            <p:nvSpPr>
              <p:cNvPr id="5" name="TextBox 4"/>
              <p:cNvSpPr txBox="1"/>
              <p:nvPr/>
            </p:nvSpPr>
            <p:spPr>
              <a:xfrm>
                <a:off x="6858000" y="2743200"/>
                <a:ext cx="1143000" cy="416589"/>
              </a:xfrm>
              <a:prstGeom prst="rect">
                <a:avLst/>
              </a:prstGeom>
              <a:noFill/>
            </p:spPr>
            <p:txBody>
              <a:bodyPr wrap="square" rtlCol="0">
                <a:spAutoFit/>
              </a:bodyPr>
              <a:lstStyle/>
              <a:p>
                <a:pPr>
                  <a:buNone/>
                </a:pPr>
                <a14:m>
                  <m:oMathPara xmlns:m="http://schemas.openxmlformats.org/officeDocument/2006/math">
                    <m:oMathParaPr>
                      <m:jc m:val="centerGroup"/>
                    </m:oMathParaPr>
                    <m:oMath xmlns:m="http://schemas.openxmlformats.org/officeDocument/2006/math">
                      <m:acc>
                        <m:accPr>
                          <m:chr m:val="̂"/>
                          <m:ctrlPr>
                            <a:rPr lang="en-US" sz="2000" i="1">
                              <a:latin typeface="Cambria Math" panose="02040503050406030204" pitchFamily="18" charset="0"/>
                            </a:rPr>
                          </m:ctrlPr>
                        </m:accPr>
                        <m:e>
                          <m:r>
                            <a:rPr lang="en-US" sz="2000" i="1">
                              <a:latin typeface="Cambria Math"/>
                            </a:rPr>
                            <m:t>𝑏</m:t>
                          </m:r>
                        </m:e>
                      </m:acc>
                      <m:r>
                        <a:rPr lang="en-US" sz="2000" b="0" i="1" baseline="-25000" dirty="0" smtClean="0">
                          <a:latin typeface="Cambria Math"/>
                        </a:rPr>
                        <m:t>1</m:t>
                      </m:r>
                      <m:r>
                        <a:rPr lang="en-US" sz="2000" i="1" dirty="0">
                          <a:latin typeface="Cambria Math"/>
                        </a:rPr>
                        <m:t>+</m:t>
                      </m:r>
                      <m:acc>
                        <m:accPr>
                          <m:chr m:val="̂"/>
                          <m:ctrlPr>
                            <a:rPr lang="en-US" sz="2000" i="1">
                              <a:latin typeface="Cambria Math" panose="02040503050406030204" pitchFamily="18" charset="0"/>
                            </a:rPr>
                          </m:ctrlPr>
                        </m:accPr>
                        <m:e>
                          <m:r>
                            <a:rPr lang="en-US" sz="2000" i="1">
                              <a:latin typeface="Cambria Math"/>
                            </a:rPr>
                            <m:t>𝑏</m:t>
                          </m:r>
                        </m:e>
                      </m:acc>
                      <m:r>
                        <a:rPr lang="en-US" sz="2000" i="1" baseline="-25000" dirty="0">
                          <a:latin typeface="Cambria Math"/>
                        </a:rPr>
                        <m:t>3</m:t>
                      </m:r>
                    </m:oMath>
                  </m:oMathPara>
                </a14:m>
                <a:endParaRPr lang="en-US" sz="2000" baseline="-25000" dirty="0"/>
              </a:p>
            </p:txBody>
          </p:sp>
        </mc:Choice>
        <mc:Fallback xmlns="">
          <p:sp>
            <p:nvSpPr>
              <p:cNvPr id="5" name="TextBox 4"/>
              <p:cNvSpPr txBox="1">
                <a:spLocks noRot="1" noChangeAspect="1" noMove="1" noResize="1" noEditPoints="1" noAdjustHandles="1" noChangeArrowheads="1" noChangeShapeType="1" noTextEdit="1"/>
              </p:cNvSpPr>
              <p:nvPr/>
            </p:nvSpPr>
            <p:spPr>
              <a:xfrm>
                <a:off x="6858000" y="2743200"/>
                <a:ext cx="1143000" cy="416589"/>
              </a:xfrm>
              <a:prstGeom prst="rect">
                <a:avLst/>
              </a:prstGeom>
              <a:blipFill>
                <a:blip r:embed="rId3"/>
                <a:stretch>
                  <a:fillRect t="-7353" r="-9574" b="-1471"/>
                </a:stretch>
              </a:blipFill>
            </p:spPr>
            <p:txBody>
              <a:bodyPr/>
              <a:lstStyle/>
              <a:p>
                <a:r>
                  <a:rPr lang="en-US">
                    <a:noFill/>
                  </a:rPr>
                  <a:t> </a:t>
                </a:r>
              </a:p>
            </p:txBody>
          </p:sp>
        </mc:Fallback>
      </mc:AlternateContent>
    </p:spTree>
    <p:extLst>
      <p:ext uri="{BB962C8B-B14F-4D97-AF65-F5344CB8AC3E}">
        <p14:creationId xmlns:p14="http://schemas.microsoft.com/office/powerpoint/2010/main" val="39101957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Quadrant #3: Control &amp; “Pre”</a:t>
            </a:r>
          </a:p>
        </p:txBody>
      </p:sp>
      <mc:AlternateContent xmlns:mc="http://schemas.openxmlformats.org/markup-compatibility/2006" xmlns:a14="http://schemas.microsoft.com/office/drawing/2010/main">
        <mc:Choice Requires="a14">
          <p:graphicFrame>
            <p:nvGraphicFramePr>
              <p:cNvPr id="4" name="Content Placeholder 3"/>
              <p:cNvGraphicFramePr>
                <a:graphicFrameLocks noGrp="1"/>
              </p:cNvGraphicFramePr>
              <p:nvPr>
                <p:ph idx="1"/>
                <p:extLst>
                  <p:ext uri="{D42A27DB-BD31-4B8C-83A1-F6EECF244321}">
                    <p14:modId xmlns:p14="http://schemas.microsoft.com/office/powerpoint/2010/main" val="3943388904"/>
                  </p:ext>
                </p:extLst>
              </p:nvPr>
            </p:nvGraphicFramePr>
            <p:xfrm>
              <a:off x="457200" y="1600200"/>
              <a:ext cx="8229600" cy="1869186"/>
            </p:xfrm>
            <a:graphic>
              <a:graphicData uri="http://schemas.openxmlformats.org/drawingml/2006/table">
                <a:tbl>
                  <a:tblPr firstRow="1" bandRow="1">
                    <a:tableStyleId>{5940675A-B579-460E-94D1-54222C63F5DA}</a:tableStyleId>
                  </a:tblPr>
                  <a:tblGrid>
                    <a:gridCol w="2057400">
                      <a:extLst>
                        <a:ext uri="{9D8B030D-6E8A-4147-A177-3AD203B41FA5}">
                          <a16:colId xmlns:a16="http://schemas.microsoft.com/office/drawing/2014/main" val="20000"/>
                        </a:ext>
                      </a:extLst>
                    </a:gridCol>
                    <a:gridCol w="2057400">
                      <a:extLst>
                        <a:ext uri="{9D8B030D-6E8A-4147-A177-3AD203B41FA5}">
                          <a16:colId xmlns:a16="http://schemas.microsoft.com/office/drawing/2014/main" val="20001"/>
                        </a:ext>
                      </a:extLst>
                    </a:gridCol>
                    <a:gridCol w="2057400">
                      <a:extLst>
                        <a:ext uri="{9D8B030D-6E8A-4147-A177-3AD203B41FA5}">
                          <a16:colId xmlns:a16="http://schemas.microsoft.com/office/drawing/2014/main" val="20002"/>
                        </a:ext>
                      </a:extLst>
                    </a:gridCol>
                    <a:gridCol w="2057400">
                      <a:extLst>
                        <a:ext uri="{9D8B030D-6E8A-4147-A177-3AD203B41FA5}">
                          <a16:colId xmlns:a16="http://schemas.microsoft.com/office/drawing/2014/main" val="20003"/>
                        </a:ext>
                      </a:extLst>
                    </a:gridCol>
                  </a:tblGrid>
                  <a:tr h="370840">
                    <a:tc>
                      <a:txBody>
                        <a:bodyPr/>
                        <a:lstStyle/>
                        <a:p>
                          <a:endParaRPr lang="en-US" sz="2000" dirty="0"/>
                        </a:p>
                      </a:txBody>
                      <a:tcPr/>
                    </a:tc>
                    <a:tc>
                      <a:txBody>
                        <a:bodyPr/>
                        <a:lstStyle/>
                        <a:p>
                          <a:pPr algn="ctr"/>
                          <a:r>
                            <a:rPr lang="en-US" sz="2000" dirty="0"/>
                            <a:t>“Pre”</a:t>
                          </a:r>
                          <a:r>
                            <a:rPr lang="en-US" sz="2000" baseline="0" dirty="0"/>
                            <a:t> Period</a:t>
                          </a:r>
                          <a:endParaRPr lang="en-US" sz="2000" dirty="0"/>
                        </a:p>
                      </a:txBody>
                      <a:tcPr/>
                    </a:tc>
                    <a:tc>
                      <a:txBody>
                        <a:bodyPr/>
                        <a:lstStyle/>
                        <a:p>
                          <a:pPr algn="ctr"/>
                          <a:r>
                            <a:rPr lang="en-US" sz="2000" dirty="0"/>
                            <a:t>“Post” period</a:t>
                          </a:r>
                        </a:p>
                      </a:txBody>
                      <a:tcPr/>
                    </a:tc>
                    <a:tc>
                      <a:txBody>
                        <a:bodyPr/>
                        <a:lstStyle/>
                        <a:p>
                          <a:pPr algn="ctr"/>
                          <a:r>
                            <a:rPr lang="en-US" sz="2000" dirty="0"/>
                            <a:t>Difference</a:t>
                          </a:r>
                        </a:p>
                      </a:txBody>
                      <a:tcPr/>
                    </a:tc>
                    <a:extLst>
                      <a:ext uri="{0D108BD9-81ED-4DB2-BD59-A6C34878D82A}">
                        <a16:rowId xmlns:a16="http://schemas.microsoft.com/office/drawing/2014/main" val="10000"/>
                      </a:ext>
                    </a:extLst>
                  </a:tr>
                  <a:tr h="370840">
                    <a:tc>
                      <a:txBody>
                        <a:bodyPr/>
                        <a:lstStyle/>
                        <a:p>
                          <a:r>
                            <a:rPr lang="en-US" sz="2000" dirty="0"/>
                            <a:t>Treatment Group</a:t>
                          </a:r>
                        </a:p>
                      </a:txBody>
                      <a:tcPr/>
                    </a:tc>
                    <a:tc>
                      <a:txBody>
                        <a:body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acc>
                                  <m:accPr>
                                    <m:chr m:val="̂"/>
                                    <m:ctrlPr>
                                      <a:rPr lang="en-US" sz="2000" i="1" smtClean="0">
                                        <a:latin typeface="Cambria Math" panose="02040503050406030204" pitchFamily="18" charset="0"/>
                                      </a:rPr>
                                    </m:ctrlPr>
                                  </m:accPr>
                                  <m:e>
                                    <m:r>
                                      <a:rPr lang="en-US" sz="2000" i="1">
                                        <a:latin typeface="Cambria Math"/>
                                      </a:rPr>
                                      <m:t>𝑏</m:t>
                                    </m:r>
                                  </m:e>
                                </m:acc>
                                <m:r>
                                  <a:rPr lang="en-US" sz="2000" baseline="-25000" dirty="0">
                                    <a:latin typeface="Cambria Math"/>
                                  </a:rPr>
                                  <m:t>0</m:t>
                                </m:r>
                                <m:r>
                                  <a:rPr lang="en-US" sz="2000" dirty="0">
                                    <a:latin typeface="Cambria Math"/>
                                  </a:rPr>
                                  <m:t> +</m:t>
                                </m:r>
                                <m:acc>
                                  <m:accPr>
                                    <m:chr m:val="̂"/>
                                    <m:ctrlPr>
                                      <a:rPr lang="en-US" sz="2000" i="1" smtClean="0">
                                        <a:latin typeface="Cambria Math" panose="02040503050406030204" pitchFamily="18" charset="0"/>
                                      </a:rPr>
                                    </m:ctrlPr>
                                  </m:accPr>
                                  <m:e>
                                    <m:r>
                                      <a:rPr lang="en-US" sz="2000" i="1">
                                        <a:latin typeface="Cambria Math"/>
                                      </a:rPr>
                                      <m:t>𝑏</m:t>
                                    </m:r>
                                  </m:e>
                                </m:acc>
                                <m:r>
                                  <a:rPr lang="en-US" sz="2000" b="0" i="0" baseline="-25000" dirty="0" smtClean="0">
                                    <a:latin typeface="Cambria Math"/>
                                  </a:rPr>
                                  <m:t>2</m:t>
                                </m:r>
                              </m:oMath>
                            </m:oMathPara>
                          </a14:m>
                          <a:endParaRPr lang="en-US" sz="2000" dirty="0">
                            <a:latin typeface="Calibri"/>
                            <a:ea typeface="Calibri"/>
                            <a:cs typeface="Times New Roman"/>
                          </a:endParaRPr>
                        </a:p>
                      </a:txBody>
                      <a:tcPr marL="68580" marR="68580" marT="0" marB="0" anchor="ctr"/>
                    </a:tc>
                    <a:tc>
                      <a:txBody>
                        <a:bodyPr/>
                        <a:lstStyle/>
                        <a:p>
                          <a:pPr marL="0" marR="0" indent="0" algn="ctr" defTabSz="914400" rtl="0" eaLnBrk="1" fontAlgn="auto" latinLnBrk="0" hangingPunct="1">
                            <a:lnSpc>
                              <a:spcPct val="115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acc>
                                  <m:accPr>
                                    <m:chr m:val="̂"/>
                                    <m:ctrlPr>
                                      <a:rPr lang="en-US" sz="2000" i="1" smtClean="0">
                                        <a:latin typeface="Cambria Math" panose="02040503050406030204" pitchFamily="18" charset="0"/>
                                      </a:rPr>
                                    </m:ctrlPr>
                                  </m:accPr>
                                  <m:e>
                                    <m:r>
                                      <a:rPr lang="en-US" sz="2000" i="1">
                                        <a:latin typeface="Cambria Math"/>
                                      </a:rPr>
                                      <m:t>𝑏</m:t>
                                    </m:r>
                                  </m:e>
                                </m:acc>
                                <m:r>
                                  <a:rPr lang="en-US" sz="2000" baseline="-25000" dirty="0">
                                    <a:latin typeface="Cambria Math"/>
                                  </a:rPr>
                                  <m:t>0</m:t>
                                </m:r>
                                <m:r>
                                  <a:rPr lang="en-US" sz="2000" dirty="0" smtClean="0">
                                    <a:latin typeface="Cambria Math"/>
                                  </a:rPr>
                                  <m:t>+</m:t>
                                </m:r>
                                <m:acc>
                                  <m:accPr>
                                    <m:chr m:val="̂"/>
                                    <m:ctrlPr>
                                      <a:rPr lang="en-US" sz="2000" i="1" smtClean="0">
                                        <a:latin typeface="Cambria Math" panose="02040503050406030204" pitchFamily="18" charset="0"/>
                                      </a:rPr>
                                    </m:ctrlPr>
                                  </m:accPr>
                                  <m:e>
                                    <m:r>
                                      <a:rPr lang="en-US" sz="2000" i="1">
                                        <a:latin typeface="Cambria Math"/>
                                      </a:rPr>
                                      <m:t>𝑏</m:t>
                                    </m:r>
                                  </m:e>
                                </m:acc>
                                <m:r>
                                  <a:rPr lang="en-US" sz="2000" baseline="-25000" dirty="0">
                                    <a:latin typeface="Cambria Math"/>
                                  </a:rPr>
                                  <m:t>1</m:t>
                                </m:r>
                                <m:r>
                                  <a:rPr lang="en-US" sz="2000" dirty="0" smtClean="0">
                                    <a:latin typeface="Cambria Math"/>
                                  </a:rPr>
                                  <m:t>+</m:t>
                                </m:r>
                                <m:acc>
                                  <m:accPr>
                                    <m:chr m:val="̂"/>
                                    <m:ctrlPr>
                                      <a:rPr lang="en-US" sz="2000" i="1" smtClean="0">
                                        <a:latin typeface="Cambria Math" panose="02040503050406030204" pitchFamily="18" charset="0"/>
                                      </a:rPr>
                                    </m:ctrlPr>
                                  </m:accPr>
                                  <m:e>
                                    <m:r>
                                      <a:rPr lang="en-US" sz="2000" i="1">
                                        <a:latin typeface="Cambria Math"/>
                                      </a:rPr>
                                      <m:t>𝑏</m:t>
                                    </m:r>
                                  </m:e>
                                </m:acc>
                                <m:r>
                                  <a:rPr lang="en-US" sz="2000" b="0" i="0" baseline="-25000" dirty="0" smtClean="0">
                                    <a:latin typeface="Cambria Math"/>
                                  </a:rPr>
                                  <m:t>2</m:t>
                                </m:r>
                                <m:r>
                                  <a:rPr lang="en-US" sz="2000" dirty="0" smtClean="0">
                                    <a:latin typeface="Cambria Math"/>
                                  </a:rPr>
                                  <m:t>+</m:t>
                                </m:r>
                                <m:acc>
                                  <m:accPr>
                                    <m:chr m:val="̂"/>
                                    <m:ctrlPr>
                                      <a:rPr lang="en-US" sz="2000" i="1" smtClean="0">
                                        <a:latin typeface="Cambria Math" panose="02040503050406030204" pitchFamily="18" charset="0"/>
                                      </a:rPr>
                                    </m:ctrlPr>
                                  </m:accPr>
                                  <m:e>
                                    <m:r>
                                      <a:rPr lang="en-US" sz="2000" i="1">
                                        <a:latin typeface="Cambria Math"/>
                                      </a:rPr>
                                      <m:t>𝑏</m:t>
                                    </m:r>
                                  </m:e>
                                </m:acc>
                                <m:r>
                                  <a:rPr lang="en-US" sz="2000" b="0" i="0" baseline="-25000" dirty="0" smtClean="0">
                                    <a:latin typeface="Cambria Math"/>
                                  </a:rPr>
                                  <m:t>3</m:t>
                                </m:r>
                              </m:oMath>
                            </m:oMathPara>
                          </a14:m>
                          <a:endParaRPr lang="en-US" sz="2000" dirty="0">
                            <a:latin typeface="+mn-lt"/>
                            <a:ea typeface="Calibri"/>
                            <a:cs typeface="Times New Roman"/>
                          </a:endParaRPr>
                        </a:p>
                      </a:txBody>
                      <a:tcPr marL="68580" marR="68580" marT="0" marB="0" anchor="ctr"/>
                    </a:tc>
                    <a:tc>
                      <a:txBody>
                        <a:bodyPr/>
                        <a:lstStyle/>
                        <a:p>
                          <a:pPr marL="0" marR="0" indent="0" algn="ctr" defTabSz="914400" rtl="0" eaLnBrk="1" fontAlgn="auto" latinLnBrk="0" hangingPunct="1">
                            <a:lnSpc>
                              <a:spcPct val="115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acc>
                                  <m:accPr>
                                    <m:chr m:val="̂"/>
                                    <m:ctrlPr>
                                      <a:rPr lang="en-US" sz="2000" i="1" smtClean="0">
                                        <a:latin typeface="Cambria Math" panose="02040503050406030204" pitchFamily="18" charset="0"/>
                                      </a:rPr>
                                    </m:ctrlPr>
                                  </m:accPr>
                                  <m:e>
                                    <m:r>
                                      <a:rPr lang="en-US" sz="2000" i="1">
                                        <a:latin typeface="Cambria Math"/>
                                      </a:rPr>
                                      <m:t>𝑏</m:t>
                                    </m:r>
                                  </m:e>
                                </m:acc>
                                <m:r>
                                  <a:rPr lang="en-US" sz="2000" b="0" i="0" baseline="-25000" dirty="0" smtClean="0">
                                    <a:latin typeface="Cambria Math"/>
                                  </a:rPr>
                                  <m:t>1</m:t>
                                </m:r>
                                <m:r>
                                  <a:rPr lang="en-US" sz="2000" dirty="0" smtClean="0">
                                    <a:latin typeface="Cambria Math"/>
                                  </a:rPr>
                                  <m:t>+</m:t>
                                </m:r>
                                <m:acc>
                                  <m:accPr>
                                    <m:chr m:val="̂"/>
                                    <m:ctrlPr>
                                      <a:rPr lang="en-US" sz="2000" i="1" smtClean="0">
                                        <a:latin typeface="Cambria Math" panose="02040503050406030204" pitchFamily="18" charset="0"/>
                                      </a:rPr>
                                    </m:ctrlPr>
                                  </m:accPr>
                                  <m:e>
                                    <m:r>
                                      <a:rPr lang="en-US" sz="2000" i="1">
                                        <a:latin typeface="Cambria Math"/>
                                      </a:rPr>
                                      <m:t>𝑏</m:t>
                                    </m:r>
                                  </m:e>
                                </m:acc>
                                <m:r>
                                  <a:rPr lang="en-US" sz="2000" b="0" i="0" baseline="-25000" dirty="0" smtClean="0">
                                    <a:latin typeface="Cambria Math"/>
                                  </a:rPr>
                                  <m:t>3</m:t>
                                </m:r>
                              </m:oMath>
                            </m:oMathPara>
                          </a14:m>
                          <a:endParaRPr lang="en-US" sz="2000" dirty="0">
                            <a:latin typeface="+mn-lt"/>
                            <a:ea typeface="Calibri"/>
                            <a:cs typeface="Times New Roman"/>
                          </a:endParaRPr>
                        </a:p>
                      </a:txBody>
                      <a:tcPr marL="68580" marR="68580" marT="0" marB="0" anchor="ctr"/>
                    </a:tc>
                    <a:extLst>
                      <a:ext uri="{0D108BD9-81ED-4DB2-BD59-A6C34878D82A}">
                        <a16:rowId xmlns:a16="http://schemas.microsoft.com/office/drawing/2014/main" val="10001"/>
                      </a:ext>
                    </a:extLst>
                  </a:tr>
                  <a:tr h="370840">
                    <a:tc>
                      <a:txBody>
                        <a:bodyPr/>
                        <a:lstStyle/>
                        <a:p>
                          <a:r>
                            <a:rPr lang="en-US" sz="2000" dirty="0"/>
                            <a:t>Control Group</a:t>
                          </a:r>
                        </a:p>
                      </a:txBody>
                      <a:tcPr/>
                    </a:tc>
                    <a:tc>
                      <a:txBody>
                        <a:bodyPr/>
                        <a:lstStyle/>
                        <a:p>
                          <a:pPr marL="0" marR="0" indent="0" algn="ctr" defTabSz="914400" rtl="0" eaLnBrk="1" fontAlgn="auto" latinLnBrk="0" hangingPunct="1">
                            <a:lnSpc>
                              <a:spcPct val="115000"/>
                            </a:lnSpc>
                            <a:spcBef>
                              <a:spcPts val="0"/>
                            </a:spcBef>
                            <a:spcAft>
                              <a:spcPts val="0"/>
                            </a:spcAft>
                            <a:buClrTx/>
                            <a:buSzTx/>
                            <a:buFontTx/>
                            <a:buNone/>
                            <a:tabLst/>
                            <a:defRPr/>
                          </a:pPr>
                          <a:r>
                            <a:rPr lang="en-US" sz="2000" dirty="0">
                              <a:latin typeface="+mn-lt"/>
                              <a:ea typeface="Calibri"/>
                              <a:cs typeface="Times New Roman"/>
                            </a:rPr>
                            <a:t>What coefficients apply here?</a:t>
                          </a:r>
                        </a:p>
                      </a:txBody>
                      <a:tcPr marL="68580" marR="68580" marT="0" marB="0" anchor="ctr">
                        <a:solidFill>
                          <a:schemeClr val="accent2"/>
                        </a:solidFill>
                      </a:tcPr>
                    </a:tc>
                    <a:tc>
                      <a:txBody>
                        <a:bodyPr/>
                        <a:lstStyle/>
                        <a:p>
                          <a:pPr marL="0" marR="0" algn="ctr">
                            <a:lnSpc>
                              <a:spcPct val="115000"/>
                            </a:lnSpc>
                            <a:spcBef>
                              <a:spcPts val="0"/>
                            </a:spcBef>
                            <a:spcAft>
                              <a:spcPts val="0"/>
                            </a:spcAft>
                          </a:pPr>
                          <a:endParaRPr lang="en-US" sz="2000" dirty="0">
                            <a:latin typeface="Calibri"/>
                            <a:ea typeface="Calibri"/>
                            <a:cs typeface="Times New Roman"/>
                          </a:endParaRPr>
                        </a:p>
                      </a:txBody>
                      <a:tcPr marL="68580" marR="68580" marT="0" marB="0" anchor="ctr"/>
                    </a:tc>
                    <a:tc>
                      <a:txBody>
                        <a:bodyPr/>
                        <a:lstStyle/>
                        <a:p>
                          <a:pPr marL="0" marR="0" algn="ctr">
                            <a:lnSpc>
                              <a:spcPct val="115000"/>
                            </a:lnSpc>
                            <a:spcBef>
                              <a:spcPts val="0"/>
                            </a:spcBef>
                            <a:spcAft>
                              <a:spcPts val="0"/>
                            </a:spcAft>
                          </a:pPr>
                          <a:endParaRPr lang="en-US" sz="2000" dirty="0">
                            <a:latin typeface="Calibri"/>
                            <a:ea typeface="Calibri"/>
                            <a:cs typeface="Times New Roman"/>
                          </a:endParaRPr>
                        </a:p>
                      </a:txBody>
                      <a:tcPr marL="68580" marR="68580" marT="0" marB="0" anchor="ctr"/>
                    </a:tc>
                    <a:extLst>
                      <a:ext uri="{0D108BD9-81ED-4DB2-BD59-A6C34878D82A}">
                        <a16:rowId xmlns:a16="http://schemas.microsoft.com/office/drawing/2014/main" val="10002"/>
                      </a:ext>
                    </a:extLst>
                  </a:tr>
                  <a:tr h="370840">
                    <a:tc>
                      <a:txBody>
                        <a:bodyPr/>
                        <a:lstStyle/>
                        <a:p>
                          <a:endParaRPr lang="en-US" sz="2000" dirty="0"/>
                        </a:p>
                      </a:txBody>
                      <a:tcPr/>
                    </a:tc>
                    <a:tc gridSpan="2">
                      <a:txBody>
                        <a:bodyPr/>
                        <a:lstStyle/>
                        <a:p>
                          <a:r>
                            <a:rPr lang="en-US" sz="2000" dirty="0"/>
                            <a:t>Difference-in-Differences</a:t>
                          </a:r>
                        </a:p>
                      </a:txBody>
                      <a:tcPr/>
                    </a:tc>
                    <a:tc hMerge="1">
                      <a:txBody>
                        <a:bodyPr/>
                        <a:lstStyle/>
                        <a:p>
                          <a:endParaRPr lang="en-US" sz="200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2000" dirty="0">
                            <a:latin typeface="+mn-lt"/>
                            <a:ea typeface="Calibri"/>
                            <a:cs typeface="Times New Roman"/>
                          </a:endParaRPr>
                        </a:p>
                      </a:txBody>
                      <a:tcPr/>
                    </a:tc>
                    <a:extLst>
                      <a:ext uri="{0D108BD9-81ED-4DB2-BD59-A6C34878D82A}">
                        <a16:rowId xmlns:a16="http://schemas.microsoft.com/office/drawing/2014/main" val="10003"/>
                      </a:ext>
                    </a:extLst>
                  </a:tr>
                </a:tbl>
              </a:graphicData>
            </a:graphic>
          </p:graphicFrame>
        </mc:Choice>
        <mc:Fallback xmlns="">
          <p:graphicFrame>
            <p:nvGraphicFramePr>
              <p:cNvPr id="4" name="Content Placeholder 3"/>
              <p:cNvGraphicFramePr>
                <a:graphicFrameLocks noGrp="1"/>
              </p:cNvGraphicFramePr>
              <p:nvPr>
                <p:ph idx="1"/>
                <p:extLst>
                  <p:ext uri="{D42A27DB-BD31-4B8C-83A1-F6EECF244321}">
                    <p14:modId xmlns:p14="http://schemas.microsoft.com/office/powerpoint/2010/main" val="3943388904"/>
                  </p:ext>
                </p:extLst>
              </p:nvPr>
            </p:nvGraphicFramePr>
            <p:xfrm>
              <a:off x="457200" y="1600200"/>
              <a:ext cx="8229600" cy="1889760"/>
            </p:xfrm>
            <a:graphic>
              <a:graphicData uri="http://schemas.openxmlformats.org/drawingml/2006/table">
                <a:tbl>
                  <a:tblPr firstRow="1" bandRow="1">
                    <a:tableStyleId>{5940675A-B579-460E-94D1-54222C63F5DA}</a:tableStyleId>
                  </a:tblPr>
                  <a:tblGrid>
                    <a:gridCol w="2057400">
                      <a:extLst>
                        <a:ext uri="{9D8B030D-6E8A-4147-A177-3AD203B41FA5}">
                          <a16:colId xmlns:a16="http://schemas.microsoft.com/office/drawing/2014/main" val="20000"/>
                        </a:ext>
                      </a:extLst>
                    </a:gridCol>
                    <a:gridCol w="2057400">
                      <a:extLst>
                        <a:ext uri="{9D8B030D-6E8A-4147-A177-3AD203B41FA5}">
                          <a16:colId xmlns:a16="http://schemas.microsoft.com/office/drawing/2014/main" val="20001"/>
                        </a:ext>
                      </a:extLst>
                    </a:gridCol>
                    <a:gridCol w="2057400">
                      <a:extLst>
                        <a:ext uri="{9D8B030D-6E8A-4147-A177-3AD203B41FA5}">
                          <a16:colId xmlns:a16="http://schemas.microsoft.com/office/drawing/2014/main" val="20002"/>
                        </a:ext>
                      </a:extLst>
                    </a:gridCol>
                    <a:gridCol w="2057400">
                      <a:extLst>
                        <a:ext uri="{9D8B030D-6E8A-4147-A177-3AD203B41FA5}">
                          <a16:colId xmlns:a16="http://schemas.microsoft.com/office/drawing/2014/main" val="20003"/>
                        </a:ext>
                      </a:extLst>
                    </a:gridCol>
                  </a:tblGrid>
                  <a:tr h="396240">
                    <a:tc>
                      <a:txBody>
                        <a:bodyPr/>
                        <a:lstStyle/>
                        <a:p>
                          <a:endParaRPr lang="en-US" sz="2000" dirty="0"/>
                        </a:p>
                      </a:txBody>
                      <a:tcPr/>
                    </a:tc>
                    <a:tc>
                      <a:txBody>
                        <a:bodyPr/>
                        <a:lstStyle/>
                        <a:p>
                          <a:pPr algn="ctr"/>
                          <a:r>
                            <a:rPr lang="en-US" sz="2000" dirty="0" smtClean="0"/>
                            <a:t>“Pre”</a:t>
                          </a:r>
                          <a:r>
                            <a:rPr lang="en-US" sz="2000" baseline="0" dirty="0" smtClean="0"/>
                            <a:t> Period</a:t>
                          </a:r>
                          <a:endParaRPr lang="en-US" sz="2000" dirty="0"/>
                        </a:p>
                      </a:txBody>
                      <a:tcPr/>
                    </a:tc>
                    <a:tc>
                      <a:txBody>
                        <a:bodyPr/>
                        <a:lstStyle/>
                        <a:p>
                          <a:pPr algn="ctr"/>
                          <a:r>
                            <a:rPr lang="en-US" sz="2000" dirty="0" smtClean="0"/>
                            <a:t>“Post” period</a:t>
                          </a:r>
                          <a:endParaRPr lang="en-US" sz="2000" dirty="0"/>
                        </a:p>
                      </a:txBody>
                      <a:tcPr/>
                    </a:tc>
                    <a:tc>
                      <a:txBody>
                        <a:bodyPr/>
                        <a:lstStyle/>
                        <a:p>
                          <a:pPr algn="ctr"/>
                          <a:r>
                            <a:rPr lang="en-US" sz="2000" dirty="0" smtClean="0"/>
                            <a:t>Difference</a:t>
                          </a:r>
                          <a:endParaRPr lang="en-US" sz="2000" dirty="0"/>
                        </a:p>
                      </a:txBody>
                      <a:tcPr/>
                    </a:tc>
                    <a:extLst>
                      <a:ext uri="{0D108BD9-81ED-4DB2-BD59-A6C34878D82A}">
                        <a16:rowId xmlns:a16="http://schemas.microsoft.com/office/drawing/2014/main" val="10000"/>
                      </a:ext>
                    </a:extLst>
                  </a:tr>
                  <a:tr h="396240">
                    <a:tc>
                      <a:txBody>
                        <a:bodyPr/>
                        <a:lstStyle/>
                        <a:p>
                          <a:r>
                            <a:rPr lang="en-US" sz="2000" dirty="0" smtClean="0"/>
                            <a:t>Treatment Group</a:t>
                          </a:r>
                          <a:endParaRPr lang="en-US" sz="2000" dirty="0"/>
                        </a:p>
                      </a:txBody>
                      <a:tcPr/>
                    </a:tc>
                    <a:tc>
                      <a:txBody>
                        <a:bodyPr/>
                        <a:lstStyle/>
                        <a:p>
                          <a:endParaRPr lang="en-US"/>
                        </a:p>
                      </a:txBody>
                      <a:tcPr marL="68580" marR="68580" marT="0" marB="0" anchor="ctr">
                        <a:blipFill>
                          <a:blip r:embed="rId2"/>
                          <a:stretch>
                            <a:fillRect l="-100890" t="-107692" r="-201187" b="-304615"/>
                          </a:stretch>
                        </a:blipFill>
                      </a:tcPr>
                    </a:tc>
                    <a:tc>
                      <a:txBody>
                        <a:bodyPr/>
                        <a:lstStyle/>
                        <a:p>
                          <a:endParaRPr lang="en-US"/>
                        </a:p>
                      </a:txBody>
                      <a:tcPr marL="68580" marR="68580" marT="0" marB="0" anchor="ctr">
                        <a:blipFill>
                          <a:blip r:embed="rId2"/>
                          <a:stretch>
                            <a:fillRect l="-200296" t="-107692" r="-100592" b="-304615"/>
                          </a:stretch>
                        </a:blipFill>
                      </a:tcPr>
                    </a:tc>
                    <a:tc>
                      <a:txBody>
                        <a:bodyPr/>
                        <a:lstStyle/>
                        <a:p>
                          <a:endParaRPr lang="en-US"/>
                        </a:p>
                      </a:txBody>
                      <a:tcPr marL="68580" marR="68580" marT="0" marB="0" anchor="ctr">
                        <a:blipFill>
                          <a:blip r:embed="rId2"/>
                          <a:stretch>
                            <a:fillRect l="-301187" t="-107692" r="-890" b="-304615"/>
                          </a:stretch>
                        </a:blipFill>
                      </a:tcPr>
                    </a:tc>
                    <a:extLst>
                      <a:ext uri="{0D108BD9-81ED-4DB2-BD59-A6C34878D82A}">
                        <a16:rowId xmlns:a16="http://schemas.microsoft.com/office/drawing/2014/main" val="10001"/>
                      </a:ext>
                    </a:extLst>
                  </a:tr>
                  <a:tr h="701040">
                    <a:tc>
                      <a:txBody>
                        <a:bodyPr/>
                        <a:lstStyle/>
                        <a:p>
                          <a:r>
                            <a:rPr lang="en-US" sz="2000" dirty="0" smtClean="0"/>
                            <a:t>Control Group</a:t>
                          </a:r>
                          <a:endParaRPr lang="en-US" sz="2000" dirty="0"/>
                        </a:p>
                      </a:txBody>
                      <a:tcPr/>
                    </a:tc>
                    <a:tc>
                      <a:txBody>
                        <a:bodyPr/>
                        <a:lstStyle/>
                        <a:p>
                          <a:pPr marL="0" marR="0" indent="0" algn="ctr" defTabSz="914400" rtl="0" eaLnBrk="1" fontAlgn="auto" latinLnBrk="0" hangingPunct="1">
                            <a:lnSpc>
                              <a:spcPct val="115000"/>
                            </a:lnSpc>
                            <a:spcBef>
                              <a:spcPts val="0"/>
                            </a:spcBef>
                            <a:spcAft>
                              <a:spcPts val="0"/>
                            </a:spcAft>
                            <a:buClrTx/>
                            <a:buSzTx/>
                            <a:buFontTx/>
                            <a:buNone/>
                            <a:tabLst/>
                            <a:defRPr/>
                          </a:pPr>
                          <a:r>
                            <a:rPr lang="en-US" sz="2000" dirty="0" smtClean="0">
                              <a:latin typeface="+mn-lt"/>
                              <a:ea typeface="Calibri"/>
                              <a:cs typeface="Times New Roman"/>
                            </a:rPr>
                            <a:t>What coefficients apply here?</a:t>
                          </a:r>
                        </a:p>
                      </a:txBody>
                      <a:tcPr marL="68580" marR="68580" marT="0" marB="0" anchor="ctr">
                        <a:solidFill>
                          <a:schemeClr val="accent2"/>
                        </a:solidFill>
                      </a:tcPr>
                    </a:tc>
                    <a:tc>
                      <a:txBody>
                        <a:bodyPr/>
                        <a:lstStyle/>
                        <a:p>
                          <a:pPr marL="0" marR="0" algn="ctr">
                            <a:lnSpc>
                              <a:spcPct val="115000"/>
                            </a:lnSpc>
                            <a:spcBef>
                              <a:spcPts val="0"/>
                            </a:spcBef>
                            <a:spcAft>
                              <a:spcPts val="0"/>
                            </a:spcAft>
                          </a:pPr>
                          <a:endParaRPr lang="en-US" sz="2000" dirty="0">
                            <a:latin typeface="Calibri"/>
                            <a:ea typeface="Calibri"/>
                            <a:cs typeface="Times New Roman"/>
                          </a:endParaRPr>
                        </a:p>
                      </a:txBody>
                      <a:tcPr marL="68580" marR="68580" marT="0" marB="0" anchor="ctr"/>
                    </a:tc>
                    <a:tc>
                      <a:txBody>
                        <a:bodyPr/>
                        <a:lstStyle/>
                        <a:p>
                          <a:pPr marL="0" marR="0" algn="ctr">
                            <a:lnSpc>
                              <a:spcPct val="115000"/>
                            </a:lnSpc>
                            <a:spcBef>
                              <a:spcPts val="0"/>
                            </a:spcBef>
                            <a:spcAft>
                              <a:spcPts val="0"/>
                            </a:spcAft>
                          </a:pPr>
                          <a:endParaRPr lang="en-US" sz="2000" dirty="0">
                            <a:latin typeface="Calibri"/>
                            <a:ea typeface="Calibri"/>
                            <a:cs typeface="Times New Roman"/>
                          </a:endParaRPr>
                        </a:p>
                      </a:txBody>
                      <a:tcPr marL="68580" marR="68580" marT="0" marB="0" anchor="ctr"/>
                    </a:tc>
                    <a:extLst>
                      <a:ext uri="{0D108BD9-81ED-4DB2-BD59-A6C34878D82A}">
                        <a16:rowId xmlns:a16="http://schemas.microsoft.com/office/drawing/2014/main" val="10002"/>
                      </a:ext>
                    </a:extLst>
                  </a:tr>
                  <a:tr h="396240">
                    <a:tc>
                      <a:txBody>
                        <a:bodyPr/>
                        <a:lstStyle/>
                        <a:p>
                          <a:endParaRPr lang="en-US" sz="2000" dirty="0"/>
                        </a:p>
                      </a:txBody>
                      <a:tcPr/>
                    </a:tc>
                    <a:tc gridSpan="2">
                      <a:txBody>
                        <a:bodyPr/>
                        <a:lstStyle/>
                        <a:p>
                          <a:r>
                            <a:rPr lang="en-US" sz="2000" dirty="0" smtClean="0"/>
                            <a:t>Difference-in-Differences</a:t>
                          </a:r>
                          <a:endParaRPr lang="en-US" sz="2000" dirty="0"/>
                        </a:p>
                      </a:txBody>
                      <a:tcPr/>
                    </a:tc>
                    <a:tc hMerge="1">
                      <a:txBody>
                        <a:bodyPr/>
                        <a:lstStyle/>
                        <a:p>
                          <a:endParaRPr lang="en-US" sz="200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2000" dirty="0" smtClean="0">
                            <a:latin typeface="+mn-lt"/>
                            <a:ea typeface="Calibri"/>
                            <a:cs typeface="Times New Roman"/>
                          </a:endParaRPr>
                        </a:p>
                      </a:txBody>
                      <a:tcPr/>
                    </a:tc>
                    <a:extLst>
                      <a:ext uri="{0D108BD9-81ED-4DB2-BD59-A6C34878D82A}">
                        <a16:rowId xmlns:a16="http://schemas.microsoft.com/office/drawing/2014/main" val="10003"/>
                      </a:ext>
                    </a:extLst>
                  </a:tr>
                </a:tbl>
              </a:graphicData>
            </a:graphic>
          </p:graphicFrame>
        </mc:Fallback>
      </mc:AlternateContent>
      <p:sp>
        <p:nvSpPr>
          <p:cNvPr id="5" name="TextBox 4"/>
          <p:cNvSpPr txBox="1"/>
          <p:nvPr/>
        </p:nvSpPr>
        <p:spPr>
          <a:xfrm>
            <a:off x="457200" y="3733800"/>
            <a:ext cx="8305800" cy="1077218"/>
          </a:xfrm>
          <a:prstGeom prst="rect">
            <a:avLst/>
          </a:prstGeom>
          <a:noFill/>
        </p:spPr>
        <p:txBody>
          <a:bodyPr wrap="square" rtlCol="0">
            <a:spAutoFit/>
          </a:bodyPr>
          <a:lstStyle/>
          <a:p>
            <a:r>
              <a:rPr lang="en-US" sz="3200" dirty="0"/>
              <a:t>In this quadrant, what happens to the “treatment” dummy?  And the “post” dummy?</a:t>
            </a:r>
          </a:p>
        </p:txBody>
      </p:sp>
      <p:sp>
        <p:nvSpPr>
          <p:cNvPr id="6" name="TextBox 5"/>
          <p:cNvSpPr txBox="1"/>
          <p:nvPr/>
        </p:nvSpPr>
        <p:spPr>
          <a:xfrm>
            <a:off x="476250" y="4811018"/>
            <a:ext cx="8305800" cy="584775"/>
          </a:xfrm>
          <a:prstGeom prst="rect">
            <a:avLst/>
          </a:prstGeom>
          <a:noFill/>
        </p:spPr>
        <p:txBody>
          <a:bodyPr wrap="square" rtlCol="0">
            <a:spAutoFit/>
          </a:bodyPr>
          <a:lstStyle/>
          <a:p>
            <a:r>
              <a:rPr lang="en-US" sz="3200" dirty="0"/>
              <a:t>Treatment = 0</a:t>
            </a:r>
          </a:p>
        </p:txBody>
      </p:sp>
      <p:sp>
        <p:nvSpPr>
          <p:cNvPr id="7" name="TextBox 6"/>
          <p:cNvSpPr txBox="1"/>
          <p:nvPr/>
        </p:nvSpPr>
        <p:spPr>
          <a:xfrm>
            <a:off x="485775" y="5638800"/>
            <a:ext cx="8305800" cy="584775"/>
          </a:xfrm>
          <a:prstGeom prst="rect">
            <a:avLst/>
          </a:prstGeom>
          <a:noFill/>
        </p:spPr>
        <p:txBody>
          <a:bodyPr wrap="square" rtlCol="0">
            <a:spAutoFit/>
          </a:bodyPr>
          <a:lstStyle/>
          <a:p>
            <a:r>
              <a:rPr lang="en-US" sz="3200" dirty="0"/>
              <a:t>Post = 0</a:t>
            </a:r>
          </a:p>
        </p:txBody>
      </p:sp>
    </p:spTree>
    <p:extLst>
      <p:ext uri="{BB962C8B-B14F-4D97-AF65-F5344CB8AC3E}">
        <p14:creationId xmlns:p14="http://schemas.microsoft.com/office/powerpoint/2010/main" val="16633707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So what is the conditional mean </a:t>
            </a:r>
            <a:br>
              <a:rPr lang="en-US" dirty="0"/>
            </a:br>
            <a:r>
              <a:rPr lang="en-US" dirty="0"/>
              <a:t>in this case?</a:t>
            </a:r>
          </a:p>
        </p:txBody>
      </p:sp>
      <mc:AlternateContent xmlns:mc="http://schemas.openxmlformats.org/markup-compatibility/2006" xmlns:a14="http://schemas.microsoft.com/office/drawing/2010/main">
        <mc:Choice Requires="a14">
          <p:sp>
            <p:nvSpPr>
              <p:cNvPr id="4" name="Content Placeholder 3"/>
              <p:cNvSpPr txBox="1">
                <a:spLocks noGrp="1"/>
              </p:cNvSpPr>
              <p:nvPr>
                <p:ph idx="1"/>
              </p:nvPr>
            </p:nvSpPr>
            <p:spPr>
              <a:xfrm>
                <a:off x="457200" y="1600200"/>
                <a:ext cx="8229600" cy="1611147"/>
              </a:xfrm>
              <a:prstGeom prst="rect">
                <a:avLst/>
              </a:prstGeom>
              <a:noFill/>
            </p:spPr>
            <p:txBody>
              <a:bodyPr wrap="square" rtlCol="0">
                <a:spAutoFit/>
              </a:bodyPr>
              <a:lstStyle/>
              <a:p>
                <a:pPr>
                  <a:buNone/>
                </a:pPr>
                <a14:m>
                  <m:oMathPara xmlns:m="http://schemas.openxmlformats.org/officeDocument/2006/math">
                    <m:oMathParaPr>
                      <m:jc m:val="centerGroup"/>
                    </m:oMathParaPr>
                    <m:oMath xmlns:m="http://schemas.openxmlformats.org/officeDocument/2006/math">
                      <m:r>
                        <a:rPr lang="en-US" sz="3200" i="1" dirty="0">
                          <a:latin typeface="Cambria Math"/>
                        </a:rPr>
                        <m:t>𝑃𝑟𝑜𝑑𝑢𝑐𝑡𝑖𝑣𝑖𝑡𝑦</m:t>
                      </m:r>
                      <m:r>
                        <a:rPr lang="en-US" sz="3200" i="1" baseline="-25000" dirty="0" err="1">
                          <a:latin typeface="Cambria Math"/>
                        </a:rPr>
                        <m:t>𝑖𝑡</m:t>
                      </m:r>
                      <m:r>
                        <a:rPr lang="en-US" sz="3200" i="1" dirty="0">
                          <a:latin typeface="Cambria Math"/>
                        </a:rPr>
                        <m:t> =</m:t>
                      </m:r>
                      <m:acc>
                        <m:accPr>
                          <m:chr m:val="̂"/>
                          <m:ctrlPr>
                            <a:rPr lang="en-US" i="1">
                              <a:latin typeface="Cambria Math" panose="02040503050406030204" pitchFamily="18" charset="0"/>
                            </a:rPr>
                          </m:ctrlPr>
                        </m:accPr>
                        <m:e>
                          <m:r>
                            <a:rPr lang="en-US" i="1">
                              <a:latin typeface="Cambria Math"/>
                            </a:rPr>
                            <m:t>𝑏</m:t>
                          </m:r>
                        </m:e>
                      </m:acc>
                      <m:r>
                        <a:rPr lang="en-US" sz="3200" i="1" baseline="-25000" dirty="0">
                          <a:latin typeface="Cambria Math"/>
                        </a:rPr>
                        <m:t>0</m:t>
                      </m:r>
                      <m:r>
                        <a:rPr lang="en-US" sz="3200" i="1" dirty="0">
                          <a:latin typeface="Cambria Math"/>
                        </a:rPr>
                        <m:t>+</m:t>
                      </m:r>
                      <m:acc>
                        <m:accPr>
                          <m:chr m:val="̂"/>
                          <m:ctrlPr>
                            <a:rPr lang="en-US" i="1">
                              <a:latin typeface="Cambria Math" panose="02040503050406030204" pitchFamily="18" charset="0"/>
                            </a:rPr>
                          </m:ctrlPr>
                        </m:accPr>
                        <m:e>
                          <m:r>
                            <a:rPr lang="en-US" i="1">
                              <a:latin typeface="Cambria Math"/>
                            </a:rPr>
                            <m:t>𝑏</m:t>
                          </m:r>
                        </m:e>
                      </m:acc>
                      <m:r>
                        <a:rPr lang="en-US" sz="3200" i="1" baseline="-25000" dirty="0">
                          <a:latin typeface="Cambria Math"/>
                        </a:rPr>
                        <m:t>1</m:t>
                      </m:r>
                      <m:r>
                        <a:rPr lang="en-US" sz="3200" i="1" dirty="0">
                          <a:latin typeface="Cambria Math"/>
                        </a:rPr>
                        <m:t>(</m:t>
                      </m:r>
                      <m:r>
                        <a:rPr lang="en-US" sz="3200" i="1" dirty="0" err="1">
                          <a:latin typeface="Cambria Math"/>
                        </a:rPr>
                        <m:t>𝑝𝑜𝑠𝑡</m:t>
                      </m:r>
                      <m:r>
                        <a:rPr lang="en-US" sz="3200" i="1" baseline="-25000" dirty="0" err="1">
                          <a:latin typeface="Cambria Math"/>
                        </a:rPr>
                        <m:t>𝑖𝑡</m:t>
                      </m:r>
                      <m:r>
                        <a:rPr lang="en-US" sz="3200" i="1" dirty="0" smtClean="0">
                          <a:latin typeface="Cambria Math"/>
                        </a:rPr>
                        <m:t>)</m:t>
                      </m:r>
                      <m:r>
                        <a:rPr lang="en-US" sz="3200" i="1" dirty="0">
                          <a:latin typeface="Cambria Math"/>
                        </a:rPr>
                        <m:t>+</m:t>
                      </m:r>
                      <m:acc>
                        <m:accPr>
                          <m:chr m:val="̂"/>
                          <m:ctrlPr>
                            <a:rPr lang="en-US" i="1">
                              <a:latin typeface="Cambria Math" panose="02040503050406030204" pitchFamily="18" charset="0"/>
                            </a:rPr>
                          </m:ctrlPr>
                        </m:accPr>
                        <m:e>
                          <m:r>
                            <a:rPr lang="en-US" i="1">
                              <a:latin typeface="Cambria Math"/>
                            </a:rPr>
                            <m:t>𝑏</m:t>
                          </m:r>
                        </m:e>
                      </m:acc>
                      <m:r>
                        <a:rPr lang="en-US" sz="3200" i="1" baseline="-25000" dirty="0">
                          <a:latin typeface="Cambria Math"/>
                        </a:rPr>
                        <m:t>2</m:t>
                      </m:r>
                      <m:r>
                        <a:rPr lang="en-US" sz="3200" i="1" dirty="0">
                          <a:latin typeface="Cambria Math"/>
                        </a:rPr>
                        <m:t>(</m:t>
                      </m:r>
                      <m:r>
                        <a:rPr lang="en-US" sz="3200" i="1" dirty="0" err="1">
                          <a:latin typeface="Cambria Math"/>
                        </a:rPr>
                        <m:t>𝑡𝑟𝑒𝑎𝑡𝑚𝑒𝑛𝑡</m:t>
                      </m:r>
                      <m:r>
                        <a:rPr lang="en-US" sz="3200" i="1" baseline="-25000" dirty="0" err="1">
                          <a:latin typeface="Cambria Math"/>
                        </a:rPr>
                        <m:t>𝑖𝑡</m:t>
                      </m:r>
                      <m:r>
                        <a:rPr lang="en-US" sz="3200" i="1" dirty="0">
                          <a:latin typeface="Cambria Math"/>
                        </a:rPr>
                        <m:t>) </m:t>
                      </m:r>
                    </m:oMath>
                  </m:oMathPara>
                </a14:m>
                <a:endParaRPr lang="en-US" sz="3200" dirty="0"/>
              </a:p>
              <a:p>
                <a:pPr>
                  <a:buNone/>
                </a:pPr>
                <a14:m>
                  <m:oMathPara xmlns:m="http://schemas.openxmlformats.org/officeDocument/2006/math">
                    <m:oMathParaPr>
                      <m:jc m:val="centerGroup"/>
                    </m:oMathParaPr>
                    <m:oMath xmlns:m="http://schemas.openxmlformats.org/officeDocument/2006/math">
                      <m:r>
                        <a:rPr lang="en-US" sz="3200" i="1" dirty="0">
                          <a:latin typeface="Cambria Math"/>
                        </a:rPr>
                        <m:t>+</m:t>
                      </m:r>
                      <m:acc>
                        <m:accPr>
                          <m:chr m:val="̂"/>
                          <m:ctrlPr>
                            <a:rPr lang="en-US" i="1">
                              <a:latin typeface="Cambria Math" panose="02040503050406030204" pitchFamily="18" charset="0"/>
                            </a:rPr>
                          </m:ctrlPr>
                        </m:accPr>
                        <m:e>
                          <m:r>
                            <a:rPr lang="en-US" i="1">
                              <a:latin typeface="Cambria Math"/>
                            </a:rPr>
                            <m:t>𝑏</m:t>
                          </m:r>
                        </m:e>
                      </m:acc>
                      <m:r>
                        <a:rPr lang="en-US" sz="3200" i="1" baseline="-25000" dirty="0">
                          <a:latin typeface="Cambria Math"/>
                        </a:rPr>
                        <m:t>3</m:t>
                      </m:r>
                      <m:r>
                        <a:rPr lang="en-US" sz="3200" i="1" dirty="0">
                          <a:latin typeface="Cambria Math"/>
                        </a:rPr>
                        <m:t>(</m:t>
                      </m:r>
                      <m:r>
                        <a:rPr lang="en-US" sz="3200" i="1" dirty="0" err="1">
                          <a:latin typeface="Cambria Math"/>
                        </a:rPr>
                        <m:t>𝑝𝑜𝑠𝑡</m:t>
                      </m:r>
                      <m:r>
                        <a:rPr lang="en-US" sz="3200" i="1" baseline="-25000" dirty="0" err="1">
                          <a:latin typeface="Cambria Math"/>
                        </a:rPr>
                        <m:t>𝑖𝑡</m:t>
                      </m:r>
                      <m:r>
                        <a:rPr lang="en-US" sz="3200" i="1" dirty="0">
                          <a:latin typeface="Cambria Math"/>
                        </a:rPr>
                        <m:t>∗</m:t>
                      </m:r>
                      <m:r>
                        <a:rPr lang="en-US" sz="3200" i="1" dirty="0" err="1">
                          <a:latin typeface="Cambria Math"/>
                        </a:rPr>
                        <m:t>𝑡𝑟𝑒𝑎𝑡𝑚𝑒𝑛𝑡</m:t>
                      </m:r>
                      <m:r>
                        <a:rPr lang="en-US" sz="3200" i="1" baseline="-25000" dirty="0" err="1">
                          <a:latin typeface="Cambria Math"/>
                        </a:rPr>
                        <m:t>𝑖𝑡</m:t>
                      </m:r>
                      <m:r>
                        <a:rPr lang="en-US" sz="3200" i="1" dirty="0">
                          <a:latin typeface="Cambria Math"/>
                        </a:rPr>
                        <m:t>)</m:t>
                      </m:r>
                    </m:oMath>
                  </m:oMathPara>
                </a14:m>
                <a:endParaRPr lang="en-US" sz="3200" baseline="-25000" dirty="0"/>
              </a:p>
            </p:txBody>
          </p:sp>
        </mc:Choice>
        <mc:Fallback xmlns="">
          <p:sp>
            <p:nvSpPr>
              <p:cNvPr id="4" name="Content Placeholder 3"/>
              <p:cNvSpPr txBox="1">
                <a:spLocks noGrp="1" noRot="1" noChangeAspect="1" noMove="1" noResize="1" noEditPoints="1" noAdjustHandles="1" noChangeArrowheads="1" noChangeShapeType="1" noTextEdit="1"/>
              </p:cNvSpPr>
              <p:nvPr>
                <p:ph idx="1"/>
              </p:nvPr>
            </p:nvSpPr>
            <p:spPr>
              <a:xfrm>
                <a:off x="457200" y="1600200"/>
                <a:ext cx="8229600" cy="1611147"/>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p:cNvSpPr txBox="1"/>
              <p:nvPr/>
            </p:nvSpPr>
            <p:spPr>
              <a:xfrm>
                <a:off x="228600" y="3276600"/>
                <a:ext cx="8305800" cy="1130053"/>
              </a:xfrm>
              <a:prstGeom prst="rect">
                <a:avLst/>
              </a:prstGeom>
              <a:noFill/>
            </p:spPr>
            <p:txBody>
              <a:bodyPr wrap="square" rtlCol="0">
                <a:spAutoFit/>
              </a:bodyPr>
              <a:lstStyle/>
              <a:p>
                <a:pPr>
                  <a:buNone/>
                </a:pPr>
                <a14:m>
                  <m:oMathPara xmlns:m="http://schemas.openxmlformats.org/officeDocument/2006/math">
                    <m:oMathParaPr>
                      <m:jc m:val="centerGroup"/>
                    </m:oMathParaPr>
                    <m:oMath xmlns:m="http://schemas.openxmlformats.org/officeDocument/2006/math">
                      <m:r>
                        <m:rPr>
                          <m:nor/>
                        </m:rPr>
                        <a:rPr lang="en-US" sz="3200" dirty="0" smtClean="0">
                          <a:sym typeface="Wingdings" panose="05000000000000000000" pitchFamily="2" charset="2"/>
                        </a:rPr>
                        <m:t></m:t>
                      </m:r>
                      <m:r>
                        <a:rPr lang="en-US" sz="3200" i="1" dirty="0">
                          <a:latin typeface="Cambria Math"/>
                        </a:rPr>
                        <m:t>𝑃𝑟𝑜𝑑𝑢𝑐𝑡𝑖𝑣𝑖𝑡𝑦</m:t>
                      </m:r>
                      <m:r>
                        <a:rPr lang="en-US" sz="3200" i="1" baseline="-25000" dirty="0" err="1">
                          <a:latin typeface="Cambria Math"/>
                        </a:rPr>
                        <m:t>𝑖𝑡</m:t>
                      </m:r>
                      <m:r>
                        <a:rPr lang="en-US" sz="3200" i="1" dirty="0">
                          <a:latin typeface="Cambria Math"/>
                        </a:rPr>
                        <m:t> =</m:t>
                      </m:r>
                      <m:acc>
                        <m:accPr>
                          <m:chr m:val="̂"/>
                          <m:ctrlPr>
                            <a:rPr lang="en-US" sz="3200" i="1">
                              <a:latin typeface="Cambria Math" panose="02040503050406030204" pitchFamily="18" charset="0"/>
                            </a:rPr>
                          </m:ctrlPr>
                        </m:accPr>
                        <m:e>
                          <m:r>
                            <a:rPr lang="en-US" sz="3200" i="1">
                              <a:latin typeface="Cambria Math"/>
                            </a:rPr>
                            <m:t>𝑏</m:t>
                          </m:r>
                        </m:e>
                      </m:acc>
                      <m:r>
                        <a:rPr lang="en-US" sz="3200" i="1" baseline="-25000" dirty="0">
                          <a:latin typeface="Cambria Math"/>
                        </a:rPr>
                        <m:t>0</m:t>
                      </m:r>
                      <m:r>
                        <a:rPr lang="en-US" sz="3200" i="1" dirty="0">
                          <a:latin typeface="Cambria Math"/>
                        </a:rPr>
                        <m:t>+</m:t>
                      </m:r>
                      <m:acc>
                        <m:accPr>
                          <m:chr m:val="̂"/>
                          <m:ctrlPr>
                            <a:rPr lang="en-US" sz="3200" i="1">
                              <a:latin typeface="Cambria Math" panose="02040503050406030204" pitchFamily="18" charset="0"/>
                            </a:rPr>
                          </m:ctrlPr>
                        </m:accPr>
                        <m:e>
                          <m:r>
                            <a:rPr lang="en-US" sz="3200" i="1">
                              <a:latin typeface="Cambria Math"/>
                            </a:rPr>
                            <m:t>𝑏</m:t>
                          </m:r>
                        </m:e>
                      </m:acc>
                      <m:r>
                        <a:rPr lang="en-US" sz="3200" i="1" baseline="-25000" dirty="0">
                          <a:latin typeface="Cambria Math"/>
                        </a:rPr>
                        <m:t>1</m:t>
                      </m:r>
                      <m:r>
                        <a:rPr lang="en-US" sz="3200" i="1" dirty="0">
                          <a:latin typeface="Cambria Math"/>
                        </a:rPr>
                        <m:t>(</m:t>
                      </m:r>
                      <m:r>
                        <a:rPr lang="en-US" sz="3200" b="0" i="1" dirty="0" smtClean="0">
                          <a:latin typeface="Cambria Math"/>
                        </a:rPr>
                        <m:t>0</m:t>
                      </m:r>
                      <m:r>
                        <a:rPr lang="en-US" sz="3200" i="1" dirty="0">
                          <a:latin typeface="Cambria Math"/>
                        </a:rPr>
                        <m:t>)+</m:t>
                      </m:r>
                      <m:acc>
                        <m:accPr>
                          <m:chr m:val="̂"/>
                          <m:ctrlPr>
                            <a:rPr lang="en-US" sz="3200" i="1">
                              <a:latin typeface="Cambria Math" panose="02040503050406030204" pitchFamily="18" charset="0"/>
                            </a:rPr>
                          </m:ctrlPr>
                        </m:accPr>
                        <m:e>
                          <m:r>
                            <a:rPr lang="en-US" sz="3200" i="1">
                              <a:latin typeface="Cambria Math"/>
                            </a:rPr>
                            <m:t>𝑏</m:t>
                          </m:r>
                        </m:e>
                      </m:acc>
                      <m:r>
                        <a:rPr lang="en-US" sz="3200" i="1" baseline="-25000" dirty="0">
                          <a:latin typeface="Cambria Math"/>
                        </a:rPr>
                        <m:t>2</m:t>
                      </m:r>
                      <m:r>
                        <a:rPr lang="en-US" sz="3200" i="1" dirty="0">
                          <a:latin typeface="Cambria Math"/>
                        </a:rPr>
                        <m:t>(</m:t>
                      </m:r>
                      <m:r>
                        <a:rPr lang="en-US" sz="3200" b="0" i="1" dirty="0" smtClean="0">
                          <a:latin typeface="Cambria Math"/>
                        </a:rPr>
                        <m:t>0</m:t>
                      </m:r>
                      <m:r>
                        <a:rPr lang="en-US" sz="3200" i="1" dirty="0">
                          <a:latin typeface="Cambria Math"/>
                        </a:rPr>
                        <m:t>) </m:t>
                      </m:r>
                    </m:oMath>
                  </m:oMathPara>
                </a14:m>
                <a:endParaRPr lang="en-US" sz="3200" dirty="0"/>
              </a:p>
              <a:p>
                <a:pPr>
                  <a:buNone/>
                </a:pPr>
                <a14:m>
                  <m:oMathPara xmlns:m="http://schemas.openxmlformats.org/officeDocument/2006/math">
                    <m:oMathParaPr>
                      <m:jc m:val="centerGroup"/>
                    </m:oMathParaPr>
                    <m:oMath xmlns:m="http://schemas.openxmlformats.org/officeDocument/2006/math">
                      <m:r>
                        <a:rPr lang="en-US" sz="3200" i="1" dirty="0">
                          <a:latin typeface="Cambria Math"/>
                        </a:rPr>
                        <m:t>+</m:t>
                      </m:r>
                      <m:acc>
                        <m:accPr>
                          <m:chr m:val="̂"/>
                          <m:ctrlPr>
                            <a:rPr lang="en-US" sz="3200" i="1">
                              <a:latin typeface="Cambria Math" panose="02040503050406030204" pitchFamily="18" charset="0"/>
                            </a:rPr>
                          </m:ctrlPr>
                        </m:accPr>
                        <m:e>
                          <m:r>
                            <a:rPr lang="en-US" sz="3200" i="1">
                              <a:latin typeface="Cambria Math"/>
                            </a:rPr>
                            <m:t>𝑏</m:t>
                          </m:r>
                        </m:e>
                      </m:acc>
                      <m:r>
                        <a:rPr lang="en-US" sz="3200" i="1" baseline="-25000" dirty="0">
                          <a:latin typeface="Cambria Math"/>
                        </a:rPr>
                        <m:t>3</m:t>
                      </m:r>
                      <m:r>
                        <a:rPr lang="en-US" sz="3200" i="1" dirty="0">
                          <a:latin typeface="Cambria Math"/>
                        </a:rPr>
                        <m:t>(</m:t>
                      </m:r>
                      <m:r>
                        <a:rPr lang="en-US" sz="3200" b="0" i="1" dirty="0" smtClean="0">
                          <a:latin typeface="Cambria Math"/>
                        </a:rPr>
                        <m:t>0</m:t>
                      </m:r>
                      <m:r>
                        <a:rPr lang="en-US" sz="3200" i="1" dirty="0">
                          <a:latin typeface="Cambria Math"/>
                        </a:rPr>
                        <m:t>∗</m:t>
                      </m:r>
                      <m:r>
                        <a:rPr lang="en-US" sz="3200" b="0" i="1" dirty="0" smtClean="0">
                          <a:latin typeface="Cambria Math"/>
                        </a:rPr>
                        <m:t>0</m:t>
                      </m:r>
                      <m:r>
                        <a:rPr lang="en-US" sz="3200" i="1" dirty="0">
                          <a:latin typeface="Cambria Math"/>
                        </a:rPr>
                        <m:t>)</m:t>
                      </m:r>
                    </m:oMath>
                  </m:oMathPara>
                </a14:m>
                <a:endParaRPr lang="en-US" sz="3200" baseline="-25000" dirty="0"/>
              </a:p>
            </p:txBody>
          </p:sp>
        </mc:Choice>
        <mc:Fallback xmlns="">
          <p:sp>
            <p:nvSpPr>
              <p:cNvPr id="5" name="TextBox 4"/>
              <p:cNvSpPr txBox="1">
                <a:spLocks noRot="1" noChangeAspect="1" noMove="1" noResize="1" noEditPoints="1" noAdjustHandles="1" noChangeArrowheads="1" noChangeShapeType="1" noTextEdit="1"/>
              </p:cNvSpPr>
              <p:nvPr/>
            </p:nvSpPr>
            <p:spPr>
              <a:xfrm>
                <a:off x="228600" y="3276600"/>
                <a:ext cx="8305800" cy="1130053"/>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p:cNvSpPr txBox="1"/>
              <p:nvPr/>
            </p:nvSpPr>
            <p:spPr>
              <a:xfrm>
                <a:off x="381000" y="4495800"/>
                <a:ext cx="8305800" cy="611193"/>
              </a:xfrm>
              <a:prstGeom prst="rect">
                <a:avLst/>
              </a:prstGeom>
              <a:noFill/>
            </p:spPr>
            <p:txBody>
              <a:bodyPr wrap="square" rtlCol="0">
                <a:spAutoFit/>
              </a:bodyPr>
              <a:lstStyle/>
              <a:p>
                <a:pPr>
                  <a:buNone/>
                </a:pPr>
                <a14:m>
                  <m:oMathPara xmlns:m="http://schemas.openxmlformats.org/officeDocument/2006/math">
                    <m:oMathParaPr>
                      <m:jc m:val="centerGroup"/>
                    </m:oMathParaPr>
                    <m:oMath xmlns:m="http://schemas.openxmlformats.org/officeDocument/2006/math">
                      <m:r>
                        <m:rPr>
                          <m:nor/>
                        </m:rPr>
                        <a:rPr lang="en-US" sz="3200" dirty="0" smtClean="0">
                          <a:sym typeface="Wingdings" panose="05000000000000000000" pitchFamily="2" charset="2"/>
                        </a:rPr>
                        <m:t></m:t>
                      </m:r>
                      <m:r>
                        <a:rPr lang="en-US" sz="3200" i="1" dirty="0">
                          <a:latin typeface="Cambria Math"/>
                        </a:rPr>
                        <m:t>𝑃𝑟𝑜𝑑𝑢𝑐𝑡𝑖𝑣𝑖𝑡𝑦</m:t>
                      </m:r>
                      <m:r>
                        <a:rPr lang="en-US" sz="3200" i="1" baseline="-25000" dirty="0" err="1">
                          <a:latin typeface="Cambria Math"/>
                        </a:rPr>
                        <m:t>𝑖𝑡</m:t>
                      </m:r>
                      <m:r>
                        <a:rPr lang="en-US" sz="3200" i="1" dirty="0">
                          <a:latin typeface="Cambria Math"/>
                        </a:rPr>
                        <m:t> =</m:t>
                      </m:r>
                      <m:acc>
                        <m:accPr>
                          <m:chr m:val="̂"/>
                          <m:ctrlPr>
                            <a:rPr lang="en-US" sz="3200" i="1">
                              <a:latin typeface="Cambria Math" panose="02040503050406030204" pitchFamily="18" charset="0"/>
                            </a:rPr>
                          </m:ctrlPr>
                        </m:accPr>
                        <m:e>
                          <m:r>
                            <a:rPr lang="en-US" sz="3200" i="1">
                              <a:latin typeface="Cambria Math"/>
                            </a:rPr>
                            <m:t>𝑏</m:t>
                          </m:r>
                        </m:e>
                      </m:acc>
                      <m:r>
                        <a:rPr lang="en-US" sz="3200" i="1" baseline="-25000" dirty="0">
                          <a:latin typeface="Cambria Math"/>
                        </a:rPr>
                        <m:t>0</m:t>
                      </m:r>
                    </m:oMath>
                  </m:oMathPara>
                </a14:m>
                <a:endParaRPr lang="en-US" sz="3200" baseline="-25000" dirty="0"/>
              </a:p>
            </p:txBody>
          </p:sp>
        </mc:Choice>
        <mc:Fallback xmlns="">
          <p:sp>
            <p:nvSpPr>
              <p:cNvPr id="6" name="TextBox 5"/>
              <p:cNvSpPr txBox="1">
                <a:spLocks noRot="1" noChangeAspect="1" noMove="1" noResize="1" noEditPoints="1" noAdjustHandles="1" noChangeArrowheads="1" noChangeShapeType="1" noTextEdit="1"/>
              </p:cNvSpPr>
              <p:nvPr/>
            </p:nvSpPr>
            <p:spPr>
              <a:xfrm>
                <a:off x="381000" y="4495800"/>
                <a:ext cx="8305800" cy="611193"/>
              </a:xfrm>
              <a:prstGeom prst="rect">
                <a:avLst/>
              </a:prstGeom>
              <a:blipFill>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2734491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Quadrant #3: Control &amp; “Pre”</a:t>
            </a:r>
          </a:p>
        </p:txBody>
      </p:sp>
      <p:sp>
        <p:nvSpPr>
          <p:cNvPr id="3" name="Content Placeholder 2"/>
          <p:cNvSpPr>
            <a:spLocks noGrp="1"/>
          </p:cNvSpPr>
          <p:nvPr>
            <p:ph idx="1"/>
          </p:nvPr>
        </p:nvSpPr>
        <p:spPr/>
        <p:txBody>
          <a:bodyPr/>
          <a:lstStyle/>
          <a:p>
            <a:pPr marL="0" indent="0">
              <a:buNone/>
            </a:pPr>
            <a:r>
              <a:rPr lang="en-US" dirty="0"/>
              <a:t>So in this case</a:t>
            </a:r>
          </a:p>
          <a:p>
            <a:pPr marL="0" indent="0">
              <a:buNone/>
            </a:pPr>
            <a:endParaRPr lang="en-US" dirty="0"/>
          </a:p>
        </p:txBody>
      </p:sp>
      <mc:AlternateContent xmlns:mc="http://schemas.openxmlformats.org/markup-compatibility/2006" xmlns:a14="http://schemas.microsoft.com/office/drawing/2010/main">
        <mc:Choice Requires="a14">
          <p:graphicFrame>
            <p:nvGraphicFramePr>
              <p:cNvPr id="4" name="Table 3"/>
              <p:cNvGraphicFramePr>
                <a:graphicFrameLocks noGrp="1"/>
              </p:cNvGraphicFramePr>
              <p:nvPr>
                <p:extLst>
                  <p:ext uri="{D42A27DB-BD31-4B8C-83A1-F6EECF244321}">
                    <p14:modId xmlns:p14="http://schemas.microsoft.com/office/powerpoint/2010/main" val="1190721894"/>
                  </p:ext>
                </p:extLst>
              </p:nvPr>
            </p:nvGraphicFramePr>
            <p:xfrm>
              <a:off x="533400" y="2667000"/>
              <a:ext cx="7924800" cy="1584960"/>
            </p:xfrm>
            <a:graphic>
              <a:graphicData uri="http://schemas.openxmlformats.org/drawingml/2006/table">
                <a:tbl>
                  <a:tblPr firstRow="1" bandRow="1">
                    <a:tableStyleId>{5940675A-B579-460E-94D1-54222C63F5DA}</a:tableStyleId>
                  </a:tblPr>
                  <a:tblGrid>
                    <a:gridCol w="1981200">
                      <a:extLst>
                        <a:ext uri="{9D8B030D-6E8A-4147-A177-3AD203B41FA5}">
                          <a16:colId xmlns:a16="http://schemas.microsoft.com/office/drawing/2014/main" val="20000"/>
                        </a:ext>
                      </a:extLst>
                    </a:gridCol>
                    <a:gridCol w="1981200">
                      <a:extLst>
                        <a:ext uri="{9D8B030D-6E8A-4147-A177-3AD203B41FA5}">
                          <a16:colId xmlns:a16="http://schemas.microsoft.com/office/drawing/2014/main" val="20001"/>
                        </a:ext>
                      </a:extLst>
                    </a:gridCol>
                    <a:gridCol w="2133600">
                      <a:extLst>
                        <a:ext uri="{9D8B030D-6E8A-4147-A177-3AD203B41FA5}">
                          <a16:colId xmlns:a16="http://schemas.microsoft.com/office/drawing/2014/main" val="20002"/>
                        </a:ext>
                      </a:extLst>
                    </a:gridCol>
                    <a:gridCol w="1828800">
                      <a:extLst>
                        <a:ext uri="{9D8B030D-6E8A-4147-A177-3AD203B41FA5}">
                          <a16:colId xmlns:a16="http://schemas.microsoft.com/office/drawing/2014/main" val="20003"/>
                        </a:ext>
                      </a:extLst>
                    </a:gridCol>
                  </a:tblGrid>
                  <a:tr h="370840">
                    <a:tc>
                      <a:txBody>
                        <a:bodyPr/>
                        <a:lstStyle/>
                        <a:p>
                          <a:endParaRPr lang="en-US" sz="2000" dirty="0"/>
                        </a:p>
                      </a:txBody>
                      <a:tcPr/>
                    </a:tc>
                    <a:tc>
                      <a:txBody>
                        <a:bodyPr/>
                        <a:lstStyle/>
                        <a:p>
                          <a:pPr algn="ctr"/>
                          <a:r>
                            <a:rPr lang="en-US" sz="2000" dirty="0"/>
                            <a:t>“Pre”</a:t>
                          </a:r>
                          <a:r>
                            <a:rPr lang="en-US" sz="2000" baseline="0" dirty="0"/>
                            <a:t> Period</a:t>
                          </a:r>
                          <a:endParaRPr lang="en-US" sz="2000" dirty="0"/>
                        </a:p>
                      </a:txBody>
                      <a:tcPr/>
                    </a:tc>
                    <a:tc>
                      <a:txBody>
                        <a:bodyPr/>
                        <a:lstStyle/>
                        <a:p>
                          <a:pPr algn="ctr"/>
                          <a:r>
                            <a:rPr lang="en-US" sz="2000" dirty="0"/>
                            <a:t>“Post” period</a:t>
                          </a:r>
                        </a:p>
                      </a:txBody>
                      <a:tcPr/>
                    </a:tc>
                    <a:tc>
                      <a:txBody>
                        <a:bodyPr/>
                        <a:lstStyle/>
                        <a:p>
                          <a:pPr algn="ctr"/>
                          <a:r>
                            <a:rPr lang="en-US" sz="2000" dirty="0"/>
                            <a:t>Difference</a:t>
                          </a:r>
                        </a:p>
                      </a:txBody>
                      <a:tcPr/>
                    </a:tc>
                    <a:extLst>
                      <a:ext uri="{0D108BD9-81ED-4DB2-BD59-A6C34878D82A}">
                        <a16:rowId xmlns:a16="http://schemas.microsoft.com/office/drawing/2014/main" val="10000"/>
                      </a:ext>
                    </a:extLst>
                  </a:tr>
                  <a:tr h="370840">
                    <a:tc>
                      <a:txBody>
                        <a:bodyPr/>
                        <a:lstStyle/>
                        <a:p>
                          <a:r>
                            <a:rPr lang="en-US" sz="2000" dirty="0"/>
                            <a:t>Treatment Group</a:t>
                          </a:r>
                        </a:p>
                      </a:txBody>
                      <a:tcPr/>
                    </a:tc>
                    <a:tc>
                      <a:txBody>
                        <a:body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acc>
                                  <m:accPr>
                                    <m:chr m:val="̂"/>
                                    <m:ctrlPr>
                                      <a:rPr lang="en-US" sz="2000" i="1" smtClean="0">
                                        <a:latin typeface="Cambria Math" panose="02040503050406030204" pitchFamily="18" charset="0"/>
                                      </a:rPr>
                                    </m:ctrlPr>
                                  </m:accPr>
                                  <m:e>
                                    <m:r>
                                      <a:rPr lang="en-US" sz="2000" i="1">
                                        <a:latin typeface="Cambria Math"/>
                                      </a:rPr>
                                      <m:t>𝑏</m:t>
                                    </m:r>
                                  </m:e>
                                </m:acc>
                                <m:r>
                                  <a:rPr lang="en-US" sz="2000" baseline="-25000" dirty="0">
                                    <a:latin typeface="Cambria Math"/>
                                  </a:rPr>
                                  <m:t>0</m:t>
                                </m:r>
                                <m:r>
                                  <a:rPr lang="en-US" sz="2000" dirty="0">
                                    <a:latin typeface="Cambria Math"/>
                                  </a:rPr>
                                  <m:t> +</m:t>
                                </m:r>
                                <m:acc>
                                  <m:accPr>
                                    <m:chr m:val="̂"/>
                                    <m:ctrlPr>
                                      <a:rPr lang="en-US" sz="2000" i="1" smtClean="0">
                                        <a:latin typeface="Cambria Math" panose="02040503050406030204" pitchFamily="18" charset="0"/>
                                      </a:rPr>
                                    </m:ctrlPr>
                                  </m:accPr>
                                  <m:e>
                                    <m:r>
                                      <a:rPr lang="en-US" sz="2000" i="1">
                                        <a:latin typeface="Cambria Math"/>
                                      </a:rPr>
                                      <m:t>𝑏</m:t>
                                    </m:r>
                                  </m:e>
                                </m:acc>
                                <m:r>
                                  <a:rPr lang="en-US" sz="2000" b="0" i="0" baseline="-25000" dirty="0" smtClean="0">
                                    <a:latin typeface="Cambria Math"/>
                                  </a:rPr>
                                  <m:t>2</m:t>
                                </m:r>
                              </m:oMath>
                            </m:oMathPara>
                          </a14:m>
                          <a:endParaRPr lang="en-US" sz="2000" dirty="0">
                            <a:latin typeface="Calibri"/>
                            <a:ea typeface="Calibri"/>
                            <a:cs typeface="Times New Roman"/>
                          </a:endParaRPr>
                        </a:p>
                      </a:txBody>
                      <a:tcPr marL="68580" marR="68580" marT="0" marB="0" anchor="ctr"/>
                    </a:tc>
                    <a:tc>
                      <a:txBody>
                        <a:bodyPr/>
                        <a:lstStyle/>
                        <a:p>
                          <a:pPr marL="0" marR="0" indent="0" algn="ctr" defTabSz="914400" rtl="0" eaLnBrk="1" fontAlgn="auto" latinLnBrk="0" hangingPunct="1">
                            <a:lnSpc>
                              <a:spcPct val="115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acc>
                                  <m:accPr>
                                    <m:chr m:val="̂"/>
                                    <m:ctrlPr>
                                      <a:rPr lang="en-US" sz="2000" i="1" smtClean="0">
                                        <a:latin typeface="Cambria Math" panose="02040503050406030204" pitchFamily="18" charset="0"/>
                                      </a:rPr>
                                    </m:ctrlPr>
                                  </m:accPr>
                                  <m:e>
                                    <m:r>
                                      <a:rPr lang="en-US" sz="2000" i="1">
                                        <a:latin typeface="Cambria Math"/>
                                      </a:rPr>
                                      <m:t>𝑏</m:t>
                                    </m:r>
                                  </m:e>
                                </m:acc>
                                <m:r>
                                  <a:rPr lang="en-US" sz="2000" baseline="-25000" dirty="0">
                                    <a:latin typeface="Cambria Math"/>
                                  </a:rPr>
                                  <m:t>0</m:t>
                                </m:r>
                                <m:r>
                                  <a:rPr lang="en-US" sz="2000" dirty="0" smtClean="0">
                                    <a:latin typeface="Cambria Math"/>
                                  </a:rPr>
                                  <m:t>+</m:t>
                                </m:r>
                                <m:acc>
                                  <m:accPr>
                                    <m:chr m:val="̂"/>
                                    <m:ctrlPr>
                                      <a:rPr lang="en-US" sz="2000" i="1" smtClean="0">
                                        <a:latin typeface="Cambria Math" panose="02040503050406030204" pitchFamily="18" charset="0"/>
                                      </a:rPr>
                                    </m:ctrlPr>
                                  </m:accPr>
                                  <m:e>
                                    <m:r>
                                      <a:rPr lang="en-US" sz="2000" i="1">
                                        <a:latin typeface="Cambria Math"/>
                                      </a:rPr>
                                      <m:t>𝑏</m:t>
                                    </m:r>
                                  </m:e>
                                </m:acc>
                                <m:r>
                                  <a:rPr lang="en-US" sz="2000" baseline="-25000" dirty="0">
                                    <a:latin typeface="Cambria Math"/>
                                  </a:rPr>
                                  <m:t>1</m:t>
                                </m:r>
                                <m:r>
                                  <a:rPr lang="en-US" sz="2000" dirty="0" smtClean="0">
                                    <a:latin typeface="Cambria Math"/>
                                  </a:rPr>
                                  <m:t>+</m:t>
                                </m:r>
                                <m:acc>
                                  <m:accPr>
                                    <m:chr m:val="̂"/>
                                    <m:ctrlPr>
                                      <a:rPr lang="en-US" sz="2000" i="1" smtClean="0">
                                        <a:latin typeface="Cambria Math" panose="02040503050406030204" pitchFamily="18" charset="0"/>
                                      </a:rPr>
                                    </m:ctrlPr>
                                  </m:accPr>
                                  <m:e>
                                    <m:r>
                                      <a:rPr lang="en-US" sz="2000" i="1">
                                        <a:latin typeface="Cambria Math"/>
                                      </a:rPr>
                                      <m:t>𝑏</m:t>
                                    </m:r>
                                  </m:e>
                                </m:acc>
                                <m:r>
                                  <a:rPr lang="en-US" sz="2000" b="0" i="0" baseline="-25000" dirty="0" smtClean="0">
                                    <a:latin typeface="Cambria Math"/>
                                  </a:rPr>
                                  <m:t>2</m:t>
                                </m:r>
                                <m:r>
                                  <a:rPr lang="en-US" sz="2000" dirty="0" smtClean="0">
                                    <a:latin typeface="Cambria Math"/>
                                  </a:rPr>
                                  <m:t>+</m:t>
                                </m:r>
                                <m:acc>
                                  <m:accPr>
                                    <m:chr m:val="̂"/>
                                    <m:ctrlPr>
                                      <a:rPr lang="en-US" sz="2000" i="1" smtClean="0">
                                        <a:latin typeface="Cambria Math" panose="02040503050406030204" pitchFamily="18" charset="0"/>
                                      </a:rPr>
                                    </m:ctrlPr>
                                  </m:accPr>
                                  <m:e>
                                    <m:r>
                                      <a:rPr lang="en-US" sz="2000" i="1">
                                        <a:latin typeface="Cambria Math"/>
                                      </a:rPr>
                                      <m:t>𝑏</m:t>
                                    </m:r>
                                  </m:e>
                                </m:acc>
                                <m:r>
                                  <a:rPr lang="en-US" sz="2000" b="0" i="0" baseline="-25000" dirty="0" smtClean="0">
                                    <a:latin typeface="Cambria Math"/>
                                  </a:rPr>
                                  <m:t>3</m:t>
                                </m:r>
                              </m:oMath>
                            </m:oMathPara>
                          </a14:m>
                          <a:endParaRPr lang="en-US" sz="2000" dirty="0">
                            <a:latin typeface="+mn-lt"/>
                            <a:ea typeface="Calibri"/>
                            <a:cs typeface="Times New Roman"/>
                          </a:endParaRPr>
                        </a:p>
                      </a:txBody>
                      <a:tcPr marL="68580" marR="68580" marT="0" marB="0" anchor="ctr"/>
                    </a:tc>
                    <a:tc>
                      <a:txBody>
                        <a:bodyPr/>
                        <a:lstStyle/>
                        <a:p>
                          <a:pPr marL="0" marR="0" indent="0" algn="ctr" defTabSz="914400" rtl="0" eaLnBrk="1" fontAlgn="auto" latinLnBrk="0" hangingPunct="1">
                            <a:lnSpc>
                              <a:spcPct val="115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acc>
                                  <m:accPr>
                                    <m:chr m:val="̂"/>
                                    <m:ctrlPr>
                                      <a:rPr lang="en-US" sz="2000" i="1" smtClean="0">
                                        <a:latin typeface="Cambria Math" panose="02040503050406030204" pitchFamily="18" charset="0"/>
                                      </a:rPr>
                                    </m:ctrlPr>
                                  </m:accPr>
                                  <m:e>
                                    <m:r>
                                      <a:rPr lang="en-US" sz="2000" i="1">
                                        <a:latin typeface="Cambria Math"/>
                                      </a:rPr>
                                      <m:t>𝑏</m:t>
                                    </m:r>
                                  </m:e>
                                </m:acc>
                                <m:r>
                                  <a:rPr lang="en-US" sz="2000" b="0" i="0" baseline="-25000" dirty="0" smtClean="0">
                                    <a:latin typeface="Cambria Math"/>
                                  </a:rPr>
                                  <m:t>1</m:t>
                                </m:r>
                                <m:r>
                                  <a:rPr lang="en-US" sz="2000" dirty="0" smtClean="0">
                                    <a:latin typeface="Cambria Math"/>
                                  </a:rPr>
                                  <m:t>+</m:t>
                                </m:r>
                                <m:acc>
                                  <m:accPr>
                                    <m:chr m:val="̂"/>
                                    <m:ctrlPr>
                                      <a:rPr lang="en-US" sz="2000" i="1" smtClean="0">
                                        <a:latin typeface="Cambria Math" panose="02040503050406030204" pitchFamily="18" charset="0"/>
                                      </a:rPr>
                                    </m:ctrlPr>
                                  </m:accPr>
                                  <m:e>
                                    <m:r>
                                      <a:rPr lang="en-US" sz="2000" i="1">
                                        <a:latin typeface="Cambria Math"/>
                                      </a:rPr>
                                      <m:t>𝑏</m:t>
                                    </m:r>
                                  </m:e>
                                </m:acc>
                                <m:r>
                                  <a:rPr lang="en-US" sz="2000" b="0" i="0" baseline="-25000" dirty="0" smtClean="0">
                                    <a:latin typeface="Cambria Math"/>
                                  </a:rPr>
                                  <m:t>3</m:t>
                                </m:r>
                              </m:oMath>
                            </m:oMathPara>
                          </a14:m>
                          <a:endParaRPr lang="en-US" sz="2000" dirty="0">
                            <a:latin typeface="+mn-lt"/>
                            <a:ea typeface="Calibri"/>
                            <a:cs typeface="Times New Roman"/>
                          </a:endParaRPr>
                        </a:p>
                      </a:txBody>
                      <a:tcPr marL="68580" marR="68580" marT="0" marB="0" anchor="ctr"/>
                    </a:tc>
                    <a:extLst>
                      <a:ext uri="{0D108BD9-81ED-4DB2-BD59-A6C34878D82A}">
                        <a16:rowId xmlns:a16="http://schemas.microsoft.com/office/drawing/2014/main" val="10001"/>
                      </a:ext>
                    </a:extLst>
                  </a:tr>
                  <a:tr h="370840">
                    <a:tc>
                      <a:txBody>
                        <a:bodyPr/>
                        <a:lstStyle/>
                        <a:p>
                          <a:r>
                            <a:rPr lang="en-US" sz="2000" dirty="0"/>
                            <a:t>Control Group</a:t>
                          </a:r>
                        </a:p>
                      </a:txBody>
                      <a:tcPr/>
                    </a:tc>
                    <a:tc>
                      <a:txBody>
                        <a:bodyPr/>
                        <a:lstStyle/>
                        <a:p>
                          <a:pPr marL="0" marR="0" indent="0" algn="ctr" defTabSz="914400" rtl="0" eaLnBrk="1" fontAlgn="auto" latinLnBrk="0" hangingPunct="1">
                            <a:lnSpc>
                              <a:spcPct val="115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acc>
                                  <m:accPr>
                                    <m:chr m:val="̂"/>
                                    <m:ctrlPr>
                                      <a:rPr lang="en-US" sz="2000" i="1" smtClean="0">
                                        <a:latin typeface="Cambria Math" panose="02040503050406030204" pitchFamily="18" charset="0"/>
                                      </a:rPr>
                                    </m:ctrlPr>
                                  </m:accPr>
                                  <m:e>
                                    <m:r>
                                      <a:rPr lang="en-US" sz="2000" i="1">
                                        <a:latin typeface="Cambria Math"/>
                                      </a:rPr>
                                      <m:t>𝑏</m:t>
                                    </m:r>
                                  </m:e>
                                </m:acc>
                                <m:r>
                                  <a:rPr lang="en-US" sz="2000" baseline="-25000" dirty="0">
                                    <a:latin typeface="Cambria Math"/>
                                  </a:rPr>
                                  <m:t>0</m:t>
                                </m:r>
                                <m:r>
                                  <a:rPr lang="en-US" sz="2000" dirty="0">
                                    <a:latin typeface="Cambria Math"/>
                                  </a:rPr>
                                  <m:t> </m:t>
                                </m:r>
                              </m:oMath>
                            </m:oMathPara>
                          </a14:m>
                          <a:endParaRPr lang="en-US" sz="2000" dirty="0">
                            <a:latin typeface="+mn-lt"/>
                            <a:ea typeface="Calibri"/>
                            <a:cs typeface="Times New Roman"/>
                          </a:endParaRPr>
                        </a:p>
                      </a:txBody>
                      <a:tcPr marL="68580" marR="68580" marT="0" marB="0" anchor="ctr">
                        <a:solidFill>
                          <a:schemeClr val="accent2"/>
                        </a:solidFill>
                      </a:tcPr>
                    </a:tc>
                    <a:tc>
                      <a:txBody>
                        <a:bodyPr/>
                        <a:lstStyle/>
                        <a:p>
                          <a:pPr marL="0" marR="0" algn="ctr">
                            <a:lnSpc>
                              <a:spcPct val="115000"/>
                            </a:lnSpc>
                            <a:spcBef>
                              <a:spcPts val="0"/>
                            </a:spcBef>
                            <a:spcAft>
                              <a:spcPts val="0"/>
                            </a:spcAft>
                          </a:pPr>
                          <a:endParaRPr lang="en-US" sz="2000" dirty="0">
                            <a:latin typeface="Calibri"/>
                            <a:ea typeface="Calibri"/>
                            <a:cs typeface="Times New Roman"/>
                          </a:endParaRPr>
                        </a:p>
                      </a:txBody>
                      <a:tcPr marL="68580" marR="68580" marT="0" marB="0" anchor="ctr"/>
                    </a:tc>
                    <a:tc>
                      <a:txBody>
                        <a:bodyPr/>
                        <a:lstStyle/>
                        <a:p>
                          <a:pPr marL="0" marR="0" algn="ctr">
                            <a:lnSpc>
                              <a:spcPct val="115000"/>
                            </a:lnSpc>
                            <a:spcBef>
                              <a:spcPts val="0"/>
                            </a:spcBef>
                            <a:spcAft>
                              <a:spcPts val="0"/>
                            </a:spcAft>
                          </a:pPr>
                          <a:endParaRPr lang="en-US" sz="2000" dirty="0">
                            <a:latin typeface="Calibri"/>
                            <a:ea typeface="Calibri"/>
                            <a:cs typeface="Times New Roman"/>
                          </a:endParaRPr>
                        </a:p>
                      </a:txBody>
                      <a:tcPr marL="68580" marR="68580" marT="0" marB="0" anchor="ctr"/>
                    </a:tc>
                    <a:extLst>
                      <a:ext uri="{0D108BD9-81ED-4DB2-BD59-A6C34878D82A}">
                        <a16:rowId xmlns:a16="http://schemas.microsoft.com/office/drawing/2014/main" val="10002"/>
                      </a:ext>
                    </a:extLst>
                  </a:tr>
                  <a:tr h="370840">
                    <a:tc>
                      <a:txBody>
                        <a:bodyPr/>
                        <a:lstStyle/>
                        <a:p>
                          <a:endParaRPr lang="en-US" sz="2000" dirty="0"/>
                        </a:p>
                      </a:txBody>
                      <a:tcPr/>
                    </a:tc>
                    <a:tc gridSpan="2">
                      <a:txBody>
                        <a:bodyPr/>
                        <a:lstStyle/>
                        <a:p>
                          <a:r>
                            <a:rPr lang="en-US" sz="2000" dirty="0"/>
                            <a:t>Difference-in-Differences</a:t>
                          </a:r>
                        </a:p>
                      </a:txBody>
                      <a:tcPr/>
                    </a:tc>
                    <a:tc hMerge="1">
                      <a:txBody>
                        <a:bodyPr/>
                        <a:lstStyle/>
                        <a:p>
                          <a:endParaRPr lang="en-US" sz="200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2000" dirty="0">
                            <a:latin typeface="+mn-lt"/>
                            <a:ea typeface="Calibri"/>
                            <a:cs typeface="Times New Roman"/>
                          </a:endParaRPr>
                        </a:p>
                      </a:txBody>
                      <a:tcPr/>
                    </a:tc>
                    <a:extLst>
                      <a:ext uri="{0D108BD9-81ED-4DB2-BD59-A6C34878D82A}">
                        <a16:rowId xmlns:a16="http://schemas.microsoft.com/office/drawing/2014/main" val="10003"/>
                      </a:ext>
                    </a:extLst>
                  </a:tr>
                </a:tbl>
              </a:graphicData>
            </a:graphic>
          </p:graphicFrame>
        </mc:Choice>
        <mc:Fallback xmlns="">
          <p:graphicFrame>
            <p:nvGraphicFramePr>
              <p:cNvPr id="4" name="Table 3"/>
              <p:cNvGraphicFramePr>
                <a:graphicFrameLocks noGrp="1"/>
              </p:cNvGraphicFramePr>
              <p:nvPr>
                <p:extLst>
                  <p:ext uri="{D42A27DB-BD31-4B8C-83A1-F6EECF244321}">
                    <p14:modId xmlns:p14="http://schemas.microsoft.com/office/powerpoint/2010/main" val="1190721894"/>
                  </p:ext>
                </p:extLst>
              </p:nvPr>
            </p:nvGraphicFramePr>
            <p:xfrm>
              <a:off x="533400" y="2667000"/>
              <a:ext cx="7924800" cy="1584960"/>
            </p:xfrm>
            <a:graphic>
              <a:graphicData uri="http://schemas.openxmlformats.org/drawingml/2006/table">
                <a:tbl>
                  <a:tblPr firstRow="1" bandRow="1">
                    <a:tableStyleId>{5940675A-B579-460E-94D1-54222C63F5DA}</a:tableStyleId>
                  </a:tblPr>
                  <a:tblGrid>
                    <a:gridCol w="1981200">
                      <a:extLst>
                        <a:ext uri="{9D8B030D-6E8A-4147-A177-3AD203B41FA5}">
                          <a16:colId xmlns:a16="http://schemas.microsoft.com/office/drawing/2014/main" val="20000"/>
                        </a:ext>
                      </a:extLst>
                    </a:gridCol>
                    <a:gridCol w="1981200">
                      <a:extLst>
                        <a:ext uri="{9D8B030D-6E8A-4147-A177-3AD203B41FA5}">
                          <a16:colId xmlns:a16="http://schemas.microsoft.com/office/drawing/2014/main" val="20001"/>
                        </a:ext>
                      </a:extLst>
                    </a:gridCol>
                    <a:gridCol w="2133600">
                      <a:extLst>
                        <a:ext uri="{9D8B030D-6E8A-4147-A177-3AD203B41FA5}">
                          <a16:colId xmlns:a16="http://schemas.microsoft.com/office/drawing/2014/main" val="20002"/>
                        </a:ext>
                      </a:extLst>
                    </a:gridCol>
                    <a:gridCol w="1828800">
                      <a:extLst>
                        <a:ext uri="{9D8B030D-6E8A-4147-A177-3AD203B41FA5}">
                          <a16:colId xmlns:a16="http://schemas.microsoft.com/office/drawing/2014/main" val="20003"/>
                        </a:ext>
                      </a:extLst>
                    </a:gridCol>
                  </a:tblGrid>
                  <a:tr h="396240">
                    <a:tc>
                      <a:txBody>
                        <a:bodyPr/>
                        <a:lstStyle/>
                        <a:p>
                          <a:endParaRPr lang="en-US" sz="2000" dirty="0"/>
                        </a:p>
                      </a:txBody>
                      <a:tcPr/>
                    </a:tc>
                    <a:tc>
                      <a:txBody>
                        <a:bodyPr/>
                        <a:lstStyle/>
                        <a:p>
                          <a:pPr algn="ctr"/>
                          <a:r>
                            <a:rPr lang="en-US" sz="2000" dirty="0" smtClean="0"/>
                            <a:t>“Pre”</a:t>
                          </a:r>
                          <a:r>
                            <a:rPr lang="en-US" sz="2000" baseline="0" dirty="0" smtClean="0"/>
                            <a:t> Period</a:t>
                          </a:r>
                          <a:endParaRPr lang="en-US" sz="2000" dirty="0"/>
                        </a:p>
                      </a:txBody>
                      <a:tcPr/>
                    </a:tc>
                    <a:tc>
                      <a:txBody>
                        <a:bodyPr/>
                        <a:lstStyle/>
                        <a:p>
                          <a:pPr algn="ctr"/>
                          <a:r>
                            <a:rPr lang="en-US" sz="2000" dirty="0" smtClean="0"/>
                            <a:t>“Post” period</a:t>
                          </a:r>
                          <a:endParaRPr lang="en-US" sz="2000" dirty="0"/>
                        </a:p>
                      </a:txBody>
                      <a:tcPr/>
                    </a:tc>
                    <a:tc>
                      <a:txBody>
                        <a:bodyPr/>
                        <a:lstStyle/>
                        <a:p>
                          <a:pPr algn="ctr"/>
                          <a:r>
                            <a:rPr lang="en-US" sz="2000" dirty="0" smtClean="0"/>
                            <a:t>Difference</a:t>
                          </a:r>
                          <a:endParaRPr lang="en-US" sz="2000" dirty="0"/>
                        </a:p>
                      </a:txBody>
                      <a:tcPr/>
                    </a:tc>
                    <a:extLst>
                      <a:ext uri="{0D108BD9-81ED-4DB2-BD59-A6C34878D82A}">
                        <a16:rowId xmlns:a16="http://schemas.microsoft.com/office/drawing/2014/main" val="10000"/>
                      </a:ext>
                    </a:extLst>
                  </a:tr>
                  <a:tr h="396240">
                    <a:tc>
                      <a:txBody>
                        <a:bodyPr/>
                        <a:lstStyle/>
                        <a:p>
                          <a:r>
                            <a:rPr lang="en-US" sz="2000" dirty="0" smtClean="0"/>
                            <a:t>Treatment Group</a:t>
                          </a:r>
                          <a:endParaRPr lang="en-US" sz="2000" dirty="0"/>
                        </a:p>
                      </a:txBody>
                      <a:tcPr/>
                    </a:tc>
                    <a:tc>
                      <a:txBody>
                        <a:bodyPr/>
                        <a:lstStyle/>
                        <a:p>
                          <a:endParaRPr lang="en-US"/>
                        </a:p>
                      </a:txBody>
                      <a:tcPr marL="68580" marR="68580" marT="0" marB="0" anchor="ctr">
                        <a:blipFill>
                          <a:blip r:embed="rId2"/>
                          <a:stretch>
                            <a:fillRect l="-100000" t="-106061" r="-200000" b="-222727"/>
                          </a:stretch>
                        </a:blipFill>
                      </a:tcPr>
                    </a:tc>
                    <a:tc>
                      <a:txBody>
                        <a:bodyPr/>
                        <a:lstStyle/>
                        <a:p>
                          <a:endParaRPr lang="en-US"/>
                        </a:p>
                      </a:txBody>
                      <a:tcPr marL="68580" marR="68580" marT="0" marB="0" anchor="ctr">
                        <a:blipFill>
                          <a:blip r:embed="rId2"/>
                          <a:stretch>
                            <a:fillRect l="-186286" t="-106061" r="-86286" b="-222727"/>
                          </a:stretch>
                        </a:blipFill>
                      </a:tcPr>
                    </a:tc>
                    <a:tc>
                      <a:txBody>
                        <a:bodyPr/>
                        <a:lstStyle/>
                        <a:p>
                          <a:endParaRPr lang="en-US"/>
                        </a:p>
                      </a:txBody>
                      <a:tcPr marL="68580" marR="68580" marT="0" marB="0" anchor="ctr">
                        <a:blipFill>
                          <a:blip r:embed="rId2"/>
                          <a:stretch>
                            <a:fillRect l="-334000" t="-106061" r="-667" b="-222727"/>
                          </a:stretch>
                        </a:blipFill>
                      </a:tcPr>
                    </a:tc>
                    <a:extLst>
                      <a:ext uri="{0D108BD9-81ED-4DB2-BD59-A6C34878D82A}">
                        <a16:rowId xmlns:a16="http://schemas.microsoft.com/office/drawing/2014/main" val="10001"/>
                      </a:ext>
                    </a:extLst>
                  </a:tr>
                  <a:tr h="396240">
                    <a:tc>
                      <a:txBody>
                        <a:bodyPr/>
                        <a:lstStyle/>
                        <a:p>
                          <a:r>
                            <a:rPr lang="en-US" sz="2000" dirty="0" smtClean="0"/>
                            <a:t>Control Group</a:t>
                          </a:r>
                          <a:endParaRPr lang="en-US" sz="2000" dirty="0"/>
                        </a:p>
                      </a:txBody>
                      <a:tcPr/>
                    </a:tc>
                    <a:tc>
                      <a:txBody>
                        <a:bodyPr/>
                        <a:lstStyle/>
                        <a:p>
                          <a:endParaRPr lang="en-US"/>
                        </a:p>
                      </a:txBody>
                      <a:tcPr marL="68580" marR="68580" marT="0" marB="0" anchor="ctr">
                        <a:blipFill>
                          <a:blip r:embed="rId2"/>
                          <a:stretch>
                            <a:fillRect l="-100000" t="-209231" r="-200000" b="-126154"/>
                          </a:stretch>
                        </a:blipFill>
                      </a:tcPr>
                    </a:tc>
                    <a:tc>
                      <a:txBody>
                        <a:bodyPr/>
                        <a:lstStyle/>
                        <a:p>
                          <a:pPr marL="0" marR="0" algn="ctr">
                            <a:lnSpc>
                              <a:spcPct val="115000"/>
                            </a:lnSpc>
                            <a:spcBef>
                              <a:spcPts val="0"/>
                            </a:spcBef>
                            <a:spcAft>
                              <a:spcPts val="0"/>
                            </a:spcAft>
                          </a:pPr>
                          <a:endParaRPr lang="en-US" sz="2000" dirty="0">
                            <a:latin typeface="Calibri"/>
                            <a:ea typeface="Calibri"/>
                            <a:cs typeface="Times New Roman"/>
                          </a:endParaRPr>
                        </a:p>
                      </a:txBody>
                      <a:tcPr marL="68580" marR="68580" marT="0" marB="0" anchor="ctr"/>
                    </a:tc>
                    <a:tc>
                      <a:txBody>
                        <a:bodyPr/>
                        <a:lstStyle/>
                        <a:p>
                          <a:pPr marL="0" marR="0" algn="ctr">
                            <a:lnSpc>
                              <a:spcPct val="115000"/>
                            </a:lnSpc>
                            <a:spcBef>
                              <a:spcPts val="0"/>
                            </a:spcBef>
                            <a:spcAft>
                              <a:spcPts val="0"/>
                            </a:spcAft>
                          </a:pPr>
                          <a:endParaRPr lang="en-US" sz="2000" dirty="0">
                            <a:latin typeface="Calibri"/>
                            <a:ea typeface="Calibri"/>
                            <a:cs typeface="Times New Roman"/>
                          </a:endParaRPr>
                        </a:p>
                      </a:txBody>
                      <a:tcPr marL="68580" marR="68580" marT="0" marB="0" anchor="ctr"/>
                    </a:tc>
                    <a:extLst>
                      <a:ext uri="{0D108BD9-81ED-4DB2-BD59-A6C34878D82A}">
                        <a16:rowId xmlns:a16="http://schemas.microsoft.com/office/drawing/2014/main" val="10002"/>
                      </a:ext>
                    </a:extLst>
                  </a:tr>
                  <a:tr h="396240">
                    <a:tc>
                      <a:txBody>
                        <a:bodyPr/>
                        <a:lstStyle/>
                        <a:p>
                          <a:endParaRPr lang="en-US" sz="2000" dirty="0"/>
                        </a:p>
                      </a:txBody>
                      <a:tcPr/>
                    </a:tc>
                    <a:tc gridSpan="2">
                      <a:txBody>
                        <a:bodyPr/>
                        <a:lstStyle/>
                        <a:p>
                          <a:r>
                            <a:rPr lang="en-US" sz="2000" dirty="0" smtClean="0"/>
                            <a:t>Difference-in-Differences</a:t>
                          </a:r>
                          <a:endParaRPr lang="en-US" sz="2000" dirty="0"/>
                        </a:p>
                      </a:txBody>
                      <a:tcPr/>
                    </a:tc>
                    <a:tc hMerge="1">
                      <a:txBody>
                        <a:bodyPr/>
                        <a:lstStyle/>
                        <a:p>
                          <a:endParaRPr lang="en-US" sz="200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2000" dirty="0" smtClean="0">
                            <a:latin typeface="+mn-lt"/>
                            <a:ea typeface="Calibri"/>
                            <a:cs typeface="Times New Roman"/>
                          </a:endParaRPr>
                        </a:p>
                      </a:txBody>
                      <a:tcPr/>
                    </a:tc>
                    <a:extLst>
                      <a:ext uri="{0D108BD9-81ED-4DB2-BD59-A6C34878D82A}">
                        <a16:rowId xmlns:a16="http://schemas.microsoft.com/office/drawing/2014/main" val="10003"/>
                      </a:ext>
                    </a:extLst>
                  </a:tr>
                </a:tbl>
              </a:graphicData>
            </a:graphic>
          </p:graphicFrame>
        </mc:Fallback>
      </mc:AlternateContent>
    </p:spTree>
    <p:extLst>
      <p:ext uri="{BB962C8B-B14F-4D97-AF65-F5344CB8AC3E}">
        <p14:creationId xmlns:p14="http://schemas.microsoft.com/office/powerpoint/2010/main" val="357200409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Quadrant #4: Control &amp; Post</a:t>
            </a:r>
          </a:p>
        </p:txBody>
      </p:sp>
      <p:sp>
        <p:nvSpPr>
          <p:cNvPr id="3" name="Content Placeholder 2"/>
          <p:cNvSpPr>
            <a:spLocks noGrp="1"/>
          </p:cNvSpPr>
          <p:nvPr>
            <p:ph idx="1"/>
          </p:nvPr>
        </p:nvSpPr>
        <p:spPr/>
        <p:txBody>
          <a:bodyPr/>
          <a:lstStyle/>
          <a:p>
            <a:pPr marL="0" indent="0">
              <a:buNone/>
            </a:pPr>
            <a:r>
              <a:rPr lang="en-US" dirty="0"/>
              <a:t>Last one:</a:t>
            </a:r>
          </a:p>
          <a:p>
            <a:pPr marL="0" indent="0">
              <a:buNone/>
            </a:pPr>
            <a:endParaRPr lang="en-US" dirty="0"/>
          </a:p>
        </p:txBody>
      </p:sp>
      <mc:AlternateContent xmlns:mc="http://schemas.openxmlformats.org/markup-compatibility/2006" xmlns:a14="http://schemas.microsoft.com/office/drawing/2010/main">
        <mc:Choice Requires="a14">
          <p:graphicFrame>
            <p:nvGraphicFramePr>
              <p:cNvPr id="4" name="Table 3"/>
              <p:cNvGraphicFramePr>
                <a:graphicFrameLocks noGrp="1"/>
              </p:cNvGraphicFramePr>
              <p:nvPr>
                <p:extLst>
                  <p:ext uri="{D42A27DB-BD31-4B8C-83A1-F6EECF244321}">
                    <p14:modId xmlns:p14="http://schemas.microsoft.com/office/powerpoint/2010/main" val="4236909913"/>
                  </p:ext>
                </p:extLst>
              </p:nvPr>
            </p:nvGraphicFramePr>
            <p:xfrm>
              <a:off x="609600" y="2362200"/>
              <a:ext cx="8153400" cy="1869186"/>
            </p:xfrm>
            <a:graphic>
              <a:graphicData uri="http://schemas.openxmlformats.org/drawingml/2006/table">
                <a:tbl>
                  <a:tblPr firstRow="1" bandRow="1">
                    <a:tableStyleId>{5940675A-B579-460E-94D1-54222C63F5DA}</a:tableStyleId>
                  </a:tblPr>
                  <a:tblGrid>
                    <a:gridCol w="2038350">
                      <a:extLst>
                        <a:ext uri="{9D8B030D-6E8A-4147-A177-3AD203B41FA5}">
                          <a16:colId xmlns:a16="http://schemas.microsoft.com/office/drawing/2014/main" val="20000"/>
                        </a:ext>
                      </a:extLst>
                    </a:gridCol>
                    <a:gridCol w="2038350">
                      <a:extLst>
                        <a:ext uri="{9D8B030D-6E8A-4147-A177-3AD203B41FA5}">
                          <a16:colId xmlns:a16="http://schemas.microsoft.com/office/drawing/2014/main" val="20001"/>
                        </a:ext>
                      </a:extLst>
                    </a:gridCol>
                    <a:gridCol w="2038350">
                      <a:extLst>
                        <a:ext uri="{9D8B030D-6E8A-4147-A177-3AD203B41FA5}">
                          <a16:colId xmlns:a16="http://schemas.microsoft.com/office/drawing/2014/main" val="20002"/>
                        </a:ext>
                      </a:extLst>
                    </a:gridCol>
                    <a:gridCol w="2038350">
                      <a:extLst>
                        <a:ext uri="{9D8B030D-6E8A-4147-A177-3AD203B41FA5}">
                          <a16:colId xmlns:a16="http://schemas.microsoft.com/office/drawing/2014/main" val="20003"/>
                        </a:ext>
                      </a:extLst>
                    </a:gridCol>
                  </a:tblGrid>
                  <a:tr h="396240">
                    <a:tc>
                      <a:txBody>
                        <a:bodyPr/>
                        <a:lstStyle/>
                        <a:p>
                          <a:endParaRPr lang="en-US" sz="2000" dirty="0"/>
                        </a:p>
                      </a:txBody>
                      <a:tcPr/>
                    </a:tc>
                    <a:tc>
                      <a:txBody>
                        <a:bodyPr/>
                        <a:lstStyle/>
                        <a:p>
                          <a:pPr algn="ctr"/>
                          <a:r>
                            <a:rPr lang="en-US" sz="2000" dirty="0"/>
                            <a:t>“Pre”</a:t>
                          </a:r>
                          <a:r>
                            <a:rPr lang="en-US" sz="2000" baseline="0" dirty="0"/>
                            <a:t> Period</a:t>
                          </a:r>
                          <a:endParaRPr lang="en-US" sz="2000" dirty="0"/>
                        </a:p>
                      </a:txBody>
                      <a:tcPr/>
                    </a:tc>
                    <a:tc>
                      <a:txBody>
                        <a:bodyPr/>
                        <a:lstStyle/>
                        <a:p>
                          <a:pPr algn="ctr"/>
                          <a:r>
                            <a:rPr lang="en-US" sz="2000" dirty="0"/>
                            <a:t>“Post” period</a:t>
                          </a:r>
                        </a:p>
                      </a:txBody>
                      <a:tcPr/>
                    </a:tc>
                    <a:tc>
                      <a:txBody>
                        <a:bodyPr/>
                        <a:lstStyle/>
                        <a:p>
                          <a:pPr algn="ctr"/>
                          <a:r>
                            <a:rPr lang="en-US" sz="2000" dirty="0"/>
                            <a:t>Difference</a:t>
                          </a:r>
                        </a:p>
                      </a:txBody>
                      <a:tcPr/>
                    </a:tc>
                    <a:extLst>
                      <a:ext uri="{0D108BD9-81ED-4DB2-BD59-A6C34878D82A}">
                        <a16:rowId xmlns:a16="http://schemas.microsoft.com/office/drawing/2014/main" val="10000"/>
                      </a:ext>
                    </a:extLst>
                  </a:tr>
                  <a:tr h="370840">
                    <a:tc>
                      <a:txBody>
                        <a:bodyPr/>
                        <a:lstStyle/>
                        <a:p>
                          <a:r>
                            <a:rPr lang="en-US" sz="2000" dirty="0"/>
                            <a:t>Treatment Group</a:t>
                          </a:r>
                        </a:p>
                      </a:txBody>
                      <a:tcPr/>
                    </a:tc>
                    <a:tc>
                      <a:txBody>
                        <a:body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acc>
                                  <m:accPr>
                                    <m:chr m:val="̂"/>
                                    <m:ctrlPr>
                                      <a:rPr lang="en-US" sz="2000" i="1" smtClean="0">
                                        <a:latin typeface="Cambria Math" panose="02040503050406030204" pitchFamily="18" charset="0"/>
                                      </a:rPr>
                                    </m:ctrlPr>
                                  </m:accPr>
                                  <m:e>
                                    <m:r>
                                      <a:rPr lang="en-US" sz="2000" i="1">
                                        <a:latin typeface="Cambria Math"/>
                                      </a:rPr>
                                      <m:t>𝑏</m:t>
                                    </m:r>
                                  </m:e>
                                </m:acc>
                                <m:r>
                                  <a:rPr lang="en-US" sz="2000" baseline="-25000" dirty="0">
                                    <a:latin typeface="Cambria Math"/>
                                  </a:rPr>
                                  <m:t>0</m:t>
                                </m:r>
                                <m:r>
                                  <a:rPr lang="en-US" sz="2000" dirty="0">
                                    <a:latin typeface="Cambria Math"/>
                                  </a:rPr>
                                  <m:t> + </m:t>
                                </m:r>
                                <m:r>
                                  <a:rPr lang="en-US" sz="2000" dirty="0">
                                    <a:latin typeface="Cambria Math"/>
                                  </a:rPr>
                                  <m:t>𝑏</m:t>
                                </m:r>
                                <m:r>
                                  <a:rPr lang="en-US" sz="2000" b="0" i="0" baseline="-25000" dirty="0" smtClean="0">
                                    <a:latin typeface="Cambria Math"/>
                                  </a:rPr>
                                  <m:t>2</m:t>
                                </m:r>
                              </m:oMath>
                            </m:oMathPara>
                          </a14:m>
                          <a:endParaRPr lang="en-US" sz="2000" dirty="0">
                            <a:latin typeface="Calibri"/>
                            <a:ea typeface="Calibri"/>
                            <a:cs typeface="Times New Roman"/>
                          </a:endParaRPr>
                        </a:p>
                      </a:txBody>
                      <a:tcPr marL="68580" marR="68580" marT="0" marB="0" anchor="ctr"/>
                    </a:tc>
                    <a:tc>
                      <a:txBody>
                        <a:bodyPr/>
                        <a:lstStyle/>
                        <a:p>
                          <a:pPr marL="0" marR="0" indent="0" algn="ctr" defTabSz="914400" rtl="0" eaLnBrk="1" fontAlgn="auto" latinLnBrk="0" hangingPunct="1">
                            <a:lnSpc>
                              <a:spcPct val="115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acc>
                                  <m:accPr>
                                    <m:chr m:val="̂"/>
                                    <m:ctrlPr>
                                      <a:rPr lang="en-US" sz="2000" i="1" smtClean="0">
                                        <a:latin typeface="Cambria Math" panose="02040503050406030204" pitchFamily="18" charset="0"/>
                                      </a:rPr>
                                    </m:ctrlPr>
                                  </m:accPr>
                                  <m:e>
                                    <m:r>
                                      <a:rPr lang="en-US" sz="2000" i="1">
                                        <a:latin typeface="Cambria Math"/>
                                      </a:rPr>
                                      <m:t>𝑏</m:t>
                                    </m:r>
                                  </m:e>
                                </m:acc>
                                <m:r>
                                  <a:rPr lang="en-US" sz="2000" baseline="-25000" dirty="0">
                                    <a:latin typeface="Cambria Math"/>
                                  </a:rPr>
                                  <m:t>0</m:t>
                                </m:r>
                                <m:r>
                                  <a:rPr lang="en-US" sz="2000" dirty="0" smtClean="0">
                                    <a:latin typeface="Cambria Math"/>
                                  </a:rPr>
                                  <m:t>+</m:t>
                                </m:r>
                                <m:acc>
                                  <m:accPr>
                                    <m:chr m:val="̂"/>
                                    <m:ctrlPr>
                                      <a:rPr lang="en-US" sz="2000" i="1" smtClean="0">
                                        <a:latin typeface="Cambria Math" panose="02040503050406030204" pitchFamily="18" charset="0"/>
                                      </a:rPr>
                                    </m:ctrlPr>
                                  </m:accPr>
                                  <m:e>
                                    <m:r>
                                      <a:rPr lang="en-US" sz="2000" i="1">
                                        <a:latin typeface="Cambria Math"/>
                                      </a:rPr>
                                      <m:t>𝑏</m:t>
                                    </m:r>
                                  </m:e>
                                </m:acc>
                                <m:r>
                                  <a:rPr lang="en-US" sz="2000" baseline="-25000" dirty="0">
                                    <a:latin typeface="Cambria Math"/>
                                  </a:rPr>
                                  <m:t>1</m:t>
                                </m:r>
                                <m:r>
                                  <a:rPr lang="en-US" sz="2000" dirty="0" smtClean="0">
                                    <a:latin typeface="Cambria Math"/>
                                  </a:rPr>
                                  <m:t>+</m:t>
                                </m:r>
                                <m:acc>
                                  <m:accPr>
                                    <m:chr m:val="̂"/>
                                    <m:ctrlPr>
                                      <a:rPr lang="en-US" sz="2000" i="1" smtClean="0">
                                        <a:latin typeface="Cambria Math" panose="02040503050406030204" pitchFamily="18" charset="0"/>
                                      </a:rPr>
                                    </m:ctrlPr>
                                  </m:accPr>
                                  <m:e>
                                    <m:r>
                                      <a:rPr lang="en-US" sz="2000" i="1">
                                        <a:latin typeface="Cambria Math"/>
                                      </a:rPr>
                                      <m:t>𝑏</m:t>
                                    </m:r>
                                  </m:e>
                                </m:acc>
                                <m:r>
                                  <a:rPr lang="en-US" sz="2000" b="0" i="0" baseline="-25000" dirty="0" smtClean="0">
                                    <a:latin typeface="Cambria Math"/>
                                  </a:rPr>
                                  <m:t>2</m:t>
                                </m:r>
                                <m:r>
                                  <a:rPr lang="en-US" sz="2000" dirty="0" smtClean="0">
                                    <a:latin typeface="Cambria Math"/>
                                  </a:rPr>
                                  <m:t>+</m:t>
                                </m:r>
                                <m:acc>
                                  <m:accPr>
                                    <m:chr m:val="̂"/>
                                    <m:ctrlPr>
                                      <a:rPr lang="en-US" sz="2000" i="1" smtClean="0">
                                        <a:latin typeface="Cambria Math" panose="02040503050406030204" pitchFamily="18" charset="0"/>
                                      </a:rPr>
                                    </m:ctrlPr>
                                  </m:accPr>
                                  <m:e>
                                    <m:r>
                                      <a:rPr lang="en-US" sz="2000" i="1">
                                        <a:latin typeface="Cambria Math"/>
                                      </a:rPr>
                                      <m:t>𝑏</m:t>
                                    </m:r>
                                  </m:e>
                                </m:acc>
                                <m:r>
                                  <a:rPr lang="en-US" sz="2000" b="0" i="0" baseline="-25000" dirty="0" smtClean="0">
                                    <a:latin typeface="Cambria Math"/>
                                  </a:rPr>
                                  <m:t>3</m:t>
                                </m:r>
                              </m:oMath>
                            </m:oMathPara>
                          </a14:m>
                          <a:endParaRPr lang="en-US" sz="2000" dirty="0">
                            <a:latin typeface="+mn-lt"/>
                            <a:ea typeface="Calibri"/>
                            <a:cs typeface="Times New Roman"/>
                          </a:endParaRPr>
                        </a:p>
                      </a:txBody>
                      <a:tcPr marL="68580" marR="68580" marT="0" marB="0" anchor="ctr"/>
                    </a:tc>
                    <a:tc>
                      <a:txBody>
                        <a:bodyPr/>
                        <a:lstStyle/>
                        <a:p>
                          <a:pPr marL="0" marR="0" indent="0" algn="ctr" defTabSz="914400" rtl="0" eaLnBrk="1" fontAlgn="auto" latinLnBrk="0" hangingPunct="1">
                            <a:lnSpc>
                              <a:spcPct val="115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acc>
                                  <m:accPr>
                                    <m:chr m:val="̂"/>
                                    <m:ctrlPr>
                                      <a:rPr lang="en-US" sz="2000" i="1" smtClean="0">
                                        <a:latin typeface="Cambria Math" panose="02040503050406030204" pitchFamily="18" charset="0"/>
                                      </a:rPr>
                                    </m:ctrlPr>
                                  </m:accPr>
                                  <m:e>
                                    <m:r>
                                      <a:rPr lang="en-US" sz="2000" i="1">
                                        <a:latin typeface="Cambria Math"/>
                                      </a:rPr>
                                      <m:t>𝑏</m:t>
                                    </m:r>
                                  </m:e>
                                </m:acc>
                                <m:r>
                                  <a:rPr lang="en-US" sz="2000" b="0" i="0" baseline="-25000" dirty="0" smtClean="0">
                                    <a:latin typeface="Cambria Math"/>
                                  </a:rPr>
                                  <m:t>1</m:t>
                                </m:r>
                                <m:r>
                                  <a:rPr lang="en-US" sz="2000" dirty="0" smtClean="0">
                                    <a:latin typeface="Cambria Math"/>
                                  </a:rPr>
                                  <m:t>+</m:t>
                                </m:r>
                                <m:acc>
                                  <m:accPr>
                                    <m:chr m:val="̂"/>
                                    <m:ctrlPr>
                                      <a:rPr lang="en-US" sz="2000" i="1" smtClean="0">
                                        <a:latin typeface="Cambria Math" panose="02040503050406030204" pitchFamily="18" charset="0"/>
                                      </a:rPr>
                                    </m:ctrlPr>
                                  </m:accPr>
                                  <m:e>
                                    <m:r>
                                      <a:rPr lang="en-US" sz="2000" i="1">
                                        <a:latin typeface="Cambria Math"/>
                                      </a:rPr>
                                      <m:t>𝑏</m:t>
                                    </m:r>
                                  </m:e>
                                </m:acc>
                                <m:r>
                                  <a:rPr lang="en-US" sz="2000" b="0" i="0" baseline="-25000" dirty="0" smtClean="0">
                                    <a:latin typeface="Cambria Math"/>
                                  </a:rPr>
                                  <m:t>3</m:t>
                                </m:r>
                              </m:oMath>
                            </m:oMathPara>
                          </a14:m>
                          <a:endParaRPr lang="en-US" sz="2000" dirty="0">
                            <a:latin typeface="+mn-lt"/>
                            <a:ea typeface="Calibri"/>
                            <a:cs typeface="Times New Roman"/>
                          </a:endParaRPr>
                        </a:p>
                      </a:txBody>
                      <a:tcPr marL="68580" marR="68580" marT="0" marB="0" anchor="ctr"/>
                    </a:tc>
                    <a:extLst>
                      <a:ext uri="{0D108BD9-81ED-4DB2-BD59-A6C34878D82A}">
                        <a16:rowId xmlns:a16="http://schemas.microsoft.com/office/drawing/2014/main" val="10001"/>
                      </a:ext>
                    </a:extLst>
                  </a:tr>
                  <a:tr h="370840">
                    <a:tc>
                      <a:txBody>
                        <a:bodyPr/>
                        <a:lstStyle/>
                        <a:p>
                          <a:r>
                            <a:rPr lang="en-US" sz="2000" dirty="0"/>
                            <a:t>Control Group</a:t>
                          </a:r>
                        </a:p>
                      </a:txBody>
                      <a:tcPr/>
                    </a:tc>
                    <a:tc>
                      <a:txBody>
                        <a:bodyPr/>
                        <a:lstStyle/>
                        <a:p>
                          <a:pPr marL="0" marR="0" indent="0" algn="ctr" defTabSz="914400" rtl="0" eaLnBrk="1" fontAlgn="auto" latinLnBrk="0" hangingPunct="1">
                            <a:lnSpc>
                              <a:spcPct val="115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acc>
                                  <m:accPr>
                                    <m:chr m:val="̂"/>
                                    <m:ctrlPr>
                                      <a:rPr lang="en-US" sz="2000" i="1" smtClean="0">
                                        <a:latin typeface="Cambria Math" panose="02040503050406030204" pitchFamily="18" charset="0"/>
                                      </a:rPr>
                                    </m:ctrlPr>
                                  </m:accPr>
                                  <m:e>
                                    <m:r>
                                      <a:rPr lang="en-US" sz="2000" i="1">
                                        <a:latin typeface="Cambria Math"/>
                                      </a:rPr>
                                      <m:t>𝑏</m:t>
                                    </m:r>
                                  </m:e>
                                </m:acc>
                                <m:r>
                                  <a:rPr lang="en-US" sz="2000" baseline="-25000" dirty="0">
                                    <a:latin typeface="Cambria Math"/>
                                  </a:rPr>
                                  <m:t>0</m:t>
                                </m:r>
                                <m:r>
                                  <a:rPr lang="en-US" sz="2000" dirty="0">
                                    <a:latin typeface="Cambria Math"/>
                                  </a:rPr>
                                  <m:t> </m:t>
                                </m:r>
                              </m:oMath>
                            </m:oMathPara>
                          </a14:m>
                          <a:endParaRPr lang="en-US" sz="2000" dirty="0">
                            <a:latin typeface="+mn-lt"/>
                            <a:ea typeface="Calibri"/>
                            <a:cs typeface="Times New Roman"/>
                          </a:endParaRPr>
                        </a:p>
                      </a:txBody>
                      <a:tcPr marL="68580" marR="68580" marT="0" marB="0" anchor="ctr"/>
                    </a:tc>
                    <a:tc>
                      <a:txBody>
                        <a:bodyPr/>
                        <a:lstStyle/>
                        <a:p>
                          <a:pPr marL="0" marR="0" indent="0" algn="ctr" defTabSz="914400" rtl="0" eaLnBrk="1" fontAlgn="auto" latinLnBrk="0" hangingPunct="1">
                            <a:lnSpc>
                              <a:spcPct val="115000"/>
                            </a:lnSpc>
                            <a:spcBef>
                              <a:spcPts val="0"/>
                            </a:spcBef>
                            <a:spcAft>
                              <a:spcPts val="0"/>
                            </a:spcAft>
                            <a:buClrTx/>
                            <a:buSzTx/>
                            <a:buFontTx/>
                            <a:buNone/>
                            <a:tabLst/>
                            <a:defRPr/>
                          </a:pPr>
                          <a:r>
                            <a:rPr lang="en-US" sz="2000" dirty="0">
                              <a:latin typeface="+mn-lt"/>
                              <a:ea typeface="Calibri"/>
                              <a:cs typeface="Times New Roman"/>
                            </a:rPr>
                            <a:t>What coefficients apply here?</a:t>
                          </a:r>
                        </a:p>
                      </a:txBody>
                      <a:tcPr marL="68580" marR="68580" marT="0" marB="0" anchor="ctr">
                        <a:solidFill>
                          <a:schemeClr val="accent2"/>
                        </a:solidFill>
                      </a:tcPr>
                    </a:tc>
                    <a:tc>
                      <a:txBody>
                        <a:bodyPr/>
                        <a:lstStyle/>
                        <a:p>
                          <a:pPr marL="0" marR="0" algn="ctr">
                            <a:lnSpc>
                              <a:spcPct val="115000"/>
                            </a:lnSpc>
                            <a:spcBef>
                              <a:spcPts val="0"/>
                            </a:spcBef>
                            <a:spcAft>
                              <a:spcPts val="0"/>
                            </a:spcAft>
                          </a:pPr>
                          <a:endParaRPr lang="en-US" sz="2000" dirty="0">
                            <a:latin typeface="Calibri"/>
                            <a:ea typeface="Calibri"/>
                            <a:cs typeface="Times New Roman"/>
                          </a:endParaRPr>
                        </a:p>
                      </a:txBody>
                      <a:tcPr marL="68580" marR="68580" marT="0" marB="0" anchor="ctr"/>
                    </a:tc>
                    <a:extLst>
                      <a:ext uri="{0D108BD9-81ED-4DB2-BD59-A6C34878D82A}">
                        <a16:rowId xmlns:a16="http://schemas.microsoft.com/office/drawing/2014/main" val="10002"/>
                      </a:ext>
                    </a:extLst>
                  </a:tr>
                  <a:tr h="370840">
                    <a:tc>
                      <a:txBody>
                        <a:bodyPr/>
                        <a:lstStyle/>
                        <a:p>
                          <a:endParaRPr lang="en-US" sz="2000" dirty="0"/>
                        </a:p>
                      </a:txBody>
                      <a:tcPr/>
                    </a:tc>
                    <a:tc gridSpan="2">
                      <a:txBody>
                        <a:bodyPr/>
                        <a:lstStyle/>
                        <a:p>
                          <a:r>
                            <a:rPr lang="en-US" sz="2000" dirty="0"/>
                            <a:t>Difference-in-Differences</a:t>
                          </a:r>
                        </a:p>
                      </a:txBody>
                      <a:tcPr/>
                    </a:tc>
                    <a:tc hMerge="1">
                      <a:txBody>
                        <a:bodyPr/>
                        <a:lstStyle/>
                        <a:p>
                          <a:endParaRPr lang="en-US" sz="200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2000" dirty="0">
                            <a:latin typeface="+mn-lt"/>
                            <a:ea typeface="Calibri"/>
                            <a:cs typeface="Times New Roman"/>
                          </a:endParaRPr>
                        </a:p>
                      </a:txBody>
                      <a:tcPr/>
                    </a:tc>
                    <a:extLst>
                      <a:ext uri="{0D108BD9-81ED-4DB2-BD59-A6C34878D82A}">
                        <a16:rowId xmlns:a16="http://schemas.microsoft.com/office/drawing/2014/main" val="10003"/>
                      </a:ext>
                    </a:extLst>
                  </a:tr>
                </a:tbl>
              </a:graphicData>
            </a:graphic>
          </p:graphicFrame>
        </mc:Choice>
        <mc:Fallback xmlns="">
          <p:graphicFrame>
            <p:nvGraphicFramePr>
              <p:cNvPr id="4" name="Table 3"/>
              <p:cNvGraphicFramePr>
                <a:graphicFrameLocks noGrp="1"/>
              </p:cNvGraphicFramePr>
              <p:nvPr>
                <p:extLst>
                  <p:ext uri="{D42A27DB-BD31-4B8C-83A1-F6EECF244321}">
                    <p14:modId xmlns:p14="http://schemas.microsoft.com/office/powerpoint/2010/main" val="4236909913"/>
                  </p:ext>
                </p:extLst>
              </p:nvPr>
            </p:nvGraphicFramePr>
            <p:xfrm>
              <a:off x="609600" y="2362200"/>
              <a:ext cx="8153400" cy="1889760"/>
            </p:xfrm>
            <a:graphic>
              <a:graphicData uri="http://schemas.openxmlformats.org/drawingml/2006/table">
                <a:tbl>
                  <a:tblPr firstRow="1" bandRow="1">
                    <a:tableStyleId>{5940675A-B579-460E-94D1-54222C63F5DA}</a:tableStyleId>
                  </a:tblPr>
                  <a:tblGrid>
                    <a:gridCol w="2038350">
                      <a:extLst>
                        <a:ext uri="{9D8B030D-6E8A-4147-A177-3AD203B41FA5}">
                          <a16:colId xmlns:a16="http://schemas.microsoft.com/office/drawing/2014/main" val="20000"/>
                        </a:ext>
                      </a:extLst>
                    </a:gridCol>
                    <a:gridCol w="2038350">
                      <a:extLst>
                        <a:ext uri="{9D8B030D-6E8A-4147-A177-3AD203B41FA5}">
                          <a16:colId xmlns:a16="http://schemas.microsoft.com/office/drawing/2014/main" val="20001"/>
                        </a:ext>
                      </a:extLst>
                    </a:gridCol>
                    <a:gridCol w="2038350">
                      <a:extLst>
                        <a:ext uri="{9D8B030D-6E8A-4147-A177-3AD203B41FA5}">
                          <a16:colId xmlns:a16="http://schemas.microsoft.com/office/drawing/2014/main" val="20002"/>
                        </a:ext>
                      </a:extLst>
                    </a:gridCol>
                    <a:gridCol w="2038350">
                      <a:extLst>
                        <a:ext uri="{9D8B030D-6E8A-4147-A177-3AD203B41FA5}">
                          <a16:colId xmlns:a16="http://schemas.microsoft.com/office/drawing/2014/main" val="20003"/>
                        </a:ext>
                      </a:extLst>
                    </a:gridCol>
                  </a:tblGrid>
                  <a:tr h="396240">
                    <a:tc>
                      <a:txBody>
                        <a:bodyPr/>
                        <a:lstStyle/>
                        <a:p>
                          <a:endParaRPr lang="en-US" sz="2000" dirty="0"/>
                        </a:p>
                      </a:txBody>
                      <a:tcPr/>
                    </a:tc>
                    <a:tc>
                      <a:txBody>
                        <a:bodyPr/>
                        <a:lstStyle/>
                        <a:p>
                          <a:pPr algn="ctr"/>
                          <a:r>
                            <a:rPr lang="en-US" sz="2000" dirty="0" smtClean="0"/>
                            <a:t>“Pre”</a:t>
                          </a:r>
                          <a:r>
                            <a:rPr lang="en-US" sz="2000" baseline="0" dirty="0" smtClean="0"/>
                            <a:t> Period</a:t>
                          </a:r>
                          <a:endParaRPr lang="en-US" sz="2000" dirty="0"/>
                        </a:p>
                      </a:txBody>
                      <a:tcPr/>
                    </a:tc>
                    <a:tc>
                      <a:txBody>
                        <a:bodyPr/>
                        <a:lstStyle/>
                        <a:p>
                          <a:pPr algn="ctr"/>
                          <a:r>
                            <a:rPr lang="en-US" sz="2000" dirty="0" smtClean="0"/>
                            <a:t>“Post” period</a:t>
                          </a:r>
                          <a:endParaRPr lang="en-US" sz="2000" dirty="0"/>
                        </a:p>
                      </a:txBody>
                      <a:tcPr/>
                    </a:tc>
                    <a:tc>
                      <a:txBody>
                        <a:bodyPr/>
                        <a:lstStyle/>
                        <a:p>
                          <a:pPr algn="ctr"/>
                          <a:r>
                            <a:rPr lang="en-US" sz="2000" dirty="0" smtClean="0"/>
                            <a:t>Difference</a:t>
                          </a:r>
                          <a:endParaRPr lang="en-US" sz="2000" dirty="0"/>
                        </a:p>
                      </a:txBody>
                      <a:tcPr/>
                    </a:tc>
                    <a:extLst>
                      <a:ext uri="{0D108BD9-81ED-4DB2-BD59-A6C34878D82A}">
                        <a16:rowId xmlns:a16="http://schemas.microsoft.com/office/drawing/2014/main" val="10000"/>
                      </a:ext>
                    </a:extLst>
                  </a:tr>
                  <a:tr h="396240">
                    <a:tc>
                      <a:txBody>
                        <a:bodyPr/>
                        <a:lstStyle/>
                        <a:p>
                          <a:r>
                            <a:rPr lang="en-US" sz="2000" dirty="0" smtClean="0"/>
                            <a:t>Treatment Group</a:t>
                          </a:r>
                          <a:endParaRPr lang="en-US" sz="2000" dirty="0"/>
                        </a:p>
                      </a:txBody>
                      <a:tcPr/>
                    </a:tc>
                    <a:tc>
                      <a:txBody>
                        <a:bodyPr/>
                        <a:lstStyle/>
                        <a:p>
                          <a:endParaRPr lang="en-US"/>
                        </a:p>
                      </a:txBody>
                      <a:tcPr marL="68580" marR="68580" marT="0" marB="0" anchor="ctr">
                        <a:blipFill>
                          <a:blip r:embed="rId2"/>
                          <a:stretch>
                            <a:fillRect l="-100898" t="-107692" r="-200898" b="-304615"/>
                          </a:stretch>
                        </a:blipFill>
                      </a:tcPr>
                    </a:tc>
                    <a:tc>
                      <a:txBody>
                        <a:bodyPr/>
                        <a:lstStyle/>
                        <a:p>
                          <a:endParaRPr lang="en-US"/>
                        </a:p>
                      </a:txBody>
                      <a:tcPr marL="68580" marR="68580" marT="0" marB="0" anchor="ctr">
                        <a:blipFill>
                          <a:blip r:embed="rId2"/>
                          <a:stretch>
                            <a:fillRect l="-200299" t="-107692" r="-100299" b="-304615"/>
                          </a:stretch>
                        </a:blipFill>
                      </a:tcPr>
                    </a:tc>
                    <a:tc>
                      <a:txBody>
                        <a:bodyPr/>
                        <a:lstStyle/>
                        <a:p>
                          <a:endParaRPr lang="en-US"/>
                        </a:p>
                      </a:txBody>
                      <a:tcPr marL="68580" marR="68580" marT="0" marB="0" anchor="ctr">
                        <a:blipFill>
                          <a:blip r:embed="rId2"/>
                          <a:stretch>
                            <a:fillRect l="-301198" t="-107692" r="-599" b="-304615"/>
                          </a:stretch>
                        </a:blipFill>
                      </a:tcPr>
                    </a:tc>
                    <a:extLst>
                      <a:ext uri="{0D108BD9-81ED-4DB2-BD59-A6C34878D82A}">
                        <a16:rowId xmlns:a16="http://schemas.microsoft.com/office/drawing/2014/main" val="10001"/>
                      </a:ext>
                    </a:extLst>
                  </a:tr>
                  <a:tr h="701040">
                    <a:tc>
                      <a:txBody>
                        <a:bodyPr/>
                        <a:lstStyle/>
                        <a:p>
                          <a:r>
                            <a:rPr lang="en-US" sz="2000" dirty="0" smtClean="0"/>
                            <a:t>Control Group</a:t>
                          </a:r>
                          <a:endParaRPr lang="en-US" sz="2000" dirty="0"/>
                        </a:p>
                      </a:txBody>
                      <a:tcPr/>
                    </a:tc>
                    <a:tc>
                      <a:txBody>
                        <a:bodyPr/>
                        <a:lstStyle/>
                        <a:p>
                          <a:endParaRPr lang="en-US"/>
                        </a:p>
                      </a:txBody>
                      <a:tcPr marL="68580" marR="68580" marT="0" marB="0" anchor="ctr">
                        <a:blipFill>
                          <a:blip r:embed="rId2"/>
                          <a:stretch>
                            <a:fillRect l="-100898" t="-116379" r="-200898" b="-70690"/>
                          </a:stretch>
                        </a:blipFill>
                      </a:tcPr>
                    </a:tc>
                    <a:tc>
                      <a:txBody>
                        <a:bodyPr/>
                        <a:lstStyle/>
                        <a:p>
                          <a:pPr marL="0" marR="0" indent="0" algn="ctr" defTabSz="914400" rtl="0" eaLnBrk="1" fontAlgn="auto" latinLnBrk="0" hangingPunct="1">
                            <a:lnSpc>
                              <a:spcPct val="115000"/>
                            </a:lnSpc>
                            <a:spcBef>
                              <a:spcPts val="0"/>
                            </a:spcBef>
                            <a:spcAft>
                              <a:spcPts val="0"/>
                            </a:spcAft>
                            <a:buClrTx/>
                            <a:buSzTx/>
                            <a:buFontTx/>
                            <a:buNone/>
                            <a:tabLst/>
                            <a:defRPr/>
                          </a:pPr>
                          <a:r>
                            <a:rPr lang="en-US" sz="2000" dirty="0" smtClean="0">
                              <a:latin typeface="+mn-lt"/>
                              <a:ea typeface="Calibri"/>
                              <a:cs typeface="Times New Roman"/>
                            </a:rPr>
                            <a:t>What coefficients apply here?</a:t>
                          </a:r>
                        </a:p>
                      </a:txBody>
                      <a:tcPr marL="68580" marR="68580" marT="0" marB="0" anchor="ctr">
                        <a:solidFill>
                          <a:schemeClr val="accent2"/>
                        </a:solidFill>
                      </a:tcPr>
                    </a:tc>
                    <a:tc>
                      <a:txBody>
                        <a:bodyPr/>
                        <a:lstStyle/>
                        <a:p>
                          <a:pPr marL="0" marR="0" algn="ctr">
                            <a:lnSpc>
                              <a:spcPct val="115000"/>
                            </a:lnSpc>
                            <a:spcBef>
                              <a:spcPts val="0"/>
                            </a:spcBef>
                            <a:spcAft>
                              <a:spcPts val="0"/>
                            </a:spcAft>
                          </a:pPr>
                          <a:endParaRPr lang="en-US" sz="2000" dirty="0">
                            <a:latin typeface="Calibri"/>
                            <a:ea typeface="Calibri"/>
                            <a:cs typeface="Times New Roman"/>
                          </a:endParaRPr>
                        </a:p>
                      </a:txBody>
                      <a:tcPr marL="68580" marR="68580" marT="0" marB="0" anchor="ctr"/>
                    </a:tc>
                    <a:extLst>
                      <a:ext uri="{0D108BD9-81ED-4DB2-BD59-A6C34878D82A}">
                        <a16:rowId xmlns:a16="http://schemas.microsoft.com/office/drawing/2014/main" val="10002"/>
                      </a:ext>
                    </a:extLst>
                  </a:tr>
                  <a:tr h="396240">
                    <a:tc>
                      <a:txBody>
                        <a:bodyPr/>
                        <a:lstStyle/>
                        <a:p>
                          <a:endParaRPr lang="en-US" sz="2000" dirty="0"/>
                        </a:p>
                      </a:txBody>
                      <a:tcPr/>
                    </a:tc>
                    <a:tc gridSpan="2">
                      <a:txBody>
                        <a:bodyPr/>
                        <a:lstStyle/>
                        <a:p>
                          <a:r>
                            <a:rPr lang="en-US" sz="2000" dirty="0" smtClean="0"/>
                            <a:t>Difference-in-Differences</a:t>
                          </a:r>
                          <a:endParaRPr lang="en-US" sz="2000" dirty="0"/>
                        </a:p>
                      </a:txBody>
                      <a:tcPr/>
                    </a:tc>
                    <a:tc hMerge="1">
                      <a:txBody>
                        <a:bodyPr/>
                        <a:lstStyle/>
                        <a:p>
                          <a:endParaRPr lang="en-US" sz="200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2000" dirty="0" smtClean="0">
                            <a:latin typeface="+mn-lt"/>
                            <a:ea typeface="Calibri"/>
                            <a:cs typeface="Times New Roman"/>
                          </a:endParaRPr>
                        </a:p>
                      </a:txBody>
                      <a:tcPr/>
                    </a:tc>
                    <a:extLst>
                      <a:ext uri="{0D108BD9-81ED-4DB2-BD59-A6C34878D82A}">
                        <a16:rowId xmlns:a16="http://schemas.microsoft.com/office/drawing/2014/main" val="10003"/>
                      </a:ext>
                    </a:extLst>
                  </a:tr>
                </a:tbl>
              </a:graphicData>
            </a:graphic>
          </p:graphicFrame>
        </mc:Fallback>
      </mc:AlternateContent>
      <p:sp>
        <p:nvSpPr>
          <p:cNvPr id="5" name="TextBox 4"/>
          <p:cNvSpPr txBox="1"/>
          <p:nvPr/>
        </p:nvSpPr>
        <p:spPr>
          <a:xfrm>
            <a:off x="495300" y="4648200"/>
            <a:ext cx="8305800" cy="1077218"/>
          </a:xfrm>
          <a:prstGeom prst="rect">
            <a:avLst/>
          </a:prstGeom>
          <a:noFill/>
        </p:spPr>
        <p:txBody>
          <a:bodyPr wrap="square" rtlCol="0">
            <a:spAutoFit/>
          </a:bodyPr>
          <a:lstStyle/>
          <a:p>
            <a:r>
              <a:rPr lang="en-US" sz="3200" dirty="0"/>
              <a:t>In this quadrant: (</a:t>
            </a:r>
            <a:r>
              <a:rPr lang="en-US" sz="3200" dirty="0" err="1"/>
              <a:t>i</a:t>
            </a:r>
            <a:r>
              <a:rPr lang="en-US" sz="3200" dirty="0"/>
              <a:t>) Treatment = 0 and </a:t>
            </a:r>
          </a:p>
          <a:p>
            <a:r>
              <a:rPr lang="en-US" sz="3200" dirty="0"/>
              <a:t>(ii) Post = 1</a:t>
            </a:r>
          </a:p>
        </p:txBody>
      </p:sp>
    </p:spTree>
    <p:extLst>
      <p:ext uri="{BB962C8B-B14F-4D97-AF65-F5344CB8AC3E}">
        <p14:creationId xmlns:p14="http://schemas.microsoft.com/office/powerpoint/2010/main" val="42240474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So what is the conditional mean </a:t>
            </a:r>
            <a:br>
              <a:rPr lang="en-US" dirty="0"/>
            </a:br>
            <a:r>
              <a:rPr lang="en-US" dirty="0"/>
              <a:t>in this case?</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pPr>
                  <a:buNone/>
                </a:pPr>
                <a14:m>
                  <m:oMathPara xmlns:m="http://schemas.openxmlformats.org/officeDocument/2006/math">
                    <m:oMathParaPr>
                      <m:jc m:val="centerGroup"/>
                    </m:oMathParaPr>
                    <m:oMath xmlns:m="http://schemas.openxmlformats.org/officeDocument/2006/math">
                      <m:r>
                        <a:rPr lang="en-US" i="1" dirty="0" smtClean="0">
                          <a:latin typeface="Cambria Math"/>
                        </a:rPr>
                        <m:t>𝑃𝑟𝑜𝑑𝑢𝑐𝑡𝑖𝑣𝑖𝑡𝑦</m:t>
                      </m:r>
                      <m:r>
                        <a:rPr lang="en-US" i="1" baseline="-25000" dirty="0" err="1">
                          <a:latin typeface="Cambria Math"/>
                        </a:rPr>
                        <m:t>𝑖𝑡</m:t>
                      </m:r>
                      <m:r>
                        <a:rPr lang="en-US" i="1" dirty="0">
                          <a:latin typeface="Cambria Math"/>
                        </a:rPr>
                        <m:t> =</m:t>
                      </m:r>
                      <m:acc>
                        <m:accPr>
                          <m:chr m:val="̂"/>
                          <m:ctrlPr>
                            <a:rPr lang="en-US" i="1">
                              <a:latin typeface="Cambria Math" panose="02040503050406030204" pitchFamily="18" charset="0"/>
                            </a:rPr>
                          </m:ctrlPr>
                        </m:accPr>
                        <m:e>
                          <m:r>
                            <a:rPr lang="en-US" i="1">
                              <a:latin typeface="Cambria Math"/>
                            </a:rPr>
                            <m:t>𝑏</m:t>
                          </m:r>
                        </m:e>
                      </m:acc>
                      <m:r>
                        <a:rPr lang="en-US" i="1" baseline="-25000" dirty="0">
                          <a:latin typeface="Cambria Math"/>
                        </a:rPr>
                        <m:t>0</m:t>
                      </m:r>
                      <m:r>
                        <a:rPr lang="en-US" i="1" dirty="0">
                          <a:latin typeface="Cambria Math"/>
                        </a:rPr>
                        <m:t>+</m:t>
                      </m:r>
                      <m:acc>
                        <m:accPr>
                          <m:chr m:val="̂"/>
                          <m:ctrlPr>
                            <a:rPr lang="en-US" i="1">
                              <a:latin typeface="Cambria Math" panose="02040503050406030204" pitchFamily="18" charset="0"/>
                            </a:rPr>
                          </m:ctrlPr>
                        </m:accPr>
                        <m:e>
                          <m:r>
                            <a:rPr lang="en-US" i="1">
                              <a:latin typeface="Cambria Math"/>
                            </a:rPr>
                            <m:t>𝑏</m:t>
                          </m:r>
                        </m:e>
                      </m:acc>
                      <m:r>
                        <a:rPr lang="en-US" i="1" baseline="-25000" dirty="0">
                          <a:latin typeface="Cambria Math"/>
                        </a:rPr>
                        <m:t>1</m:t>
                      </m:r>
                      <m:r>
                        <a:rPr lang="en-US" i="1" dirty="0">
                          <a:latin typeface="Cambria Math"/>
                        </a:rPr>
                        <m:t>(</m:t>
                      </m:r>
                      <m:r>
                        <a:rPr lang="en-US" i="1" dirty="0" err="1">
                          <a:latin typeface="Cambria Math"/>
                        </a:rPr>
                        <m:t>𝑝𝑜𝑠𝑡</m:t>
                      </m:r>
                      <m:r>
                        <a:rPr lang="en-US" i="1" baseline="-25000" dirty="0" err="1">
                          <a:latin typeface="Cambria Math"/>
                        </a:rPr>
                        <m:t>𝑖𝑡</m:t>
                      </m:r>
                      <m:r>
                        <a:rPr lang="en-US" i="1" dirty="0">
                          <a:latin typeface="Cambria Math"/>
                        </a:rPr>
                        <m:t>)+</m:t>
                      </m:r>
                      <m:acc>
                        <m:accPr>
                          <m:chr m:val="̂"/>
                          <m:ctrlPr>
                            <a:rPr lang="en-US" i="1">
                              <a:latin typeface="Cambria Math" panose="02040503050406030204" pitchFamily="18" charset="0"/>
                            </a:rPr>
                          </m:ctrlPr>
                        </m:accPr>
                        <m:e>
                          <m:r>
                            <a:rPr lang="en-US" i="1">
                              <a:latin typeface="Cambria Math"/>
                            </a:rPr>
                            <m:t>𝑏</m:t>
                          </m:r>
                        </m:e>
                      </m:acc>
                      <m:r>
                        <a:rPr lang="en-US" i="1" baseline="-25000" dirty="0">
                          <a:latin typeface="Cambria Math"/>
                        </a:rPr>
                        <m:t>2</m:t>
                      </m:r>
                      <m:r>
                        <a:rPr lang="en-US" i="1" dirty="0">
                          <a:latin typeface="Cambria Math"/>
                        </a:rPr>
                        <m:t>(</m:t>
                      </m:r>
                      <m:r>
                        <a:rPr lang="en-US" i="1" dirty="0" err="1">
                          <a:latin typeface="Cambria Math"/>
                        </a:rPr>
                        <m:t>𝑡𝑟𝑒𝑎𝑡𝑚𝑒𝑛𝑡</m:t>
                      </m:r>
                      <m:r>
                        <a:rPr lang="en-US" i="1" baseline="-25000" dirty="0" err="1">
                          <a:latin typeface="Cambria Math"/>
                        </a:rPr>
                        <m:t>𝑖𝑡</m:t>
                      </m:r>
                      <m:r>
                        <a:rPr lang="en-US" i="1" dirty="0">
                          <a:latin typeface="Cambria Math"/>
                        </a:rPr>
                        <m:t>) </m:t>
                      </m:r>
                    </m:oMath>
                  </m:oMathPara>
                </a14:m>
                <a:endParaRPr lang="en-US" dirty="0"/>
              </a:p>
              <a:p>
                <a:pPr>
                  <a:buNone/>
                </a:pPr>
                <a14:m>
                  <m:oMathPara xmlns:m="http://schemas.openxmlformats.org/officeDocument/2006/math">
                    <m:oMathParaPr>
                      <m:jc m:val="centerGroup"/>
                    </m:oMathParaPr>
                    <m:oMath xmlns:m="http://schemas.openxmlformats.org/officeDocument/2006/math">
                      <m:r>
                        <a:rPr lang="en-US" i="1" dirty="0">
                          <a:latin typeface="Cambria Math"/>
                        </a:rPr>
                        <m:t>+</m:t>
                      </m:r>
                      <m:acc>
                        <m:accPr>
                          <m:chr m:val="̂"/>
                          <m:ctrlPr>
                            <a:rPr lang="en-US" i="1">
                              <a:latin typeface="Cambria Math" panose="02040503050406030204" pitchFamily="18" charset="0"/>
                            </a:rPr>
                          </m:ctrlPr>
                        </m:accPr>
                        <m:e>
                          <m:r>
                            <a:rPr lang="en-US" i="1">
                              <a:latin typeface="Cambria Math"/>
                            </a:rPr>
                            <m:t>𝑏</m:t>
                          </m:r>
                        </m:e>
                      </m:acc>
                      <m:r>
                        <a:rPr lang="en-US" i="1" baseline="-25000" dirty="0">
                          <a:latin typeface="Cambria Math"/>
                        </a:rPr>
                        <m:t>3</m:t>
                      </m:r>
                      <m:r>
                        <a:rPr lang="en-US" i="1" dirty="0">
                          <a:latin typeface="Cambria Math"/>
                        </a:rPr>
                        <m:t>(</m:t>
                      </m:r>
                      <m:r>
                        <a:rPr lang="en-US" i="1" dirty="0" err="1">
                          <a:latin typeface="Cambria Math"/>
                        </a:rPr>
                        <m:t>𝑝𝑜𝑠𝑡</m:t>
                      </m:r>
                      <m:r>
                        <a:rPr lang="en-US" i="1" baseline="-25000" dirty="0" err="1">
                          <a:latin typeface="Cambria Math"/>
                        </a:rPr>
                        <m:t>𝑖𝑡</m:t>
                      </m:r>
                      <m:r>
                        <a:rPr lang="en-US" i="1" dirty="0">
                          <a:latin typeface="Cambria Math"/>
                        </a:rPr>
                        <m:t>∗</m:t>
                      </m:r>
                      <m:r>
                        <a:rPr lang="en-US" i="1" dirty="0" err="1">
                          <a:latin typeface="Cambria Math"/>
                        </a:rPr>
                        <m:t>𝑡𝑟𝑒𝑎𝑡𝑚𝑒𝑛𝑡</m:t>
                      </m:r>
                      <m:r>
                        <a:rPr lang="en-US" i="1" baseline="-25000" dirty="0" err="1">
                          <a:latin typeface="Cambria Math"/>
                        </a:rPr>
                        <m:t>𝑖𝑡</m:t>
                      </m:r>
                      <m:r>
                        <a:rPr lang="en-US" i="1" dirty="0">
                          <a:latin typeface="Cambria Math"/>
                        </a:rPr>
                        <m:t>)</m:t>
                      </m:r>
                    </m:oMath>
                  </m:oMathPara>
                </a14:m>
                <a:endParaRPr lang="en-US" baseline="-25000" dirty="0"/>
              </a:p>
              <a:p>
                <a:pPr marL="0" indent="0">
                  <a:buNone/>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p:cNvSpPr txBox="1"/>
              <p:nvPr/>
            </p:nvSpPr>
            <p:spPr>
              <a:xfrm>
                <a:off x="228600" y="3276600"/>
                <a:ext cx="8305800" cy="1130053"/>
              </a:xfrm>
              <a:prstGeom prst="rect">
                <a:avLst/>
              </a:prstGeom>
              <a:noFill/>
            </p:spPr>
            <p:txBody>
              <a:bodyPr wrap="square" rtlCol="0">
                <a:spAutoFit/>
              </a:bodyPr>
              <a:lstStyle/>
              <a:p>
                <a:pPr>
                  <a:buNone/>
                </a:pPr>
                <a14:m>
                  <m:oMathPara xmlns:m="http://schemas.openxmlformats.org/officeDocument/2006/math">
                    <m:oMathParaPr>
                      <m:jc m:val="centerGroup"/>
                    </m:oMathParaPr>
                    <m:oMath xmlns:m="http://schemas.openxmlformats.org/officeDocument/2006/math">
                      <m:r>
                        <m:rPr>
                          <m:nor/>
                        </m:rPr>
                        <a:rPr lang="en-US" sz="3200" dirty="0" smtClean="0">
                          <a:sym typeface="Wingdings" panose="05000000000000000000" pitchFamily="2" charset="2"/>
                        </a:rPr>
                        <m:t></m:t>
                      </m:r>
                      <m:r>
                        <a:rPr lang="en-US" sz="3200" i="1" dirty="0">
                          <a:latin typeface="Cambria Math"/>
                        </a:rPr>
                        <m:t>𝑃𝑟𝑜𝑑𝑢𝑐𝑡𝑖𝑣𝑖𝑡𝑦</m:t>
                      </m:r>
                      <m:r>
                        <a:rPr lang="en-US" sz="3200" i="1" baseline="-25000" dirty="0" err="1">
                          <a:latin typeface="Cambria Math"/>
                        </a:rPr>
                        <m:t>𝑖𝑡</m:t>
                      </m:r>
                      <m:r>
                        <a:rPr lang="en-US" sz="3200" i="1" dirty="0">
                          <a:latin typeface="Cambria Math"/>
                        </a:rPr>
                        <m:t> =</m:t>
                      </m:r>
                      <m:acc>
                        <m:accPr>
                          <m:chr m:val="̂"/>
                          <m:ctrlPr>
                            <a:rPr lang="en-US" sz="3200" i="1">
                              <a:latin typeface="Cambria Math" panose="02040503050406030204" pitchFamily="18" charset="0"/>
                            </a:rPr>
                          </m:ctrlPr>
                        </m:accPr>
                        <m:e>
                          <m:r>
                            <a:rPr lang="en-US" sz="3200" i="1">
                              <a:latin typeface="Cambria Math"/>
                            </a:rPr>
                            <m:t>𝑏</m:t>
                          </m:r>
                        </m:e>
                      </m:acc>
                      <m:r>
                        <a:rPr lang="en-US" sz="3200" i="1" baseline="-25000" dirty="0">
                          <a:latin typeface="Cambria Math"/>
                        </a:rPr>
                        <m:t>0</m:t>
                      </m:r>
                      <m:r>
                        <a:rPr lang="en-US" sz="3200" i="1" dirty="0">
                          <a:latin typeface="Cambria Math"/>
                        </a:rPr>
                        <m:t>+</m:t>
                      </m:r>
                      <m:acc>
                        <m:accPr>
                          <m:chr m:val="̂"/>
                          <m:ctrlPr>
                            <a:rPr lang="en-US" sz="3200" i="1">
                              <a:latin typeface="Cambria Math" panose="02040503050406030204" pitchFamily="18" charset="0"/>
                            </a:rPr>
                          </m:ctrlPr>
                        </m:accPr>
                        <m:e>
                          <m:r>
                            <a:rPr lang="en-US" sz="3200" i="1">
                              <a:latin typeface="Cambria Math"/>
                            </a:rPr>
                            <m:t>𝑏</m:t>
                          </m:r>
                        </m:e>
                      </m:acc>
                      <m:r>
                        <a:rPr lang="en-US" sz="3200" i="1" baseline="-25000" dirty="0">
                          <a:latin typeface="Cambria Math"/>
                        </a:rPr>
                        <m:t>1</m:t>
                      </m:r>
                      <m:r>
                        <a:rPr lang="en-US" sz="3200" i="1" dirty="0">
                          <a:latin typeface="Cambria Math"/>
                        </a:rPr>
                        <m:t>(</m:t>
                      </m:r>
                      <m:r>
                        <a:rPr lang="en-US" sz="3200" b="0" i="1" dirty="0" smtClean="0">
                          <a:latin typeface="Cambria Math"/>
                        </a:rPr>
                        <m:t>1</m:t>
                      </m:r>
                      <m:r>
                        <a:rPr lang="en-US" sz="3200" i="1" dirty="0">
                          <a:latin typeface="Cambria Math"/>
                        </a:rPr>
                        <m:t>)+</m:t>
                      </m:r>
                      <m:acc>
                        <m:accPr>
                          <m:chr m:val="̂"/>
                          <m:ctrlPr>
                            <a:rPr lang="en-US" sz="3200" i="1">
                              <a:latin typeface="Cambria Math" panose="02040503050406030204" pitchFamily="18" charset="0"/>
                            </a:rPr>
                          </m:ctrlPr>
                        </m:accPr>
                        <m:e>
                          <m:r>
                            <a:rPr lang="en-US" sz="3200" i="1">
                              <a:latin typeface="Cambria Math"/>
                            </a:rPr>
                            <m:t>𝑏</m:t>
                          </m:r>
                        </m:e>
                      </m:acc>
                      <m:r>
                        <a:rPr lang="en-US" sz="3200" i="1" baseline="-25000" dirty="0">
                          <a:latin typeface="Cambria Math"/>
                        </a:rPr>
                        <m:t>2</m:t>
                      </m:r>
                      <m:r>
                        <a:rPr lang="en-US" sz="3200" i="1" dirty="0">
                          <a:latin typeface="Cambria Math"/>
                        </a:rPr>
                        <m:t>(</m:t>
                      </m:r>
                      <m:r>
                        <a:rPr lang="en-US" sz="3200" b="0" i="1" dirty="0" smtClean="0">
                          <a:latin typeface="Cambria Math"/>
                        </a:rPr>
                        <m:t>0</m:t>
                      </m:r>
                      <m:r>
                        <a:rPr lang="en-US" sz="3200" i="1" dirty="0">
                          <a:latin typeface="Cambria Math"/>
                        </a:rPr>
                        <m:t>) </m:t>
                      </m:r>
                    </m:oMath>
                  </m:oMathPara>
                </a14:m>
                <a:endParaRPr lang="en-US" sz="3200" dirty="0"/>
              </a:p>
              <a:p>
                <a:pPr>
                  <a:buNone/>
                </a:pPr>
                <a14:m>
                  <m:oMathPara xmlns:m="http://schemas.openxmlformats.org/officeDocument/2006/math">
                    <m:oMathParaPr>
                      <m:jc m:val="centerGroup"/>
                    </m:oMathParaPr>
                    <m:oMath xmlns:m="http://schemas.openxmlformats.org/officeDocument/2006/math">
                      <m:r>
                        <a:rPr lang="en-US" sz="3200" i="1" dirty="0">
                          <a:latin typeface="Cambria Math"/>
                        </a:rPr>
                        <m:t>+</m:t>
                      </m:r>
                      <m:acc>
                        <m:accPr>
                          <m:chr m:val="̂"/>
                          <m:ctrlPr>
                            <a:rPr lang="en-US" sz="3200" i="1">
                              <a:latin typeface="Cambria Math" panose="02040503050406030204" pitchFamily="18" charset="0"/>
                            </a:rPr>
                          </m:ctrlPr>
                        </m:accPr>
                        <m:e>
                          <m:r>
                            <a:rPr lang="en-US" sz="3200" i="1">
                              <a:latin typeface="Cambria Math"/>
                            </a:rPr>
                            <m:t>𝑏</m:t>
                          </m:r>
                        </m:e>
                      </m:acc>
                      <m:r>
                        <a:rPr lang="en-US" sz="3200" i="1" baseline="-25000" dirty="0">
                          <a:latin typeface="Cambria Math"/>
                        </a:rPr>
                        <m:t>3</m:t>
                      </m:r>
                      <m:r>
                        <a:rPr lang="en-US" sz="3200" i="1" dirty="0">
                          <a:latin typeface="Cambria Math"/>
                        </a:rPr>
                        <m:t>(</m:t>
                      </m:r>
                      <m:r>
                        <a:rPr lang="en-US" sz="3200" b="0" i="1" dirty="0" smtClean="0">
                          <a:latin typeface="Cambria Math"/>
                        </a:rPr>
                        <m:t>1</m:t>
                      </m:r>
                      <m:r>
                        <a:rPr lang="en-US" sz="3200" i="1" dirty="0">
                          <a:latin typeface="Cambria Math"/>
                        </a:rPr>
                        <m:t>∗</m:t>
                      </m:r>
                      <m:r>
                        <a:rPr lang="en-US" sz="3200" b="0" i="1" dirty="0" smtClean="0">
                          <a:latin typeface="Cambria Math"/>
                        </a:rPr>
                        <m:t>0</m:t>
                      </m:r>
                      <m:r>
                        <a:rPr lang="en-US" sz="3200" i="1" dirty="0">
                          <a:latin typeface="Cambria Math"/>
                        </a:rPr>
                        <m:t>)</m:t>
                      </m:r>
                    </m:oMath>
                  </m:oMathPara>
                </a14:m>
                <a:endParaRPr lang="en-US" sz="3200" baseline="-25000" dirty="0"/>
              </a:p>
            </p:txBody>
          </p:sp>
        </mc:Choice>
        <mc:Fallback xmlns="">
          <p:sp>
            <p:nvSpPr>
              <p:cNvPr id="4" name="TextBox 3"/>
              <p:cNvSpPr txBox="1">
                <a:spLocks noRot="1" noChangeAspect="1" noMove="1" noResize="1" noEditPoints="1" noAdjustHandles="1" noChangeArrowheads="1" noChangeShapeType="1" noTextEdit="1"/>
              </p:cNvSpPr>
              <p:nvPr/>
            </p:nvSpPr>
            <p:spPr>
              <a:xfrm>
                <a:off x="228600" y="3276600"/>
                <a:ext cx="8305800" cy="1130053"/>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p:cNvSpPr txBox="1"/>
              <p:nvPr/>
            </p:nvSpPr>
            <p:spPr>
              <a:xfrm>
                <a:off x="361950" y="4504394"/>
                <a:ext cx="8305800" cy="611193"/>
              </a:xfrm>
              <a:prstGeom prst="rect">
                <a:avLst/>
              </a:prstGeom>
              <a:noFill/>
            </p:spPr>
            <p:txBody>
              <a:bodyPr wrap="square" rtlCol="0">
                <a:spAutoFit/>
              </a:bodyPr>
              <a:lstStyle/>
              <a:p>
                <a:pPr>
                  <a:buNone/>
                </a:pPr>
                <a14:m>
                  <m:oMathPara xmlns:m="http://schemas.openxmlformats.org/officeDocument/2006/math">
                    <m:oMathParaPr>
                      <m:jc m:val="centerGroup"/>
                    </m:oMathParaPr>
                    <m:oMath xmlns:m="http://schemas.openxmlformats.org/officeDocument/2006/math">
                      <m:r>
                        <m:rPr>
                          <m:nor/>
                        </m:rPr>
                        <a:rPr lang="en-US" sz="3200" dirty="0" smtClean="0">
                          <a:sym typeface="Wingdings" panose="05000000000000000000" pitchFamily="2" charset="2"/>
                        </a:rPr>
                        <m:t></m:t>
                      </m:r>
                      <m:r>
                        <a:rPr lang="en-US" sz="3200" i="1" dirty="0">
                          <a:latin typeface="Cambria Math"/>
                        </a:rPr>
                        <m:t>𝑃𝑟𝑜𝑑𝑢𝑐𝑡𝑖𝑣𝑖𝑡𝑦</m:t>
                      </m:r>
                      <m:r>
                        <a:rPr lang="en-US" sz="3200" i="1" baseline="-25000" dirty="0" err="1">
                          <a:latin typeface="Cambria Math"/>
                        </a:rPr>
                        <m:t>𝑖𝑡</m:t>
                      </m:r>
                      <m:r>
                        <a:rPr lang="en-US" sz="3200" i="1" dirty="0">
                          <a:latin typeface="Cambria Math"/>
                        </a:rPr>
                        <m:t> =</m:t>
                      </m:r>
                      <m:acc>
                        <m:accPr>
                          <m:chr m:val="̂"/>
                          <m:ctrlPr>
                            <a:rPr lang="en-US" sz="3200" i="1">
                              <a:latin typeface="Cambria Math" panose="02040503050406030204" pitchFamily="18" charset="0"/>
                            </a:rPr>
                          </m:ctrlPr>
                        </m:accPr>
                        <m:e>
                          <m:r>
                            <a:rPr lang="en-US" sz="3200" i="1">
                              <a:latin typeface="Cambria Math"/>
                            </a:rPr>
                            <m:t>𝑏</m:t>
                          </m:r>
                        </m:e>
                      </m:acc>
                      <m:r>
                        <a:rPr lang="en-US" sz="3200" i="1" baseline="-25000" dirty="0">
                          <a:latin typeface="Cambria Math"/>
                        </a:rPr>
                        <m:t>0</m:t>
                      </m:r>
                      <m:r>
                        <a:rPr lang="en-US" sz="3200" i="1" dirty="0">
                          <a:latin typeface="Cambria Math"/>
                        </a:rPr>
                        <m:t>+</m:t>
                      </m:r>
                      <m:acc>
                        <m:accPr>
                          <m:chr m:val="̂"/>
                          <m:ctrlPr>
                            <a:rPr lang="en-US" sz="3200" i="1">
                              <a:latin typeface="Cambria Math" panose="02040503050406030204" pitchFamily="18" charset="0"/>
                            </a:rPr>
                          </m:ctrlPr>
                        </m:accPr>
                        <m:e>
                          <m:r>
                            <a:rPr lang="en-US" sz="3200" i="1">
                              <a:latin typeface="Cambria Math"/>
                            </a:rPr>
                            <m:t>𝑏</m:t>
                          </m:r>
                        </m:e>
                      </m:acc>
                      <m:r>
                        <a:rPr lang="en-US" sz="3200" i="1" baseline="-25000" dirty="0">
                          <a:latin typeface="Cambria Math"/>
                        </a:rPr>
                        <m:t>1</m:t>
                      </m:r>
                    </m:oMath>
                  </m:oMathPara>
                </a14:m>
                <a:endParaRPr lang="en-US" sz="3200" baseline="-25000" dirty="0"/>
              </a:p>
            </p:txBody>
          </p:sp>
        </mc:Choice>
        <mc:Fallback xmlns="">
          <p:sp>
            <p:nvSpPr>
              <p:cNvPr id="5" name="TextBox 4"/>
              <p:cNvSpPr txBox="1">
                <a:spLocks noRot="1" noChangeAspect="1" noMove="1" noResize="1" noEditPoints="1" noAdjustHandles="1" noChangeArrowheads="1" noChangeShapeType="1" noTextEdit="1"/>
              </p:cNvSpPr>
              <p:nvPr/>
            </p:nvSpPr>
            <p:spPr>
              <a:xfrm>
                <a:off x="361950" y="4504394"/>
                <a:ext cx="8305800" cy="611193"/>
              </a:xfrm>
              <a:prstGeom prst="rect">
                <a:avLst/>
              </a:prstGeom>
              <a:blipFill>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2905998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Put it all together</a:t>
            </a:r>
          </a:p>
        </p:txBody>
      </p:sp>
      <mc:AlternateContent xmlns:mc="http://schemas.openxmlformats.org/markup-compatibility/2006" xmlns:a14="http://schemas.microsoft.com/office/drawing/2010/main">
        <mc:Choice Requires="a14">
          <p:graphicFrame>
            <p:nvGraphicFramePr>
              <p:cNvPr id="4" name="Content Placeholder 3"/>
              <p:cNvGraphicFramePr>
                <a:graphicFrameLocks noGrp="1"/>
              </p:cNvGraphicFramePr>
              <p:nvPr>
                <p:ph idx="1"/>
                <p:extLst>
                  <p:ext uri="{D42A27DB-BD31-4B8C-83A1-F6EECF244321}">
                    <p14:modId xmlns:p14="http://schemas.microsoft.com/office/powerpoint/2010/main" val="1680152261"/>
                  </p:ext>
                </p:extLst>
              </p:nvPr>
            </p:nvGraphicFramePr>
            <p:xfrm>
              <a:off x="457200" y="1600200"/>
              <a:ext cx="8229600" cy="1584960"/>
            </p:xfrm>
            <a:graphic>
              <a:graphicData uri="http://schemas.openxmlformats.org/drawingml/2006/table">
                <a:tbl>
                  <a:tblPr firstRow="1" bandRow="1">
                    <a:tableStyleId>{5940675A-B579-460E-94D1-54222C63F5DA}</a:tableStyleId>
                  </a:tblPr>
                  <a:tblGrid>
                    <a:gridCol w="2057400">
                      <a:extLst>
                        <a:ext uri="{9D8B030D-6E8A-4147-A177-3AD203B41FA5}">
                          <a16:colId xmlns:a16="http://schemas.microsoft.com/office/drawing/2014/main" val="20000"/>
                        </a:ext>
                      </a:extLst>
                    </a:gridCol>
                    <a:gridCol w="2057400">
                      <a:extLst>
                        <a:ext uri="{9D8B030D-6E8A-4147-A177-3AD203B41FA5}">
                          <a16:colId xmlns:a16="http://schemas.microsoft.com/office/drawing/2014/main" val="20001"/>
                        </a:ext>
                      </a:extLst>
                    </a:gridCol>
                    <a:gridCol w="2057400">
                      <a:extLst>
                        <a:ext uri="{9D8B030D-6E8A-4147-A177-3AD203B41FA5}">
                          <a16:colId xmlns:a16="http://schemas.microsoft.com/office/drawing/2014/main" val="20002"/>
                        </a:ext>
                      </a:extLst>
                    </a:gridCol>
                    <a:gridCol w="2057400">
                      <a:extLst>
                        <a:ext uri="{9D8B030D-6E8A-4147-A177-3AD203B41FA5}">
                          <a16:colId xmlns:a16="http://schemas.microsoft.com/office/drawing/2014/main" val="20003"/>
                        </a:ext>
                      </a:extLst>
                    </a:gridCol>
                  </a:tblGrid>
                  <a:tr h="370840">
                    <a:tc>
                      <a:txBody>
                        <a:bodyPr/>
                        <a:lstStyle/>
                        <a:p>
                          <a:endParaRPr lang="en-US" sz="2000" dirty="0"/>
                        </a:p>
                      </a:txBody>
                      <a:tcPr/>
                    </a:tc>
                    <a:tc>
                      <a:txBody>
                        <a:bodyPr/>
                        <a:lstStyle/>
                        <a:p>
                          <a:pPr algn="ctr"/>
                          <a:r>
                            <a:rPr lang="en-US" sz="2000" dirty="0"/>
                            <a:t>“Pre”</a:t>
                          </a:r>
                          <a:r>
                            <a:rPr lang="en-US" sz="2000" baseline="0" dirty="0"/>
                            <a:t> Period</a:t>
                          </a:r>
                          <a:endParaRPr lang="en-US" sz="2000" dirty="0"/>
                        </a:p>
                      </a:txBody>
                      <a:tcPr/>
                    </a:tc>
                    <a:tc>
                      <a:txBody>
                        <a:bodyPr/>
                        <a:lstStyle/>
                        <a:p>
                          <a:pPr algn="ctr"/>
                          <a:r>
                            <a:rPr lang="en-US" sz="2000" dirty="0"/>
                            <a:t>“Post” period</a:t>
                          </a:r>
                        </a:p>
                      </a:txBody>
                      <a:tcPr/>
                    </a:tc>
                    <a:tc>
                      <a:txBody>
                        <a:bodyPr/>
                        <a:lstStyle/>
                        <a:p>
                          <a:pPr algn="ctr"/>
                          <a:r>
                            <a:rPr lang="en-US" sz="2000" dirty="0"/>
                            <a:t>Difference</a:t>
                          </a:r>
                        </a:p>
                      </a:txBody>
                      <a:tcPr/>
                    </a:tc>
                    <a:extLst>
                      <a:ext uri="{0D108BD9-81ED-4DB2-BD59-A6C34878D82A}">
                        <a16:rowId xmlns:a16="http://schemas.microsoft.com/office/drawing/2014/main" val="10000"/>
                      </a:ext>
                    </a:extLst>
                  </a:tr>
                  <a:tr h="370840">
                    <a:tc>
                      <a:txBody>
                        <a:bodyPr/>
                        <a:lstStyle/>
                        <a:p>
                          <a:r>
                            <a:rPr lang="en-US" sz="2000" dirty="0"/>
                            <a:t>Treatment Group</a:t>
                          </a:r>
                        </a:p>
                      </a:txBody>
                      <a:tcPr/>
                    </a:tc>
                    <a:tc>
                      <a:txBody>
                        <a:body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acc>
                                  <m:accPr>
                                    <m:chr m:val="̂"/>
                                    <m:ctrlPr>
                                      <a:rPr lang="en-US" sz="2000" i="1" smtClean="0">
                                        <a:latin typeface="Cambria Math" panose="02040503050406030204" pitchFamily="18" charset="0"/>
                                      </a:rPr>
                                    </m:ctrlPr>
                                  </m:accPr>
                                  <m:e>
                                    <m:r>
                                      <a:rPr lang="en-US" sz="2000" i="1">
                                        <a:latin typeface="Cambria Math"/>
                                      </a:rPr>
                                      <m:t>𝑏</m:t>
                                    </m:r>
                                  </m:e>
                                </m:acc>
                                <m:r>
                                  <a:rPr lang="en-US" sz="2000" baseline="-25000" dirty="0">
                                    <a:latin typeface="Cambria Math"/>
                                  </a:rPr>
                                  <m:t>0</m:t>
                                </m:r>
                                <m:r>
                                  <a:rPr lang="en-US" sz="2000" dirty="0">
                                    <a:latin typeface="Cambria Math"/>
                                  </a:rPr>
                                  <m:t> +</m:t>
                                </m:r>
                                <m:acc>
                                  <m:accPr>
                                    <m:chr m:val="̂"/>
                                    <m:ctrlPr>
                                      <a:rPr lang="en-US" sz="2000" i="1" smtClean="0">
                                        <a:latin typeface="Cambria Math" panose="02040503050406030204" pitchFamily="18" charset="0"/>
                                      </a:rPr>
                                    </m:ctrlPr>
                                  </m:accPr>
                                  <m:e>
                                    <m:r>
                                      <a:rPr lang="en-US" sz="2000" i="1">
                                        <a:latin typeface="Cambria Math"/>
                                      </a:rPr>
                                      <m:t>𝑏</m:t>
                                    </m:r>
                                  </m:e>
                                </m:acc>
                                <m:r>
                                  <a:rPr lang="en-US" sz="2000" b="0" i="0" baseline="-25000" dirty="0" smtClean="0">
                                    <a:latin typeface="Cambria Math"/>
                                  </a:rPr>
                                  <m:t>2</m:t>
                                </m:r>
                              </m:oMath>
                            </m:oMathPara>
                          </a14:m>
                          <a:endParaRPr lang="en-US" sz="2000" dirty="0">
                            <a:latin typeface="Calibri"/>
                            <a:ea typeface="Calibri"/>
                            <a:cs typeface="Times New Roman"/>
                          </a:endParaRPr>
                        </a:p>
                      </a:txBody>
                      <a:tcPr marL="68580" marR="68580" marT="0" marB="0" anchor="ctr"/>
                    </a:tc>
                    <a:tc>
                      <a:txBody>
                        <a:bodyPr/>
                        <a:lstStyle/>
                        <a:p>
                          <a:pPr marL="0" marR="0" indent="0" algn="ctr" defTabSz="914400" rtl="0" eaLnBrk="1" fontAlgn="auto" latinLnBrk="0" hangingPunct="1">
                            <a:lnSpc>
                              <a:spcPct val="115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acc>
                                  <m:accPr>
                                    <m:chr m:val="̂"/>
                                    <m:ctrlPr>
                                      <a:rPr lang="en-US" sz="2000" i="1" smtClean="0">
                                        <a:latin typeface="Cambria Math" panose="02040503050406030204" pitchFamily="18" charset="0"/>
                                      </a:rPr>
                                    </m:ctrlPr>
                                  </m:accPr>
                                  <m:e>
                                    <m:r>
                                      <a:rPr lang="en-US" sz="2000" i="1">
                                        <a:latin typeface="Cambria Math"/>
                                      </a:rPr>
                                      <m:t>𝑏</m:t>
                                    </m:r>
                                  </m:e>
                                </m:acc>
                                <m:r>
                                  <a:rPr lang="en-US" sz="2000" baseline="-25000" dirty="0">
                                    <a:latin typeface="Cambria Math"/>
                                  </a:rPr>
                                  <m:t>0</m:t>
                                </m:r>
                                <m:r>
                                  <a:rPr lang="en-US" sz="2000" dirty="0" smtClean="0">
                                    <a:latin typeface="Cambria Math"/>
                                  </a:rPr>
                                  <m:t>+</m:t>
                                </m:r>
                                <m:acc>
                                  <m:accPr>
                                    <m:chr m:val="̂"/>
                                    <m:ctrlPr>
                                      <a:rPr lang="en-US" sz="2000" i="1" smtClean="0">
                                        <a:latin typeface="Cambria Math" panose="02040503050406030204" pitchFamily="18" charset="0"/>
                                      </a:rPr>
                                    </m:ctrlPr>
                                  </m:accPr>
                                  <m:e>
                                    <m:r>
                                      <a:rPr lang="en-US" sz="2000" i="1">
                                        <a:latin typeface="Cambria Math"/>
                                      </a:rPr>
                                      <m:t>𝑏</m:t>
                                    </m:r>
                                  </m:e>
                                </m:acc>
                                <m:r>
                                  <a:rPr lang="en-US" sz="2000" baseline="-25000" dirty="0">
                                    <a:latin typeface="Cambria Math"/>
                                  </a:rPr>
                                  <m:t>1</m:t>
                                </m:r>
                                <m:r>
                                  <a:rPr lang="en-US" sz="2000" dirty="0" smtClean="0">
                                    <a:latin typeface="Cambria Math"/>
                                  </a:rPr>
                                  <m:t>+</m:t>
                                </m:r>
                                <m:acc>
                                  <m:accPr>
                                    <m:chr m:val="̂"/>
                                    <m:ctrlPr>
                                      <a:rPr lang="en-US" sz="2000" i="1" smtClean="0">
                                        <a:latin typeface="Cambria Math" panose="02040503050406030204" pitchFamily="18" charset="0"/>
                                      </a:rPr>
                                    </m:ctrlPr>
                                  </m:accPr>
                                  <m:e>
                                    <m:r>
                                      <a:rPr lang="en-US" sz="2000" i="1">
                                        <a:latin typeface="Cambria Math"/>
                                      </a:rPr>
                                      <m:t>𝑏</m:t>
                                    </m:r>
                                  </m:e>
                                </m:acc>
                                <m:r>
                                  <a:rPr lang="en-US" sz="2000" b="0" i="0" baseline="-25000" dirty="0" smtClean="0">
                                    <a:latin typeface="Cambria Math"/>
                                  </a:rPr>
                                  <m:t>2</m:t>
                                </m:r>
                                <m:r>
                                  <a:rPr lang="en-US" sz="2000" dirty="0" smtClean="0">
                                    <a:latin typeface="Cambria Math"/>
                                  </a:rPr>
                                  <m:t>+</m:t>
                                </m:r>
                                <m:acc>
                                  <m:accPr>
                                    <m:chr m:val="̂"/>
                                    <m:ctrlPr>
                                      <a:rPr lang="en-US" sz="2000" i="1" smtClean="0">
                                        <a:latin typeface="Cambria Math" panose="02040503050406030204" pitchFamily="18" charset="0"/>
                                      </a:rPr>
                                    </m:ctrlPr>
                                  </m:accPr>
                                  <m:e>
                                    <m:r>
                                      <a:rPr lang="en-US" sz="2000" i="1">
                                        <a:latin typeface="Cambria Math"/>
                                      </a:rPr>
                                      <m:t>𝑏</m:t>
                                    </m:r>
                                  </m:e>
                                </m:acc>
                                <m:r>
                                  <a:rPr lang="en-US" sz="2000" b="0" i="0" baseline="-25000" dirty="0" smtClean="0">
                                    <a:latin typeface="Cambria Math"/>
                                  </a:rPr>
                                  <m:t>3</m:t>
                                </m:r>
                              </m:oMath>
                            </m:oMathPara>
                          </a14:m>
                          <a:endParaRPr lang="en-US" sz="2000" dirty="0">
                            <a:latin typeface="+mn-lt"/>
                            <a:ea typeface="Calibri"/>
                            <a:cs typeface="Times New Roman"/>
                          </a:endParaRPr>
                        </a:p>
                      </a:txBody>
                      <a:tcPr marL="68580" marR="68580" marT="0" marB="0" anchor="ctr"/>
                    </a:tc>
                    <a:tc>
                      <a:txBody>
                        <a:bodyPr/>
                        <a:lstStyle/>
                        <a:p>
                          <a:pPr marL="0" marR="0" indent="0" algn="ctr" defTabSz="914400" rtl="0" eaLnBrk="1" fontAlgn="auto" latinLnBrk="0" hangingPunct="1">
                            <a:lnSpc>
                              <a:spcPct val="115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acc>
                                  <m:accPr>
                                    <m:chr m:val="̂"/>
                                    <m:ctrlPr>
                                      <a:rPr lang="en-US" sz="2000" i="1" smtClean="0">
                                        <a:latin typeface="Cambria Math" panose="02040503050406030204" pitchFamily="18" charset="0"/>
                                      </a:rPr>
                                    </m:ctrlPr>
                                  </m:accPr>
                                  <m:e>
                                    <m:r>
                                      <a:rPr lang="en-US" sz="2000" i="1">
                                        <a:latin typeface="Cambria Math"/>
                                      </a:rPr>
                                      <m:t>𝑏</m:t>
                                    </m:r>
                                  </m:e>
                                </m:acc>
                                <m:r>
                                  <a:rPr lang="en-US" sz="2000" b="0" i="0" baseline="-25000" dirty="0" smtClean="0">
                                    <a:latin typeface="Cambria Math"/>
                                  </a:rPr>
                                  <m:t>1</m:t>
                                </m:r>
                                <m:r>
                                  <a:rPr lang="en-US" sz="2000" dirty="0" smtClean="0">
                                    <a:latin typeface="Cambria Math"/>
                                  </a:rPr>
                                  <m:t>+</m:t>
                                </m:r>
                                <m:acc>
                                  <m:accPr>
                                    <m:chr m:val="̂"/>
                                    <m:ctrlPr>
                                      <a:rPr lang="en-US" sz="2000" i="1" smtClean="0">
                                        <a:latin typeface="Cambria Math" panose="02040503050406030204" pitchFamily="18" charset="0"/>
                                      </a:rPr>
                                    </m:ctrlPr>
                                  </m:accPr>
                                  <m:e>
                                    <m:r>
                                      <a:rPr lang="en-US" sz="2000" i="1">
                                        <a:latin typeface="Cambria Math"/>
                                      </a:rPr>
                                      <m:t>𝑏</m:t>
                                    </m:r>
                                  </m:e>
                                </m:acc>
                                <m:r>
                                  <a:rPr lang="en-US" sz="2000" b="0" i="0" baseline="-25000" dirty="0" smtClean="0">
                                    <a:latin typeface="Cambria Math"/>
                                  </a:rPr>
                                  <m:t>3</m:t>
                                </m:r>
                              </m:oMath>
                            </m:oMathPara>
                          </a14:m>
                          <a:endParaRPr lang="en-US" sz="2000" dirty="0">
                            <a:latin typeface="+mn-lt"/>
                            <a:ea typeface="Calibri"/>
                            <a:cs typeface="Times New Roman"/>
                          </a:endParaRPr>
                        </a:p>
                      </a:txBody>
                      <a:tcPr marL="68580" marR="68580" marT="0" marB="0" anchor="ctr"/>
                    </a:tc>
                    <a:extLst>
                      <a:ext uri="{0D108BD9-81ED-4DB2-BD59-A6C34878D82A}">
                        <a16:rowId xmlns:a16="http://schemas.microsoft.com/office/drawing/2014/main" val="10001"/>
                      </a:ext>
                    </a:extLst>
                  </a:tr>
                  <a:tr h="370840">
                    <a:tc>
                      <a:txBody>
                        <a:bodyPr/>
                        <a:lstStyle/>
                        <a:p>
                          <a:r>
                            <a:rPr lang="en-US" sz="2000" dirty="0"/>
                            <a:t>Control Group</a:t>
                          </a:r>
                        </a:p>
                      </a:txBody>
                      <a:tcPr/>
                    </a:tc>
                    <a:tc>
                      <a:txBody>
                        <a:bodyPr/>
                        <a:lstStyle/>
                        <a:p>
                          <a:pPr marL="0" marR="0" indent="0" algn="ctr" defTabSz="914400" rtl="0" eaLnBrk="1" fontAlgn="auto" latinLnBrk="0" hangingPunct="1">
                            <a:lnSpc>
                              <a:spcPct val="115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acc>
                                  <m:accPr>
                                    <m:chr m:val="̂"/>
                                    <m:ctrlPr>
                                      <a:rPr lang="en-US" sz="2000" i="1" smtClean="0">
                                        <a:latin typeface="Cambria Math" panose="02040503050406030204" pitchFamily="18" charset="0"/>
                                      </a:rPr>
                                    </m:ctrlPr>
                                  </m:accPr>
                                  <m:e>
                                    <m:r>
                                      <a:rPr lang="en-US" sz="2000" i="1">
                                        <a:latin typeface="Cambria Math"/>
                                      </a:rPr>
                                      <m:t>𝑏</m:t>
                                    </m:r>
                                  </m:e>
                                </m:acc>
                                <m:r>
                                  <a:rPr lang="en-US" sz="2000" baseline="-25000" dirty="0">
                                    <a:latin typeface="Cambria Math"/>
                                  </a:rPr>
                                  <m:t>0</m:t>
                                </m:r>
                                <m:r>
                                  <a:rPr lang="en-US" sz="2000" dirty="0">
                                    <a:latin typeface="Cambria Math"/>
                                  </a:rPr>
                                  <m:t> </m:t>
                                </m:r>
                              </m:oMath>
                            </m:oMathPara>
                          </a14:m>
                          <a:endParaRPr lang="en-US" sz="2000" dirty="0">
                            <a:latin typeface="+mn-lt"/>
                            <a:ea typeface="Calibri"/>
                            <a:cs typeface="Times New Roman"/>
                          </a:endParaRPr>
                        </a:p>
                      </a:txBody>
                      <a:tcPr marL="68580" marR="68580" marT="0" marB="0" anchor="ctr"/>
                    </a:tc>
                    <a:tc>
                      <a:txBody>
                        <a:bodyPr/>
                        <a:lstStyle/>
                        <a:p>
                          <a:pPr marL="0" marR="0" indent="0" algn="ctr" defTabSz="914400" rtl="0" eaLnBrk="1" fontAlgn="auto" latinLnBrk="0" hangingPunct="1">
                            <a:lnSpc>
                              <a:spcPct val="115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acc>
                                  <m:accPr>
                                    <m:chr m:val="̂"/>
                                    <m:ctrlPr>
                                      <a:rPr lang="en-US" sz="2000" i="1" smtClean="0">
                                        <a:latin typeface="Cambria Math" panose="02040503050406030204" pitchFamily="18" charset="0"/>
                                      </a:rPr>
                                    </m:ctrlPr>
                                  </m:accPr>
                                  <m:e>
                                    <m:r>
                                      <a:rPr lang="en-US" sz="2000" i="1">
                                        <a:latin typeface="Cambria Math"/>
                                      </a:rPr>
                                      <m:t>𝑏</m:t>
                                    </m:r>
                                  </m:e>
                                </m:acc>
                                <m:r>
                                  <a:rPr lang="en-US" sz="2000" baseline="-25000" dirty="0">
                                    <a:latin typeface="Cambria Math"/>
                                  </a:rPr>
                                  <m:t>0</m:t>
                                </m:r>
                                <m:r>
                                  <a:rPr lang="en-US" sz="2000" dirty="0">
                                    <a:latin typeface="Cambria Math"/>
                                  </a:rPr>
                                  <m:t> +</m:t>
                                </m:r>
                                <m:acc>
                                  <m:accPr>
                                    <m:chr m:val="̂"/>
                                    <m:ctrlPr>
                                      <a:rPr lang="en-US" sz="2000" i="1" smtClean="0">
                                        <a:latin typeface="Cambria Math" panose="02040503050406030204" pitchFamily="18" charset="0"/>
                                      </a:rPr>
                                    </m:ctrlPr>
                                  </m:accPr>
                                  <m:e>
                                    <m:r>
                                      <a:rPr lang="en-US" sz="2000" i="1">
                                        <a:latin typeface="Cambria Math"/>
                                      </a:rPr>
                                      <m:t>𝑏</m:t>
                                    </m:r>
                                  </m:e>
                                </m:acc>
                                <m:r>
                                  <a:rPr lang="en-US" sz="2000" b="0" i="0" baseline="-25000" dirty="0" smtClean="0">
                                    <a:latin typeface="Cambria Math"/>
                                  </a:rPr>
                                  <m:t>1</m:t>
                                </m:r>
                              </m:oMath>
                            </m:oMathPara>
                          </a14:m>
                          <a:endParaRPr lang="en-US" sz="2000" dirty="0">
                            <a:latin typeface="+mn-lt"/>
                            <a:ea typeface="Calibri"/>
                            <a:cs typeface="Times New Roman"/>
                          </a:endParaRPr>
                        </a:p>
                      </a:txBody>
                      <a:tcPr marL="68580" marR="68580" marT="0" marB="0" anchor="ctr"/>
                    </a:tc>
                    <a:tc>
                      <a:txBody>
                        <a:bodyPr/>
                        <a:lstStyle/>
                        <a:p>
                          <a:pPr marL="0" marR="0" algn="ctr">
                            <a:lnSpc>
                              <a:spcPct val="115000"/>
                            </a:lnSpc>
                            <a:spcBef>
                              <a:spcPts val="0"/>
                            </a:spcBef>
                            <a:spcAft>
                              <a:spcPts val="0"/>
                            </a:spcAft>
                          </a:pPr>
                          <a:endParaRPr lang="en-US" sz="2000" dirty="0">
                            <a:latin typeface="Calibri"/>
                            <a:ea typeface="Calibri"/>
                            <a:cs typeface="Times New Roman"/>
                          </a:endParaRPr>
                        </a:p>
                      </a:txBody>
                      <a:tcPr marL="68580" marR="68580" marT="0" marB="0" anchor="ctr"/>
                    </a:tc>
                    <a:extLst>
                      <a:ext uri="{0D108BD9-81ED-4DB2-BD59-A6C34878D82A}">
                        <a16:rowId xmlns:a16="http://schemas.microsoft.com/office/drawing/2014/main" val="10002"/>
                      </a:ext>
                    </a:extLst>
                  </a:tr>
                  <a:tr h="370840">
                    <a:tc>
                      <a:txBody>
                        <a:bodyPr/>
                        <a:lstStyle/>
                        <a:p>
                          <a:endParaRPr lang="en-US" sz="2000" dirty="0"/>
                        </a:p>
                      </a:txBody>
                      <a:tcPr/>
                    </a:tc>
                    <a:tc gridSpan="2">
                      <a:txBody>
                        <a:bodyPr/>
                        <a:lstStyle/>
                        <a:p>
                          <a:r>
                            <a:rPr lang="en-US" sz="2000" dirty="0"/>
                            <a:t>Difference-in-Differences</a:t>
                          </a:r>
                        </a:p>
                      </a:txBody>
                      <a:tcPr/>
                    </a:tc>
                    <a:tc hMerge="1">
                      <a:txBody>
                        <a:bodyPr/>
                        <a:lstStyle/>
                        <a:p>
                          <a:endParaRPr lang="en-US" sz="200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2000" dirty="0">
                            <a:latin typeface="+mn-lt"/>
                            <a:ea typeface="Calibri"/>
                            <a:cs typeface="Times New Roman"/>
                          </a:endParaRPr>
                        </a:p>
                      </a:txBody>
                      <a:tcPr/>
                    </a:tc>
                    <a:extLst>
                      <a:ext uri="{0D108BD9-81ED-4DB2-BD59-A6C34878D82A}">
                        <a16:rowId xmlns:a16="http://schemas.microsoft.com/office/drawing/2014/main" val="10003"/>
                      </a:ext>
                    </a:extLst>
                  </a:tr>
                </a:tbl>
              </a:graphicData>
            </a:graphic>
          </p:graphicFrame>
        </mc:Choice>
        <mc:Fallback xmlns="">
          <p:graphicFrame>
            <p:nvGraphicFramePr>
              <p:cNvPr id="4" name="Content Placeholder 3"/>
              <p:cNvGraphicFramePr>
                <a:graphicFrameLocks noGrp="1"/>
              </p:cNvGraphicFramePr>
              <p:nvPr>
                <p:ph idx="1"/>
                <p:extLst>
                  <p:ext uri="{D42A27DB-BD31-4B8C-83A1-F6EECF244321}">
                    <p14:modId xmlns:p14="http://schemas.microsoft.com/office/powerpoint/2010/main" val="1680152261"/>
                  </p:ext>
                </p:extLst>
              </p:nvPr>
            </p:nvGraphicFramePr>
            <p:xfrm>
              <a:off x="457200" y="1600200"/>
              <a:ext cx="8229600" cy="1584960"/>
            </p:xfrm>
            <a:graphic>
              <a:graphicData uri="http://schemas.openxmlformats.org/drawingml/2006/table">
                <a:tbl>
                  <a:tblPr firstRow="1" bandRow="1">
                    <a:tableStyleId>{5940675A-B579-460E-94D1-54222C63F5DA}</a:tableStyleId>
                  </a:tblPr>
                  <a:tblGrid>
                    <a:gridCol w="2057400">
                      <a:extLst>
                        <a:ext uri="{9D8B030D-6E8A-4147-A177-3AD203B41FA5}">
                          <a16:colId xmlns:a16="http://schemas.microsoft.com/office/drawing/2014/main" val="20000"/>
                        </a:ext>
                      </a:extLst>
                    </a:gridCol>
                    <a:gridCol w="2057400">
                      <a:extLst>
                        <a:ext uri="{9D8B030D-6E8A-4147-A177-3AD203B41FA5}">
                          <a16:colId xmlns:a16="http://schemas.microsoft.com/office/drawing/2014/main" val="20001"/>
                        </a:ext>
                      </a:extLst>
                    </a:gridCol>
                    <a:gridCol w="2057400">
                      <a:extLst>
                        <a:ext uri="{9D8B030D-6E8A-4147-A177-3AD203B41FA5}">
                          <a16:colId xmlns:a16="http://schemas.microsoft.com/office/drawing/2014/main" val="20002"/>
                        </a:ext>
                      </a:extLst>
                    </a:gridCol>
                    <a:gridCol w="2057400">
                      <a:extLst>
                        <a:ext uri="{9D8B030D-6E8A-4147-A177-3AD203B41FA5}">
                          <a16:colId xmlns:a16="http://schemas.microsoft.com/office/drawing/2014/main" val="20003"/>
                        </a:ext>
                      </a:extLst>
                    </a:gridCol>
                  </a:tblGrid>
                  <a:tr h="396240">
                    <a:tc>
                      <a:txBody>
                        <a:bodyPr/>
                        <a:lstStyle/>
                        <a:p>
                          <a:endParaRPr lang="en-US" sz="2000" dirty="0"/>
                        </a:p>
                      </a:txBody>
                      <a:tcPr/>
                    </a:tc>
                    <a:tc>
                      <a:txBody>
                        <a:bodyPr/>
                        <a:lstStyle/>
                        <a:p>
                          <a:pPr algn="ctr"/>
                          <a:r>
                            <a:rPr lang="en-US" sz="2000" dirty="0" smtClean="0"/>
                            <a:t>“Pre”</a:t>
                          </a:r>
                          <a:r>
                            <a:rPr lang="en-US" sz="2000" baseline="0" dirty="0" smtClean="0"/>
                            <a:t> Period</a:t>
                          </a:r>
                          <a:endParaRPr lang="en-US" sz="2000" dirty="0"/>
                        </a:p>
                      </a:txBody>
                      <a:tcPr/>
                    </a:tc>
                    <a:tc>
                      <a:txBody>
                        <a:bodyPr/>
                        <a:lstStyle/>
                        <a:p>
                          <a:pPr algn="ctr"/>
                          <a:r>
                            <a:rPr lang="en-US" sz="2000" dirty="0" smtClean="0"/>
                            <a:t>“Post” period</a:t>
                          </a:r>
                          <a:endParaRPr lang="en-US" sz="2000" dirty="0"/>
                        </a:p>
                      </a:txBody>
                      <a:tcPr/>
                    </a:tc>
                    <a:tc>
                      <a:txBody>
                        <a:bodyPr/>
                        <a:lstStyle/>
                        <a:p>
                          <a:pPr algn="ctr"/>
                          <a:r>
                            <a:rPr lang="en-US" sz="2000" dirty="0" smtClean="0"/>
                            <a:t>Difference</a:t>
                          </a:r>
                          <a:endParaRPr lang="en-US" sz="2000" dirty="0"/>
                        </a:p>
                      </a:txBody>
                      <a:tcPr/>
                    </a:tc>
                    <a:extLst>
                      <a:ext uri="{0D108BD9-81ED-4DB2-BD59-A6C34878D82A}">
                        <a16:rowId xmlns:a16="http://schemas.microsoft.com/office/drawing/2014/main" val="10000"/>
                      </a:ext>
                    </a:extLst>
                  </a:tr>
                  <a:tr h="396240">
                    <a:tc>
                      <a:txBody>
                        <a:bodyPr/>
                        <a:lstStyle/>
                        <a:p>
                          <a:r>
                            <a:rPr lang="en-US" sz="2000" dirty="0" smtClean="0"/>
                            <a:t>Treatment Group</a:t>
                          </a:r>
                          <a:endParaRPr lang="en-US" sz="2000" dirty="0"/>
                        </a:p>
                      </a:txBody>
                      <a:tcPr/>
                    </a:tc>
                    <a:tc>
                      <a:txBody>
                        <a:bodyPr/>
                        <a:lstStyle/>
                        <a:p>
                          <a:endParaRPr lang="en-US"/>
                        </a:p>
                      </a:txBody>
                      <a:tcPr marL="68580" marR="68580" marT="0" marB="0" anchor="ctr">
                        <a:blipFill>
                          <a:blip r:embed="rId2"/>
                          <a:stretch>
                            <a:fillRect l="-100890" t="-106061" r="-201187" b="-222727"/>
                          </a:stretch>
                        </a:blipFill>
                      </a:tcPr>
                    </a:tc>
                    <a:tc>
                      <a:txBody>
                        <a:bodyPr/>
                        <a:lstStyle/>
                        <a:p>
                          <a:endParaRPr lang="en-US"/>
                        </a:p>
                      </a:txBody>
                      <a:tcPr marL="68580" marR="68580" marT="0" marB="0" anchor="ctr">
                        <a:blipFill>
                          <a:blip r:embed="rId2"/>
                          <a:stretch>
                            <a:fillRect l="-200296" t="-106061" r="-100592" b="-222727"/>
                          </a:stretch>
                        </a:blipFill>
                      </a:tcPr>
                    </a:tc>
                    <a:tc>
                      <a:txBody>
                        <a:bodyPr/>
                        <a:lstStyle/>
                        <a:p>
                          <a:endParaRPr lang="en-US"/>
                        </a:p>
                      </a:txBody>
                      <a:tcPr marL="68580" marR="68580" marT="0" marB="0" anchor="ctr">
                        <a:blipFill>
                          <a:blip r:embed="rId2"/>
                          <a:stretch>
                            <a:fillRect l="-301187" t="-106061" r="-890" b="-222727"/>
                          </a:stretch>
                        </a:blipFill>
                      </a:tcPr>
                    </a:tc>
                    <a:extLst>
                      <a:ext uri="{0D108BD9-81ED-4DB2-BD59-A6C34878D82A}">
                        <a16:rowId xmlns:a16="http://schemas.microsoft.com/office/drawing/2014/main" val="10001"/>
                      </a:ext>
                    </a:extLst>
                  </a:tr>
                  <a:tr h="396240">
                    <a:tc>
                      <a:txBody>
                        <a:bodyPr/>
                        <a:lstStyle/>
                        <a:p>
                          <a:r>
                            <a:rPr lang="en-US" sz="2000" dirty="0" smtClean="0"/>
                            <a:t>Control Group</a:t>
                          </a:r>
                          <a:endParaRPr lang="en-US" sz="2000" dirty="0"/>
                        </a:p>
                      </a:txBody>
                      <a:tcPr/>
                    </a:tc>
                    <a:tc>
                      <a:txBody>
                        <a:bodyPr/>
                        <a:lstStyle/>
                        <a:p>
                          <a:endParaRPr lang="en-US"/>
                        </a:p>
                      </a:txBody>
                      <a:tcPr marL="68580" marR="68580" marT="0" marB="0" anchor="ctr">
                        <a:blipFill>
                          <a:blip r:embed="rId2"/>
                          <a:stretch>
                            <a:fillRect l="-100890" t="-209231" r="-201187" b="-126154"/>
                          </a:stretch>
                        </a:blipFill>
                      </a:tcPr>
                    </a:tc>
                    <a:tc>
                      <a:txBody>
                        <a:bodyPr/>
                        <a:lstStyle/>
                        <a:p>
                          <a:endParaRPr lang="en-US"/>
                        </a:p>
                      </a:txBody>
                      <a:tcPr marL="68580" marR="68580" marT="0" marB="0" anchor="ctr">
                        <a:blipFill>
                          <a:blip r:embed="rId2"/>
                          <a:stretch>
                            <a:fillRect l="-200296" t="-209231" r="-100592" b="-126154"/>
                          </a:stretch>
                        </a:blipFill>
                      </a:tcPr>
                    </a:tc>
                    <a:tc>
                      <a:txBody>
                        <a:bodyPr/>
                        <a:lstStyle/>
                        <a:p>
                          <a:pPr marL="0" marR="0" algn="ctr">
                            <a:lnSpc>
                              <a:spcPct val="115000"/>
                            </a:lnSpc>
                            <a:spcBef>
                              <a:spcPts val="0"/>
                            </a:spcBef>
                            <a:spcAft>
                              <a:spcPts val="0"/>
                            </a:spcAft>
                          </a:pPr>
                          <a:endParaRPr lang="en-US" sz="2000" dirty="0">
                            <a:latin typeface="Calibri"/>
                            <a:ea typeface="Calibri"/>
                            <a:cs typeface="Times New Roman"/>
                          </a:endParaRPr>
                        </a:p>
                      </a:txBody>
                      <a:tcPr marL="68580" marR="68580" marT="0" marB="0" anchor="ctr"/>
                    </a:tc>
                    <a:extLst>
                      <a:ext uri="{0D108BD9-81ED-4DB2-BD59-A6C34878D82A}">
                        <a16:rowId xmlns:a16="http://schemas.microsoft.com/office/drawing/2014/main" val="10002"/>
                      </a:ext>
                    </a:extLst>
                  </a:tr>
                  <a:tr h="396240">
                    <a:tc>
                      <a:txBody>
                        <a:bodyPr/>
                        <a:lstStyle/>
                        <a:p>
                          <a:endParaRPr lang="en-US" sz="2000" dirty="0"/>
                        </a:p>
                      </a:txBody>
                      <a:tcPr/>
                    </a:tc>
                    <a:tc gridSpan="2">
                      <a:txBody>
                        <a:bodyPr/>
                        <a:lstStyle/>
                        <a:p>
                          <a:r>
                            <a:rPr lang="en-US" sz="2000" dirty="0" smtClean="0"/>
                            <a:t>Difference-in-Differences</a:t>
                          </a:r>
                          <a:endParaRPr lang="en-US" sz="2000" dirty="0"/>
                        </a:p>
                      </a:txBody>
                      <a:tcPr/>
                    </a:tc>
                    <a:tc hMerge="1">
                      <a:txBody>
                        <a:bodyPr/>
                        <a:lstStyle/>
                        <a:p>
                          <a:endParaRPr lang="en-US" sz="200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2000" dirty="0" smtClean="0">
                            <a:latin typeface="+mn-lt"/>
                            <a:ea typeface="Calibri"/>
                            <a:cs typeface="Times New Roman"/>
                          </a:endParaRPr>
                        </a:p>
                      </a:txBody>
                      <a:tcPr/>
                    </a:tc>
                    <a:extLst>
                      <a:ext uri="{0D108BD9-81ED-4DB2-BD59-A6C34878D82A}">
                        <a16:rowId xmlns:a16="http://schemas.microsoft.com/office/drawing/2014/main" val="10003"/>
                      </a:ext>
                    </a:extLst>
                  </a:tr>
                </a:tbl>
              </a:graphicData>
            </a:graphic>
          </p:graphicFrame>
        </mc:Fallback>
      </mc:AlternateContent>
      <p:sp>
        <p:nvSpPr>
          <p:cNvPr id="5" name="Rectangle 4"/>
          <p:cNvSpPr/>
          <p:nvPr/>
        </p:nvSpPr>
        <p:spPr>
          <a:xfrm>
            <a:off x="457200" y="3429000"/>
            <a:ext cx="8229600" cy="1077218"/>
          </a:xfrm>
          <a:prstGeom prst="rect">
            <a:avLst/>
          </a:prstGeom>
        </p:spPr>
        <p:txBody>
          <a:bodyPr wrap="square">
            <a:spAutoFit/>
          </a:bodyPr>
          <a:lstStyle/>
          <a:p>
            <a:r>
              <a:rPr lang="en-US" sz="3200" dirty="0"/>
              <a:t>So here’s the “difference” between the post and pre periods for the control group.</a:t>
            </a:r>
          </a:p>
        </p:txBody>
      </p:sp>
      <mc:AlternateContent xmlns:mc="http://schemas.openxmlformats.org/markup-compatibility/2006" xmlns:a14="http://schemas.microsoft.com/office/drawing/2010/main">
        <mc:Choice Requires="a14">
          <p:sp>
            <p:nvSpPr>
              <p:cNvPr id="6" name="TextBox 5"/>
              <p:cNvSpPr txBox="1"/>
              <p:nvPr/>
            </p:nvSpPr>
            <p:spPr>
              <a:xfrm>
                <a:off x="7086600" y="2350207"/>
                <a:ext cx="1143000" cy="416589"/>
              </a:xfrm>
              <a:prstGeom prst="rect">
                <a:avLst/>
              </a:prstGeom>
              <a:noFill/>
            </p:spPr>
            <p:txBody>
              <a:bodyPr wrap="square" rtlCol="0">
                <a:spAutoFit/>
              </a:bodyPr>
              <a:lstStyle/>
              <a:p>
                <a:pPr>
                  <a:buNone/>
                </a:pPr>
                <a14:m>
                  <m:oMathPara xmlns:m="http://schemas.openxmlformats.org/officeDocument/2006/math">
                    <m:oMathParaPr>
                      <m:jc m:val="centerGroup"/>
                    </m:oMathParaPr>
                    <m:oMath xmlns:m="http://schemas.openxmlformats.org/officeDocument/2006/math">
                      <m:acc>
                        <m:accPr>
                          <m:chr m:val="̂"/>
                          <m:ctrlPr>
                            <a:rPr lang="en-US" sz="2000" i="1">
                              <a:latin typeface="Cambria Math" panose="02040503050406030204" pitchFamily="18" charset="0"/>
                            </a:rPr>
                          </m:ctrlPr>
                        </m:accPr>
                        <m:e>
                          <m:r>
                            <a:rPr lang="en-US" sz="2000" i="1">
                              <a:latin typeface="Cambria Math"/>
                            </a:rPr>
                            <m:t>𝑏</m:t>
                          </m:r>
                        </m:e>
                      </m:acc>
                      <m:r>
                        <a:rPr lang="en-US" sz="2000" b="0" i="1" baseline="-25000" dirty="0" smtClean="0">
                          <a:latin typeface="Cambria Math"/>
                        </a:rPr>
                        <m:t>1</m:t>
                      </m:r>
                    </m:oMath>
                  </m:oMathPara>
                </a14:m>
                <a:endParaRPr lang="en-US" sz="2000" baseline="-25000" dirty="0"/>
              </a:p>
            </p:txBody>
          </p:sp>
        </mc:Choice>
        <mc:Fallback xmlns="">
          <p:sp>
            <p:nvSpPr>
              <p:cNvPr id="6" name="TextBox 5"/>
              <p:cNvSpPr txBox="1">
                <a:spLocks noRot="1" noChangeAspect="1" noMove="1" noResize="1" noEditPoints="1" noAdjustHandles="1" noChangeArrowheads="1" noChangeShapeType="1" noTextEdit="1"/>
              </p:cNvSpPr>
              <p:nvPr/>
            </p:nvSpPr>
            <p:spPr>
              <a:xfrm>
                <a:off x="7086600" y="2350207"/>
                <a:ext cx="1143000" cy="416589"/>
              </a:xfrm>
              <a:prstGeom prst="rect">
                <a:avLst/>
              </a:prstGeom>
              <a:blipFill>
                <a:blip r:embed="rId3"/>
                <a:stretch>
                  <a:fillRect t="-7353" b="-1471"/>
                </a:stretch>
              </a:blipFill>
            </p:spPr>
            <p:txBody>
              <a:bodyPr/>
              <a:lstStyle/>
              <a:p>
                <a:r>
                  <a:rPr lang="en-US">
                    <a:noFill/>
                  </a:rPr>
                  <a:t> </a:t>
                </a:r>
              </a:p>
            </p:txBody>
          </p:sp>
        </mc:Fallback>
      </mc:AlternateContent>
      <p:sp>
        <p:nvSpPr>
          <p:cNvPr id="7" name="Rectangle 6"/>
          <p:cNvSpPr/>
          <p:nvPr/>
        </p:nvSpPr>
        <p:spPr>
          <a:xfrm>
            <a:off x="457200" y="4649093"/>
            <a:ext cx="8229600" cy="1077218"/>
          </a:xfrm>
          <a:prstGeom prst="rect">
            <a:avLst/>
          </a:prstGeom>
        </p:spPr>
        <p:txBody>
          <a:bodyPr wrap="square">
            <a:spAutoFit/>
          </a:bodyPr>
          <a:lstStyle/>
          <a:p>
            <a:r>
              <a:rPr lang="en-US" sz="3200" dirty="0"/>
              <a:t>And now, the big payoff: the Difference-in-Differences!</a:t>
            </a:r>
          </a:p>
        </p:txBody>
      </p:sp>
      <mc:AlternateContent xmlns:mc="http://schemas.openxmlformats.org/markup-compatibility/2006" xmlns:a14="http://schemas.microsoft.com/office/drawing/2010/main">
        <mc:Choice Requires="a14">
          <p:sp>
            <p:nvSpPr>
              <p:cNvPr id="8" name="TextBox 7"/>
              <p:cNvSpPr txBox="1"/>
              <p:nvPr/>
            </p:nvSpPr>
            <p:spPr>
              <a:xfrm>
                <a:off x="7086600" y="2769307"/>
                <a:ext cx="1143000" cy="416589"/>
              </a:xfrm>
              <a:prstGeom prst="rect">
                <a:avLst/>
              </a:prstGeom>
              <a:noFill/>
            </p:spPr>
            <p:txBody>
              <a:bodyPr wrap="square" rtlCol="0">
                <a:spAutoFit/>
              </a:bodyPr>
              <a:lstStyle/>
              <a:p>
                <a:pPr>
                  <a:buNone/>
                </a:pPr>
                <a14:m>
                  <m:oMathPara xmlns:m="http://schemas.openxmlformats.org/officeDocument/2006/math">
                    <m:oMathParaPr>
                      <m:jc m:val="centerGroup"/>
                    </m:oMathParaPr>
                    <m:oMath xmlns:m="http://schemas.openxmlformats.org/officeDocument/2006/math">
                      <m:acc>
                        <m:accPr>
                          <m:chr m:val="̂"/>
                          <m:ctrlPr>
                            <a:rPr lang="en-US" sz="2000" i="1">
                              <a:latin typeface="Cambria Math" panose="02040503050406030204" pitchFamily="18" charset="0"/>
                            </a:rPr>
                          </m:ctrlPr>
                        </m:accPr>
                        <m:e>
                          <m:r>
                            <a:rPr lang="en-US" sz="2000" i="1">
                              <a:latin typeface="Cambria Math"/>
                            </a:rPr>
                            <m:t>𝑏</m:t>
                          </m:r>
                        </m:e>
                      </m:acc>
                      <m:r>
                        <a:rPr lang="en-US" sz="2000" b="0" i="1" baseline="-25000" dirty="0" smtClean="0">
                          <a:latin typeface="Cambria Math"/>
                        </a:rPr>
                        <m:t>3</m:t>
                      </m:r>
                    </m:oMath>
                  </m:oMathPara>
                </a14:m>
                <a:endParaRPr lang="en-US" sz="2000" baseline="-25000" dirty="0"/>
              </a:p>
            </p:txBody>
          </p:sp>
        </mc:Choice>
        <mc:Fallback xmlns="">
          <p:sp>
            <p:nvSpPr>
              <p:cNvPr id="8" name="TextBox 7"/>
              <p:cNvSpPr txBox="1">
                <a:spLocks noRot="1" noChangeAspect="1" noMove="1" noResize="1" noEditPoints="1" noAdjustHandles="1" noChangeArrowheads="1" noChangeShapeType="1" noTextEdit="1"/>
              </p:cNvSpPr>
              <p:nvPr/>
            </p:nvSpPr>
            <p:spPr>
              <a:xfrm>
                <a:off x="7086600" y="2769307"/>
                <a:ext cx="1143000" cy="416589"/>
              </a:xfrm>
              <a:prstGeom prst="rect">
                <a:avLst/>
              </a:prstGeom>
              <a:blipFill>
                <a:blip r:embed="rId4"/>
                <a:stretch>
                  <a:fillRect t="-7246" b="-1449"/>
                </a:stretch>
              </a:blipFill>
            </p:spPr>
            <p:txBody>
              <a:bodyPr/>
              <a:lstStyle/>
              <a:p>
                <a:r>
                  <a:rPr lang="en-US">
                    <a:noFill/>
                  </a:rPr>
                  <a:t> </a:t>
                </a:r>
              </a:p>
            </p:txBody>
          </p:sp>
        </mc:Fallback>
      </mc:AlternateContent>
    </p:spTree>
    <p:extLst>
      <p:ext uri="{BB962C8B-B14F-4D97-AF65-F5344CB8AC3E}">
        <p14:creationId xmlns:p14="http://schemas.microsoft.com/office/powerpoint/2010/main" val="24830592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Big punch line</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pPr marL="0" indent="0">
                  <a:buNone/>
                </a:pPr>
                <a:r>
                  <a:rPr lang="en-US" dirty="0"/>
                  <a:t>Using the regression we specified:</a:t>
                </a:r>
              </a:p>
              <a:p>
                <a:pPr marL="514350" indent="-514350">
                  <a:buAutoNum type="arabicParenBoth"/>
                </a:pPr>
                <a:r>
                  <a:rPr lang="en-US" dirty="0"/>
                  <a:t>We can estimate the coefficient </a:t>
                </a:r>
                <a14:m>
                  <m:oMath xmlns:m="http://schemas.openxmlformats.org/officeDocument/2006/math">
                    <m:acc>
                      <m:accPr>
                        <m:chr m:val="̂"/>
                        <m:ctrlPr>
                          <a:rPr lang="en-US" i="1">
                            <a:latin typeface="Cambria Math" panose="02040503050406030204" pitchFamily="18" charset="0"/>
                          </a:rPr>
                        </m:ctrlPr>
                      </m:accPr>
                      <m:e>
                        <m:r>
                          <a:rPr lang="en-US" i="1">
                            <a:latin typeface="Cambria Math"/>
                          </a:rPr>
                          <m:t>𝑏</m:t>
                        </m:r>
                      </m:e>
                    </m:acc>
                  </m:oMath>
                </a14:m>
                <a:r>
                  <a:rPr lang="en-US" baseline="-25000" dirty="0"/>
                  <a:t>3</a:t>
                </a:r>
                <a:r>
                  <a:rPr lang="en-US" dirty="0"/>
                  <a:t> to determine the magnitude of the difference-in-differences, and </a:t>
                </a:r>
              </a:p>
              <a:p>
                <a:pPr marL="514350" indent="-514350">
                  <a:buAutoNum type="arabicParenBoth"/>
                </a:pPr>
                <a:r>
                  <a:rPr lang="en-US" dirty="0"/>
                  <a:t>We can perform hypothesis tests on </a:t>
                </a:r>
                <a:r>
                  <a:rPr lang="en-US" dirty="0">
                    <a:latin typeface="Symbol" panose="05050102010706020507" pitchFamily="18" charset="2"/>
                  </a:rPr>
                  <a:t>b</a:t>
                </a:r>
                <a:r>
                  <a:rPr lang="en-US" baseline="-25000" dirty="0"/>
                  <a:t>3</a:t>
                </a:r>
                <a:r>
                  <a:rPr lang="en-US" dirty="0"/>
                  <a:t>, such as testing the null that it is equal to zero.</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926" t="-1752" r="-593"/>
                </a:stretch>
              </a:blipFill>
            </p:spPr>
            <p:txBody>
              <a:bodyPr/>
              <a:lstStyle/>
              <a:p>
                <a:r>
                  <a:rPr lang="en-US">
                    <a:noFill/>
                  </a:rPr>
                  <a:t> </a:t>
                </a:r>
              </a:p>
            </p:txBody>
          </p:sp>
        </mc:Fallback>
      </mc:AlternateContent>
    </p:spTree>
    <p:extLst>
      <p:ext uri="{BB962C8B-B14F-4D97-AF65-F5344CB8AC3E}">
        <p14:creationId xmlns:p14="http://schemas.microsoft.com/office/powerpoint/2010/main" val="302944840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Big punch line</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pPr marL="0" indent="0">
                  <a:buNone/>
                </a:pPr>
                <a:r>
                  <a:rPr lang="en-US" dirty="0"/>
                  <a:t>(3) We could also include other variables in the model, too, if we wanted:</a:t>
                </a:r>
              </a:p>
              <a:p>
                <a:pPr marL="0" indent="0">
                  <a:buNone/>
                </a:pPr>
                <a:endParaRPr lang="en-US" dirty="0"/>
              </a:p>
              <a:p>
                <a:pPr>
                  <a:buNone/>
                </a:pPr>
                <a14:m>
                  <m:oMathPara xmlns:m="http://schemas.openxmlformats.org/officeDocument/2006/math">
                    <m:oMathParaPr>
                      <m:jc m:val="centerGroup"/>
                    </m:oMathParaPr>
                    <m:oMath xmlns:m="http://schemas.openxmlformats.org/officeDocument/2006/math">
                      <m:r>
                        <a:rPr lang="en-US" i="1" dirty="0">
                          <a:latin typeface="Cambria Math"/>
                        </a:rPr>
                        <m:t>𝑃𝑟𝑜𝑑𝑢𝑐𝑡𝑖𝑣𝑖𝑡𝑦</m:t>
                      </m:r>
                      <m:r>
                        <a:rPr lang="en-US" i="1" baseline="-25000" dirty="0" err="1">
                          <a:latin typeface="Cambria Math"/>
                        </a:rPr>
                        <m:t>𝑖𝑡</m:t>
                      </m:r>
                      <m:r>
                        <a:rPr lang="en-US" i="1" dirty="0">
                          <a:latin typeface="Cambria Math"/>
                        </a:rPr>
                        <m:t> =</m:t>
                      </m:r>
                      <m:acc>
                        <m:accPr>
                          <m:chr m:val="̂"/>
                          <m:ctrlPr>
                            <a:rPr lang="en-US" i="1">
                              <a:latin typeface="Cambria Math" panose="02040503050406030204" pitchFamily="18" charset="0"/>
                            </a:rPr>
                          </m:ctrlPr>
                        </m:accPr>
                        <m:e>
                          <m:r>
                            <a:rPr lang="en-US" i="1">
                              <a:latin typeface="Cambria Math"/>
                            </a:rPr>
                            <m:t>𝑏</m:t>
                          </m:r>
                        </m:e>
                      </m:acc>
                      <m:r>
                        <a:rPr lang="en-US" i="1" baseline="-25000" dirty="0">
                          <a:latin typeface="Cambria Math"/>
                        </a:rPr>
                        <m:t>0</m:t>
                      </m:r>
                      <m:r>
                        <a:rPr lang="en-US" i="1" dirty="0">
                          <a:latin typeface="Cambria Math"/>
                        </a:rPr>
                        <m:t>+</m:t>
                      </m:r>
                      <m:acc>
                        <m:accPr>
                          <m:chr m:val="̂"/>
                          <m:ctrlPr>
                            <a:rPr lang="en-US" i="1">
                              <a:latin typeface="Cambria Math" panose="02040503050406030204" pitchFamily="18" charset="0"/>
                            </a:rPr>
                          </m:ctrlPr>
                        </m:accPr>
                        <m:e>
                          <m:r>
                            <a:rPr lang="en-US" i="1">
                              <a:latin typeface="Cambria Math"/>
                            </a:rPr>
                            <m:t>𝑏</m:t>
                          </m:r>
                        </m:e>
                      </m:acc>
                      <m:r>
                        <a:rPr lang="en-US" i="1" baseline="-25000" dirty="0">
                          <a:latin typeface="Cambria Math"/>
                        </a:rPr>
                        <m:t>1</m:t>
                      </m:r>
                      <m:r>
                        <a:rPr lang="en-US" i="1" dirty="0">
                          <a:latin typeface="Cambria Math"/>
                        </a:rPr>
                        <m:t>(</m:t>
                      </m:r>
                      <m:r>
                        <a:rPr lang="en-US" i="1" dirty="0" err="1">
                          <a:latin typeface="Cambria Math"/>
                        </a:rPr>
                        <m:t>𝑝𝑜𝑠𝑡</m:t>
                      </m:r>
                      <m:r>
                        <a:rPr lang="en-US" i="1" baseline="-25000" dirty="0" err="1">
                          <a:latin typeface="Cambria Math"/>
                        </a:rPr>
                        <m:t>𝑖𝑡</m:t>
                      </m:r>
                      <m:r>
                        <a:rPr lang="en-US" i="1" dirty="0">
                          <a:latin typeface="Cambria Math"/>
                        </a:rPr>
                        <m:t>)+</m:t>
                      </m:r>
                      <m:acc>
                        <m:accPr>
                          <m:chr m:val="̂"/>
                          <m:ctrlPr>
                            <a:rPr lang="en-US" i="1">
                              <a:latin typeface="Cambria Math" panose="02040503050406030204" pitchFamily="18" charset="0"/>
                            </a:rPr>
                          </m:ctrlPr>
                        </m:accPr>
                        <m:e>
                          <m:r>
                            <a:rPr lang="en-US" i="1">
                              <a:latin typeface="Cambria Math"/>
                            </a:rPr>
                            <m:t>𝑏</m:t>
                          </m:r>
                        </m:e>
                      </m:acc>
                      <m:r>
                        <a:rPr lang="en-US" i="1" baseline="-25000" dirty="0">
                          <a:latin typeface="Cambria Math"/>
                        </a:rPr>
                        <m:t>2</m:t>
                      </m:r>
                      <m:r>
                        <a:rPr lang="en-US" i="1" dirty="0">
                          <a:latin typeface="Cambria Math"/>
                        </a:rPr>
                        <m:t>(</m:t>
                      </m:r>
                      <m:r>
                        <a:rPr lang="en-US" i="1" dirty="0" err="1">
                          <a:latin typeface="Cambria Math"/>
                        </a:rPr>
                        <m:t>𝑡𝑟𝑒𝑎𝑡𝑚𝑒𝑛𝑡</m:t>
                      </m:r>
                      <m:r>
                        <a:rPr lang="en-US" i="1" baseline="-25000" dirty="0" err="1">
                          <a:latin typeface="Cambria Math"/>
                        </a:rPr>
                        <m:t>𝑖𝑡</m:t>
                      </m:r>
                      <m:r>
                        <a:rPr lang="en-US" i="1" dirty="0">
                          <a:latin typeface="Cambria Math"/>
                        </a:rPr>
                        <m:t>) </m:t>
                      </m:r>
                    </m:oMath>
                  </m:oMathPara>
                </a14:m>
                <a:endParaRPr lang="en-US" dirty="0"/>
              </a:p>
              <a:p>
                <a:pPr>
                  <a:buNone/>
                </a:pPr>
                <a14:m>
                  <m:oMathPara xmlns:m="http://schemas.openxmlformats.org/officeDocument/2006/math">
                    <m:oMathParaPr>
                      <m:jc m:val="centerGroup"/>
                    </m:oMathParaPr>
                    <m:oMath xmlns:m="http://schemas.openxmlformats.org/officeDocument/2006/math">
                      <m:r>
                        <a:rPr lang="en-US" i="1" dirty="0">
                          <a:latin typeface="Cambria Math"/>
                        </a:rPr>
                        <m:t>+</m:t>
                      </m:r>
                      <m:acc>
                        <m:accPr>
                          <m:chr m:val="̂"/>
                          <m:ctrlPr>
                            <a:rPr lang="en-US" i="1">
                              <a:latin typeface="Cambria Math" panose="02040503050406030204" pitchFamily="18" charset="0"/>
                            </a:rPr>
                          </m:ctrlPr>
                        </m:accPr>
                        <m:e>
                          <m:r>
                            <a:rPr lang="en-US" i="1">
                              <a:latin typeface="Cambria Math"/>
                            </a:rPr>
                            <m:t>𝑏</m:t>
                          </m:r>
                        </m:e>
                      </m:acc>
                      <m:r>
                        <a:rPr lang="en-US" i="1" baseline="-25000" dirty="0">
                          <a:latin typeface="Cambria Math"/>
                        </a:rPr>
                        <m:t>3</m:t>
                      </m:r>
                      <m:r>
                        <a:rPr lang="en-US" i="1" dirty="0">
                          <a:latin typeface="Cambria Math"/>
                        </a:rPr>
                        <m:t>(</m:t>
                      </m:r>
                      <m:r>
                        <a:rPr lang="en-US" i="1" dirty="0" err="1">
                          <a:latin typeface="Cambria Math"/>
                        </a:rPr>
                        <m:t>𝑝𝑜𝑠𝑡</m:t>
                      </m:r>
                      <m:r>
                        <a:rPr lang="en-US" i="1" baseline="-25000" dirty="0" err="1">
                          <a:latin typeface="Cambria Math"/>
                        </a:rPr>
                        <m:t>𝑖𝑡</m:t>
                      </m:r>
                      <m:r>
                        <a:rPr lang="en-US" i="1" dirty="0">
                          <a:latin typeface="Cambria Math"/>
                        </a:rPr>
                        <m:t>∗</m:t>
                      </m:r>
                      <m:r>
                        <a:rPr lang="en-US" i="1" dirty="0" err="1">
                          <a:latin typeface="Cambria Math"/>
                        </a:rPr>
                        <m:t>𝑡𝑟𝑒𝑎𝑡𝑚𝑒𝑛𝑡</m:t>
                      </m:r>
                      <m:r>
                        <a:rPr lang="en-US" i="1" baseline="-25000" dirty="0" err="1">
                          <a:latin typeface="Cambria Math"/>
                        </a:rPr>
                        <m:t>𝑖𝑡</m:t>
                      </m:r>
                      <m:r>
                        <a:rPr lang="en-US" i="1" dirty="0">
                          <a:latin typeface="Cambria Math"/>
                        </a:rPr>
                        <m:t>)</m:t>
                      </m:r>
                      <m:r>
                        <a:rPr lang="en-US" b="0" i="1" dirty="0" smtClean="0">
                          <a:latin typeface="Cambria Math"/>
                        </a:rPr>
                        <m:t>)+</m:t>
                      </m:r>
                      <m:sSub>
                        <m:sSubPr>
                          <m:ctrlPr>
                            <a:rPr lang="en-US" b="0" i="1" dirty="0" smtClean="0">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a:rPr>
                                <m:t>𝑏</m:t>
                              </m:r>
                            </m:e>
                          </m:acc>
                        </m:e>
                        <m:sub>
                          <m:r>
                            <a:rPr lang="en-US" b="0" i="1" dirty="0" smtClean="0">
                              <a:latin typeface="Cambria Math"/>
                            </a:rPr>
                            <m:t>4</m:t>
                          </m:r>
                        </m:sub>
                      </m:sSub>
                      <m:r>
                        <a:rPr lang="en-US" b="0" i="1" dirty="0" smtClean="0">
                          <a:latin typeface="Cambria Math"/>
                        </a:rPr>
                        <m:t>𝑋</m:t>
                      </m:r>
                    </m:oMath>
                  </m:oMathPara>
                </a14:m>
                <a:endParaRPr lang="en-US" baseline="-25000" dirty="0"/>
              </a:p>
              <a:p>
                <a:pPr marL="0" indent="0">
                  <a:buNone/>
                </a:pPr>
                <a:endParaRPr lang="en-US" dirty="0"/>
              </a:p>
              <a:p>
                <a:pPr marL="0" indent="0">
                  <a:buNone/>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852" t="-1752"/>
                </a:stretch>
              </a:blipFill>
            </p:spPr>
            <p:txBody>
              <a:bodyPr/>
              <a:lstStyle/>
              <a:p>
                <a:r>
                  <a:rPr lang="en-US">
                    <a:noFill/>
                  </a:rPr>
                  <a:t> </a:t>
                </a:r>
              </a:p>
            </p:txBody>
          </p:sp>
        </mc:Fallback>
      </mc:AlternateContent>
    </p:spTree>
    <p:extLst>
      <p:ext uri="{BB962C8B-B14F-4D97-AF65-F5344CB8AC3E}">
        <p14:creationId xmlns:p14="http://schemas.microsoft.com/office/powerpoint/2010/main" val="254159234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Back to the graphical intuition</a:t>
            </a:r>
          </a:p>
        </p:txBody>
      </p:sp>
      <p:sp>
        <p:nvSpPr>
          <p:cNvPr id="3" name="Content Placeholder 2"/>
          <p:cNvSpPr>
            <a:spLocks noGrp="1"/>
          </p:cNvSpPr>
          <p:nvPr>
            <p:ph idx="1"/>
          </p:nvPr>
        </p:nvSpPr>
        <p:spPr/>
        <p:txBody>
          <a:bodyPr/>
          <a:lstStyle/>
          <a:p>
            <a:pPr marL="0" indent="0">
              <a:buNone/>
            </a:pPr>
            <a:r>
              <a:rPr lang="en-US" dirty="0"/>
              <a:t>We can now tie each of the four coefficients to the graph we used to think about the intuition here.</a:t>
            </a:r>
          </a:p>
        </p:txBody>
      </p:sp>
    </p:spTree>
    <p:extLst>
      <p:ext uri="{BB962C8B-B14F-4D97-AF65-F5344CB8AC3E}">
        <p14:creationId xmlns:p14="http://schemas.microsoft.com/office/powerpoint/2010/main" val="349261002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5592763"/>
          </a:xfrm>
        </p:spPr>
        <p:txBody>
          <a:bodyPr/>
          <a:lstStyle/>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p:txBody>
      </p:sp>
      <p:cxnSp>
        <p:nvCxnSpPr>
          <p:cNvPr id="5" name="Straight Arrow Connector 4"/>
          <p:cNvCxnSpPr/>
          <p:nvPr/>
        </p:nvCxnSpPr>
        <p:spPr>
          <a:xfrm>
            <a:off x="1447800" y="762000"/>
            <a:ext cx="0" cy="5638800"/>
          </a:xfrm>
          <a:prstGeom prst="straightConnector1">
            <a:avLst/>
          </a:prstGeom>
          <a:ln w="28575">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6" name="Straight Arrow Connector 5"/>
          <p:cNvCxnSpPr/>
          <p:nvPr/>
        </p:nvCxnSpPr>
        <p:spPr>
          <a:xfrm flipH="1">
            <a:off x="549536" y="5867400"/>
            <a:ext cx="7696200" cy="0"/>
          </a:xfrm>
          <a:prstGeom prst="straightConnector1">
            <a:avLst/>
          </a:prstGeom>
          <a:ln w="28575">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1447800" y="4693920"/>
            <a:ext cx="32004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a:off x="4648200" y="762000"/>
            <a:ext cx="0" cy="5105400"/>
          </a:xfrm>
          <a:prstGeom prst="line">
            <a:avLst/>
          </a:prstGeom>
          <a:ln>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1447800" y="4343400"/>
            <a:ext cx="3200400"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4648200" y="2057400"/>
            <a:ext cx="3200400"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a:off x="4648200" y="3962400"/>
            <a:ext cx="32004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a:off x="1447800" y="2057400"/>
            <a:ext cx="3200400" cy="0"/>
          </a:xfrm>
          <a:prstGeom prst="line">
            <a:avLst/>
          </a:prstGeom>
          <a:ln w="28575">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a:off x="1447800" y="3962400"/>
            <a:ext cx="3200400" cy="0"/>
          </a:xfrm>
          <a:prstGeom prst="line">
            <a:avLst/>
          </a:prstGeom>
          <a:ln w="28575">
            <a:prstDash val="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3" name="TextBox 22"/>
              <p:cNvSpPr txBox="1"/>
              <p:nvPr/>
            </p:nvSpPr>
            <p:spPr>
              <a:xfrm>
                <a:off x="961016" y="4528066"/>
                <a:ext cx="465269" cy="384144"/>
              </a:xfrm>
              <a:prstGeom prst="rect">
                <a:avLst/>
              </a:prstGeom>
              <a:noFill/>
            </p:spPr>
            <p:txBody>
              <a:bodyPr wrap="square" rtlCol="0">
                <a:spAutoFit/>
              </a:bodyPr>
              <a:lstStyle/>
              <a:p>
                <a14:m>
                  <m:oMath xmlns:m="http://schemas.openxmlformats.org/officeDocument/2006/math">
                    <m:acc>
                      <m:accPr>
                        <m:chr m:val="̂"/>
                        <m:ctrlPr>
                          <a:rPr lang="en-US" i="1">
                            <a:latin typeface="Cambria Math" panose="02040503050406030204" pitchFamily="18" charset="0"/>
                          </a:rPr>
                        </m:ctrlPr>
                      </m:accPr>
                      <m:e>
                        <m:r>
                          <a:rPr lang="en-US" i="1">
                            <a:latin typeface="Cambria Math"/>
                          </a:rPr>
                          <m:t>𝑏</m:t>
                        </m:r>
                      </m:e>
                    </m:acc>
                  </m:oMath>
                </a14:m>
                <a:r>
                  <a:rPr lang="en-US" baseline="-25000" dirty="0"/>
                  <a:t>0</a:t>
                </a:r>
                <a:r>
                  <a:rPr lang="en-US" dirty="0"/>
                  <a:t>  </a:t>
                </a:r>
              </a:p>
            </p:txBody>
          </p:sp>
        </mc:Choice>
        <mc:Fallback xmlns="">
          <p:sp>
            <p:nvSpPr>
              <p:cNvPr id="23" name="TextBox 22"/>
              <p:cNvSpPr txBox="1">
                <a:spLocks noRot="1" noChangeAspect="1" noMove="1" noResize="1" noEditPoints="1" noAdjustHandles="1" noChangeArrowheads="1" noChangeShapeType="1" noTextEdit="1"/>
              </p:cNvSpPr>
              <p:nvPr/>
            </p:nvSpPr>
            <p:spPr>
              <a:xfrm>
                <a:off x="961016" y="4528066"/>
                <a:ext cx="465269" cy="384144"/>
              </a:xfrm>
              <a:prstGeom prst="rect">
                <a:avLst/>
              </a:prstGeom>
              <a:blipFill>
                <a:blip r:embed="rId2"/>
                <a:stretch>
                  <a:fillRect t="-1587" b="-2063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TextBox 23"/>
              <p:cNvSpPr txBox="1"/>
              <p:nvPr/>
            </p:nvSpPr>
            <p:spPr>
              <a:xfrm>
                <a:off x="580912" y="4158734"/>
                <a:ext cx="914400" cy="384144"/>
              </a:xfrm>
              <a:prstGeom prst="rect">
                <a:avLst/>
              </a:prstGeom>
              <a:noFill/>
            </p:spPr>
            <p:txBody>
              <a:bodyPr wrap="square" rtlCol="0">
                <a:spAutoFit/>
              </a:bodyPr>
              <a:lstStyle/>
              <a:p>
                <a14:m>
                  <m:oMath xmlns:m="http://schemas.openxmlformats.org/officeDocument/2006/math">
                    <m:acc>
                      <m:accPr>
                        <m:chr m:val="̂"/>
                        <m:ctrlPr>
                          <a:rPr lang="en-US" i="1">
                            <a:latin typeface="Cambria Math" panose="02040503050406030204" pitchFamily="18" charset="0"/>
                          </a:rPr>
                        </m:ctrlPr>
                      </m:accPr>
                      <m:e>
                        <m:r>
                          <a:rPr lang="en-US" i="1">
                            <a:latin typeface="Cambria Math"/>
                          </a:rPr>
                          <m:t>𝑏</m:t>
                        </m:r>
                      </m:e>
                    </m:acc>
                  </m:oMath>
                </a14:m>
                <a:r>
                  <a:rPr lang="en-US" baseline="-25000" dirty="0"/>
                  <a:t>0</a:t>
                </a:r>
                <a:r>
                  <a:rPr lang="en-US" dirty="0"/>
                  <a:t> + </a:t>
                </a:r>
                <a14:m>
                  <m:oMath xmlns:m="http://schemas.openxmlformats.org/officeDocument/2006/math">
                    <m:acc>
                      <m:accPr>
                        <m:chr m:val="̂"/>
                        <m:ctrlPr>
                          <a:rPr lang="en-US" i="1">
                            <a:latin typeface="Cambria Math" panose="02040503050406030204" pitchFamily="18" charset="0"/>
                          </a:rPr>
                        </m:ctrlPr>
                      </m:accPr>
                      <m:e>
                        <m:r>
                          <a:rPr lang="en-US" i="1">
                            <a:latin typeface="Cambria Math"/>
                          </a:rPr>
                          <m:t>𝑏</m:t>
                        </m:r>
                      </m:e>
                    </m:acc>
                  </m:oMath>
                </a14:m>
                <a:r>
                  <a:rPr lang="en-US" baseline="-25000" dirty="0"/>
                  <a:t>2</a:t>
                </a:r>
                <a:r>
                  <a:rPr lang="en-US" dirty="0"/>
                  <a:t> </a:t>
                </a:r>
              </a:p>
            </p:txBody>
          </p:sp>
        </mc:Choice>
        <mc:Fallback xmlns="">
          <p:sp>
            <p:nvSpPr>
              <p:cNvPr id="24" name="TextBox 23"/>
              <p:cNvSpPr txBox="1">
                <a:spLocks noRot="1" noChangeAspect="1" noMove="1" noResize="1" noEditPoints="1" noAdjustHandles="1" noChangeArrowheads="1" noChangeShapeType="1" noTextEdit="1"/>
              </p:cNvSpPr>
              <p:nvPr/>
            </p:nvSpPr>
            <p:spPr>
              <a:xfrm>
                <a:off x="580912" y="4158734"/>
                <a:ext cx="914400" cy="384144"/>
              </a:xfrm>
              <a:prstGeom prst="rect">
                <a:avLst/>
              </a:prstGeom>
              <a:blipFill>
                <a:blip r:embed="rId3"/>
                <a:stretch>
                  <a:fillRect t="-3175" r="-10000" b="-25397"/>
                </a:stretch>
              </a:blipFill>
            </p:spPr>
            <p:txBody>
              <a:bodyPr/>
              <a:lstStyle/>
              <a:p>
                <a:r>
                  <a:rPr lang="en-US">
                    <a:noFill/>
                  </a:rPr>
                  <a:t> </a:t>
                </a:r>
              </a:p>
            </p:txBody>
          </p:sp>
        </mc:Fallback>
      </mc:AlternateContent>
      <p:cxnSp>
        <p:nvCxnSpPr>
          <p:cNvPr id="26" name="Straight Arrow Connector 25"/>
          <p:cNvCxnSpPr/>
          <p:nvPr/>
        </p:nvCxnSpPr>
        <p:spPr>
          <a:xfrm flipV="1">
            <a:off x="5029200" y="3962400"/>
            <a:ext cx="0" cy="731520"/>
          </a:xfrm>
          <a:prstGeom prst="straightConnector1">
            <a:avLst/>
          </a:prstGeom>
          <a:ln w="19050">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8" name="TextBox 27"/>
              <p:cNvSpPr txBox="1"/>
              <p:nvPr/>
            </p:nvSpPr>
            <p:spPr>
              <a:xfrm>
                <a:off x="580912" y="3789402"/>
                <a:ext cx="914400" cy="384144"/>
              </a:xfrm>
              <a:prstGeom prst="rect">
                <a:avLst/>
              </a:prstGeom>
              <a:noFill/>
            </p:spPr>
            <p:txBody>
              <a:bodyPr wrap="square" rtlCol="0">
                <a:spAutoFit/>
              </a:bodyPr>
              <a:lstStyle/>
              <a:p>
                <a14:m>
                  <m:oMath xmlns:m="http://schemas.openxmlformats.org/officeDocument/2006/math">
                    <m:acc>
                      <m:accPr>
                        <m:chr m:val="̂"/>
                        <m:ctrlPr>
                          <a:rPr lang="en-US" i="1">
                            <a:latin typeface="Cambria Math" panose="02040503050406030204" pitchFamily="18" charset="0"/>
                          </a:rPr>
                        </m:ctrlPr>
                      </m:accPr>
                      <m:e>
                        <m:r>
                          <a:rPr lang="en-US" i="1">
                            <a:latin typeface="Cambria Math"/>
                          </a:rPr>
                          <m:t>𝑏</m:t>
                        </m:r>
                      </m:e>
                    </m:acc>
                  </m:oMath>
                </a14:m>
                <a:r>
                  <a:rPr lang="en-US" baseline="-25000" dirty="0"/>
                  <a:t>0</a:t>
                </a:r>
                <a:r>
                  <a:rPr lang="en-US" dirty="0"/>
                  <a:t> + </a:t>
                </a:r>
                <a14:m>
                  <m:oMath xmlns:m="http://schemas.openxmlformats.org/officeDocument/2006/math">
                    <m:acc>
                      <m:accPr>
                        <m:chr m:val="̂"/>
                        <m:ctrlPr>
                          <a:rPr lang="en-US" i="1">
                            <a:latin typeface="Cambria Math" panose="02040503050406030204" pitchFamily="18" charset="0"/>
                          </a:rPr>
                        </m:ctrlPr>
                      </m:accPr>
                      <m:e>
                        <m:r>
                          <a:rPr lang="en-US" i="1">
                            <a:latin typeface="Cambria Math"/>
                          </a:rPr>
                          <m:t>𝑏</m:t>
                        </m:r>
                      </m:e>
                    </m:acc>
                  </m:oMath>
                </a14:m>
                <a:r>
                  <a:rPr lang="en-US" baseline="-25000" dirty="0"/>
                  <a:t>1</a:t>
                </a:r>
                <a:r>
                  <a:rPr lang="en-US" dirty="0"/>
                  <a:t> </a:t>
                </a:r>
              </a:p>
            </p:txBody>
          </p:sp>
        </mc:Choice>
        <mc:Fallback xmlns="">
          <p:sp>
            <p:nvSpPr>
              <p:cNvPr id="28" name="TextBox 27"/>
              <p:cNvSpPr txBox="1">
                <a:spLocks noRot="1" noChangeAspect="1" noMove="1" noResize="1" noEditPoints="1" noAdjustHandles="1" noChangeArrowheads="1" noChangeShapeType="1" noTextEdit="1"/>
              </p:cNvSpPr>
              <p:nvPr/>
            </p:nvSpPr>
            <p:spPr>
              <a:xfrm>
                <a:off x="580912" y="3789402"/>
                <a:ext cx="914400" cy="384144"/>
              </a:xfrm>
              <a:prstGeom prst="rect">
                <a:avLst/>
              </a:prstGeom>
              <a:blipFill>
                <a:blip r:embed="rId4"/>
                <a:stretch>
                  <a:fillRect t="-4762" r="-10000" b="-2539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TextBox 28"/>
              <p:cNvSpPr txBox="1"/>
              <p:nvPr/>
            </p:nvSpPr>
            <p:spPr>
              <a:xfrm>
                <a:off x="5105400" y="4158734"/>
                <a:ext cx="2819400" cy="384144"/>
              </a:xfrm>
              <a:prstGeom prst="rect">
                <a:avLst/>
              </a:prstGeom>
              <a:noFill/>
            </p:spPr>
            <p:txBody>
              <a:bodyPr wrap="square" rtlCol="0">
                <a:spAutoFit/>
              </a:bodyPr>
              <a:lstStyle/>
              <a:p>
                <a:r>
                  <a:rPr lang="en-US" dirty="0"/>
                  <a:t>Control’s change =  </a:t>
                </a:r>
                <a14:m>
                  <m:oMath xmlns:m="http://schemas.openxmlformats.org/officeDocument/2006/math">
                    <m:acc>
                      <m:accPr>
                        <m:chr m:val="̂"/>
                        <m:ctrlPr>
                          <a:rPr lang="en-US" i="1">
                            <a:latin typeface="Cambria Math" panose="02040503050406030204" pitchFamily="18" charset="0"/>
                          </a:rPr>
                        </m:ctrlPr>
                      </m:accPr>
                      <m:e>
                        <m:r>
                          <a:rPr lang="en-US" i="1">
                            <a:latin typeface="Cambria Math"/>
                          </a:rPr>
                          <m:t>𝑏</m:t>
                        </m:r>
                      </m:e>
                    </m:acc>
                  </m:oMath>
                </a14:m>
                <a:r>
                  <a:rPr lang="en-US" baseline="-25000" dirty="0"/>
                  <a:t>1</a:t>
                </a:r>
                <a:r>
                  <a:rPr lang="en-US" dirty="0"/>
                  <a:t> </a:t>
                </a:r>
              </a:p>
            </p:txBody>
          </p:sp>
        </mc:Choice>
        <mc:Fallback xmlns="">
          <p:sp>
            <p:nvSpPr>
              <p:cNvPr id="29" name="TextBox 28"/>
              <p:cNvSpPr txBox="1">
                <a:spLocks noRot="1" noChangeAspect="1" noMove="1" noResize="1" noEditPoints="1" noAdjustHandles="1" noChangeArrowheads="1" noChangeShapeType="1" noTextEdit="1"/>
              </p:cNvSpPr>
              <p:nvPr/>
            </p:nvSpPr>
            <p:spPr>
              <a:xfrm>
                <a:off x="5105400" y="4158734"/>
                <a:ext cx="2819400" cy="384144"/>
              </a:xfrm>
              <a:prstGeom prst="rect">
                <a:avLst/>
              </a:prstGeom>
              <a:blipFill>
                <a:blip r:embed="rId5"/>
                <a:stretch>
                  <a:fillRect l="-1948" t="-3175" b="-25397"/>
                </a:stretch>
              </a:blipFill>
            </p:spPr>
            <p:txBody>
              <a:bodyPr/>
              <a:lstStyle/>
              <a:p>
                <a:r>
                  <a:rPr lang="en-US">
                    <a:noFill/>
                  </a:rPr>
                  <a:t> </a:t>
                </a:r>
              </a:p>
            </p:txBody>
          </p:sp>
        </mc:Fallback>
      </mc:AlternateContent>
      <p:cxnSp>
        <p:nvCxnSpPr>
          <p:cNvPr id="30" name="Straight Connector 29"/>
          <p:cNvCxnSpPr/>
          <p:nvPr/>
        </p:nvCxnSpPr>
        <p:spPr>
          <a:xfrm>
            <a:off x="4648200" y="4693920"/>
            <a:ext cx="3200400" cy="0"/>
          </a:xfrm>
          <a:prstGeom prst="line">
            <a:avLst/>
          </a:prstGeom>
          <a:ln w="28575">
            <a:prstDash val="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1" name="TextBox 30"/>
              <p:cNvSpPr txBox="1"/>
              <p:nvPr/>
            </p:nvSpPr>
            <p:spPr>
              <a:xfrm>
                <a:off x="123711" y="1872734"/>
                <a:ext cx="1476489" cy="384144"/>
              </a:xfrm>
              <a:prstGeom prst="rect">
                <a:avLst/>
              </a:prstGeom>
              <a:noFill/>
            </p:spPr>
            <p:txBody>
              <a:bodyPr wrap="square" rtlCol="0">
                <a:spAutoFit/>
              </a:bodyPr>
              <a:lstStyle/>
              <a:p>
                <a14:m>
                  <m:oMath xmlns:m="http://schemas.openxmlformats.org/officeDocument/2006/math">
                    <m:acc>
                      <m:accPr>
                        <m:chr m:val="̂"/>
                        <m:ctrlPr>
                          <a:rPr lang="en-US" i="1">
                            <a:latin typeface="Cambria Math" panose="02040503050406030204" pitchFamily="18" charset="0"/>
                          </a:rPr>
                        </m:ctrlPr>
                      </m:accPr>
                      <m:e>
                        <m:r>
                          <a:rPr lang="en-US" i="1">
                            <a:latin typeface="Cambria Math"/>
                          </a:rPr>
                          <m:t>𝑏</m:t>
                        </m:r>
                      </m:e>
                    </m:acc>
                  </m:oMath>
                </a14:m>
                <a:r>
                  <a:rPr lang="en-US" baseline="-25000" dirty="0"/>
                  <a:t>0</a:t>
                </a:r>
                <a:r>
                  <a:rPr lang="en-US" dirty="0"/>
                  <a:t>+</a:t>
                </a:r>
                <a14:m>
                  <m:oMath xmlns:m="http://schemas.openxmlformats.org/officeDocument/2006/math">
                    <m:acc>
                      <m:accPr>
                        <m:chr m:val="̂"/>
                        <m:ctrlPr>
                          <a:rPr lang="en-US" i="1">
                            <a:latin typeface="Cambria Math" panose="02040503050406030204" pitchFamily="18" charset="0"/>
                          </a:rPr>
                        </m:ctrlPr>
                      </m:accPr>
                      <m:e>
                        <m:r>
                          <a:rPr lang="en-US" i="1">
                            <a:latin typeface="Cambria Math"/>
                          </a:rPr>
                          <m:t>𝑏</m:t>
                        </m:r>
                      </m:e>
                    </m:acc>
                  </m:oMath>
                </a14:m>
                <a:r>
                  <a:rPr lang="en-US" baseline="-25000" dirty="0"/>
                  <a:t>1</a:t>
                </a:r>
                <a:r>
                  <a:rPr lang="en-US" dirty="0"/>
                  <a:t>+</a:t>
                </a:r>
                <a14:m>
                  <m:oMath xmlns:m="http://schemas.openxmlformats.org/officeDocument/2006/math">
                    <m:acc>
                      <m:accPr>
                        <m:chr m:val="̂"/>
                        <m:ctrlPr>
                          <a:rPr lang="en-US" i="1">
                            <a:latin typeface="Cambria Math" panose="02040503050406030204" pitchFamily="18" charset="0"/>
                          </a:rPr>
                        </m:ctrlPr>
                      </m:accPr>
                      <m:e>
                        <m:r>
                          <a:rPr lang="en-US" i="1">
                            <a:latin typeface="Cambria Math"/>
                          </a:rPr>
                          <m:t>𝑏</m:t>
                        </m:r>
                      </m:e>
                    </m:acc>
                  </m:oMath>
                </a14:m>
                <a:r>
                  <a:rPr lang="en-US" baseline="-25000" dirty="0"/>
                  <a:t>2</a:t>
                </a:r>
                <a:r>
                  <a:rPr lang="en-US" dirty="0"/>
                  <a:t>+</a:t>
                </a:r>
                <a14:m>
                  <m:oMath xmlns:m="http://schemas.openxmlformats.org/officeDocument/2006/math">
                    <m:acc>
                      <m:accPr>
                        <m:chr m:val="̂"/>
                        <m:ctrlPr>
                          <a:rPr lang="en-US" i="1">
                            <a:latin typeface="Cambria Math" panose="02040503050406030204" pitchFamily="18" charset="0"/>
                          </a:rPr>
                        </m:ctrlPr>
                      </m:accPr>
                      <m:e>
                        <m:r>
                          <a:rPr lang="en-US" i="1">
                            <a:latin typeface="Cambria Math"/>
                          </a:rPr>
                          <m:t>𝑏</m:t>
                        </m:r>
                      </m:e>
                    </m:acc>
                  </m:oMath>
                </a14:m>
                <a:r>
                  <a:rPr lang="en-US" baseline="-25000" dirty="0"/>
                  <a:t>3</a:t>
                </a:r>
                <a:r>
                  <a:rPr lang="en-US" dirty="0"/>
                  <a:t> </a:t>
                </a:r>
              </a:p>
            </p:txBody>
          </p:sp>
        </mc:Choice>
        <mc:Fallback xmlns="">
          <p:sp>
            <p:nvSpPr>
              <p:cNvPr id="31" name="TextBox 30"/>
              <p:cNvSpPr txBox="1">
                <a:spLocks noRot="1" noChangeAspect="1" noMove="1" noResize="1" noEditPoints="1" noAdjustHandles="1" noChangeArrowheads="1" noChangeShapeType="1" noTextEdit="1"/>
              </p:cNvSpPr>
              <p:nvPr/>
            </p:nvSpPr>
            <p:spPr>
              <a:xfrm>
                <a:off x="123711" y="1872734"/>
                <a:ext cx="1476489" cy="384144"/>
              </a:xfrm>
              <a:prstGeom prst="rect">
                <a:avLst/>
              </a:prstGeom>
              <a:blipFill>
                <a:blip r:embed="rId6"/>
                <a:stretch>
                  <a:fillRect t="-3175" r="-4527" b="-25397"/>
                </a:stretch>
              </a:blipFill>
            </p:spPr>
            <p:txBody>
              <a:bodyPr/>
              <a:lstStyle/>
              <a:p>
                <a:r>
                  <a:rPr lang="en-US">
                    <a:noFill/>
                  </a:rPr>
                  <a:t> </a:t>
                </a:r>
              </a:p>
            </p:txBody>
          </p:sp>
        </mc:Fallback>
      </mc:AlternateContent>
      <p:cxnSp>
        <p:nvCxnSpPr>
          <p:cNvPr id="32" name="Straight Arrow Connector 31"/>
          <p:cNvCxnSpPr/>
          <p:nvPr/>
        </p:nvCxnSpPr>
        <p:spPr>
          <a:xfrm flipV="1">
            <a:off x="3657600" y="2057400"/>
            <a:ext cx="0" cy="2270760"/>
          </a:xfrm>
          <a:prstGeom prst="straightConnector1">
            <a:avLst/>
          </a:prstGeom>
          <a:ln w="19050">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4" name="TextBox 33"/>
              <p:cNvSpPr txBox="1"/>
              <p:nvPr/>
            </p:nvSpPr>
            <p:spPr>
              <a:xfrm>
                <a:off x="3783106" y="2827034"/>
                <a:ext cx="2998694" cy="384144"/>
              </a:xfrm>
              <a:prstGeom prst="rect">
                <a:avLst/>
              </a:prstGeom>
              <a:noFill/>
            </p:spPr>
            <p:txBody>
              <a:bodyPr wrap="square" rtlCol="0">
                <a:spAutoFit/>
              </a:bodyPr>
              <a:lstStyle/>
              <a:p>
                <a:r>
                  <a:rPr lang="en-US" dirty="0"/>
                  <a:t>Treatment’s change =  </a:t>
                </a:r>
                <a14:m>
                  <m:oMath xmlns:m="http://schemas.openxmlformats.org/officeDocument/2006/math">
                    <m:acc>
                      <m:accPr>
                        <m:chr m:val="̂"/>
                        <m:ctrlPr>
                          <a:rPr lang="en-US" i="1">
                            <a:latin typeface="Cambria Math" panose="02040503050406030204" pitchFamily="18" charset="0"/>
                          </a:rPr>
                        </m:ctrlPr>
                      </m:accPr>
                      <m:e>
                        <m:r>
                          <a:rPr lang="en-US" i="1">
                            <a:latin typeface="Cambria Math"/>
                          </a:rPr>
                          <m:t>𝑏</m:t>
                        </m:r>
                      </m:e>
                    </m:acc>
                  </m:oMath>
                </a14:m>
                <a:r>
                  <a:rPr lang="en-US" baseline="-25000" dirty="0"/>
                  <a:t>1</a:t>
                </a:r>
                <a:r>
                  <a:rPr lang="en-US" dirty="0"/>
                  <a:t> + </a:t>
                </a:r>
                <a14:m>
                  <m:oMath xmlns:m="http://schemas.openxmlformats.org/officeDocument/2006/math">
                    <m:acc>
                      <m:accPr>
                        <m:chr m:val="̂"/>
                        <m:ctrlPr>
                          <a:rPr lang="en-US" i="1">
                            <a:latin typeface="Cambria Math" panose="02040503050406030204" pitchFamily="18" charset="0"/>
                          </a:rPr>
                        </m:ctrlPr>
                      </m:accPr>
                      <m:e>
                        <m:r>
                          <a:rPr lang="en-US" i="1">
                            <a:latin typeface="Cambria Math"/>
                          </a:rPr>
                          <m:t>𝑏</m:t>
                        </m:r>
                      </m:e>
                    </m:acc>
                  </m:oMath>
                </a14:m>
                <a:r>
                  <a:rPr lang="en-US" baseline="-25000" dirty="0"/>
                  <a:t>3</a:t>
                </a:r>
                <a:r>
                  <a:rPr lang="en-US" dirty="0"/>
                  <a:t> </a:t>
                </a:r>
              </a:p>
            </p:txBody>
          </p:sp>
        </mc:Choice>
        <mc:Fallback xmlns="">
          <p:sp>
            <p:nvSpPr>
              <p:cNvPr id="34" name="TextBox 33"/>
              <p:cNvSpPr txBox="1">
                <a:spLocks noRot="1" noChangeAspect="1" noMove="1" noResize="1" noEditPoints="1" noAdjustHandles="1" noChangeArrowheads="1" noChangeShapeType="1" noTextEdit="1"/>
              </p:cNvSpPr>
              <p:nvPr/>
            </p:nvSpPr>
            <p:spPr>
              <a:xfrm>
                <a:off x="3783106" y="2827034"/>
                <a:ext cx="2998694" cy="384144"/>
              </a:xfrm>
              <a:prstGeom prst="rect">
                <a:avLst/>
              </a:prstGeom>
              <a:blipFill>
                <a:blip r:embed="rId7"/>
                <a:stretch>
                  <a:fillRect l="-1829" t="-4762" r="-3049" b="-25397"/>
                </a:stretch>
              </a:blipFill>
            </p:spPr>
            <p:txBody>
              <a:bodyPr/>
              <a:lstStyle/>
              <a:p>
                <a:r>
                  <a:rPr lang="en-US">
                    <a:noFill/>
                  </a:rPr>
                  <a:t> </a:t>
                </a:r>
              </a:p>
            </p:txBody>
          </p:sp>
        </mc:Fallback>
      </mc:AlternateContent>
      <p:cxnSp>
        <p:nvCxnSpPr>
          <p:cNvPr id="25" name="Straight Arrow Connector 24"/>
          <p:cNvCxnSpPr/>
          <p:nvPr/>
        </p:nvCxnSpPr>
        <p:spPr>
          <a:xfrm flipV="1">
            <a:off x="2667000" y="4343400"/>
            <a:ext cx="0" cy="350520"/>
          </a:xfrm>
          <a:prstGeom prst="straightConnector1">
            <a:avLst/>
          </a:prstGeom>
          <a:ln w="19050">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7" name="TextBox 26"/>
              <p:cNvSpPr txBox="1"/>
              <p:nvPr/>
            </p:nvSpPr>
            <p:spPr>
              <a:xfrm>
                <a:off x="1752600" y="4878348"/>
                <a:ext cx="4267200" cy="661143"/>
              </a:xfrm>
              <a:prstGeom prst="rect">
                <a:avLst/>
              </a:prstGeom>
              <a:noFill/>
            </p:spPr>
            <p:txBody>
              <a:bodyPr wrap="square" rtlCol="0">
                <a:spAutoFit/>
              </a:bodyPr>
              <a:lstStyle/>
              <a:p>
                <a:r>
                  <a:rPr lang="en-US" dirty="0"/>
                  <a:t>“Pre” difference between </a:t>
                </a:r>
              </a:p>
              <a:p>
                <a:r>
                  <a:rPr lang="en-US" dirty="0"/>
                  <a:t>Control and Treatment =  </a:t>
                </a:r>
                <a14:m>
                  <m:oMath xmlns:m="http://schemas.openxmlformats.org/officeDocument/2006/math">
                    <m:acc>
                      <m:accPr>
                        <m:chr m:val="̂"/>
                        <m:ctrlPr>
                          <a:rPr lang="en-US" i="1">
                            <a:latin typeface="Cambria Math" panose="02040503050406030204" pitchFamily="18" charset="0"/>
                          </a:rPr>
                        </m:ctrlPr>
                      </m:accPr>
                      <m:e>
                        <m:r>
                          <a:rPr lang="en-US" i="1">
                            <a:latin typeface="Cambria Math"/>
                          </a:rPr>
                          <m:t>𝑏</m:t>
                        </m:r>
                      </m:e>
                    </m:acc>
                  </m:oMath>
                </a14:m>
                <a:r>
                  <a:rPr lang="en-US" baseline="-25000" dirty="0"/>
                  <a:t>2</a:t>
                </a:r>
                <a:r>
                  <a:rPr lang="en-US" dirty="0"/>
                  <a:t> </a:t>
                </a:r>
              </a:p>
            </p:txBody>
          </p:sp>
        </mc:Choice>
        <mc:Fallback xmlns="">
          <p:sp>
            <p:nvSpPr>
              <p:cNvPr id="27" name="TextBox 26"/>
              <p:cNvSpPr txBox="1">
                <a:spLocks noRot="1" noChangeAspect="1" noMove="1" noResize="1" noEditPoints="1" noAdjustHandles="1" noChangeArrowheads="1" noChangeShapeType="1" noTextEdit="1"/>
              </p:cNvSpPr>
              <p:nvPr/>
            </p:nvSpPr>
            <p:spPr>
              <a:xfrm>
                <a:off x="1752600" y="4878348"/>
                <a:ext cx="4267200" cy="661143"/>
              </a:xfrm>
              <a:prstGeom prst="rect">
                <a:avLst/>
              </a:prstGeom>
              <a:blipFill>
                <a:blip r:embed="rId8"/>
                <a:stretch>
                  <a:fillRect l="-1286" t="-4587" b="-13761"/>
                </a:stretch>
              </a:blipFill>
            </p:spPr>
            <p:txBody>
              <a:bodyPr/>
              <a:lstStyle/>
              <a:p>
                <a:r>
                  <a:rPr lang="en-US">
                    <a:noFill/>
                  </a:rPr>
                  <a:t> </a:t>
                </a:r>
              </a:p>
            </p:txBody>
          </p:sp>
        </mc:Fallback>
      </mc:AlternateContent>
      <p:cxnSp>
        <p:nvCxnSpPr>
          <p:cNvPr id="7" name="Straight Arrow Connector 6"/>
          <p:cNvCxnSpPr/>
          <p:nvPr/>
        </p:nvCxnSpPr>
        <p:spPr>
          <a:xfrm flipH="1" flipV="1">
            <a:off x="2743200" y="4528066"/>
            <a:ext cx="838200" cy="424934"/>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674886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7"/>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7"/>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6"/>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9"/>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32"/>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24" grpId="0"/>
      <p:bldP spid="28" grpId="0"/>
      <p:bldP spid="29" grpId="0"/>
      <p:bldP spid="31" grpId="0"/>
      <p:bldP spid="34" grpId="0"/>
      <p:bldP spid="27"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D-</a:t>
            </a:r>
            <a:r>
              <a:rPr lang="en-US" dirty="0" err="1"/>
              <a:t>i</a:t>
            </a:r>
            <a:r>
              <a:rPr lang="en-US" dirty="0"/>
              <a:t>-D</a:t>
            </a:r>
          </a:p>
        </p:txBody>
      </p:sp>
      <p:sp>
        <p:nvSpPr>
          <p:cNvPr id="3" name="Content Placeholder 2"/>
          <p:cNvSpPr>
            <a:spLocks noGrp="1"/>
          </p:cNvSpPr>
          <p:nvPr>
            <p:ph idx="1"/>
          </p:nvPr>
        </p:nvSpPr>
        <p:spPr/>
        <p:txBody>
          <a:bodyPr/>
          <a:lstStyle/>
          <a:p>
            <a:pPr marL="0" indent="0">
              <a:buNone/>
            </a:pPr>
            <a:endParaRPr lang="en-US" dirty="0"/>
          </a:p>
        </p:txBody>
      </p:sp>
      <p:cxnSp>
        <p:nvCxnSpPr>
          <p:cNvPr id="5" name="Straight Arrow Connector 4"/>
          <p:cNvCxnSpPr/>
          <p:nvPr/>
        </p:nvCxnSpPr>
        <p:spPr>
          <a:xfrm>
            <a:off x="2590800" y="2209800"/>
            <a:ext cx="0" cy="3276600"/>
          </a:xfrm>
          <a:prstGeom prst="straightConnector1">
            <a:avLst/>
          </a:prstGeom>
          <a:ln w="28575">
            <a:headEnd type="arrow"/>
            <a:tailEnd type="arrow"/>
          </a:ln>
        </p:spPr>
        <p:style>
          <a:lnRef idx="1">
            <a:schemeClr val="accent2"/>
          </a:lnRef>
          <a:fillRef idx="0">
            <a:schemeClr val="accent2"/>
          </a:fillRef>
          <a:effectRef idx="0">
            <a:schemeClr val="accent2"/>
          </a:effectRef>
          <a:fontRef idx="minor">
            <a:schemeClr val="tx1"/>
          </a:fontRef>
        </p:style>
      </p:cxnSp>
      <mc:AlternateContent xmlns:mc="http://schemas.openxmlformats.org/markup-compatibility/2006" xmlns:a14="http://schemas.microsoft.com/office/drawing/2010/main">
        <mc:Choice Requires="a14">
          <p:sp>
            <p:nvSpPr>
              <p:cNvPr id="7" name="TextBox 6"/>
              <p:cNvSpPr txBox="1"/>
              <p:nvPr/>
            </p:nvSpPr>
            <p:spPr>
              <a:xfrm>
                <a:off x="685800" y="3257550"/>
                <a:ext cx="1828800" cy="661143"/>
              </a:xfrm>
              <a:prstGeom prst="rect">
                <a:avLst/>
              </a:prstGeom>
              <a:noFill/>
            </p:spPr>
            <p:txBody>
              <a:bodyPr wrap="square" rtlCol="0">
                <a:spAutoFit/>
              </a:bodyPr>
              <a:lstStyle/>
              <a:p>
                <a:r>
                  <a:rPr lang="en-US" dirty="0">
                    <a:solidFill>
                      <a:srgbClr val="FF0000"/>
                    </a:solidFill>
                  </a:rPr>
                  <a:t>Treatment’s change =  </a:t>
                </a:r>
                <a14:m>
                  <m:oMath xmlns:m="http://schemas.openxmlformats.org/officeDocument/2006/math">
                    <m:acc>
                      <m:accPr>
                        <m:chr m:val="̂"/>
                        <m:ctrlPr>
                          <a:rPr lang="en-US" i="1" smtClean="0">
                            <a:solidFill>
                              <a:srgbClr val="FF0000"/>
                            </a:solidFill>
                            <a:latin typeface="Cambria Math" panose="02040503050406030204" pitchFamily="18" charset="0"/>
                          </a:rPr>
                        </m:ctrlPr>
                      </m:accPr>
                      <m:e>
                        <m:r>
                          <a:rPr lang="en-US" i="1">
                            <a:solidFill>
                              <a:srgbClr val="FF0000"/>
                            </a:solidFill>
                            <a:latin typeface="Cambria Math"/>
                          </a:rPr>
                          <m:t>𝑏</m:t>
                        </m:r>
                      </m:e>
                    </m:acc>
                  </m:oMath>
                </a14:m>
                <a:r>
                  <a:rPr lang="en-US" baseline="-25000" dirty="0">
                    <a:solidFill>
                      <a:srgbClr val="FF0000"/>
                    </a:solidFill>
                  </a:rPr>
                  <a:t>1</a:t>
                </a:r>
                <a:r>
                  <a:rPr lang="en-US" dirty="0">
                    <a:solidFill>
                      <a:srgbClr val="FF0000"/>
                    </a:solidFill>
                  </a:rPr>
                  <a:t> + </a:t>
                </a:r>
                <a14:m>
                  <m:oMath xmlns:m="http://schemas.openxmlformats.org/officeDocument/2006/math">
                    <m:acc>
                      <m:accPr>
                        <m:chr m:val="̂"/>
                        <m:ctrlPr>
                          <a:rPr lang="en-US" i="1" smtClean="0">
                            <a:solidFill>
                              <a:srgbClr val="FF0000"/>
                            </a:solidFill>
                            <a:latin typeface="Cambria Math" panose="02040503050406030204" pitchFamily="18" charset="0"/>
                          </a:rPr>
                        </m:ctrlPr>
                      </m:accPr>
                      <m:e>
                        <m:r>
                          <a:rPr lang="en-US" i="1">
                            <a:solidFill>
                              <a:srgbClr val="FF0000"/>
                            </a:solidFill>
                            <a:latin typeface="Cambria Math"/>
                          </a:rPr>
                          <m:t>𝑏</m:t>
                        </m:r>
                      </m:e>
                    </m:acc>
                  </m:oMath>
                </a14:m>
                <a:r>
                  <a:rPr lang="en-US" baseline="-25000" dirty="0">
                    <a:solidFill>
                      <a:srgbClr val="FF0000"/>
                    </a:solidFill>
                  </a:rPr>
                  <a:t>3</a:t>
                </a:r>
                <a:r>
                  <a:rPr lang="en-US" dirty="0">
                    <a:solidFill>
                      <a:srgbClr val="FF0000"/>
                    </a:solidFill>
                  </a:rPr>
                  <a:t> </a:t>
                </a:r>
              </a:p>
            </p:txBody>
          </p:sp>
        </mc:Choice>
        <mc:Fallback xmlns="">
          <p:sp>
            <p:nvSpPr>
              <p:cNvPr id="7" name="TextBox 6"/>
              <p:cNvSpPr txBox="1">
                <a:spLocks noRot="1" noChangeAspect="1" noMove="1" noResize="1" noEditPoints="1" noAdjustHandles="1" noChangeArrowheads="1" noChangeShapeType="1" noTextEdit="1"/>
              </p:cNvSpPr>
              <p:nvPr/>
            </p:nvSpPr>
            <p:spPr>
              <a:xfrm>
                <a:off x="685800" y="3257550"/>
                <a:ext cx="1828800" cy="661143"/>
              </a:xfrm>
              <a:prstGeom prst="rect">
                <a:avLst/>
              </a:prstGeom>
              <a:blipFill>
                <a:blip r:embed="rId2"/>
                <a:stretch>
                  <a:fillRect l="-3000" t="-4587" r="-6000" b="-13761"/>
                </a:stretch>
              </a:blipFill>
            </p:spPr>
            <p:txBody>
              <a:bodyPr/>
              <a:lstStyle/>
              <a:p>
                <a:r>
                  <a:rPr lang="en-US">
                    <a:noFill/>
                  </a:rPr>
                  <a:t> </a:t>
                </a:r>
              </a:p>
            </p:txBody>
          </p:sp>
        </mc:Fallback>
      </mc:AlternateContent>
      <p:cxnSp>
        <p:nvCxnSpPr>
          <p:cNvPr id="9" name="Straight Connector 8"/>
          <p:cNvCxnSpPr/>
          <p:nvPr/>
        </p:nvCxnSpPr>
        <p:spPr>
          <a:xfrm>
            <a:off x="2590800" y="5486400"/>
            <a:ext cx="4572000" cy="0"/>
          </a:xfrm>
          <a:prstGeom prst="line">
            <a:avLst/>
          </a:prstGeom>
          <a:ln w="28575">
            <a:prstDash val="dash"/>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2590800" y="4495800"/>
            <a:ext cx="4572000" cy="0"/>
          </a:xfrm>
          <a:prstGeom prst="line">
            <a:avLst/>
          </a:prstGeom>
          <a:ln w="28575">
            <a:prstDash val="dash"/>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2590800" y="2219325"/>
            <a:ext cx="4572000" cy="0"/>
          </a:xfrm>
          <a:prstGeom prst="line">
            <a:avLst/>
          </a:prstGeom>
          <a:ln w="28575">
            <a:prstDash val="dash"/>
          </a:ln>
        </p:spPr>
        <p:style>
          <a:lnRef idx="1">
            <a:schemeClr val="dk1"/>
          </a:lnRef>
          <a:fillRef idx="0">
            <a:schemeClr val="dk1"/>
          </a:fillRef>
          <a:effectRef idx="0">
            <a:schemeClr val="dk1"/>
          </a:effectRef>
          <a:fontRef idx="minor">
            <a:schemeClr val="tx1"/>
          </a:fontRef>
        </p:style>
      </p:cxnSp>
      <p:cxnSp>
        <p:nvCxnSpPr>
          <p:cNvPr id="12" name="Straight Arrow Connector 11"/>
          <p:cNvCxnSpPr/>
          <p:nvPr/>
        </p:nvCxnSpPr>
        <p:spPr>
          <a:xfrm>
            <a:off x="3352800" y="4495800"/>
            <a:ext cx="0" cy="1000125"/>
          </a:xfrm>
          <a:prstGeom prst="straightConnector1">
            <a:avLst/>
          </a:prstGeom>
          <a:ln w="28575">
            <a:headEnd type="arrow"/>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4" name="TextBox 13"/>
              <p:cNvSpPr txBox="1"/>
              <p:nvPr/>
            </p:nvSpPr>
            <p:spPr>
              <a:xfrm>
                <a:off x="3505200" y="4672696"/>
                <a:ext cx="1828800" cy="661143"/>
              </a:xfrm>
              <a:prstGeom prst="rect">
                <a:avLst/>
              </a:prstGeom>
              <a:noFill/>
            </p:spPr>
            <p:txBody>
              <a:bodyPr wrap="square" rtlCol="0">
                <a:spAutoFit/>
              </a:bodyPr>
              <a:lstStyle/>
              <a:p>
                <a:r>
                  <a:rPr lang="en-US" dirty="0">
                    <a:solidFill>
                      <a:schemeClr val="accent1"/>
                    </a:solidFill>
                  </a:rPr>
                  <a:t>Control’s change =  </a:t>
                </a:r>
                <a14:m>
                  <m:oMath xmlns:m="http://schemas.openxmlformats.org/officeDocument/2006/math">
                    <m:acc>
                      <m:accPr>
                        <m:chr m:val="̂"/>
                        <m:ctrlPr>
                          <a:rPr lang="en-US" i="1" smtClean="0">
                            <a:solidFill>
                              <a:srgbClr val="0070C0"/>
                            </a:solidFill>
                            <a:latin typeface="Cambria Math" panose="02040503050406030204" pitchFamily="18" charset="0"/>
                          </a:rPr>
                        </m:ctrlPr>
                      </m:accPr>
                      <m:e>
                        <m:r>
                          <a:rPr lang="en-US" i="1">
                            <a:solidFill>
                              <a:srgbClr val="0070C0"/>
                            </a:solidFill>
                            <a:latin typeface="Cambria Math"/>
                          </a:rPr>
                          <m:t>𝑏</m:t>
                        </m:r>
                      </m:e>
                    </m:acc>
                  </m:oMath>
                </a14:m>
                <a:r>
                  <a:rPr lang="en-US" baseline="-25000" dirty="0">
                    <a:solidFill>
                      <a:schemeClr val="accent1"/>
                    </a:solidFill>
                  </a:rPr>
                  <a:t>1</a:t>
                </a:r>
                <a:endParaRPr lang="en-US" dirty="0">
                  <a:solidFill>
                    <a:schemeClr val="accent1"/>
                  </a:solidFill>
                </a:endParaRPr>
              </a:p>
            </p:txBody>
          </p:sp>
        </mc:Choice>
        <mc:Fallback xmlns="">
          <p:sp>
            <p:nvSpPr>
              <p:cNvPr id="14" name="TextBox 13"/>
              <p:cNvSpPr txBox="1">
                <a:spLocks noRot="1" noChangeAspect="1" noMove="1" noResize="1" noEditPoints="1" noAdjustHandles="1" noChangeArrowheads="1" noChangeShapeType="1" noTextEdit="1"/>
              </p:cNvSpPr>
              <p:nvPr/>
            </p:nvSpPr>
            <p:spPr>
              <a:xfrm>
                <a:off x="3505200" y="4672696"/>
                <a:ext cx="1828800" cy="661143"/>
              </a:xfrm>
              <a:prstGeom prst="rect">
                <a:avLst/>
              </a:prstGeom>
              <a:blipFill>
                <a:blip r:embed="rId3"/>
                <a:stretch>
                  <a:fillRect l="-2667" t="-5556" b="-14815"/>
                </a:stretch>
              </a:blipFill>
            </p:spPr>
            <p:txBody>
              <a:bodyPr/>
              <a:lstStyle/>
              <a:p>
                <a:r>
                  <a:rPr lang="en-US">
                    <a:noFill/>
                  </a:rPr>
                  <a:t> </a:t>
                </a:r>
              </a:p>
            </p:txBody>
          </p:sp>
        </mc:Fallback>
      </mc:AlternateContent>
      <p:cxnSp>
        <p:nvCxnSpPr>
          <p:cNvPr id="15" name="Straight Arrow Connector 14"/>
          <p:cNvCxnSpPr/>
          <p:nvPr/>
        </p:nvCxnSpPr>
        <p:spPr>
          <a:xfrm>
            <a:off x="3352800" y="2219325"/>
            <a:ext cx="0" cy="2276475"/>
          </a:xfrm>
          <a:prstGeom prst="straightConnector1">
            <a:avLst/>
          </a:prstGeom>
          <a:ln w="28575">
            <a:headEnd type="arrow"/>
            <a:tailEnd type="arrow"/>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8" name="TextBox 17"/>
              <p:cNvSpPr txBox="1"/>
              <p:nvPr/>
            </p:nvSpPr>
            <p:spPr>
              <a:xfrm>
                <a:off x="3505200" y="3034396"/>
                <a:ext cx="1828800" cy="384144"/>
              </a:xfrm>
              <a:prstGeom prst="rect">
                <a:avLst/>
              </a:prstGeom>
              <a:noFill/>
            </p:spPr>
            <p:txBody>
              <a:bodyPr wrap="square" rtlCol="0">
                <a:spAutoFit/>
              </a:bodyPr>
              <a:lstStyle/>
              <a:p>
                <a:r>
                  <a:rPr lang="en-US" dirty="0"/>
                  <a:t>D-</a:t>
                </a:r>
                <a:r>
                  <a:rPr lang="en-US" dirty="0" err="1"/>
                  <a:t>i</a:t>
                </a:r>
                <a:r>
                  <a:rPr lang="en-US" dirty="0"/>
                  <a:t>-D =  </a:t>
                </a:r>
                <a14:m>
                  <m:oMath xmlns:m="http://schemas.openxmlformats.org/officeDocument/2006/math">
                    <m:acc>
                      <m:accPr>
                        <m:chr m:val="̂"/>
                        <m:ctrlPr>
                          <a:rPr lang="en-US" i="1">
                            <a:latin typeface="Cambria Math" panose="02040503050406030204" pitchFamily="18" charset="0"/>
                          </a:rPr>
                        </m:ctrlPr>
                      </m:accPr>
                      <m:e>
                        <m:r>
                          <a:rPr lang="en-US" i="1">
                            <a:latin typeface="Cambria Math"/>
                          </a:rPr>
                          <m:t>𝑏</m:t>
                        </m:r>
                      </m:e>
                    </m:acc>
                  </m:oMath>
                </a14:m>
                <a:r>
                  <a:rPr lang="en-US" baseline="-25000" dirty="0"/>
                  <a:t>3</a:t>
                </a:r>
                <a:endParaRPr lang="en-US" dirty="0"/>
              </a:p>
            </p:txBody>
          </p:sp>
        </mc:Choice>
        <mc:Fallback xmlns="">
          <p:sp>
            <p:nvSpPr>
              <p:cNvPr id="18" name="TextBox 17"/>
              <p:cNvSpPr txBox="1">
                <a:spLocks noRot="1" noChangeAspect="1" noMove="1" noResize="1" noEditPoints="1" noAdjustHandles="1" noChangeArrowheads="1" noChangeShapeType="1" noTextEdit="1"/>
              </p:cNvSpPr>
              <p:nvPr/>
            </p:nvSpPr>
            <p:spPr>
              <a:xfrm>
                <a:off x="3505200" y="3034396"/>
                <a:ext cx="1828800" cy="384144"/>
              </a:xfrm>
              <a:prstGeom prst="rect">
                <a:avLst/>
              </a:prstGeom>
              <a:blipFill>
                <a:blip r:embed="rId4"/>
                <a:stretch>
                  <a:fillRect l="-2667" t="-4762" b="-25397"/>
                </a:stretch>
              </a:blipFill>
            </p:spPr>
            <p:txBody>
              <a:bodyPr/>
              <a:lstStyle/>
              <a:p>
                <a:r>
                  <a:rPr lang="en-US">
                    <a:noFill/>
                  </a:rPr>
                  <a:t> </a:t>
                </a:r>
              </a:p>
            </p:txBody>
          </p:sp>
        </mc:Fallback>
      </mc:AlternateContent>
    </p:spTree>
    <p:extLst>
      <p:ext uri="{BB962C8B-B14F-4D97-AF65-F5344CB8AC3E}">
        <p14:creationId xmlns:p14="http://schemas.microsoft.com/office/powerpoint/2010/main" val="41520953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4" grpId="0"/>
      <p:bldP spid="18"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does the graph show?</a:t>
            </a:r>
          </a:p>
        </p:txBody>
      </p:sp>
      <p:sp>
        <p:nvSpPr>
          <p:cNvPr id="3" name="Content Placeholder 2"/>
          <p:cNvSpPr>
            <a:spLocks noGrp="1"/>
          </p:cNvSpPr>
          <p:nvPr>
            <p:ph idx="1"/>
          </p:nvPr>
        </p:nvSpPr>
        <p:spPr/>
        <p:txBody>
          <a:bodyPr/>
          <a:lstStyle/>
          <a:p>
            <a:pPr marL="0" indent="0">
              <a:buNone/>
            </a:pPr>
            <a:r>
              <a:rPr lang="en-US" dirty="0"/>
              <a:t>Essentially:</a:t>
            </a:r>
          </a:p>
          <a:p>
            <a:pPr marL="514350" indent="-514350">
              <a:buAutoNum type="arabicParenBoth"/>
            </a:pPr>
            <a:r>
              <a:rPr lang="en-US" dirty="0"/>
              <a:t>We assume that the control group shows us what </a:t>
            </a:r>
            <a:r>
              <a:rPr lang="en-US" i="1" u="sng" dirty="0"/>
              <a:t>would have</a:t>
            </a:r>
            <a:r>
              <a:rPr lang="en-US" dirty="0"/>
              <a:t> happened to the treatment group if we never reorganized our firm.</a:t>
            </a:r>
          </a:p>
          <a:p>
            <a:pPr marL="514350" indent="-514350">
              <a:buAutoNum type="arabicParenBoth"/>
            </a:pPr>
            <a:r>
              <a:rPr lang="en-US" dirty="0"/>
              <a:t>By contrasting the </a:t>
            </a:r>
            <a:r>
              <a:rPr lang="en-US" b="1" i="1" u="sng" dirty="0"/>
              <a:t>change</a:t>
            </a:r>
            <a:r>
              <a:rPr lang="en-US" dirty="0"/>
              <a:t> in the control group’s productivity with the </a:t>
            </a:r>
            <a:r>
              <a:rPr lang="en-US" b="1" i="1" u="sng" dirty="0"/>
              <a:t>change</a:t>
            </a:r>
            <a:r>
              <a:rPr lang="en-US" dirty="0"/>
              <a:t> in the treatment group’s productivity, we measure the effect of interest.</a:t>
            </a:r>
          </a:p>
        </p:txBody>
      </p:sp>
    </p:spTree>
    <p:extLst>
      <p:ext uri="{BB962C8B-B14F-4D97-AF65-F5344CB8AC3E}">
        <p14:creationId xmlns:p14="http://schemas.microsoft.com/office/powerpoint/2010/main" val="264627847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Let’s go back to the cakes</a:t>
            </a:r>
          </a:p>
        </p:txBody>
      </p:sp>
      <p:sp>
        <p:nvSpPr>
          <p:cNvPr id="3" name="Content Placeholder 2"/>
          <p:cNvSpPr>
            <a:spLocks noGrp="1"/>
          </p:cNvSpPr>
          <p:nvPr>
            <p:ph idx="1"/>
          </p:nvPr>
        </p:nvSpPr>
        <p:spPr/>
        <p:txBody>
          <a:bodyPr/>
          <a:lstStyle/>
          <a:p>
            <a:pPr marL="0" indent="0">
              <a:buNone/>
            </a:pPr>
            <a:r>
              <a:rPr lang="en-CA" dirty="0"/>
              <a:t>Given what we’ve seen here, we can now ask the following question: how might we have looked at the causal impact of layers in our cake example </a:t>
            </a:r>
            <a:r>
              <a:rPr lang="en-CA" b="1" u="sng" dirty="0"/>
              <a:t>even if we didn’t have data on frosting</a:t>
            </a:r>
            <a:r>
              <a:rPr lang="en-CA" dirty="0"/>
              <a:t>?</a:t>
            </a:r>
          </a:p>
          <a:p>
            <a:pPr marL="0" indent="0">
              <a:buNone/>
            </a:pPr>
            <a:endParaRPr lang="en-CA" dirty="0"/>
          </a:p>
          <a:p>
            <a:pPr marL="0" indent="0">
              <a:buNone/>
            </a:pPr>
            <a:r>
              <a:rPr lang="en-CA" dirty="0"/>
              <a:t>Let’s go step by step.</a:t>
            </a:r>
          </a:p>
        </p:txBody>
      </p:sp>
    </p:spTree>
    <p:extLst>
      <p:ext uri="{BB962C8B-B14F-4D97-AF65-F5344CB8AC3E}">
        <p14:creationId xmlns:p14="http://schemas.microsoft.com/office/powerpoint/2010/main" val="301869109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Let’s go back to the cakes</a:t>
            </a:r>
          </a:p>
        </p:txBody>
      </p:sp>
      <p:sp>
        <p:nvSpPr>
          <p:cNvPr id="3" name="Content Placeholder 2"/>
          <p:cNvSpPr>
            <a:spLocks noGrp="1"/>
          </p:cNvSpPr>
          <p:nvPr>
            <p:ph idx="1"/>
          </p:nvPr>
        </p:nvSpPr>
        <p:spPr/>
        <p:txBody>
          <a:bodyPr>
            <a:normAutofit lnSpcReduction="10000"/>
          </a:bodyPr>
          <a:lstStyle/>
          <a:p>
            <a:pPr marL="0" indent="0">
              <a:buNone/>
            </a:pPr>
            <a:r>
              <a:rPr lang="en-CA" dirty="0"/>
              <a:t>First, we’d formulate some treatment and control groups.  Remember what our data look like:</a:t>
            </a:r>
          </a:p>
          <a:p>
            <a:pPr marL="0" indent="0">
              <a:buNone/>
            </a:pPr>
            <a:endParaRPr lang="en-CA" dirty="0"/>
          </a:p>
          <a:p>
            <a:pPr marL="0" indent="0">
              <a:buNone/>
            </a:pPr>
            <a:endParaRPr lang="en-CA" dirty="0"/>
          </a:p>
          <a:p>
            <a:pPr marL="0" indent="0">
              <a:buNone/>
            </a:pPr>
            <a:endParaRPr lang="en-CA" dirty="0"/>
          </a:p>
          <a:p>
            <a:pPr marL="0" indent="0">
              <a:buNone/>
            </a:pPr>
            <a:r>
              <a:rPr lang="en-CA" dirty="0"/>
              <a:t>Remember that an extra layer had NO impact on the price of the cake, after accounting for frosting.</a:t>
            </a:r>
          </a:p>
        </p:txBody>
      </p:sp>
      <p:graphicFrame>
        <p:nvGraphicFramePr>
          <p:cNvPr id="5" name="Table 4"/>
          <p:cNvGraphicFramePr>
            <a:graphicFrameLocks noGrp="1"/>
          </p:cNvGraphicFramePr>
          <p:nvPr>
            <p:extLst>
              <p:ext uri="{D42A27DB-BD31-4B8C-83A1-F6EECF244321}">
                <p14:modId xmlns:p14="http://schemas.microsoft.com/office/powerpoint/2010/main" val="1922338298"/>
              </p:ext>
            </p:extLst>
          </p:nvPr>
        </p:nvGraphicFramePr>
        <p:xfrm>
          <a:off x="609600" y="3200400"/>
          <a:ext cx="8077200" cy="1112520"/>
        </p:xfrm>
        <a:graphic>
          <a:graphicData uri="http://schemas.openxmlformats.org/drawingml/2006/table">
            <a:tbl>
              <a:tblPr firstRow="1" bandRow="1">
                <a:tableStyleId>{5940675A-B579-460E-94D1-54222C63F5DA}</a:tableStyleId>
              </a:tblPr>
              <a:tblGrid>
                <a:gridCol w="2195744">
                  <a:extLst>
                    <a:ext uri="{9D8B030D-6E8A-4147-A177-3AD203B41FA5}">
                      <a16:colId xmlns:a16="http://schemas.microsoft.com/office/drawing/2014/main" val="1040836541"/>
                    </a:ext>
                  </a:extLst>
                </a:gridCol>
                <a:gridCol w="3058357">
                  <a:extLst>
                    <a:ext uri="{9D8B030D-6E8A-4147-A177-3AD203B41FA5}">
                      <a16:colId xmlns:a16="http://schemas.microsoft.com/office/drawing/2014/main" val="1593493685"/>
                    </a:ext>
                  </a:extLst>
                </a:gridCol>
                <a:gridCol w="2823099">
                  <a:extLst>
                    <a:ext uri="{9D8B030D-6E8A-4147-A177-3AD203B41FA5}">
                      <a16:colId xmlns:a16="http://schemas.microsoft.com/office/drawing/2014/main" val="563661492"/>
                    </a:ext>
                  </a:extLst>
                </a:gridCol>
              </a:tblGrid>
              <a:tr h="370840">
                <a:tc>
                  <a:txBody>
                    <a:bodyPr/>
                    <a:lstStyle/>
                    <a:p>
                      <a:endParaRPr lang="en-US" dirty="0"/>
                    </a:p>
                  </a:txBody>
                  <a:tcPr/>
                </a:tc>
                <a:tc>
                  <a:txBody>
                    <a:bodyPr/>
                    <a:lstStyle/>
                    <a:p>
                      <a:pPr algn="ctr"/>
                      <a:r>
                        <a:rPr lang="en-US" dirty="0"/>
                        <a:t>One-Layer</a:t>
                      </a:r>
                      <a:r>
                        <a:rPr lang="en-US" baseline="0" dirty="0"/>
                        <a:t> Cake</a:t>
                      </a:r>
                      <a:endParaRPr lang="en-US" dirty="0"/>
                    </a:p>
                  </a:txBody>
                  <a:tcPr/>
                </a:tc>
                <a:tc>
                  <a:txBody>
                    <a:bodyPr/>
                    <a:lstStyle/>
                    <a:p>
                      <a:pPr algn="ctr"/>
                      <a:r>
                        <a:rPr lang="en-US" dirty="0"/>
                        <a:t>Two-Layer Cake</a:t>
                      </a:r>
                    </a:p>
                  </a:txBody>
                  <a:tcPr/>
                </a:tc>
                <a:extLst>
                  <a:ext uri="{0D108BD9-81ED-4DB2-BD59-A6C34878D82A}">
                    <a16:rowId xmlns:a16="http://schemas.microsoft.com/office/drawing/2014/main" val="604068597"/>
                  </a:ext>
                </a:extLst>
              </a:tr>
              <a:tr h="370840">
                <a:tc>
                  <a:txBody>
                    <a:bodyPr/>
                    <a:lstStyle/>
                    <a:p>
                      <a:r>
                        <a:rPr lang="en-US" dirty="0"/>
                        <a:t>Two</a:t>
                      </a:r>
                      <a:r>
                        <a:rPr lang="en-US" baseline="0" dirty="0"/>
                        <a:t> Cups of</a:t>
                      </a:r>
                      <a:r>
                        <a:rPr lang="en-US" dirty="0"/>
                        <a:t> frosting</a:t>
                      </a:r>
                    </a:p>
                  </a:txBody>
                  <a:tcPr/>
                </a:tc>
                <a:tc>
                  <a:txBody>
                    <a:bodyPr/>
                    <a:lstStyle/>
                    <a:p>
                      <a:pPr algn="ctr"/>
                      <a:r>
                        <a:rPr lang="en-US" baseline="0" dirty="0"/>
                        <a:t>$16, $16</a:t>
                      </a:r>
                    </a:p>
                  </a:txBody>
                  <a:tcPr/>
                </a:tc>
                <a:tc>
                  <a:txBody>
                    <a:bodyPr/>
                    <a:lstStyle/>
                    <a:p>
                      <a:pPr algn="ctr"/>
                      <a:r>
                        <a:rPr lang="en-US" baseline="0" dirty="0"/>
                        <a:t>$16, $16, $16, $16, $16, $16</a:t>
                      </a:r>
                    </a:p>
                  </a:txBody>
                  <a:tcPr/>
                </a:tc>
                <a:extLst>
                  <a:ext uri="{0D108BD9-81ED-4DB2-BD59-A6C34878D82A}">
                    <a16:rowId xmlns:a16="http://schemas.microsoft.com/office/drawing/2014/main" val="3759296047"/>
                  </a:ext>
                </a:extLst>
              </a:tr>
              <a:tr h="370840">
                <a:tc>
                  <a:txBody>
                    <a:bodyPr/>
                    <a:lstStyle/>
                    <a:p>
                      <a:r>
                        <a:rPr lang="en-US" dirty="0"/>
                        <a:t>One Cup of frosting</a:t>
                      </a:r>
                    </a:p>
                  </a:txBody>
                  <a:tcPr/>
                </a:tc>
                <a:tc>
                  <a:txBody>
                    <a:bodyPr/>
                    <a:lstStyle/>
                    <a:p>
                      <a:pPr algn="ctr"/>
                      <a:r>
                        <a:rPr lang="en-US" dirty="0"/>
                        <a:t>$10, $10,</a:t>
                      </a:r>
                      <a:r>
                        <a:rPr lang="en-US" baseline="0" dirty="0"/>
                        <a:t> $10, $10, $10, $10</a:t>
                      </a:r>
                      <a:endParaRPr 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$10, $10</a:t>
                      </a:r>
                      <a:endParaRPr lang="en-US" baseline="0" dirty="0"/>
                    </a:p>
                  </a:txBody>
                  <a:tcPr/>
                </a:tc>
                <a:extLst>
                  <a:ext uri="{0D108BD9-81ED-4DB2-BD59-A6C34878D82A}">
                    <a16:rowId xmlns:a16="http://schemas.microsoft.com/office/drawing/2014/main" val="940954923"/>
                  </a:ext>
                </a:extLst>
              </a:tr>
            </a:tbl>
          </a:graphicData>
        </a:graphic>
      </p:graphicFrame>
    </p:spTree>
    <p:extLst>
      <p:ext uri="{BB962C8B-B14F-4D97-AF65-F5344CB8AC3E}">
        <p14:creationId xmlns:p14="http://schemas.microsoft.com/office/powerpoint/2010/main" val="342832914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Let’s go back to the cakes</a:t>
            </a:r>
          </a:p>
        </p:txBody>
      </p:sp>
      <p:sp>
        <p:nvSpPr>
          <p:cNvPr id="3" name="Content Placeholder 2"/>
          <p:cNvSpPr>
            <a:spLocks noGrp="1"/>
          </p:cNvSpPr>
          <p:nvPr>
            <p:ph idx="1"/>
          </p:nvPr>
        </p:nvSpPr>
        <p:spPr>
          <a:xfrm>
            <a:off x="457200" y="1600200"/>
            <a:ext cx="8229600" cy="4525963"/>
          </a:xfrm>
        </p:spPr>
        <p:txBody>
          <a:bodyPr>
            <a:normAutofit/>
          </a:bodyPr>
          <a:lstStyle/>
          <a:p>
            <a:pPr marL="0" indent="0">
              <a:buNone/>
            </a:pPr>
            <a:r>
              <a:rPr lang="en-CA" u="sng" dirty="0"/>
              <a:t>Imaginary problem:</a:t>
            </a:r>
            <a:r>
              <a:rPr lang="en-CA" dirty="0"/>
              <a:t> How could arrive at a non-biased, causal effect for layers, </a:t>
            </a:r>
            <a:r>
              <a:rPr lang="en-CA" b="1" u="sng" dirty="0"/>
              <a:t>even if we lacked information about the amount of frosting?</a:t>
            </a:r>
          </a:p>
          <a:p>
            <a:pPr marL="0" indent="0">
              <a:buNone/>
            </a:pPr>
            <a:endParaRPr lang="en-CA" dirty="0"/>
          </a:p>
          <a:p>
            <a:pPr marL="0" indent="0">
              <a:buNone/>
            </a:pPr>
            <a:r>
              <a:rPr lang="en-CA" dirty="0"/>
              <a:t>Remember: when we estimated the simple, bivariate regression here, we got the OVB answer (that was a problem)</a:t>
            </a:r>
          </a:p>
        </p:txBody>
      </p:sp>
    </p:spTree>
    <p:extLst>
      <p:ext uri="{BB962C8B-B14F-4D97-AF65-F5344CB8AC3E}">
        <p14:creationId xmlns:p14="http://schemas.microsoft.com/office/powerpoint/2010/main" val="342809362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Let’s go back to the cakes</a:t>
            </a:r>
          </a:p>
        </p:txBody>
      </p:sp>
      <p:sp>
        <p:nvSpPr>
          <p:cNvPr id="3" name="Content Placeholder 2"/>
          <p:cNvSpPr>
            <a:spLocks noGrp="1"/>
          </p:cNvSpPr>
          <p:nvPr>
            <p:ph idx="1"/>
          </p:nvPr>
        </p:nvSpPr>
        <p:spPr/>
        <p:txBody>
          <a:bodyPr>
            <a:normAutofit/>
          </a:bodyPr>
          <a:lstStyle/>
          <a:p>
            <a:pPr marL="0" indent="0">
              <a:buNone/>
            </a:pPr>
            <a:r>
              <a:rPr lang="en-CA" dirty="0"/>
              <a:t>Maybe a D-</a:t>
            </a:r>
            <a:r>
              <a:rPr lang="en-CA" dirty="0" err="1"/>
              <a:t>i</a:t>
            </a:r>
            <a:r>
              <a:rPr lang="en-CA" dirty="0"/>
              <a:t>-D approach could help us…</a:t>
            </a:r>
          </a:p>
          <a:p>
            <a:pPr marL="0" indent="0">
              <a:buNone/>
            </a:pPr>
            <a:endParaRPr lang="en-CA" dirty="0"/>
          </a:p>
          <a:p>
            <a:pPr marL="0" indent="0">
              <a:buNone/>
            </a:pPr>
            <a:r>
              <a:rPr lang="en-CA" dirty="0"/>
              <a:t>We’ve got 8 one-layer cakes in our data, so suppose that we randomly split up this group of one-layer cakes into two groups: a group of 4 “control” cakes, and a group of 4 “treatment” cakes.</a:t>
            </a:r>
          </a:p>
          <a:p>
            <a:pPr marL="0" indent="0">
              <a:buNone/>
            </a:pPr>
            <a:endParaRPr lang="en-CA" dirty="0"/>
          </a:p>
        </p:txBody>
      </p:sp>
    </p:spTree>
    <p:extLst>
      <p:ext uri="{BB962C8B-B14F-4D97-AF65-F5344CB8AC3E}">
        <p14:creationId xmlns:p14="http://schemas.microsoft.com/office/powerpoint/2010/main" val="212970294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Let’s go back to the cakes</a:t>
            </a:r>
          </a:p>
        </p:txBody>
      </p:sp>
      <p:sp>
        <p:nvSpPr>
          <p:cNvPr id="3" name="Content Placeholder 2"/>
          <p:cNvSpPr>
            <a:spLocks noGrp="1"/>
          </p:cNvSpPr>
          <p:nvPr>
            <p:ph idx="1"/>
          </p:nvPr>
        </p:nvSpPr>
        <p:spPr/>
        <p:txBody>
          <a:bodyPr/>
          <a:lstStyle/>
          <a:p>
            <a:pPr marL="0" indent="0">
              <a:buNone/>
            </a:pPr>
            <a:r>
              <a:rPr lang="en-CA" dirty="0"/>
              <a:t>If we did things correctly, we’d end up with two identical groups: each would have one cake with two cups of frosting, and three with one cup of frosting.</a:t>
            </a:r>
          </a:p>
          <a:p>
            <a:pPr marL="0" indent="0">
              <a:buNone/>
            </a:pPr>
            <a:endParaRPr lang="en-CA" dirty="0"/>
          </a:p>
        </p:txBody>
      </p:sp>
    </p:spTree>
    <p:extLst>
      <p:ext uri="{BB962C8B-B14F-4D97-AF65-F5344CB8AC3E}">
        <p14:creationId xmlns:p14="http://schemas.microsoft.com/office/powerpoint/2010/main" val="165273075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Let’s go back to the cakes</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932574980"/>
              </p:ext>
            </p:extLst>
          </p:nvPr>
        </p:nvGraphicFramePr>
        <p:xfrm>
          <a:off x="838200" y="2163980"/>
          <a:ext cx="6477000" cy="741680"/>
        </p:xfrm>
        <a:graphic>
          <a:graphicData uri="http://schemas.openxmlformats.org/drawingml/2006/table">
            <a:tbl>
              <a:tblPr firstRow="1" bandRow="1">
                <a:tableStyleId>{2D5ABB26-0587-4C30-8999-92F81FD0307C}</a:tableStyleId>
              </a:tblPr>
              <a:tblGrid>
                <a:gridCol w="2209800">
                  <a:extLst>
                    <a:ext uri="{9D8B030D-6E8A-4147-A177-3AD203B41FA5}">
                      <a16:colId xmlns:a16="http://schemas.microsoft.com/office/drawing/2014/main" val="633728895"/>
                    </a:ext>
                  </a:extLst>
                </a:gridCol>
                <a:gridCol w="1524000">
                  <a:extLst>
                    <a:ext uri="{9D8B030D-6E8A-4147-A177-3AD203B41FA5}">
                      <a16:colId xmlns:a16="http://schemas.microsoft.com/office/drawing/2014/main" val="4287579578"/>
                    </a:ext>
                  </a:extLst>
                </a:gridCol>
                <a:gridCol w="2743200">
                  <a:extLst>
                    <a:ext uri="{9D8B030D-6E8A-4147-A177-3AD203B41FA5}">
                      <a16:colId xmlns:a16="http://schemas.microsoft.com/office/drawing/2014/main" val="2360937738"/>
                    </a:ext>
                  </a:extLst>
                </a:gridCol>
              </a:tblGrid>
              <a:tr h="370840">
                <a:tc>
                  <a:txBody>
                    <a:bodyPr/>
                    <a:lstStyle/>
                    <a:p>
                      <a:pPr algn="r"/>
                      <a:r>
                        <a:rPr lang="en-CA" i="1" dirty="0"/>
                        <a:t>2 cups</a:t>
                      </a:r>
                    </a:p>
                  </a:txBody>
                  <a:tcPr/>
                </a:tc>
                <a:tc>
                  <a:txBody>
                    <a:bodyPr/>
                    <a:lstStyle/>
                    <a:p>
                      <a:pPr algn="r"/>
                      <a:r>
                        <a:rPr lang="en-CA" dirty="0"/>
                        <a:t>$16,</a:t>
                      </a:r>
                    </a:p>
                  </a:txBody>
                  <a:tcPr/>
                </a:tc>
                <a:tc>
                  <a:txBody>
                    <a:bodyPr/>
                    <a:lstStyle/>
                    <a:p>
                      <a:r>
                        <a:rPr lang="en-CA" dirty="0"/>
                        <a:t>$16</a:t>
                      </a:r>
                    </a:p>
                  </a:txBody>
                  <a:tcPr/>
                </a:tc>
                <a:extLst>
                  <a:ext uri="{0D108BD9-81ED-4DB2-BD59-A6C34878D82A}">
                    <a16:rowId xmlns:a16="http://schemas.microsoft.com/office/drawing/2014/main" val="2977548808"/>
                  </a:ext>
                </a:extLst>
              </a:tr>
              <a:tr h="370840">
                <a:tc>
                  <a:txBody>
                    <a:bodyPr/>
                    <a:lstStyle/>
                    <a:p>
                      <a:pPr algn="r"/>
                      <a:r>
                        <a:rPr lang="en-CA" i="1" dirty="0"/>
                        <a:t>1 cup</a:t>
                      </a:r>
                    </a:p>
                  </a:txBody>
                  <a:tcPr/>
                </a:tc>
                <a:tc>
                  <a:txBody>
                    <a:bodyPr/>
                    <a:lstStyle/>
                    <a:p>
                      <a:pPr algn="r"/>
                      <a:r>
                        <a:rPr lang="en-CA" dirty="0"/>
                        <a:t>$10, $10, $10,</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dirty="0"/>
                        <a:t>$10, $10, $10</a:t>
                      </a:r>
                    </a:p>
                  </a:txBody>
                  <a:tcPr/>
                </a:tc>
                <a:extLst>
                  <a:ext uri="{0D108BD9-81ED-4DB2-BD59-A6C34878D82A}">
                    <a16:rowId xmlns:a16="http://schemas.microsoft.com/office/drawing/2014/main" val="1358587687"/>
                  </a:ext>
                </a:extLst>
              </a:tr>
            </a:tbl>
          </a:graphicData>
        </a:graphic>
      </p:graphicFrame>
      <p:cxnSp>
        <p:nvCxnSpPr>
          <p:cNvPr id="6" name="Straight Connector 5"/>
          <p:cNvCxnSpPr/>
          <p:nvPr/>
        </p:nvCxnSpPr>
        <p:spPr>
          <a:xfrm>
            <a:off x="4572000" y="1417638"/>
            <a:ext cx="0" cy="1524000"/>
          </a:xfrm>
          <a:prstGeom prst="line">
            <a:avLst/>
          </a:prstGeom>
        </p:spPr>
        <p:style>
          <a:lnRef idx="1">
            <a:schemeClr val="dk1"/>
          </a:lnRef>
          <a:fillRef idx="0">
            <a:schemeClr val="dk1"/>
          </a:fillRef>
          <a:effectRef idx="0">
            <a:schemeClr val="dk1"/>
          </a:effectRef>
          <a:fontRef idx="minor">
            <a:schemeClr val="tx1"/>
          </a:fontRef>
        </p:style>
      </p:cxnSp>
      <p:graphicFrame>
        <p:nvGraphicFramePr>
          <p:cNvPr id="7" name="Table 6"/>
          <p:cNvGraphicFramePr>
            <a:graphicFrameLocks noGrp="1"/>
          </p:cNvGraphicFramePr>
          <p:nvPr>
            <p:extLst>
              <p:ext uri="{D42A27DB-BD31-4B8C-83A1-F6EECF244321}">
                <p14:modId xmlns:p14="http://schemas.microsoft.com/office/powerpoint/2010/main" val="3562314444"/>
              </p:ext>
            </p:extLst>
          </p:nvPr>
        </p:nvGraphicFramePr>
        <p:xfrm>
          <a:off x="1524000" y="1605389"/>
          <a:ext cx="6096000" cy="370840"/>
        </p:xfrm>
        <a:graphic>
          <a:graphicData uri="http://schemas.openxmlformats.org/drawingml/2006/table">
            <a:tbl>
              <a:tblPr firstRow="1" bandRow="1">
                <a:tableStyleId>{2D5ABB26-0587-4C30-8999-92F81FD0307C}</a:tableStyleId>
              </a:tblPr>
              <a:tblGrid>
                <a:gridCol w="3048000">
                  <a:extLst>
                    <a:ext uri="{9D8B030D-6E8A-4147-A177-3AD203B41FA5}">
                      <a16:colId xmlns:a16="http://schemas.microsoft.com/office/drawing/2014/main" val="1277672976"/>
                    </a:ext>
                  </a:extLst>
                </a:gridCol>
                <a:gridCol w="3048000">
                  <a:extLst>
                    <a:ext uri="{9D8B030D-6E8A-4147-A177-3AD203B41FA5}">
                      <a16:colId xmlns:a16="http://schemas.microsoft.com/office/drawing/2014/main" val="831734836"/>
                    </a:ext>
                  </a:extLst>
                </a:gridCol>
              </a:tblGrid>
              <a:tr h="370840">
                <a:tc>
                  <a:txBody>
                    <a:bodyPr/>
                    <a:lstStyle/>
                    <a:p>
                      <a:pPr algn="r"/>
                      <a:r>
                        <a:rPr lang="en-CA" dirty="0"/>
                        <a:t>Treatment</a:t>
                      </a:r>
                    </a:p>
                  </a:txBody>
                  <a:tcPr/>
                </a:tc>
                <a:tc>
                  <a:txBody>
                    <a:bodyPr/>
                    <a:lstStyle/>
                    <a:p>
                      <a:r>
                        <a:rPr lang="en-CA" dirty="0"/>
                        <a:t>Control</a:t>
                      </a:r>
                    </a:p>
                  </a:txBody>
                  <a:tcPr/>
                </a:tc>
                <a:extLst>
                  <a:ext uri="{0D108BD9-81ED-4DB2-BD59-A6C34878D82A}">
                    <a16:rowId xmlns:a16="http://schemas.microsoft.com/office/drawing/2014/main" val="85813462"/>
                  </a:ext>
                </a:extLst>
              </a:tr>
            </a:tbl>
          </a:graphicData>
        </a:graphic>
      </p:graphicFrame>
      <p:graphicFrame>
        <p:nvGraphicFramePr>
          <p:cNvPr id="8" name="Table 7"/>
          <p:cNvGraphicFramePr>
            <a:graphicFrameLocks noGrp="1"/>
          </p:cNvGraphicFramePr>
          <p:nvPr>
            <p:extLst>
              <p:ext uri="{D42A27DB-BD31-4B8C-83A1-F6EECF244321}">
                <p14:modId xmlns:p14="http://schemas.microsoft.com/office/powerpoint/2010/main" val="2635892794"/>
              </p:ext>
            </p:extLst>
          </p:nvPr>
        </p:nvGraphicFramePr>
        <p:xfrm>
          <a:off x="1524000" y="3093411"/>
          <a:ext cx="6096000" cy="370840"/>
        </p:xfrm>
        <a:graphic>
          <a:graphicData uri="http://schemas.openxmlformats.org/drawingml/2006/table">
            <a:tbl>
              <a:tblPr firstRow="1" bandRow="1">
                <a:tableStyleId>{2D5ABB26-0587-4C30-8999-92F81FD0307C}</a:tableStyleId>
              </a:tblPr>
              <a:tblGrid>
                <a:gridCol w="3048000">
                  <a:extLst>
                    <a:ext uri="{9D8B030D-6E8A-4147-A177-3AD203B41FA5}">
                      <a16:colId xmlns:a16="http://schemas.microsoft.com/office/drawing/2014/main" val="900263032"/>
                    </a:ext>
                  </a:extLst>
                </a:gridCol>
                <a:gridCol w="3048000">
                  <a:extLst>
                    <a:ext uri="{9D8B030D-6E8A-4147-A177-3AD203B41FA5}">
                      <a16:colId xmlns:a16="http://schemas.microsoft.com/office/drawing/2014/main" val="354308208"/>
                    </a:ext>
                  </a:extLst>
                </a:gridCol>
              </a:tblGrid>
              <a:tr h="370840">
                <a:tc>
                  <a:txBody>
                    <a:bodyPr/>
                    <a:lstStyle/>
                    <a:p>
                      <a:r>
                        <a:rPr lang="en-CA" dirty="0"/>
                        <a:t>Pre average:                    </a:t>
                      </a:r>
                      <a:r>
                        <a:rPr lang="en-CA" baseline="0" dirty="0"/>
                        <a:t> </a:t>
                      </a:r>
                      <a:r>
                        <a:rPr lang="en-CA" dirty="0"/>
                        <a:t> $11.5</a:t>
                      </a:r>
                    </a:p>
                  </a:txBody>
                  <a:tcPr>
                    <a:lnR w="12700" cap="flat" cmpd="sng" algn="ctr">
                      <a:solidFill>
                        <a:schemeClr val="tx1"/>
                      </a:solidFill>
                      <a:prstDash val="solid"/>
                      <a:round/>
                      <a:headEnd type="none" w="med" len="med"/>
                      <a:tailEnd type="none" w="med" len="med"/>
                    </a:ln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dirty="0"/>
                        <a:t>$11.5</a:t>
                      </a:r>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2474884562"/>
                  </a:ext>
                </a:extLst>
              </a:tr>
            </a:tbl>
          </a:graphicData>
        </a:graphic>
      </p:graphicFrame>
    </p:spTree>
    <p:extLst>
      <p:ext uri="{BB962C8B-B14F-4D97-AF65-F5344CB8AC3E}">
        <p14:creationId xmlns:p14="http://schemas.microsoft.com/office/powerpoint/2010/main" val="30038860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Let’s go back to the cakes</a:t>
            </a:r>
          </a:p>
        </p:txBody>
      </p:sp>
      <p:sp>
        <p:nvSpPr>
          <p:cNvPr id="3" name="Content Placeholder 2"/>
          <p:cNvSpPr>
            <a:spLocks noGrp="1"/>
          </p:cNvSpPr>
          <p:nvPr>
            <p:ph idx="1"/>
          </p:nvPr>
        </p:nvSpPr>
        <p:spPr/>
        <p:txBody>
          <a:bodyPr>
            <a:normAutofit/>
          </a:bodyPr>
          <a:lstStyle/>
          <a:p>
            <a:pPr marL="0" indent="0">
              <a:buNone/>
            </a:pPr>
            <a:r>
              <a:rPr lang="en-CA" dirty="0"/>
              <a:t>So in our “pre” period, the average price of the treatment and control groups are the same.</a:t>
            </a:r>
          </a:p>
          <a:p>
            <a:pPr marL="0" indent="0">
              <a:buNone/>
            </a:pPr>
            <a:endParaRPr lang="en-CA" dirty="0"/>
          </a:p>
          <a:p>
            <a:pPr marL="0" indent="0">
              <a:buNone/>
            </a:pPr>
            <a:r>
              <a:rPr lang="en-CA" dirty="0"/>
              <a:t>Now, suppose on the following day (which we’ll call the “post” period), we did the same randomization with our eight cakes, but instructed our bakers to put an extra layer on the four “treatment” cakes.</a:t>
            </a:r>
          </a:p>
        </p:txBody>
      </p:sp>
    </p:spTree>
    <p:extLst>
      <p:ext uri="{BB962C8B-B14F-4D97-AF65-F5344CB8AC3E}">
        <p14:creationId xmlns:p14="http://schemas.microsoft.com/office/powerpoint/2010/main" val="158915297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Let’s go back to the cakes</a:t>
            </a:r>
          </a:p>
        </p:txBody>
      </p:sp>
      <p:sp>
        <p:nvSpPr>
          <p:cNvPr id="3" name="Content Placeholder 2"/>
          <p:cNvSpPr>
            <a:spLocks noGrp="1"/>
          </p:cNvSpPr>
          <p:nvPr>
            <p:ph idx="1"/>
          </p:nvPr>
        </p:nvSpPr>
        <p:spPr/>
        <p:txBody>
          <a:bodyPr/>
          <a:lstStyle/>
          <a:p>
            <a:pPr marL="0" indent="0">
              <a:buNone/>
            </a:pPr>
            <a:r>
              <a:rPr lang="en-CA" dirty="0"/>
              <a:t>How much would customers pay for the treatment and control cakes in this post period?</a:t>
            </a:r>
          </a:p>
          <a:p>
            <a:pPr marL="0" indent="0">
              <a:buNone/>
            </a:pPr>
            <a:endParaRPr lang="en-US" dirty="0"/>
          </a:p>
          <a:p>
            <a:pPr marL="0" indent="0">
              <a:buNone/>
            </a:pPr>
            <a:r>
              <a:rPr lang="en-US" dirty="0"/>
              <a:t>Well, we know what the control group will look like</a:t>
            </a:r>
            <a:endParaRPr lang="en-CA" dirty="0"/>
          </a:p>
        </p:txBody>
      </p:sp>
    </p:spTree>
    <p:extLst>
      <p:ext uri="{BB962C8B-B14F-4D97-AF65-F5344CB8AC3E}">
        <p14:creationId xmlns:p14="http://schemas.microsoft.com/office/powerpoint/2010/main" val="165464520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Let’s go back to the cakes</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430002353"/>
              </p:ext>
            </p:extLst>
          </p:nvPr>
        </p:nvGraphicFramePr>
        <p:xfrm>
          <a:off x="457200" y="1600200"/>
          <a:ext cx="8229600" cy="370840"/>
        </p:xfrm>
        <a:graphic>
          <a:graphicData uri="http://schemas.openxmlformats.org/drawingml/2006/table">
            <a:tbl>
              <a:tblPr firstRow="1" bandRow="1">
                <a:tableStyleId>{2D5ABB26-0587-4C30-8999-92F81FD0307C}</a:tableStyleId>
              </a:tblPr>
              <a:tblGrid>
                <a:gridCol w="4114800">
                  <a:extLst>
                    <a:ext uri="{9D8B030D-6E8A-4147-A177-3AD203B41FA5}">
                      <a16:colId xmlns:a16="http://schemas.microsoft.com/office/drawing/2014/main" val="964495104"/>
                    </a:ext>
                  </a:extLst>
                </a:gridCol>
                <a:gridCol w="4114800">
                  <a:extLst>
                    <a:ext uri="{9D8B030D-6E8A-4147-A177-3AD203B41FA5}">
                      <a16:colId xmlns:a16="http://schemas.microsoft.com/office/drawing/2014/main" val="3579998542"/>
                    </a:ext>
                  </a:extLst>
                </a:gridCol>
              </a:tblGrid>
              <a:tr h="370840">
                <a:tc>
                  <a:txBody>
                    <a:bodyPr/>
                    <a:lstStyle/>
                    <a:p>
                      <a:pPr algn="r"/>
                      <a:r>
                        <a:rPr lang="en-CA" dirty="0"/>
                        <a:t>Treatment</a:t>
                      </a:r>
                    </a:p>
                  </a:txBody>
                  <a:tcPr>
                    <a:lnR w="12700" cap="flat" cmpd="sng" algn="ctr">
                      <a:solidFill>
                        <a:schemeClr val="tx1"/>
                      </a:solidFill>
                      <a:prstDash val="solid"/>
                      <a:round/>
                      <a:headEnd type="none" w="med" len="med"/>
                      <a:tailEnd type="none" w="med" len="med"/>
                    </a:lnR>
                  </a:tcPr>
                </a:tc>
                <a:tc>
                  <a:txBody>
                    <a:bodyPr/>
                    <a:lstStyle/>
                    <a:p>
                      <a:r>
                        <a:rPr lang="en-CA" dirty="0"/>
                        <a:t>Control</a:t>
                      </a:r>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442661045"/>
                  </a:ext>
                </a:extLst>
              </a:tr>
            </a:tbl>
          </a:graphicData>
        </a:graphic>
      </p:graphicFrame>
      <p:graphicFrame>
        <p:nvGraphicFramePr>
          <p:cNvPr id="5" name="Table 4"/>
          <p:cNvGraphicFramePr>
            <a:graphicFrameLocks noGrp="1"/>
          </p:cNvGraphicFramePr>
          <p:nvPr>
            <p:extLst>
              <p:ext uri="{D42A27DB-BD31-4B8C-83A1-F6EECF244321}">
                <p14:modId xmlns:p14="http://schemas.microsoft.com/office/powerpoint/2010/main" val="1894448647"/>
              </p:ext>
            </p:extLst>
          </p:nvPr>
        </p:nvGraphicFramePr>
        <p:xfrm>
          <a:off x="457200" y="1998289"/>
          <a:ext cx="7162800" cy="741680"/>
        </p:xfrm>
        <a:graphic>
          <a:graphicData uri="http://schemas.openxmlformats.org/drawingml/2006/table">
            <a:tbl>
              <a:tblPr firstRow="1" bandRow="1">
                <a:tableStyleId>{2D5ABB26-0587-4C30-8999-92F81FD0307C}</a:tableStyleId>
              </a:tblPr>
              <a:tblGrid>
                <a:gridCol w="1828800">
                  <a:extLst>
                    <a:ext uri="{9D8B030D-6E8A-4147-A177-3AD203B41FA5}">
                      <a16:colId xmlns:a16="http://schemas.microsoft.com/office/drawing/2014/main" val="4293660232"/>
                    </a:ext>
                  </a:extLst>
                </a:gridCol>
                <a:gridCol w="2286000">
                  <a:extLst>
                    <a:ext uri="{9D8B030D-6E8A-4147-A177-3AD203B41FA5}">
                      <a16:colId xmlns:a16="http://schemas.microsoft.com/office/drawing/2014/main" val="1681614351"/>
                    </a:ext>
                  </a:extLst>
                </a:gridCol>
                <a:gridCol w="3048000">
                  <a:extLst>
                    <a:ext uri="{9D8B030D-6E8A-4147-A177-3AD203B41FA5}">
                      <a16:colId xmlns:a16="http://schemas.microsoft.com/office/drawing/2014/main" val="1532700674"/>
                    </a:ext>
                  </a:extLst>
                </a:gridCol>
              </a:tblGrid>
              <a:tr h="370840">
                <a:tc>
                  <a:txBody>
                    <a:bodyPr/>
                    <a:lstStyle/>
                    <a:p>
                      <a:pPr algn="r"/>
                      <a:r>
                        <a:rPr lang="en-CA" dirty="0"/>
                        <a:t>2 cups</a:t>
                      </a:r>
                      <a:endParaRPr lang="en-CA" i="1" dirty="0"/>
                    </a:p>
                  </a:txBody>
                  <a:tcPr/>
                </a:tc>
                <a:tc>
                  <a:txBody>
                    <a:bodyPr/>
                    <a:lstStyle/>
                    <a:p>
                      <a:endParaRPr lang="en-CA" dirty="0"/>
                    </a:p>
                  </a:txBody>
                  <a:tcPr>
                    <a:lnR w="12700" cap="flat" cmpd="sng" algn="ctr">
                      <a:solidFill>
                        <a:schemeClr val="tx1"/>
                      </a:solidFill>
                      <a:prstDash val="solid"/>
                      <a:round/>
                      <a:headEnd type="none" w="med" len="med"/>
                      <a:tailEnd type="none" w="med" len="med"/>
                    </a:lnR>
                  </a:tcPr>
                </a:tc>
                <a:tc>
                  <a:txBody>
                    <a:bodyPr/>
                    <a:lstStyle/>
                    <a:p>
                      <a:r>
                        <a:rPr lang="en-CA" dirty="0"/>
                        <a:t>$16</a:t>
                      </a:r>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2356447172"/>
                  </a:ext>
                </a:extLst>
              </a:tr>
              <a:tr h="370840">
                <a:tc>
                  <a:txBody>
                    <a:bodyPr/>
                    <a:lstStyle/>
                    <a:p>
                      <a:pPr algn="r"/>
                      <a:r>
                        <a:rPr lang="en-CA" dirty="0"/>
                        <a:t>1 cup</a:t>
                      </a:r>
                      <a:endParaRPr lang="en-CA" i="1" dirty="0"/>
                    </a:p>
                  </a:txBody>
                  <a:tcPr/>
                </a:tc>
                <a:tc>
                  <a:txBody>
                    <a:bodyPr/>
                    <a:lstStyle/>
                    <a:p>
                      <a:endParaRPr lang="en-CA" dirty="0"/>
                    </a:p>
                  </a:txBody>
                  <a:tcPr>
                    <a:lnR w="12700" cap="flat" cmpd="sng" algn="ctr">
                      <a:solidFill>
                        <a:schemeClr val="tx1"/>
                      </a:solidFill>
                      <a:prstDash val="solid"/>
                      <a:round/>
                      <a:headEnd type="none" w="med" len="med"/>
                      <a:tailEnd type="none" w="med" len="med"/>
                    </a:ln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dirty="0"/>
                        <a:t>$10, $10, $10</a:t>
                      </a:r>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3879067478"/>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2973554811"/>
              </p:ext>
            </p:extLst>
          </p:nvPr>
        </p:nvGraphicFramePr>
        <p:xfrm>
          <a:off x="838200" y="2767218"/>
          <a:ext cx="6775537" cy="370840"/>
        </p:xfrm>
        <a:graphic>
          <a:graphicData uri="http://schemas.openxmlformats.org/drawingml/2006/table">
            <a:tbl>
              <a:tblPr firstRow="1" bandRow="1">
                <a:tableStyleId>{2D5ABB26-0587-4C30-8999-92F81FD0307C}</a:tableStyleId>
              </a:tblPr>
              <a:tblGrid>
                <a:gridCol w="1693884">
                  <a:extLst>
                    <a:ext uri="{9D8B030D-6E8A-4147-A177-3AD203B41FA5}">
                      <a16:colId xmlns:a16="http://schemas.microsoft.com/office/drawing/2014/main" val="2113196250"/>
                    </a:ext>
                  </a:extLst>
                </a:gridCol>
                <a:gridCol w="2039916">
                  <a:extLst>
                    <a:ext uri="{9D8B030D-6E8A-4147-A177-3AD203B41FA5}">
                      <a16:colId xmlns:a16="http://schemas.microsoft.com/office/drawing/2014/main" val="4198591007"/>
                    </a:ext>
                  </a:extLst>
                </a:gridCol>
                <a:gridCol w="3041737">
                  <a:extLst>
                    <a:ext uri="{9D8B030D-6E8A-4147-A177-3AD203B41FA5}">
                      <a16:colId xmlns:a16="http://schemas.microsoft.com/office/drawing/2014/main" val="1522535267"/>
                    </a:ext>
                  </a:extLst>
                </a:gridCol>
              </a:tblGrid>
              <a:tr h="370840">
                <a:tc>
                  <a:txBody>
                    <a:bodyPr/>
                    <a:lstStyle/>
                    <a:p>
                      <a:r>
                        <a:rPr lang="en-US" dirty="0"/>
                        <a:t>Post Average</a:t>
                      </a:r>
                      <a:endParaRPr lang="en-CA" dirty="0"/>
                    </a:p>
                  </a:txBody>
                  <a:tcPr/>
                </a:tc>
                <a:tc>
                  <a:txBody>
                    <a:bodyPr/>
                    <a:lstStyle/>
                    <a:p>
                      <a:endParaRPr lang="en-CA" dirty="0"/>
                    </a:p>
                  </a:txBody>
                  <a:tcPr>
                    <a:lnR w="12700" cap="flat" cmpd="sng" algn="ctr">
                      <a:solidFill>
                        <a:schemeClr val="tx1"/>
                      </a:solidFill>
                      <a:prstDash val="solid"/>
                      <a:round/>
                      <a:headEnd type="none" w="med" len="med"/>
                      <a:tailEnd type="none" w="med" len="med"/>
                    </a:lnR>
                  </a:tcPr>
                </a:tc>
                <a:tc>
                  <a:txBody>
                    <a:bodyPr/>
                    <a:lstStyle/>
                    <a:p>
                      <a:r>
                        <a:rPr lang="en-US" dirty="0"/>
                        <a:t>$11.5</a:t>
                      </a:r>
                      <a:endParaRPr lang="en-CA" dirty="0"/>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2897226953"/>
                  </a:ext>
                </a:extLst>
              </a:tr>
            </a:tbl>
          </a:graphicData>
        </a:graphic>
      </p:graphicFrame>
    </p:spTree>
    <p:extLst>
      <p:ext uri="{BB962C8B-B14F-4D97-AF65-F5344CB8AC3E}">
        <p14:creationId xmlns:p14="http://schemas.microsoft.com/office/powerpoint/2010/main" val="350799919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Let’s go back to the cakes</a:t>
            </a:r>
          </a:p>
        </p:txBody>
      </p:sp>
      <p:sp>
        <p:nvSpPr>
          <p:cNvPr id="3" name="Content Placeholder 2"/>
          <p:cNvSpPr>
            <a:spLocks noGrp="1"/>
          </p:cNvSpPr>
          <p:nvPr>
            <p:ph idx="1"/>
          </p:nvPr>
        </p:nvSpPr>
        <p:spPr/>
        <p:txBody>
          <a:bodyPr/>
          <a:lstStyle/>
          <a:p>
            <a:pPr marL="0" indent="0">
              <a:buNone/>
            </a:pPr>
            <a:r>
              <a:rPr lang="en-US" dirty="0"/>
              <a:t>What about the Treatment cakes?</a:t>
            </a:r>
          </a:p>
          <a:p>
            <a:pPr marL="0" indent="0">
              <a:buNone/>
            </a:pPr>
            <a:r>
              <a:rPr lang="en-US" dirty="0"/>
              <a:t>Recall the table:</a:t>
            </a:r>
          </a:p>
          <a:p>
            <a:pPr marL="0" indent="0">
              <a:buNone/>
            </a:pPr>
            <a:endParaRPr lang="en-US" dirty="0"/>
          </a:p>
          <a:p>
            <a:pPr marL="0" indent="0">
              <a:buNone/>
            </a:pPr>
            <a:endParaRPr lang="en-US" dirty="0"/>
          </a:p>
          <a:p>
            <a:pPr marL="0" indent="0">
              <a:buNone/>
            </a:pPr>
            <a:r>
              <a:rPr lang="en-US" dirty="0"/>
              <a:t>So what happens when we add a layer to a cake with one cup of frosting?</a:t>
            </a:r>
          </a:p>
          <a:p>
            <a:pPr marL="0" indent="0">
              <a:buNone/>
            </a:pPr>
            <a:r>
              <a:rPr lang="en-US" dirty="0"/>
              <a:t>                                                                          </a:t>
            </a:r>
          </a:p>
          <a:p>
            <a:pPr marL="0" indent="0">
              <a:buNone/>
            </a:pPr>
            <a:endParaRPr lang="en-CA" dirty="0"/>
          </a:p>
        </p:txBody>
      </p:sp>
      <p:graphicFrame>
        <p:nvGraphicFramePr>
          <p:cNvPr id="4" name="Table 3"/>
          <p:cNvGraphicFramePr>
            <a:graphicFrameLocks noGrp="1"/>
          </p:cNvGraphicFramePr>
          <p:nvPr>
            <p:extLst>
              <p:ext uri="{D42A27DB-BD31-4B8C-83A1-F6EECF244321}">
                <p14:modId xmlns:p14="http://schemas.microsoft.com/office/powerpoint/2010/main" val="2850868810"/>
              </p:ext>
            </p:extLst>
          </p:nvPr>
        </p:nvGraphicFramePr>
        <p:xfrm>
          <a:off x="457200" y="2777910"/>
          <a:ext cx="8229600" cy="1112520"/>
        </p:xfrm>
        <a:graphic>
          <a:graphicData uri="http://schemas.openxmlformats.org/drawingml/2006/table">
            <a:tbl>
              <a:tblPr firstRow="1" bandRow="1">
                <a:tableStyleId>{5940675A-B579-460E-94D1-54222C63F5DA}</a:tableStyleId>
              </a:tblPr>
              <a:tblGrid>
                <a:gridCol w="2215661">
                  <a:extLst>
                    <a:ext uri="{9D8B030D-6E8A-4147-A177-3AD203B41FA5}">
                      <a16:colId xmlns:a16="http://schemas.microsoft.com/office/drawing/2014/main" val="1992671693"/>
                    </a:ext>
                  </a:extLst>
                </a:gridCol>
                <a:gridCol w="3094196">
                  <a:extLst>
                    <a:ext uri="{9D8B030D-6E8A-4147-A177-3AD203B41FA5}">
                      <a16:colId xmlns:a16="http://schemas.microsoft.com/office/drawing/2014/main" val="3332332410"/>
                    </a:ext>
                  </a:extLst>
                </a:gridCol>
                <a:gridCol w="2919743">
                  <a:extLst>
                    <a:ext uri="{9D8B030D-6E8A-4147-A177-3AD203B41FA5}">
                      <a16:colId xmlns:a16="http://schemas.microsoft.com/office/drawing/2014/main" val="634443316"/>
                    </a:ext>
                  </a:extLst>
                </a:gridCol>
              </a:tblGrid>
              <a:tr h="370840">
                <a:tc>
                  <a:txBody>
                    <a:bodyPr/>
                    <a:lstStyle/>
                    <a:p>
                      <a:endParaRPr lang="en-US" dirty="0"/>
                    </a:p>
                  </a:txBody>
                  <a:tcPr/>
                </a:tc>
                <a:tc>
                  <a:txBody>
                    <a:bodyPr/>
                    <a:lstStyle/>
                    <a:p>
                      <a:pPr algn="ctr"/>
                      <a:r>
                        <a:rPr lang="en-US" dirty="0"/>
                        <a:t>One-Layer</a:t>
                      </a:r>
                      <a:r>
                        <a:rPr lang="en-US" baseline="0" dirty="0"/>
                        <a:t> Cake</a:t>
                      </a:r>
                      <a:endParaRPr lang="en-US" dirty="0"/>
                    </a:p>
                  </a:txBody>
                  <a:tcPr/>
                </a:tc>
                <a:tc>
                  <a:txBody>
                    <a:bodyPr/>
                    <a:lstStyle/>
                    <a:p>
                      <a:pPr algn="ctr"/>
                      <a:r>
                        <a:rPr lang="en-US" dirty="0"/>
                        <a:t>Two-Layer Cake</a:t>
                      </a:r>
                    </a:p>
                  </a:txBody>
                  <a:tcPr/>
                </a:tc>
                <a:extLst>
                  <a:ext uri="{0D108BD9-81ED-4DB2-BD59-A6C34878D82A}">
                    <a16:rowId xmlns:a16="http://schemas.microsoft.com/office/drawing/2014/main" val="2225838585"/>
                  </a:ext>
                </a:extLst>
              </a:tr>
              <a:tr h="370840">
                <a:tc>
                  <a:txBody>
                    <a:bodyPr/>
                    <a:lstStyle/>
                    <a:p>
                      <a:r>
                        <a:rPr lang="en-US" dirty="0"/>
                        <a:t>Two</a:t>
                      </a:r>
                      <a:r>
                        <a:rPr lang="en-US" baseline="0" dirty="0"/>
                        <a:t> Cups of</a:t>
                      </a:r>
                      <a:r>
                        <a:rPr lang="en-US" dirty="0"/>
                        <a:t> frosting</a:t>
                      </a:r>
                    </a:p>
                  </a:txBody>
                  <a:tcPr/>
                </a:tc>
                <a:tc>
                  <a:txBody>
                    <a:bodyPr/>
                    <a:lstStyle/>
                    <a:p>
                      <a:pPr algn="ctr"/>
                      <a:r>
                        <a:rPr lang="en-US" baseline="0" dirty="0"/>
                        <a:t>$16, $16</a:t>
                      </a:r>
                    </a:p>
                  </a:txBody>
                  <a:tcPr/>
                </a:tc>
                <a:tc>
                  <a:txBody>
                    <a:bodyPr/>
                    <a:lstStyle/>
                    <a:p>
                      <a:pPr algn="ctr"/>
                      <a:r>
                        <a:rPr lang="en-US" baseline="0" dirty="0"/>
                        <a:t>$16, $16, $16, $16, $16, $16</a:t>
                      </a:r>
                    </a:p>
                  </a:txBody>
                  <a:tcPr/>
                </a:tc>
                <a:extLst>
                  <a:ext uri="{0D108BD9-81ED-4DB2-BD59-A6C34878D82A}">
                    <a16:rowId xmlns:a16="http://schemas.microsoft.com/office/drawing/2014/main" val="889903988"/>
                  </a:ext>
                </a:extLst>
              </a:tr>
              <a:tr h="370840">
                <a:tc>
                  <a:txBody>
                    <a:bodyPr/>
                    <a:lstStyle/>
                    <a:p>
                      <a:r>
                        <a:rPr lang="en-US" dirty="0"/>
                        <a:t>One Cup of frosting</a:t>
                      </a:r>
                    </a:p>
                  </a:txBody>
                  <a:tcPr/>
                </a:tc>
                <a:tc>
                  <a:txBody>
                    <a:bodyPr/>
                    <a:lstStyle/>
                    <a:p>
                      <a:pPr algn="ctr"/>
                      <a:r>
                        <a:rPr lang="en-US" dirty="0"/>
                        <a:t>$10, $10,</a:t>
                      </a:r>
                      <a:r>
                        <a:rPr lang="en-US" baseline="0" dirty="0"/>
                        <a:t> $10, $10, $10, $10</a:t>
                      </a:r>
                      <a:endParaRPr 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$10, $10</a:t>
                      </a:r>
                      <a:endParaRPr lang="en-US" baseline="0" dirty="0"/>
                    </a:p>
                  </a:txBody>
                  <a:tcPr/>
                </a:tc>
                <a:extLst>
                  <a:ext uri="{0D108BD9-81ED-4DB2-BD59-A6C34878D82A}">
                    <a16:rowId xmlns:a16="http://schemas.microsoft.com/office/drawing/2014/main" val="3307880018"/>
                  </a:ext>
                </a:extLst>
              </a:tr>
            </a:tbl>
          </a:graphicData>
        </a:graphic>
      </p:graphicFrame>
      <p:sp>
        <p:nvSpPr>
          <p:cNvPr id="6" name="TextBox 5"/>
          <p:cNvSpPr txBox="1"/>
          <p:nvPr/>
        </p:nvSpPr>
        <p:spPr>
          <a:xfrm>
            <a:off x="1524000" y="5181600"/>
            <a:ext cx="2895600" cy="461665"/>
          </a:xfrm>
          <a:prstGeom prst="rect">
            <a:avLst/>
          </a:prstGeom>
          <a:noFill/>
        </p:spPr>
        <p:txBody>
          <a:bodyPr wrap="square" rtlCol="0">
            <a:spAutoFit/>
          </a:bodyPr>
          <a:lstStyle/>
          <a:p>
            <a:r>
              <a:rPr lang="en-US" sz="2400" dirty="0"/>
              <a:t>One-Layer Price = $10  </a:t>
            </a:r>
            <a:endParaRPr lang="en-CA" sz="2400" dirty="0"/>
          </a:p>
        </p:txBody>
      </p:sp>
      <p:sp>
        <p:nvSpPr>
          <p:cNvPr id="7" name="TextBox 6"/>
          <p:cNvSpPr txBox="1"/>
          <p:nvPr/>
        </p:nvSpPr>
        <p:spPr>
          <a:xfrm>
            <a:off x="4724400" y="5181600"/>
            <a:ext cx="3581400" cy="738664"/>
          </a:xfrm>
          <a:prstGeom prst="rect">
            <a:avLst/>
          </a:prstGeom>
          <a:noFill/>
        </p:spPr>
        <p:txBody>
          <a:bodyPr wrap="square" rtlCol="0">
            <a:spAutoFit/>
          </a:bodyPr>
          <a:lstStyle/>
          <a:p>
            <a:r>
              <a:rPr lang="en-US" sz="2400" dirty="0">
                <a:solidFill>
                  <a:srgbClr val="FF0000"/>
                </a:solidFill>
              </a:rPr>
              <a:t> </a:t>
            </a:r>
            <a:r>
              <a:rPr lang="en-US" sz="2400" dirty="0">
                <a:solidFill>
                  <a:srgbClr val="FF0000"/>
                </a:solidFill>
                <a:sym typeface="Wingdings" panose="05000000000000000000" pitchFamily="2" charset="2"/>
              </a:rPr>
              <a:t></a:t>
            </a:r>
            <a:r>
              <a:rPr lang="en-US" sz="2400" dirty="0">
                <a:solidFill>
                  <a:srgbClr val="FF0000"/>
                </a:solidFill>
              </a:rPr>
              <a:t>    Two-Layer Price = $10</a:t>
            </a:r>
            <a:endParaRPr lang="en-CA" sz="2400" dirty="0">
              <a:solidFill>
                <a:srgbClr val="FF0000"/>
              </a:solidFill>
            </a:endParaRPr>
          </a:p>
          <a:p>
            <a:endParaRPr lang="en-CA" dirty="0"/>
          </a:p>
        </p:txBody>
      </p:sp>
    </p:spTree>
    <p:extLst>
      <p:ext uri="{BB962C8B-B14F-4D97-AF65-F5344CB8AC3E}">
        <p14:creationId xmlns:p14="http://schemas.microsoft.com/office/powerpoint/2010/main" val="10770224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Let’s go back to the cakes</a:t>
            </a:r>
          </a:p>
        </p:txBody>
      </p:sp>
      <p:sp>
        <p:nvSpPr>
          <p:cNvPr id="3" name="Content Placeholder 2"/>
          <p:cNvSpPr>
            <a:spLocks noGrp="1"/>
          </p:cNvSpPr>
          <p:nvPr>
            <p:ph idx="1"/>
          </p:nvPr>
        </p:nvSpPr>
        <p:spPr/>
        <p:txBody>
          <a:bodyPr/>
          <a:lstStyle/>
          <a:p>
            <a:pPr marL="0" indent="0">
              <a:buNone/>
            </a:pPr>
            <a:r>
              <a:rPr lang="en-US" dirty="0"/>
              <a:t>And what happens when we add a layer to a cake with two cups of frosting?</a:t>
            </a:r>
          </a:p>
          <a:p>
            <a:pPr marL="0" indent="0">
              <a:buNone/>
            </a:pPr>
            <a:endParaRPr lang="en-US" dirty="0"/>
          </a:p>
          <a:p>
            <a:pPr marL="0" indent="0">
              <a:buNone/>
            </a:pPr>
            <a:endParaRPr lang="en-US" dirty="0"/>
          </a:p>
          <a:p>
            <a:pPr marL="0" indent="0">
              <a:buNone/>
            </a:pPr>
            <a:r>
              <a:rPr lang="en-US" dirty="0"/>
              <a:t>So what does our Treatment sample look like in this Post period?</a:t>
            </a:r>
            <a:endParaRPr lang="en-CA" dirty="0"/>
          </a:p>
        </p:txBody>
      </p:sp>
      <p:sp>
        <p:nvSpPr>
          <p:cNvPr id="4" name="TextBox 3"/>
          <p:cNvSpPr txBox="1"/>
          <p:nvPr/>
        </p:nvSpPr>
        <p:spPr>
          <a:xfrm>
            <a:off x="1371600" y="3124200"/>
            <a:ext cx="2895600" cy="461665"/>
          </a:xfrm>
          <a:prstGeom prst="rect">
            <a:avLst/>
          </a:prstGeom>
          <a:noFill/>
        </p:spPr>
        <p:txBody>
          <a:bodyPr wrap="square" rtlCol="0">
            <a:spAutoFit/>
          </a:bodyPr>
          <a:lstStyle/>
          <a:p>
            <a:r>
              <a:rPr lang="en-US" sz="2400" dirty="0"/>
              <a:t>One-Layer Price = $16  </a:t>
            </a:r>
            <a:endParaRPr lang="en-CA" sz="2400" dirty="0"/>
          </a:p>
        </p:txBody>
      </p:sp>
      <p:sp>
        <p:nvSpPr>
          <p:cNvPr id="5" name="TextBox 4"/>
          <p:cNvSpPr txBox="1"/>
          <p:nvPr/>
        </p:nvSpPr>
        <p:spPr>
          <a:xfrm>
            <a:off x="4545904" y="3124200"/>
            <a:ext cx="3581400" cy="738664"/>
          </a:xfrm>
          <a:prstGeom prst="rect">
            <a:avLst/>
          </a:prstGeom>
          <a:noFill/>
        </p:spPr>
        <p:txBody>
          <a:bodyPr wrap="square" rtlCol="0">
            <a:spAutoFit/>
          </a:bodyPr>
          <a:lstStyle/>
          <a:p>
            <a:r>
              <a:rPr lang="en-US" sz="2400" dirty="0">
                <a:solidFill>
                  <a:srgbClr val="FF0000"/>
                </a:solidFill>
              </a:rPr>
              <a:t> </a:t>
            </a:r>
            <a:r>
              <a:rPr lang="en-US" sz="2400" dirty="0">
                <a:solidFill>
                  <a:srgbClr val="FF0000"/>
                </a:solidFill>
                <a:sym typeface="Wingdings" panose="05000000000000000000" pitchFamily="2" charset="2"/>
              </a:rPr>
              <a:t></a:t>
            </a:r>
            <a:r>
              <a:rPr lang="en-US" sz="2400" dirty="0">
                <a:solidFill>
                  <a:srgbClr val="FF0000"/>
                </a:solidFill>
              </a:rPr>
              <a:t>    Two-Layer Price = $16</a:t>
            </a:r>
            <a:endParaRPr lang="en-CA" sz="2400" dirty="0">
              <a:solidFill>
                <a:srgbClr val="FF0000"/>
              </a:solidFill>
            </a:endParaRPr>
          </a:p>
          <a:p>
            <a:endParaRPr lang="en-CA" dirty="0"/>
          </a:p>
        </p:txBody>
      </p:sp>
    </p:spTree>
    <p:extLst>
      <p:ext uri="{BB962C8B-B14F-4D97-AF65-F5344CB8AC3E}">
        <p14:creationId xmlns:p14="http://schemas.microsoft.com/office/powerpoint/2010/main" val="14061702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Let’s go back to the cakes</a:t>
            </a:r>
          </a:p>
        </p:txBody>
      </p:sp>
      <p:sp>
        <p:nvSpPr>
          <p:cNvPr id="5" name="Content Placeholder 4"/>
          <p:cNvSpPr>
            <a:spLocks noGrp="1"/>
          </p:cNvSpPr>
          <p:nvPr>
            <p:ph idx="1"/>
          </p:nvPr>
        </p:nvSpPr>
        <p:spPr/>
        <p:txBody>
          <a:bodyPr/>
          <a:lstStyle/>
          <a:p>
            <a:pPr marL="0" indent="0">
              <a:buNone/>
            </a:pPr>
            <a:endParaRPr lang="en-CA" dirty="0"/>
          </a:p>
          <a:p>
            <a:pPr marL="0" indent="0">
              <a:buNone/>
            </a:pPr>
            <a:endParaRPr lang="en-CA" dirty="0"/>
          </a:p>
          <a:p>
            <a:pPr marL="0" indent="0">
              <a:buNone/>
            </a:pPr>
            <a:endParaRPr lang="en-CA" dirty="0"/>
          </a:p>
        </p:txBody>
      </p:sp>
      <p:graphicFrame>
        <p:nvGraphicFramePr>
          <p:cNvPr id="6" name="Table 5"/>
          <p:cNvGraphicFramePr>
            <a:graphicFrameLocks noGrp="1"/>
          </p:cNvGraphicFramePr>
          <p:nvPr>
            <p:extLst>
              <p:ext uri="{D42A27DB-BD31-4B8C-83A1-F6EECF244321}">
                <p14:modId xmlns:p14="http://schemas.microsoft.com/office/powerpoint/2010/main" val="519766670"/>
              </p:ext>
            </p:extLst>
          </p:nvPr>
        </p:nvGraphicFramePr>
        <p:xfrm>
          <a:off x="1524000" y="1396999"/>
          <a:ext cx="6096000" cy="389977"/>
        </p:xfrm>
        <a:graphic>
          <a:graphicData uri="http://schemas.openxmlformats.org/drawingml/2006/table">
            <a:tbl>
              <a:tblPr firstRow="1" bandRow="1">
                <a:tableStyleId>{2D5ABB26-0587-4C30-8999-92F81FD0307C}</a:tableStyleId>
              </a:tblPr>
              <a:tblGrid>
                <a:gridCol w="2895600">
                  <a:extLst>
                    <a:ext uri="{9D8B030D-6E8A-4147-A177-3AD203B41FA5}">
                      <a16:colId xmlns:a16="http://schemas.microsoft.com/office/drawing/2014/main" val="2116268156"/>
                    </a:ext>
                  </a:extLst>
                </a:gridCol>
                <a:gridCol w="3200400">
                  <a:extLst>
                    <a:ext uri="{9D8B030D-6E8A-4147-A177-3AD203B41FA5}">
                      <a16:colId xmlns:a16="http://schemas.microsoft.com/office/drawing/2014/main" val="3624033484"/>
                    </a:ext>
                  </a:extLst>
                </a:gridCol>
              </a:tblGrid>
              <a:tr h="389977">
                <a:tc>
                  <a:txBody>
                    <a:bodyPr/>
                    <a:lstStyle/>
                    <a:p>
                      <a:pPr algn="r"/>
                      <a:r>
                        <a:rPr lang="en-CA" dirty="0"/>
                        <a:t>Treatment</a:t>
                      </a:r>
                    </a:p>
                  </a:txBody>
                  <a:tcPr/>
                </a:tc>
                <a:tc>
                  <a:txBody>
                    <a:bodyPr/>
                    <a:lstStyle/>
                    <a:p>
                      <a:r>
                        <a:rPr lang="en-CA" dirty="0"/>
                        <a:t>Control</a:t>
                      </a:r>
                    </a:p>
                  </a:txBody>
                  <a:tcPr/>
                </a:tc>
                <a:extLst>
                  <a:ext uri="{0D108BD9-81ED-4DB2-BD59-A6C34878D82A}">
                    <a16:rowId xmlns:a16="http://schemas.microsoft.com/office/drawing/2014/main" val="1457221721"/>
                  </a:ext>
                </a:extLst>
              </a:tr>
            </a:tbl>
          </a:graphicData>
        </a:graphic>
      </p:graphicFrame>
      <p:graphicFrame>
        <p:nvGraphicFramePr>
          <p:cNvPr id="7" name="Table 6"/>
          <p:cNvGraphicFramePr>
            <a:graphicFrameLocks noGrp="1"/>
          </p:cNvGraphicFramePr>
          <p:nvPr>
            <p:extLst>
              <p:ext uri="{D42A27DB-BD31-4B8C-83A1-F6EECF244321}">
                <p14:modId xmlns:p14="http://schemas.microsoft.com/office/powerpoint/2010/main" val="3495551413"/>
              </p:ext>
            </p:extLst>
          </p:nvPr>
        </p:nvGraphicFramePr>
        <p:xfrm>
          <a:off x="914400" y="1969539"/>
          <a:ext cx="6705600" cy="741680"/>
        </p:xfrm>
        <a:graphic>
          <a:graphicData uri="http://schemas.openxmlformats.org/drawingml/2006/table">
            <a:tbl>
              <a:tblPr firstRow="1" bandRow="1">
                <a:tableStyleId>{2D5ABB26-0587-4C30-8999-92F81FD0307C}</a:tableStyleId>
              </a:tblPr>
              <a:tblGrid>
                <a:gridCol w="1066800">
                  <a:extLst>
                    <a:ext uri="{9D8B030D-6E8A-4147-A177-3AD203B41FA5}">
                      <a16:colId xmlns:a16="http://schemas.microsoft.com/office/drawing/2014/main" val="2649752607"/>
                    </a:ext>
                  </a:extLst>
                </a:gridCol>
                <a:gridCol w="2438400">
                  <a:extLst>
                    <a:ext uri="{9D8B030D-6E8A-4147-A177-3AD203B41FA5}">
                      <a16:colId xmlns:a16="http://schemas.microsoft.com/office/drawing/2014/main" val="115004522"/>
                    </a:ext>
                  </a:extLst>
                </a:gridCol>
                <a:gridCol w="3200400">
                  <a:extLst>
                    <a:ext uri="{9D8B030D-6E8A-4147-A177-3AD203B41FA5}">
                      <a16:colId xmlns:a16="http://schemas.microsoft.com/office/drawing/2014/main" val="3998022857"/>
                    </a:ext>
                  </a:extLst>
                </a:gridCol>
              </a:tblGrid>
              <a:tr h="370840">
                <a:tc>
                  <a:txBody>
                    <a:bodyPr/>
                    <a:lstStyle/>
                    <a:p>
                      <a:pPr algn="r"/>
                      <a:r>
                        <a:rPr lang="en-CA" i="1" dirty="0"/>
                        <a:t>2 cups</a:t>
                      </a:r>
                    </a:p>
                  </a:txBody>
                  <a:tcPr/>
                </a:tc>
                <a:tc>
                  <a:txBody>
                    <a:bodyPr/>
                    <a:lstStyle/>
                    <a:p>
                      <a:pPr algn="r"/>
                      <a:r>
                        <a:rPr lang="en-CA" dirty="0">
                          <a:solidFill>
                            <a:srgbClr val="FF0000"/>
                          </a:solidFill>
                        </a:rPr>
                        <a:t>$16,</a:t>
                      </a:r>
                    </a:p>
                  </a:txBody>
                  <a:tcPr/>
                </a:tc>
                <a:tc>
                  <a:txBody>
                    <a:bodyPr/>
                    <a:lstStyle/>
                    <a:p>
                      <a:r>
                        <a:rPr lang="en-CA" dirty="0"/>
                        <a:t>$16</a:t>
                      </a:r>
                    </a:p>
                  </a:txBody>
                  <a:tcPr/>
                </a:tc>
                <a:extLst>
                  <a:ext uri="{0D108BD9-81ED-4DB2-BD59-A6C34878D82A}">
                    <a16:rowId xmlns:a16="http://schemas.microsoft.com/office/drawing/2014/main" val="273341300"/>
                  </a:ext>
                </a:extLst>
              </a:tr>
              <a:tr h="370840">
                <a:tc>
                  <a:txBody>
                    <a:bodyPr/>
                    <a:lstStyle/>
                    <a:p>
                      <a:pPr algn="r"/>
                      <a:r>
                        <a:rPr lang="en-CA" i="1" dirty="0"/>
                        <a:t>1 cup</a:t>
                      </a:r>
                    </a:p>
                  </a:txBody>
                  <a:tcPr/>
                </a:tc>
                <a:tc>
                  <a:txBody>
                    <a:bodyPr/>
                    <a:lstStyle/>
                    <a:p>
                      <a:pPr algn="r"/>
                      <a:r>
                        <a:rPr lang="en-CA" dirty="0">
                          <a:solidFill>
                            <a:srgbClr val="FF0000"/>
                          </a:solidFill>
                        </a:rPr>
                        <a:t>$10, $10, $10,</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dirty="0"/>
                        <a:t>$10, $10, $10</a:t>
                      </a:r>
                    </a:p>
                  </a:txBody>
                  <a:tcPr/>
                </a:tc>
                <a:extLst>
                  <a:ext uri="{0D108BD9-81ED-4DB2-BD59-A6C34878D82A}">
                    <a16:rowId xmlns:a16="http://schemas.microsoft.com/office/drawing/2014/main" val="2519887079"/>
                  </a:ext>
                </a:extLst>
              </a:tr>
            </a:tbl>
          </a:graphicData>
        </a:graphic>
      </p:graphicFrame>
      <p:cxnSp>
        <p:nvCxnSpPr>
          <p:cNvPr id="4" name="Straight Connector 3"/>
          <p:cNvCxnSpPr>
            <a:stCxn id="10" idx="2"/>
          </p:cNvCxnSpPr>
          <p:nvPr/>
        </p:nvCxnSpPr>
        <p:spPr>
          <a:xfrm flipV="1">
            <a:off x="4419600" y="1417638"/>
            <a:ext cx="0" cy="1874875"/>
          </a:xfrm>
          <a:prstGeom prst="line">
            <a:avLst/>
          </a:prstGeom>
        </p:spPr>
        <p:style>
          <a:lnRef idx="1">
            <a:schemeClr val="dk1"/>
          </a:lnRef>
          <a:fillRef idx="0">
            <a:schemeClr val="dk1"/>
          </a:fillRef>
          <a:effectRef idx="0">
            <a:schemeClr val="dk1"/>
          </a:effectRef>
          <a:fontRef idx="minor">
            <a:schemeClr val="tx1"/>
          </a:fontRef>
        </p:style>
      </p:cxnSp>
      <p:graphicFrame>
        <p:nvGraphicFramePr>
          <p:cNvPr id="10" name="Table 9"/>
          <p:cNvGraphicFramePr>
            <a:graphicFrameLocks noGrp="1"/>
          </p:cNvGraphicFramePr>
          <p:nvPr>
            <p:extLst>
              <p:ext uri="{D42A27DB-BD31-4B8C-83A1-F6EECF244321}">
                <p14:modId xmlns:p14="http://schemas.microsoft.com/office/powerpoint/2010/main" val="4244439079"/>
              </p:ext>
            </p:extLst>
          </p:nvPr>
        </p:nvGraphicFramePr>
        <p:xfrm>
          <a:off x="1371600" y="2921673"/>
          <a:ext cx="6096000" cy="370840"/>
        </p:xfrm>
        <a:graphic>
          <a:graphicData uri="http://schemas.openxmlformats.org/drawingml/2006/table">
            <a:tbl>
              <a:tblPr firstRow="1" bandRow="1">
                <a:tableStyleId>{2D5ABB26-0587-4C30-8999-92F81FD0307C}</a:tableStyleId>
              </a:tblPr>
              <a:tblGrid>
                <a:gridCol w="3048000">
                  <a:extLst>
                    <a:ext uri="{9D8B030D-6E8A-4147-A177-3AD203B41FA5}">
                      <a16:colId xmlns:a16="http://schemas.microsoft.com/office/drawing/2014/main" val="2066825726"/>
                    </a:ext>
                  </a:extLst>
                </a:gridCol>
                <a:gridCol w="3048000">
                  <a:extLst>
                    <a:ext uri="{9D8B030D-6E8A-4147-A177-3AD203B41FA5}">
                      <a16:colId xmlns:a16="http://schemas.microsoft.com/office/drawing/2014/main" val="3459282310"/>
                    </a:ext>
                  </a:extLst>
                </a:gridCol>
              </a:tblGrid>
              <a:tr h="370840">
                <a:tc>
                  <a:txBody>
                    <a:bodyPr/>
                    <a:lstStyle/>
                    <a:p>
                      <a:r>
                        <a:rPr lang="en-CA" dirty="0"/>
                        <a:t>Post average</a:t>
                      </a:r>
                      <a:r>
                        <a:rPr lang="en-CA" dirty="0">
                          <a:solidFill>
                            <a:srgbClr val="FF0000"/>
                          </a:solidFill>
                        </a:rPr>
                        <a:t>:              </a:t>
                      </a:r>
                      <a:r>
                        <a:rPr lang="en-CA" baseline="0" dirty="0">
                          <a:solidFill>
                            <a:srgbClr val="FF0000"/>
                          </a:solidFill>
                        </a:rPr>
                        <a:t>     </a:t>
                      </a:r>
                      <a:r>
                        <a:rPr lang="en-CA" dirty="0">
                          <a:solidFill>
                            <a:srgbClr val="FF0000"/>
                          </a:solidFill>
                        </a:rPr>
                        <a:t> $11.5</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dirty="0"/>
                        <a:t>$11.5</a:t>
                      </a:r>
                    </a:p>
                  </a:txBody>
                  <a:tcPr/>
                </a:tc>
                <a:extLst>
                  <a:ext uri="{0D108BD9-81ED-4DB2-BD59-A6C34878D82A}">
                    <a16:rowId xmlns:a16="http://schemas.microsoft.com/office/drawing/2014/main" val="2142241605"/>
                  </a:ext>
                </a:extLst>
              </a:tr>
            </a:tbl>
          </a:graphicData>
        </a:graphic>
      </p:graphicFrame>
    </p:spTree>
    <p:extLst>
      <p:ext uri="{BB962C8B-B14F-4D97-AF65-F5344CB8AC3E}">
        <p14:creationId xmlns:p14="http://schemas.microsoft.com/office/powerpoint/2010/main" val="14207595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Let’s go back to the cakes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pPr marL="0" indent="0">
                  <a:buNone/>
                </a:pPr>
                <a:r>
                  <a:rPr lang="en-CA" dirty="0"/>
                  <a:t>So what is the D-</a:t>
                </a:r>
                <a:r>
                  <a:rPr lang="en-CA" dirty="0" err="1"/>
                  <a:t>i</a:t>
                </a:r>
                <a:r>
                  <a:rPr lang="en-CA" dirty="0"/>
                  <a:t>-D effect?</a:t>
                </a:r>
              </a:p>
              <a:p>
                <a:pPr marL="0" indent="0">
                  <a:buNone/>
                </a:pPr>
                <a:endParaRPr lang="en-CA" dirty="0"/>
              </a:p>
              <a:p>
                <a:pPr marL="0" indent="0">
                  <a:buNone/>
                </a:pPr>
                <a14:m>
                  <m:oMathPara xmlns:m="http://schemas.openxmlformats.org/officeDocument/2006/math">
                    <m:oMathParaPr>
                      <m:jc m:val="centerGroup"/>
                    </m:oMathParaPr>
                    <m:oMath xmlns:m="http://schemas.openxmlformats.org/officeDocument/2006/math">
                      <m:d>
                        <m:dPr>
                          <m:ctrlPr>
                            <a:rPr lang="en-CA" i="1" smtClean="0">
                              <a:latin typeface="Cambria Math" panose="02040503050406030204" pitchFamily="18" charset="0"/>
                            </a:rPr>
                          </m:ctrlPr>
                        </m:dPr>
                        <m:e>
                          <m:sSubSup>
                            <m:sSubSupPr>
                              <m:ctrlPr>
                                <a:rPr lang="en-CA" i="1">
                                  <a:latin typeface="Cambria Math" panose="02040503050406030204" pitchFamily="18" charset="0"/>
                                </a:rPr>
                              </m:ctrlPr>
                            </m:sSubSupPr>
                            <m:e>
                              <m:r>
                                <a:rPr lang="en-US" i="1">
                                  <a:latin typeface="Cambria Math" panose="02040503050406030204" pitchFamily="18" charset="0"/>
                                </a:rPr>
                                <m:t>𝑃𝑟𝑖𝑐𝑒</m:t>
                              </m:r>
                            </m:e>
                            <m:sub>
                              <m:r>
                                <a:rPr lang="en-US" i="1">
                                  <a:latin typeface="Cambria Math" panose="02040503050406030204" pitchFamily="18" charset="0"/>
                                </a:rPr>
                                <m:t>𝑃𝑜𝑠𝑡</m:t>
                              </m:r>
                            </m:sub>
                            <m:sup>
                              <m:r>
                                <a:rPr lang="en-US" i="1">
                                  <a:latin typeface="Cambria Math" panose="02040503050406030204" pitchFamily="18" charset="0"/>
                                </a:rPr>
                                <m:t>𝑇</m:t>
                              </m:r>
                            </m:sup>
                          </m:sSubSup>
                          <m:r>
                            <a:rPr lang="en-US" i="1">
                              <a:latin typeface="Cambria Math" panose="02040503050406030204" pitchFamily="18" charset="0"/>
                            </a:rPr>
                            <m:t>−</m:t>
                          </m:r>
                          <m:sSubSup>
                            <m:sSubSupPr>
                              <m:ctrlPr>
                                <a:rPr lang="en-CA" i="1">
                                  <a:latin typeface="Cambria Math" panose="02040503050406030204" pitchFamily="18" charset="0"/>
                                </a:rPr>
                              </m:ctrlPr>
                            </m:sSubSupPr>
                            <m:e>
                              <m:r>
                                <a:rPr lang="en-US" i="1">
                                  <a:latin typeface="Cambria Math" panose="02040503050406030204" pitchFamily="18" charset="0"/>
                                </a:rPr>
                                <m:t>𝑃𝑟𝑖𝑐𝑒</m:t>
                              </m:r>
                            </m:e>
                            <m:sub>
                              <m:r>
                                <a:rPr lang="en-US" i="1">
                                  <a:latin typeface="Cambria Math" panose="02040503050406030204" pitchFamily="18" charset="0"/>
                                </a:rPr>
                                <m:t>𝑃𝑟𝑒</m:t>
                              </m:r>
                            </m:sub>
                            <m:sup>
                              <m:r>
                                <a:rPr lang="en-US" i="1">
                                  <a:latin typeface="Cambria Math" panose="02040503050406030204" pitchFamily="18" charset="0"/>
                                </a:rPr>
                                <m:t>𝑇</m:t>
                              </m:r>
                            </m:sup>
                          </m:sSubSup>
                        </m:e>
                      </m:d>
                      <m:r>
                        <a:rPr lang="en-US" b="0" i="1" smtClean="0">
                          <a:latin typeface="Cambria Math" panose="02040503050406030204" pitchFamily="18" charset="0"/>
                        </a:rPr>
                        <m:t>−</m:t>
                      </m:r>
                      <m:d>
                        <m:dPr>
                          <m:ctrlPr>
                            <a:rPr lang="en-CA" i="1">
                              <a:latin typeface="Cambria Math" panose="02040503050406030204" pitchFamily="18" charset="0"/>
                            </a:rPr>
                          </m:ctrlPr>
                        </m:dPr>
                        <m:e>
                          <m:sSubSup>
                            <m:sSubSupPr>
                              <m:ctrlPr>
                                <a:rPr lang="en-CA" i="1">
                                  <a:latin typeface="Cambria Math" panose="02040503050406030204" pitchFamily="18" charset="0"/>
                                </a:rPr>
                              </m:ctrlPr>
                            </m:sSubSupPr>
                            <m:e>
                              <m:r>
                                <a:rPr lang="en-US" i="1">
                                  <a:latin typeface="Cambria Math" panose="02040503050406030204" pitchFamily="18" charset="0"/>
                                </a:rPr>
                                <m:t>𝑃𝑟𝑖𝑐𝑒</m:t>
                              </m:r>
                            </m:e>
                            <m:sub>
                              <m:r>
                                <a:rPr lang="en-US" i="1">
                                  <a:latin typeface="Cambria Math" panose="02040503050406030204" pitchFamily="18" charset="0"/>
                                </a:rPr>
                                <m:t>𝑃𝑜𝑠𝑡</m:t>
                              </m:r>
                            </m:sub>
                            <m:sup>
                              <m:r>
                                <a:rPr lang="en-US" b="0" i="1" smtClean="0">
                                  <a:latin typeface="Cambria Math" panose="02040503050406030204" pitchFamily="18" charset="0"/>
                                </a:rPr>
                                <m:t>𝐶</m:t>
                              </m:r>
                            </m:sup>
                          </m:sSubSup>
                          <m:r>
                            <a:rPr lang="en-US" i="1">
                              <a:latin typeface="Cambria Math" panose="02040503050406030204" pitchFamily="18" charset="0"/>
                            </a:rPr>
                            <m:t>−</m:t>
                          </m:r>
                          <m:sSubSup>
                            <m:sSubSupPr>
                              <m:ctrlPr>
                                <a:rPr lang="en-CA" i="1">
                                  <a:latin typeface="Cambria Math" panose="02040503050406030204" pitchFamily="18" charset="0"/>
                                </a:rPr>
                              </m:ctrlPr>
                            </m:sSubSupPr>
                            <m:e>
                              <m:r>
                                <a:rPr lang="en-US" i="1">
                                  <a:latin typeface="Cambria Math" panose="02040503050406030204" pitchFamily="18" charset="0"/>
                                </a:rPr>
                                <m:t>𝑃𝑟𝑖𝑐𝑒</m:t>
                              </m:r>
                            </m:e>
                            <m:sub>
                              <m:r>
                                <a:rPr lang="en-US" i="1">
                                  <a:latin typeface="Cambria Math" panose="02040503050406030204" pitchFamily="18" charset="0"/>
                                </a:rPr>
                                <m:t>𝑃𝑟𝑒</m:t>
                              </m:r>
                            </m:sub>
                            <m:sup>
                              <m:r>
                                <a:rPr lang="en-US" b="0" i="1" smtClean="0">
                                  <a:latin typeface="Cambria Math" panose="02040503050406030204" pitchFamily="18" charset="0"/>
                                </a:rPr>
                                <m:t>𝐶</m:t>
                              </m:r>
                            </m:sup>
                          </m:sSubSup>
                        </m:e>
                      </m:d>
                    </m:oMath>
                  </m:oMathPara>
                </a14:m>
                <a:endParaRPr lang="en-CA" dirty="0"/>
              </a:p>
              <a:p>
                <a:pPr marL="0" indent="0">
                  <a:buNone/>
                </a:pPr>
                <a:endParaRPr lang="en-CA" dirty="0"/>
              </a:p>
              <a:p>
                <a:pPr marL="0" indent="0">
                  <a:buNone/>
                </a:pPr>
                <a14:m>
                  <m:oMathPara xmlns:m="http://schemas.openxmlformats.org/officeDocument/2006/math">
                    <m:oMathParaPr>
                      <m:jc m:val="centerGroup"/>
                    </m:oMathParaPr>
                    <m:oMath xmlns:m="http://schemas.openxmlformats.org/officeDocument/2006/math">
                      <m:r>
                        <a:rPr lang="en-CA" i="1" smtClean="0">
                          <a:latin typeface="Cambria Math" panose="02040503050406030204" pitchFamily="18" charset="0"/>
                          <a:ea typeface="Cambria Math" panose="02040503050406030204" pitchFamily="18" charset="0"/>
                        </a:rPr>
                        <m:t>→</m:t>
                      </m:r>
                      <m:d>
                        <m:dPr>
                          <m:ctrlPr>
                            <a:rPr lang="en-US" b="0" i="1" smtClean="0">
                              <a:latin typeface="Cambria Math" panose="02040503050406030204" pitchFamily="18" charset="0"/>
                              <a:ea typeface="Cambria Math" panose="02040503050406030204" pitchFamily="18" charset="0"/>
                            </a:rPr>
                          </m:ctrlPr>
                        </m:dPr>
                        <m:e>
                          <m:r>
                            <a:rPr lang="en-US" b="0" i="1" smtClean="0">
                              <a:solidFill>
                                <a:srgbClr val="FF0000"/>
                              </a:solidFill>
                              <a:latin typeface="Cambria Math" panose="02040503050406030204" pitchFamily="18" charset="0"/>
                              <a:ea typeface="Cambria Math" panose="02040503050406030204" pitchFamily="18" charset="0"/>
                            </a:rPr>
                            <m:t>$11.5−$11.5</m:t>
                          </m:r>
                        </m:e>
                      </m:d>
                      <m:r>
                        <a:rPr lang="en-US" b="0" i="1" smtClean="0">
                          <a:latin typeface="Cambria Math" panose="02040503050406030204" pitchFamily="18" charset="0"/>
                          <a:ea typeface="Cambria Math" panose="02040503050406030204" pitchFamily="18" charset="0"/>
                        </a:rPr>
                        <m:t>−</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$11.5−$11.5</m:t>
                          </m:r>
                        </m:e>
                      </m:d>
                      <m:r>
                        <a:rPr lang="en-US" b="0" i="1" smtClean="0">
                          <a:latin typeface="Cambria Math" panose="02040503050406030204" pitchFamily="18" charset="0"/>
                          <a:ea typeface="Cambria Math" panose="02040503050406030204" pitchFamily="18" charset="0"/>
                        </a:rPr>
                        <m:t>=0</m:t>
                      </m:r>
                    </m:oMath>
                  </m:oMathPara>
                </a14:m>
                <a:endParaRPr lang="en-CA" dirty="0"/>
              </a:p>
              <a:p>
                <a:pPr marL="0" indent="0">
                  <a:buNone/>
                </a:pPr>
                <a:endParaRPr lang="en-CA" dirty="0"/>
              </a:p>
              <a:p>
                <a:pPr marL="0" indent="0">
                  <a:buNone/>
                </a:pPr>
                <a:endParaRPr lang="en-CA" dirty="0"/>
              </a:p>
              <a:p>
                <a:pPr marL="0" indent="0">
                  <a:buNone/>
                </a:pPr>
                <a:endParaRPr lang="en-CA" dirty="0"/>
              </a:p>
              <a:p>
                <a:pPr marL="0" indent="0">
                  <a:buNone/>
                </a:pPr>
                <a:endParaRPr lang="en-CA"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852" t="-1752"/>
                </a:stretch>
              </a:blipFill>
            </p:spPr>
            <p:txBody>
              <a:bodyPr/>
              <a:lstStyle/>
              <a:p>
                <a:r>
                  <a:rPr lang="en-CA">
                    <a:noFill/>
                  </a:rPr>
                  <a:t> </a:t>
                </a:r>
              </a:p>
            </p:txBody>
          </p:sp>
        </mc:Fallback>
      </mc:AlternateContent>
    </p:spTree>
    <p:extLst>
      <p:ext uri="{BB962C8B-B14F-4D97-AF65-F5344CB8AC3E}">
        <p14:creationId xmlns:p14="http://schemas.microsoft.com/office/powerpoint/2010/main" val="36463535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Let’s go back to the cakes</a:t>
            </a:r>
            <a:endParaRPr lang="en-US" dirty="0"/>
          </a:p>
        </p:txBody>
      </p:sp>
      <p:sp>
        <p:nvSpPr>
          <p:cNvPr id="3" name="Content Placeholder 2"/>
          <p:cNvSpPr>
            <a:spLocks noGrp="1"/>
          </p:cNvSpPr>
          <p:nvPr>
            <p:ph idx="1"/>
          </p:nvPr>
        </p:nvSpPr>
        <p:spPr/>
        <p:txBody>
          <a:bodyPr/>
          <a:lstStyle/>
          <a:p>
            <a:pPr marL="0" indent="0">
              <a:buNone/>
            </a:pPr>
            <a:r>
              <a:rPr lang="en-US" dirty="0"/>
              <a:t>Key point:</a:t>
            </a:r>
          </a:p>
          <a:p>
            <a:pPr marL="0" indent="0">
              <a:buNone/>
            </a:pPr>
            <a:r>
              <a:rPr lang="en-US" dirty="0"/>
              <a:t>Even without information about frosting, a randomized D-</a:t>
            </a:r>
            <a:r>
              <a:rPr lang="en-US" dirty="0" err="1"/>
              <a:t>i</a:t>
            </a:r>
            <a:r>
              <a:rPr lang="en-US" dirty="0"/>
              <a:t>-D approach circumvents the OVB problem and gives us an unbiased, causal effect.</a:t>
            </a:r>
          </a:p>
          <a:p>
            <a:pPr marL="0" indent="0">
              <a:buNone/>
            </a:pPr>
            <a:endParaRPr lang="en-US" dirty="0"/>
          </a:p>
          <a:p>
            <a:pPr marL="0" indent="0">
              <a:buNone/>
            </a:pPr>
            <a:r>
              <a:rPr lang="en-US" dirty="0"/>
              <a:t>This is the key payoff for us!</a:t>
            </a:r>
          </a:p>
        </p:txBody>
      </p:sp>
    </p:spTree>
    <p:extLst>
      <p:ext uri="{BB962C8B-B14F-4D97-AF65-F5344CB8AC3E}">
        <p14:creationId xmlns:p14="http://schemas.microsoft.com/office/powerpoint/2010/main" val="150130290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Regressions and D-</a:t>
            </a:r>
            <a:r>
              <a:rPr lang="en-US" dirty="0" err="1"/>
              <a:t>i</a:t>
            </a:r>
            <a:r>
              <a:rPr lang="en-US" dirty="0"/>
              <a:t>-D</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en-US" dirty="0"/>
                  <a:t>So we can estimate the Difference-in-Differences with the coefficient </a:t>
                </a:r>
                <a14:m>
                  <m:oMath xmlns:m="http://schemas.openxmlformats.org/officeDocument/2006/math">
                    <m:acc>
                      <m:accPr>
                        <m:chr m:val="̂"/>
                        <m:ctrlPr>
                          <a:rPr lang="en-US" i="1">
                            <a:latin typeface="Cambria Math" panose="02040503050406030204" pitchFamily="18" charset="0"/>
                          </a:rPr>
                        </m:ctrlPr>
                      </m:accPr>
                      <m:e>
                        <m:r>
                          <a:rPr lang="en-US" i="1">
                            <a:latin typeface="Cambria Math"/>
                          </a:rPr>
                          <m:t>𝑏</m:t>
                        </m:r>
                      </m:e>
                    </m:acc>
                  </m:oMath>
                </a14:m>
                <a:r>
                  <a:rPr lang="en-US" baseline="-25000" dirty="0"/>
                  <a:t>3</a:t>
                </a:r>
                <a:r>
                  <a:rPr lang="en-US" dirty="0"/>
                  <a:t>!</a:t>
                </a:r>
              </a:p>
              <a:p>
                <a:r>
                  <a:rPr lang="en-US" dirty="0"/>
                  <a:t>Let’s try this out</a:t>
                </a:r>
              </a:p>
              <a:p>
                <a:r>
                  <a:rPr lang="en-US" dirty="0"/>
                  <a:t>Open up “EMBADID.xls”</a:t>
                </a:r>
              </a:p>
              <a:p>
                <a:pPr marL="0" indent="0">
                  <a:buNone/>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704" t="-1752"/>
                </a:stretch>
              </a:blipFill>
            </p:spPr>
            <p:txBody>
              <a:bodyPr/>
              <a:lstStyle/>
              <a:p>
                <a:r>
                  <a:rPr lang="en-US">
                    <a:noFill/>
                  </a:rPr>
                  <a:t> </a:t>
                </a:r>
              </a:p>
            </p:txBody>
          </p:sp>
        </mc:Fallback>
      </mc:AlternateContent>
    </p:spTree>
    <p:extLst>
      <p:ext uri="{BB962C8B-B14F-4D97-AF65-F5344CB8AC3E}">
        <p14:creationId xmlns:p14="http://schemas.microsoft.com/office/powerpoint/2010/main" val="297087233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Regressions and D-</a:t>
            </a:r>
            <a:r>
              <a:rPr lang="en-US" dirty="0" err="1"/>
              <a:t>i</a:t>
            </a:r>
            <a:r>
              <a:rPr lang="en-US" dirty="0"/>
              <a:t>-D</a:t>
            </a:r>
          </a:p>
        </p:txBody>
      </p:sp>
      <p:sp>
        <p:nvSpPr>
          <p:cNvPr id="3" name="Content Placeholder 2"/>
          <p:cNvSpPr>
            <a:spLocks noGrp="1"/>
          </p:cNvSpPr>
          <p:nvPr>
            <p:ph idx="1"/>
          </p:nvPr>
        </p:nvSpPr>
        <p:spPr/>
        <p:txBody>
          <a:bodyPr/>
          <a:lstStyle/>
          <a:p>
            <a:pPr marL="0" indent="0">
              <a:buNone/>
            </a:pPr>
            <a:r>
              <a:rPr lang="en-US" dirty="0"/>
              <a:t>The data include a few relevant variables:</a:t>
            </a:r>
          </a:p>
          <a:p>
            <a:r>
              <a:rPr lang="en-US" dirty="0"/>
              <a:t>Year</a:t>
            </a:r>
          </a:p>
          <a:p>
            <a:r>
              <a:rPr lang="en-US" dirty="0"/>
              <a:t>ID (a number for each person in our data – you’ll note we have two observations for each person)</a:t>
            </a:r>
          </a:p>
          <a:p>
            <a:r>
              <a:rPr lang="en-US" dirty="0"/>
              <a:t>Three dummy variables: “Treatment”, “Post”, and their interaction “</a:t>
            </a:r>
            <a:r>
              <a:rPr lang="en-US" dirty="0" err="1"/>
              <a:t>Posttreat</a:t>
            </a:r>
            <a:r>
              <a:rPr lang="en-US" dirty="0"/>
              <a:t>”</a:t>
            </a:r>
          </a:p>
          <a:p>
            <a:r>
              <a:rPr lang="en-US" dirty="0"/>
              <a:t>Each individual’s productivity</a:t>
            </a:r>
          </a:p>
        </p:txBody>
      </p:sp>
    </p:spTree>
    <p:extLst>
      <p:ext uri="{BB962C8B-B14F-4D97-AF65-F5344CB8AC3E}">
        <p14:creationId xmlns:p14="http://schemas.microsoft.com/office/powerpoint/2010/main" val="330184191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Regressions and D-</a:t>
            </a:r>
            <a:r>
              <a:rPr lang="en-US" dirty="0" err="1"/>
              <a:t>i</a:t>
            </a:r>
            <a:r>
              <a:rPr lang="en-US" dirty="0"/>
              <a:t>-D</a:t>
            </a:r>
          </a:p>
        </p:txBody>
      </p:sp>
      <p:sp>
        <p:nvSpPr>
          <p:cNvPr id="3" name="Content Placeholder 2"/>
          <p:cNvSpPr>
            <a:spLocks noGrp="1"/>
          </p:cNvSpPr>
          <p:nvPr>
            <p:ph idx="1"/>
          </p:nvPr>
        </p:nvSpPr>
        <p:spPr/>
        <p:txBody>
          <a:bodyPr/>
          <a:lstStyle/>
          <a:p>
            <a:r>
              <a:rPr lang="en-US" dirty="0"/>
              <a:t>Make a 2x2 table that compares the average productivity for the treatment and control groups in the pre-treatment period (2010) and the post-treatment period (2011)</a:t>
            </a:r>
          </a:p>
          <a:p>
            <a:r>
              <a:rPr lang="en-US" dirty="0"/>
              <a:t>Manually calculate the Difference-in-Differences with this table</a:t>
            </a:r>
          </a:p>
          <a:p>
            <a:r>
              <a:rPr lang="en-US" dirty="0"/>
              <a:t>Run a regression to perform the same calculation.</a:t>
            </a:r>
          </a:p>
          <a:p>
            <a:endParaRPr lang="en-US" dirty="0"/>
          </a:p>
        </p:txBody>
      </p:sp>
    </p:spTree>
    <p:extLst>
      <p:ext uri="{BB962C8B-B14F-4D97-AF65-F5344CB8AC3E}">
        <p14:creationId xmlns:p14="http://schemas.microsoft.com/office/powerpoint/2010/main" val="3597258575"/>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My results</a:t>
            </a:r>
          </a:p>
        </p:txBody>
      </p:sp>
      <p:sp>
        <p:nvSpPr>
          <p:cNvPr id="3" name="Content Placeholder 2"/>
          <p:cNvSpPr>
            <a:spLocks noGrp="1"/>
          </p:cNvSpPr>
          <p:nvPr>
            <p:ph idx="1"/>
          </p:nvPr>
        </p:nvSpPr>
        <p:spPr/>
        <p:txBody>
          <a:bodyPr/>
          <a:lstStyle/>
          <a:p>
            <a:pPr marL="0" indent="0">
              <a:buNone/>
            </a:pPr>
            <a:r>
              <a:rPr lang="en-US" dirty="0"/>
              <a:t>First, the table:</a:t>
            </a:r>
          </a:p>
          <a:p>
            <a:pPr marL="0" indent="0">
              <a:buNone/>
            </a:pPr>
            <a:endParaRPr lang="en-US" dirty="0"/>
          </a:p>
          <a:p>
            <a:pPr marL="0" indent="0">
              <a:buNone/>
            </a:pPr>
            <a:endParaRPr lang="en-US" dirty="0"/>
          </a:p>
          <a:p>
            <a:pPr marL="0" indent="0">
              <a:buNone/>
            </a:pPr>
            <a:endParaRPr lang="en-US" dirty="0"/>
          </a:p>
          <a:p>
            <a:pPr marL="0" indent="0">
              <a:buNone/>
            </a:pPr>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1479717142"/>
              </p:ext>
            </p:extLst>
          </p:nvPr>
        </p:nvGraphicFramePr>
        <p:xfrm>
          <a:off x="990600" y="2286000"/>
          <a:ext cx="6934200" cy="1483360"/>
        </p:xfrm>
        <a:graphic>
          <a:graphicData uri="http://schemas.openxmlformats.org/drawingml/2006/table">
            <a:tbl>
              <a:tblPr firstRow="1" bandRow="1">
                <a:tableStyleId>{5940675A-B579-460E-94D1-54222C63F5DA}</a:tableStyleId>
              </a:tblPr>
              <a:tblGrid>
                <a:gridCol w="1733550">
                  <a:extLst>
                    <a:ext uri="{9D8B030D-6E8A-4147-A177-3AD203B41FA5}">
                      <a16:colId xmlns:a16="http://schemas.microsoft.com/office/drawing/2014/main" val="20000"/>
                    </a:ext>
                  </a:extLst>
                </a:gridCol>
                <a:gridCol w="1733550">
                  <a:extLst>
                    <a:ext uri="{9D8B030D-6E8A-4147-A177-3AD203B41FA5}">
                      <a16:colId xmlns:a16="http://schemas.microsoft.com/office/drawing/2014/main" val="20001"/>
                    </a:ext>
                  </a:extLst>
                </a:gridCol>
                <a:gridCol w="1733550">
                  <a:extLst>
                    <a:ext uri="{9D8B030D-6E8A-4147-A177-3AD203B41FA5}">
                      <a16:colId xmlns:a16="http://schemas.microsoft.com/office/drawing/2014/main" val="20002"/>
                    </a:ext>
                  </a:extLst>
                </a:gridCol>
                <a:gridCol w="1733550">
                  <a:extLst>
                    <a:ext uri="{9D8B030D-6E8A-4147-A177-3AD203B41FA5}">
                      <a16:colId xmlns:a16="http://schemas.microsoft.com/office/drawing/2014/main" val="20003"/>
                    </a:ext>
                  </a:extLst>
                </a:gridCol>
              </a:tblGrid>
              <a:tr h="370840">
                <a:tc>
                  <a:txBody>
                    <a:bodyPr/>
                    <a:lstStyle/>
                    <a:p>
                      <a:pPr algn="l"/>
                      <a:endParaRPr lang="en-US" dirty="0"/>
                    </a:p>
                  </a:txBody>
                  <a:tcPr/>
                </a:tc>
                <a:tc>
                  <a:txBody>
                    <a:bodyPr/>
                    <a:lstStyle/>
                    <a:p>
                      <a:pPr algn="ctr"/>
                      <a:r>
                        <a:rPr lang="en-US" dirty="0"/>
                        <a:t>“Pre” (2010)</a:t>
                      </a:r>
                    </a:p>
                  </a:txBody>
                  <a:tcPr/>
                </a:tc>
                <a:tc>
                  <a:txBody>
                    <a:bodyPr/>
                    <a:lstStyle/>
                    <a:p>
                      <a:pPr algn="ctr"/>
                      <a:r>
                        <a:rPr lang="en-US" dirty="0"/>
                        <a:t>“Post” (2011)</a:t>
                      </a:r>
                    </a:p>
                  </a:txBody>
                  <a:tcPr/>
                </a:tc>
                <a:tc>
                  <a:txBody>
                    <a:bodyPr/>
                    <a:lstStyle/>
                    <a:p>
                      <a:pPr algn="ctr"/>
                      <a:r>
                        <a:rPr lang="en-US" dirty="0"/>
                        <a:t>Difference</a:t>
                      </a:r>
                    </a:p>
                  </a:txBody>
                  <a:tcPr/>
                </a:tc>
                <a:extLst>
                  <a:ext uri="{0D108BD9-81ED-4DB2-BD59-A6C34878D82A}">
                    <a16:rowId xmlns:a16="http://schemas.microsoft.com/office/drawing/2014/main" val="10000"/>
                  </a:ext>
                </a:extLst>
              </a:tr>
              <a:tr h="370840">
                <a:tc>
                  <a:txBody>
                    <a:bodyPr/>
                    <a:lstStyle/>
                    <a:p>
                      <a:pPr algn="l"/>
                      <a:r>
                        <a:rPr lang="en-US" dirty="0"/>
                        <a:t>Treatment</a:t>
                      </a:r>
                    </a:p>
                  </a:txBody>
                  <a:tcPr/>
                </a:tc>
                <a:tc>
                  <a:txBody>
                    <a:bodyPr/>
                    <a:lstStyle/>
                    <a:p>
                      <a:pPr algn="ctr"/>
                      <a:r>
                        <a:rPr lang="en-US" dirty="0"/>
                        <a:t>$19.95</a:t>
                      </a:r>
                    </a:p>
                  </a:txBody>
                  <a:tcPr/>
                </a:tc>
                <a:tc>
                  <a:txBody>
                    <a:bodyPr/>
                    <a:lstStyle/>
                    <a:p>
                      <a:pPr algn="ctr"/>
                      <a:r>
                        <a:rPr lang="en-US" dirty="0"/>
                        <a:t>$30.05</a:t>
                      </a:r>
                    </a:p>
                  </a:txBody>
                  <a:tcPr/>
                </a:tc>
                <a:tc>
                  <a:txBody>
                    <a:bodyPr/>
                    <a:lstStyle/>
                    <a:p>
                      <a:pPr algn="ctr"/>
                      <a:r>
                        <a:rPr lang="en-US" dirty="0"/>
                        <a:t>$10.10</a:t>
                      </a:r>
                    </a:p>
                  </a:txBody>
                  <a:tcPr/>
                </a:tc>
                <a:extLst>
                  <a:ext uri="{0D108BD9-81ED-4DB2-BD59-A6C34878D82A}">
                    <a16:rowId xmlns:a16="http://schemas.microsoft.com/office/drawing/2014/main" val="10001"/>
                  </a:ext>
                </a:extLst>
              </a:tr>
              <a:tr h="370840">
                <a:tc>
                  <a:txBody>
                    <a:bodyPr/>
                    <a:lstStyle/>
                    <a:p>
                      <a:pPr algn="l"/>
                      <a:r>
                        <a:rPr lang="en-US" dirty="0"/>
                        <a:t>Control</a:t>
                      </a:r>
                    </a:p>
                  </a:txBody>
                  <a:tcPr/>
                </a:tc>
                <a:tc>
                  <a:txBody>
                    <a:bodyPr/>
                    <a:lstStyle/>
                    <a:p>
                      <a:pPr algn="ctr"/>
                      <a:r>
                        <a:rPr lang="en-US" dirty="0"/>
                        <a:t>$20.38</a:t>
                      </a:r>
                    </a:p>
                  </a:txBody>
                  <a:tcPr/>
                </a:tc>
                <a:tc>
                  <a:txBody>
                    <a:bodyPr/>
                    <a:lstStyle/>
                    <a:p>
                      <a:pPr algn="ctr"/>
                      <a:r>
                        <a:rPr lang="en-US" dirty="0"/>
                        <a:t>$21.71</a:t>
                      </a:r>
                    </a:p>
                  </a:txBody>
                  <a:tcPr/>
                </a:tc>
                <a:tc>
                  <a:txBody>
                    <a:bodyPr/>
                    <a:lstStyle/>
                    <a:p>
                      <a:pPr algn="ctr"/>
                      <a:r>
                        <a:rPr lang="en-US" dirty="0"/>
                        <a:t>$1.33</a:t>
                      </a:r>
                    </a:p>
                  </a:txBody>
                  <a:tcPr/>
                </a:tc>
                <a:extLst>
                  <a:ext uri="{0D108BD9-81ED-4DB2-BD59-A6C34878D82A}">
                    <a16:rowId xmlns:a16="http://schemas.microsoft.com/office/drawing/2014/main" val="10002"/>
                  </a:ext>
                </a:extLst>
              </a:tr>
              <a:tr h="370840">
                <a:tc>
                  <a:txBody>
                    <a:bodyPr/>
                    <a:lstStyle/>
                    <a:p>
                      <a:pPr algn="l"/>
                      <a:endParaRPr lang="en-US" dirty="0"/>
                    </a:p>
                  </a:txBody>
                  <a:tcPr/>
                </a:tc>
                <a:tc gridSpan="2">
                  <a:txBody>
                    <a:bodyPr/>
                    <a:lstStyle/>
                    <a:p>
                      <a:pPr algn="ctr"/>
                      <a:r>
                        <a:rPr lang="en-US" dirty="0"/>
                        <a:t>Difference-in-Differences</a:t>
                      </a:r>
                    </a:p>
                  </a:txBody>
                  <a:tcPr/>
                </a:tc>
                <a:tc hMerge="1">
                  <a:txBody>
                    <a:bodyPr/>
                    <a:lstStyle/>
                    <a:p>
                      <a:pPr algn="ctr"/>
                      <a:endParaRPr lang="en-US" dirty="0"/>
                    </a:p>
                  </a:txBody>
                  <a:tcPr/>
                </a:tc>
                <a:tc>
                  <a:txBody>
                    <a:bodyPr/>
                    <a:lstStyle/>
                    <a:p>
                      <a:pPr algn="ctr"/>
                      <a:r>
                        <a:rPr lang="en-US" dirty="0"/>
                        <a:t>$8.77</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899344866"/>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do we see?</a:t>
            </a:r>
          </a:p>
        </p:txBody>
      </p:sp>
      <p:sp>
        <p:nvSpPr>
          <p:cNvPr id="3" name="Content Placeholder 2"/>
          <p:cNvSpPr>
            <a:spLocks noGrp="1"/>
          </p:cNvSpPr>
          <p:nvPr>
            <p:ph idx="1"/>
          </p:nvPr>
        </p:nvSpPr>
        <p:spPr/>
        <p:txBody>
          <a:bodyPr/>
          <a:lstStyle/>
          <a:p>
            <a:r>
              <a:rPr lang="en-US" dirty="0"/>
              <a:t>Note: This is another example of a “good” difference-in-differences.</a:t>
            </a:r>
          </a:p>
          <a:p>
            <a:r>
              <a:rPr lang="en-US" dirty="0"/>
              <a:t>In the “pre” period, the treatment and control groups look awfully similar.</a:t>
            </a:r>
          </a:p>
          <a:p>
            <a:endParaRPr lang="en-US" dirty="0"/>
          </a:p>
          <a:p>
            <a:pPr marL="0" indent="0">
              <a:buNone/>
            </a:pPr>
            <a:r>
              <a:rPr lang="en-US" dirty="0"/>
              <a:t>But how do the regression results look?</a:t>
            </a:r>
          </a:p>
          <a:p>
            <a:pPr marL="0" indent="0">
              <a:buNone/>
            </a:pPr>
            <a:endParaRPr lang="en-US" dirty="0"/>
          </a:p>
        </p:txBody>
      </p:sp>
    </p:spTree>
    <p:extLst>
      <p:ext uri="{BB962C8B-B14F-4D97-AF65-F5344CB8AC3E}">
        <p14:creationId xmlns:p14="http://schemas.microsoft.com/office/powerpoint/2010/main" val="2187273810"/>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Regression results</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318007250"/>
              </p:ext>
            </p:extLst>
          </p:nvPr>
        </p:nvGraphicFramePr>
        <p:xfrm>
          <a:off x="762000" y="1600200"/>
          <a:ext cx="7543800" cy="4450080"/>
        </p:xfrm>
        <a:graphic>
          <a:graphicData uri="http://schemas.openxmlformats.org/drawingml/2006/table">
            <a:tbl>
              <a:tblPr firstRow="1" bandRow="1">
                <a:tableStyleId>{5940675A-B579-460E-94D1-54222C63F5DA}</a:tableStyleId>
              </a:tblPr>
              <a:tblGrid>
                <a:gridCol w="1885950">
                  <a:extLst>
                    <a:ext uri="{9D8B030D-6E8A-4147-A177-3AD203B41FA5}">
                      <a16:colId xmlns:a16="http://schemas.microsoft.com/office/drawing/2014/main" val="20000"/>
                    </a:ext>
                  </a:extLst>
                </a:gridCol>
                <a:gridCol w="1885950">
                  <a:extLst>
                    <a:ext uri="{9D8B030D-6E8A-4147-A177-3AD203B41FA5}">
                      <a16:colId xmlns:a16="http://schemas.microsoft.com/office/drawing/2014/main" val="20001"/>
                    </a:ext>
                  </a:extLst>
                </a:gridCol>
                <a:gridCol w="1885950">
                  <a:extLst>
                    <a:ext uri="{9D8B030D-6E8A-4147-A177-3AD203B41FA5}">
                      <a16:colId xmlns:a16="http://schemas.microsoft.com/office/drawing/2014/main" val="20002"/>
                    </a:ext>
                  </a:extLst>
                </a:gridCol>
                <a:gridCol w="1885950">
                  <a:extLst>
                    <a:ext uri="{9D8B030D-6E8A-4147-A177-3AD203B41FA5}">
                      <a16:colId xmlns:a16="http://schemas.microsoft.com/office/drawing/2014/main" val="20003"/>
                    </a:ext>
                  </a:extLst>
                </a:gridCol>
              </a:tblGrid>
              <a:tr h="370840">
                <a:tc>
                  <a:txBody>
                    <a:bodyPr/>
                    <a:lstStyle/>
                    <a:p>
                      <a:pPr algn="l" fontAlgn="b"/>
                      <a:r>
                        <a:rPr lang="en-US" sz="1800" b="0" i="0" u="none" strike="noStrike" dirty="0">
                          <a:solidFill>
                            <a:srgbClr val="000000"/>
                          </a:solidFill>
                          <a:effectLst/>
                          <a:latin typeface="+mn-lt"/>
                          <a:cs typeface="Times New Roman" panose="02020603050405020304" pitchFamily="18" charset="0"/>
                        </a:rPr>
                        <a:t>R Square</a:t>
                      </a:r>
                    </a:p>
                  </a:txBody>
                  <a:tcPr marL="9525" marR="9525" marT="9525" marB="0" anchor="b"/>
                </a:tc>
                <a:tc>
                  <a:txBody>
                    <a:bodyPr/>
                    <a:lstStyle/>
                    <a:p>
                      <a:pPr algn="r" fontAlgn="b"/>
                      <a:r>
                        <a:rPr lang="en-US" sz="1800" b="0" i="0" u="none" strike="noStrike">
                          <a:solidFill>
                            <a:srgbClr val="000000"/>
                          </a:solidFill>
                          <a:effectLst/>
                          <a:latin typeface="+mn-lt"/>
                          <a:cs typeface="Times New Roman" panose="02020603050405020304" pitchFamily="18" charset="0"/>
                        </a:rPr>
                        <a:t>0.672855</a:t>
                      </a:r>
                    </a:p>
                  </a:txBody>
                  <a:tcPr marL="9525" marR="9525" marT="9525" marB="0" anchor="b"/>
                </a:tc>
                <a:tc>
                  <a:txBody>
                    <a:bodyPr/>
                    <a:lstStyle/>
                    <a:p>
                      <a:endParaRPr lang="en-US" sz="1800">
                        <a:latin typeface="+mn-lt"/>
                        <a:cs typeface="Times New Roman" panose="02020603050405020304" pitchFamily="18" charset="0"/>
                      </a:endParaRPr>
                    </a:p>
                  </a:txBody>
                  <a:tcPr/>
                </a:tc>
                <a:tc>
                  <a:txBody>
                    <a:bodyPr/>
                    <a:lstStyle/>
                    <a:p>
                      <a:endParaRPr lang="en-US" sz="1800">
                        <a:latin typeface="+mn-lt"/>
                        <a:cs typeface="Times New Roman" panose="02020603050405020304" pitchFamily="18" charset="0"/>
                      </a:endParaRPr>
                    </a:p>
                  </a:txBody>
                  <a:tcPr/>
                </a:tc>
                <a:extLst>
                  <a:ext uri="{0D108BD9-81ED-4DB2-BD59-A6C34878D82A}">
                    <a16:rowId xmlns:a16="http://schemas.microsoft.com/office/drawing/2014/main" val="10000"/>
                  </a:ext>
                </a:extLst>
              </a:tr>
              <a:tr h="370840">
                <a:tc>
                  <a:txBody>
                    <a:bodyPr/>
                    <a:lstStyle/>
                    <a:p>
                      <a:pPr algn="l" fontAlgn="b"/>
                      <a:r>
                        <a:rPr lang="en-US" sz="1800" b="0" i="0" u="none" strike="noStrike" dirty="0">
                          <a:solidFill>
                            <a:srgbClr val="000000"/>
                          </a:solidFill>
                          <a:effectLst/>
                          <a:latin typeface="+mn-lt"/>
                          <a:cs typeface="Times New Roman" panose="02020603050405020304" pitchFamily="18" charset="0"/>
                        </a:rPr>
                        <a:t>Standard Error</a:t>
                      </a:r>
                    </a:p>
                  </a:txBody>
                  <a:tcPr marL="9525" marR="9525" marT="9525" marB="0" anchor="b"/>
                </a:tc>
                <a:tc>
                  <a:txBody>
                    <a:bodyPr/>
                    <a:lstStyle/>
                    <a:p>
                      <a:pPr algn="r" fontAlgn="b"/>
                      <a:r>
                        <a:rPr lang="en-US" sz="1800" b="0" i="0" u="none" strike="noStrike">
                          <a:solidFill>
                            <a:srgbClr val="000000"/>
                          </a:solidFill>
                          <a:effectLst/>
                          <a:latin typeface="+mn-lt"/>
                          <a:cs typeface="Times New Roman" panose="02020603050405020304" pitchFamily="18" charset="0"/>
                        </a:rPr>
                        <a:t>2.915843</a:t>
                      </a:r>
                    </a:p>
                  </a:txBody>
                  <a:tcPr marL="9525" marR="9525" marT="9525" marB="0" anchor="b"/>
                </a:tc>
                <a:tc>
                  <a:txBody>
                    <a:bodyPr/>
                    <a:lstStyle/>
                    <a:p>
                      <a:endParaRPr lang="en-US" sz="1800">
                        <a:latin typeface="+mn-lt"/>
                        <a:cs typeface="Times New Roman" panose="02020603050405020304" pitchFamily="18" charset="0"/>
                      </a:endParaRPr>
                    </a:p>
                  </a:txBody>
                  <a:tcPr/>
                </a:tc>
                <a:tc>
                  <a:txBody>
                    <a:bodyPr/>
                    <a:lstStyle/>
                    <a:p>
                      <a:endParaRPr lang="en-US" sz="1800">
                        <a:latin typeface="+mn-lt"/>
                        <a:cs typeface="Times New Roman" panose="02020603050405020304" pitchFamily="18" charset="0"/>
                      </a:endParaRPr>
                    </a:p>
                  </a:txBody>
                  <a:tcPr/>
                </a:tc>
                <a:extLst>
                  <a:ext uri="{0D108BD9-81ED-4DB2-BD59-A6C34878D82A}">
                    <a16:rowId xmlns:a16="http://schemas.microsoft.com/office/drawing/2014/main" val="10001"/>
                  </a:ext>
                </a:extLst>
              </a:tr>
              <a:tr h="370840">
                <a:tc>
                  <a:txBody>
                    <a:bodyPr/>
                    <a:lstStyle/>
                    <a:p>
                      <a:pPr algn="l" fontAlgn="b"/>
                      <a:r>
                        <a:rPr lang="en-US" sz="1800" b="0" i="0" u="none" strike="noStrike" dirty="0">
                          <a:solidFill>
                            <a:srgbClr val="000000"/>
                          </a:solidFill>
                          <a:effectLst/>
                          <a:latin typeface="+mn-lt"/>
                          <a:cs typeface="Times New Roman" panose="02020603050405020304" pitchFamily="18" charset="0"/>
                        </a:rPr>
                        <a:t>Observations</a:t>
                      </a:r>
                    </a:p>
                  </a:txBody>
                  <a:tcPr marL="9525" marR="9525" marT="9525" marB="0" anchor="b"/>
                </a:tc>
                <a:tc>
                  <a:txBody>
                    <a:bodyPr/>
                    <a:lstStyle/>
                    <a:p>
                      <a:pPr algn="r" fontAlgn="b"/>
                      <a:r>
                        <a:rPr lang="en-US" sz="1800" b="0" i="0" u="none" strike="noStrike" dirty="0">
                          <a:solidFill>
                            <a:srgbClr val="000000"/>
                          </a:solidFill>
                          <a:effectLst/>
                          <a:latin typeface="+mn-lt"/>
                          <a:cs typeface="Times New Roman" panose="02020603050405020304" pitchFamily="18" charset="0"/>
                        </a:rPr>
                        <a:t>500</a:t>
                      </a:r>
                    </a:p>
                  </a:txBody>
                  <a:tcPr marL="9525" marR="9525" marT="9525" marB="0" anchor="b"/>
                </a:tc>
                <a:tc>
                  <a:txBody>
                    <a:bodyPr/>
                    <a:lstStyle/>
                    <a:p>
                      <a:endParaRPr lang="en-US" sz="1800">
                        <a:latin typeface="+mn-lt"/>
                        <a:cs typeface="Times New Roman" panose="02020603050405020304" pitchFamily="18" charset="0"/>
                      </a:endParaRPr>
                    </a:p>
                  </a:txBody>
                  <a:tcPr/>
                </a:tc>
                <a:tc>
                  <a:txBody>
                    <a:bodyPr/>
                    <a:lstStyle/>
                    <a:p>
                      <a:endParaRPr lang="en-US" sz="1800">
                        <a:latin typeface="+mn-lt"/>
                        <a:cs typeface="Times New Roman" panose="02020603050405020304" pitchFamily="18" charset="0"/>
                      </a:endParaRPr>
                    </a:p>
                  </a:txBody>
                  <a:tcPr/>
                </a:tc>
                <a:extLst>
                  <a:ext uri="{0D108BD9-81ED-4DB2-BD59-A6C34878D82A}">
                    <a16:rowId xmlns:a16="http://schemas.microsoft.com/office/drawing/2014/main" val="10002"/>
                  </a:ext>
                </a:extLst>
              </a:tr>
              <a:tr h="370840">
                <a:tc>
                  <a:txBody>
                    <a:bodyPr/>
                    <a:lstStyle/>
                    <a:p>
                      <a:pPr algn="ctr" fontAlgn="b"/>
                      <a:r>
                        <a:rPr lang="en-US" sz="1800" b="0" i="1" u="none" strike="noStrike" dirty="0">
                          <a:solidFill>
                            <a:srgbClr val="000000"/>
                          </a:solidFill>
                          <a:effectLst/>
                          <a:latin typeface="+mn-lt"/>
                          <a:cs typeface="Times New Roman" panose="02020603050405020304" pitchFamily="18" charset="0"/>
                        </a:rPr>
                        <a:t> </a:t>
                      </a:r>
                    </a:p>
                  </a:txBody>
                  <a:tcPr marL="9525" marR="9525" marT="9525" marB="0" anchor="b"/>
                </a:tc>
                <a:tc>
                  <a:txBody>
                    <a:bodyPr/>
                    <a:lstStyle/>
                    <a:p>
                      <a:pPr algn="ctr" fontAlgn="b"/>
                      <a:r>
                        <a:rPr lang="en-US" sz="1800" b="0" i="1" u="none" strike="noStrike" dirty="0" err="1">
                          <a:solidFill>
                            <a:srgbClr val="000000"/>
                          </a:solidFill>
                          <a:effectLst/>
                          <a:latin typeface="+mn-lt"/>
                          <a:cs typeface="Times New Roman" panose="02020603050405020304" pitchFamily="18" charset="0"/>
                        </a:rPr>
                        <a:t>df</a:t>
                      </a:r>
                      <a:endParaRPr lang="en-US" sz="1800" b="0" i="1" u="none" strike="noStrike" dirty="0">
                        <a:solidFill>
                          <a:srgbClr val="000000"/>
                        </a:solidFill>
                        <a:effectLst/>
                        <a:latin typeface="+mn-lt"/>
                        <a:cs typeface="Times New Roman" panose="02020603050405020304" pitchFamily="18" charset="0"/>
                      </a:endParaRPr>
                    </a:p>
                  </a:txBody>
                  <a:tcPr marL="9525" marR="9525" marT="9525" marB="0" anchor="b"/>
                </a:tc>
                <a:tc>
                  <a:txBody>
                    <a:bodyPr/>
                    <a:lstStyle/>
                    <a:p>
                      <a:pPr algn="ctr" fontAlgn="b"/>
                      <a:r>
                        <a:rPr lang="en-US" sz="1800" b="0" i="1" u="none" strike="noStrike">
                          <a:solidFill>
                            <a:srgbClr val="000000"/>
                          </a:solidFill>
                          <a:effectLst/>
                          <a:latin typeface="+mn-lt"/>
                          <a:cs typeface="Times New Roman" panose="02020603050405020304" pitchFamily="18" charset="0"/>
                        </a:rPr>
                        <a:t>SS</a:t>
                      </a:r>
                    </a:p>
                  </a:txBody>
                  <a:tcPr marL="9525" marR="9525" marT="9525" marB="0" anchor="b"/>
                </a:tc>
                <a:tc>
                  <a:txBody>
                    <a:bodyPr/>
                    <a:lstStyle/>
                    <a:p>
                      <a:pPr algn="ctr" fontAlgn="b"/>
                      <a:r>
                        <a:rPr lang="en-US" sz="1800" b="0" i="1" u="none" strike="noStrike">
                          <a:solidFill>
                            <a:srgbClr val="000000"/>
                          </a:solidFill>
                          <a:effectLst/>
                          <a:latin typeface="+mn-lt"/>
                          <a:cs typeface="Times New Roman" panose="02020603050405020304" pitchFamily="18" charset="0"/>
                        </a:rPr>
                        <a:t>MS</a:t>
                      </a:r>
                    </a:p>
                  </a:txBody>
                  <a:tcPr marL="9525" marR="9525" marT="9525" marB="0" anchor="b"/>
                </a:tc>
                <a:extLst>
                  <a:ext uri="{0D108BD9-81ED-4DB2-BD59-A6C34878D82A}">
                    <a16:rowId xmlns:a16="http://schemas.microsoft.com/office/drawing/2014/main" val="10003"/>
                  </a:ext>
                </a:extLst>
              </a:tr>
              <a:tr h="370840">
                <a:tc>
                  <a:txBody>
                    <a:bodyPr/>
                    <a:lstStyle/>
                    <a:p>
                      <a:pPr algn="l" fontAlgn="b"/>
                      <a:r>
                        <a:rPr lang="en-US" sz="1800" b="0" i="0" u="none" strike="noStrike" dirty="0">
                          <a:solidFill>
                            <a:srgbClr val="000000"/>
                          </a:solidFill>
                          <a:effectLst/>
                          <a:latin typeface="+mn-lt"/>
                          <a:cs typeface="Times New Roman" panose="02020603050405020304" pitchFamily="18" charset="0"/>
                        </a:rPr>
                        <a:t>Regression</a:t>
                      </a:r>
                    </a:p>
                  </a:txBody>
                  <a:tcPr marL="9525" marR="9525" marT="9525" marB="0" anchor="b"/>
                </a:tc>
                <a:tc>
                  <a:txBody>
                    <a:bodyPr/>
                    <a:lstStyle/>
                    <a:p>
                      <a:pPr algn="r" fontAlgn="b"/>
                      <a:r>
                        <a:rPr lang="en-US" sz="1800" b="0" i="0" u="none" strike="noStrike" dirty="0">
                          <a:solidFill>
                            <a:srgbClr val="000000"/>
                          </a:solidFill>
                          <a:effectLst/>
                          <a:latin typeface="+mn-lt"/>
                          <a:cs typeface="Times New Roman" panose="02020603050405020304" pitchFamily="18" charset="0"/>
                        </a:rPr>
                        <a:t>3</a:t>
                      </a:r>
                    </a:p>
                  </a:txBody>
                  <a:tcPr marL="9525" marR="9525" marT="9525" marB="0" anchor="b"/>
                </a:tc>
                <a:tc>
                  <a:txBody>
                    <a:bodyPr/>
                    <a:lstStyle/>
                    <a:p>
                      <a:pPr algn="r" fontAlgn="b"/>
                      <a:r>
                        <a:rPr lang="en-US" sz="1800" b="0" i="0" u="none" strike="noStrike" dirty="0">
                          <a:solidFill>
                            <a:srgbClr val="000000"/>
                          </a:solidFill>
                          <a:effectLst/>
                          <a:latin typeface="+mn-lt"/>
                          <a:cs typeface="Times New Roman" panose="02020603050405020304" pitchFamily="18" charset="0"/>
                        </a:rPr>
                        <a:t>8673.416</a:t>
                      </a:r>
                    </a:p>
                  </a:txBody>
                  <a:tcPr marL="9525" marR="9525" marT="9525" marB="0" anchor="b"/>
                </a:tc>
                <a:tc>
                  <a:txBody>
                    <a:bodyPr/>
                    <a:lstStyle/>
                    <a:p>
                      <a:pPr algn="r" fontAlgn="b"/>
                      <a:r>
                        <a:rPr lang="en-US" sz="1800" b="0" i="0" u="none" strike="noStrike">
                          <a:solidFill>
                            <a:srgbClr val="000000"/>
                          </a:solidFill>
                          <a:effectLst/>
                          <a:latin typeface="+mn-lt"/>
                          <a:cs typeface="Times New Roman" panose="02020603050405020304" pitchFamily="18" charset="0"/>
                        </a:rPr>
                        <a:t>2891.139</a:t>
                      </a:r>
                    </a:p>
                  </a:txBody>
                  <a:tcPr marL="9525" marR="9525" marT="9525" marB="0" anchor="b"/>
                </a:tc>
                <a:extLst>
                  <a:ext uri="{0D108BD9-81ED-4DB2-BD59-A6C34878D82A}">
                    <a16:rowId xmlns:a16="http://schemas.microsoft.com/office/drawing/2014/main" val="10004"/>
                  </a:ext>
                </a:extLst>
              </a:tr>
              <a:tr h="370840">
                <a:tc>
                  <a:txBody>
                    <a:bodyPr/>
                    <a:lstStyle/>
                    <a:p>
                      <a:pPr algn="l" fontAlgn="b"/>
                      <a:r>
                        <a:rPr lang="en-US" sz="1800" b="0" i="0" u="none" strike="noStrike" dirty="0">
                          <a:solidFill>
                            <a:srgbClr val="000000"/>
                          </a:solidFill>
                          <a:effectLst/>
                          <a:latin typeface="+mn-lt"/>
                          <a:cs typeface="Times New Roman" panose="02020603050405020304" pitchFamily="18" charset="0"/>
                        </a:rPr>
                        <a:t>Residual</a:t>
                      </a:r>
                    </a:p>
                  </a:txBody>
                  <a:tcPr marL="9525" marR="9525" marT="9525" marB="0" anchor="b"/>
                </a:tc>
                <a:tc>
                  <a:txBody>
                    <a:bodyPr/>
                    <a:lstStyle/>
                    <a:p>
                      <a:pPr algn="r" fontAlgn="b"/>
                      <a:r>
                        <a:rPr lang="en-US" sz="1800" b="0" i="0" u="none" strike="noStrike" dirty="0">
                          <a:solidFill>
                            <a:srgbClr val="000000"/>
                          </a:solidFill>
                          <a:effectLst/>
                          <a:latin typeface="+mn-lt"/>
                          <a:cs typeface="Times New Roman" panose="02020603050405020304" pitchFamily="18" charset="0"/>
                        </a:rPr>
                        <a:t>496</a:t>
                      </a:r>
                    </a:p>
                  </a:txBody>
                  <a:tcPr marL="9525" marR="9525" marT="9525" marB="0" anchor="b"/>
                </a:tc>
                <a:tc>
                  <a:txBody>
                    <a:bodyPr/>
                    <a:lstStyle/>
                    <a:p>
                      <a:pPr algn="r" fontAlgn="b"/>
                      <a:r>
                        <a:rPr lang="en-US" sz="1800" b="0" i="0" u="none" strike="noStrike" dirty="0">
                          <a:solidFill>
                            <a:srgbClr val="000000"/>
                          </a:solidFill>
                          <a:effectLst/>
                          <a:latin typeface="+mn-lt"/>
                          <a:cs typeface="Times New Roman" panose="02020603050405020304" pitchFamily="18" charset="0"/>
                        </a:rPr>
                        <a:t>4217.061</a:t>
                      </a:r>
                    </a:p>
                  </a:txBody>
                  <a:tcPr marL="9525" marR="9525" marT="9525" marB="0" anchor="b"/>
                </a:tc>
                <a:tc>
                  <a:txBody>
                    <a:bodyPr/>
                    <a:lstStyle/>
                    <a:p>
                      <a:pPr algn="r" fontAlgn="b"/>
                      <a:r>
                        <a:rPr lang="en-US" sz="1800" b="0" i="0" u="none" strike="noStrike">
                          <a:solidFill>
                            <a:srgbClr val="000000"/>
                          </a:solidFill>
                          <a:effectLst/>
                          <a:latin typeface="+mn-lt"/>
                          <a:cs typeface="Times New Roman" panose="02020603050405020304" pitchFamily="18" charset="0"/>
                        </a:rPr>
                        <a:t>8.502139</a:t>
                      </a:r>
                    </a:p>
                  </a:txBody>
                  <a:tcPr marL="9525" marR="9525" marT="9525" marB="0" anchor="b"/>
                </a:tc>
                <a:extLst>
                  <a:ext uri="{0D108BD9-81ED-4DB2-BD59-A6C34878D82A}">
                    <a16:rowId xmlns:a16="http://schemas.microsoft.com/office/drawing/2014/main" val="10005"/>
                  </a:ext>
                </a:extLst>
              </a:tr>
              <a:tr h="370840">
                <a:tc>
                  <a:txBody>
                    <a:bodyPr/>
                    <a:lstStyle/>
                    <a:p>
                      <a:pPr algn="l" fontAlgn="b"/>
                      <a:r>
                        <a:rPr lang="en-US" sz="1800" b="0" i="0" u="none" strike="noStrike" dirty="0">
                          <a:solidFill>
                            <a:srgbClr val="000000"/>
                          </a:solidFill>
                          <a:effectLst/>
                          <a:latin typeface="+mn-lt"/>
                          <a:cs typeface="Times New Roman" panose="02020603050405020304" pitchFamily="18" charset="0"/>
                        </a:rPr>
                        <a:t>Total</a:t>
                      </a:r>
                    </a:p>
                  </a:txBody>
                  <a:tcPr marL="9525" marR="9525" marT="9525" marB="0" anchor="b"/>
                </a:tc>
                <a:tc>
                  <a:txBody>
                    <a:bodyPr/>
                    <a:lstStyle/>
                    <a:p>
                      <a:pPr algn="r" fontAlgn="b"/>
                      <a:r>
                        <a:rPr lang="en-US" sz="1800" b="0" i="0" u="none" strike="noStrike" dirty="0">
                          <a:solidFill>
                            <a:srgbClr val="000000"/>
                          </a:solidFill>
                          <a:effectLst/>
                          <a:latin typeface="+mn-lt"/>
                          <a:cs typeface="Times New Roman" panose="02020603050405020304" pitchFamily="18" charset="0"/>
                        </a:rPr>
                        <a:t>499</a:t>
                      </a:r>
                    </a:p>
                  </a:txBody>
                  <a:tcPr marL="9525" marR="9525" marT="9525" marB="0" anchor="b"/>
                </a:tc>
                <a:tc>
                  <a:txBody>
                    <a:bodyPr/>
                    <a:lstStyle/>
                    <a:p>
                      <a:pPr algn="r" fontAlgn="b"/>
                      <a:r>
                        <a:rPr lang="en-US" sz="1800" b="0" i="0" u="none" strike="noStrike" dirty="0">
                          <a:solidFill>
                            <a:srgbClr val="000000"/>
                          </a:solidFill>
                          <a:effectLst/>
                          <a:latin typeface="+mn-lt"/>
                          <a:cs typeface="Times New Roman" panose="02020603050405020304" pitchFamily="18" charset="0"/>
                        </a:rPr>
                        <a:t>12890.48</a:t>
                      </a:r>
                    </a:p>
                  </a:txBody>
                  <a:tcPr marL="9525" marR="9525" marT="9525" marB="0" anchor="b"/>
                </a:tc>
                <a:tc>
                  <a:txBody>
                    <a:bodyPr/>
                    <a:lstStyle/>
                    <a:p>
                      <a:pPr algn="l" fontAlgn="b"/>
                      <a:r>
                        <a:rPr lang="en-US" sz="1800" b="0" i="0" u="none" strike="noStrike" dirty="0">
                          <a:solidFill>
                            <a:srgbClr val="000000"/>
                          </a:solidFill>
                          <a:effectLst/>
                          <a:latin typeface="+mn-lt"/>
                          <a:cs typeface="Times New Roman" panose="02020603050405020304" pitchFamily="18" charset="0"/>
                        </a:rPr>
                        <a:t> </a:t>
                      </a:r>
                    </a:p>
                  </a:txBody>
                  <a:tcPr marL="9525" marR="9525" marT="9525" marB="0" anchor="b"/>
                </a:tc>
                <a:extLst>
                  <a:ext uri="{0D108BD9-81ED-4DB2-BD59-A6C34878D82A}">
                    <a16:rowId xmlns:a16="http://schemas.microsoft.com/office/drawing/2014/main" val="10006"/>
                  </a:ext>
                </a:extLst>
              </a:tr>
              <a:tr h="370840">
                <a:tc>
                  <a:txBody>
                    <a:bodyPr/>
                    <a:lstStyle/>
                    <a:p>
                      <a:pPr algn="ctr" fontAlgn="b"/>
                      <a:r>
                        <a:rPr lang="en-US" sz="1800" b="0" i="1" u="none" strike="noStrike" dirty="0">
                          <a:solidFill>
                            <a:srgbClr val="000000"/>
                          </a:solidFill>
                          <a:effectLst/>
                          <a:latin typeface="+mn-lt"/>
                          <a:cs typeface="Times New Roman" panose="02020603050405020304" pitchFamily="18" charset="0"/>
                        </a:rPr>
                        <a:t> </a:t>
                      </a:r>
                    </a:p>
                  </a:txBody>
                  <a:tcPr marL="9525" marR="9525" marT="9525" marB="0" anchor="b"/>
                </a:tc>
                <a:tc>
                  <a:txBody>
                    <a:bodyPr/>
                    <a:lstStyle/>
                    <a:p>
                      <a:pPr algn="ctr" fontAlgn="b"/>
                      <a:r>
                        <a:rPr lang="en-US" sz="1800" b="0" i="1" u="none" strike="noStrike">
                          <a:solidFill>
                            <a:srgbClr val="000000"/>
                          </a:solidFill>
                          <a:effectLst/>
                          <a:latin typeface="+mn-lt"/>
                          <a:cs typeface="Times New Roman" panose="02020603050405020304" pitchFamily="18" charset="0"/>
                        </a:rPr>
                        <a:t>Coefficients</a:t>
                      </a:r>
                    </a:p>
                  </a:txBody>
                  <a:tcPr marL="9525" marR="9525" marT="9525" marB="0" anchor="b"/>
                </a:tc>
                <a:tc>
                  <a:txBody>
                    <a:bodyPr/>
                    <a:lstStyle/>
                    <a:p>
                      <a:pPr algn="ctr" fontAlgn="b"/>
                      <a:r>
                        <a:rPr lang="en-US" sz="1800" b="0" i="1" u="none" strike="noStrike" dirty="0">
                          <a:solidFill>
                            <a:srgbClr val="000000"/>
                          </a:solidFill>
                          <a:effectLst/>
                          <a:latin typeface="+mn-lt"/>
                          <a:cs typeface="Times New Roman" panose="02020603050405020304" pitchFamily="18" charset="0"/>
                        </a:rPr>
                        <a:t>Standard Error</a:t>
                      </a:r>
                    </a:p>
                  </a:txBody>
                  <a:tcPr marL="9525" marR="9525" marT="9525" marB="0" anchor="b"/>
                </a:tc>
                <a:tc>
                  <a:txBody>
                    <a:bodyPr/>
                    <a:lstStyle/>
                    <a:p>
                      <a:pPr algn="ctr" fontAlgn="b"/>
                      <a:r>
                        <a:rPr lang="en-US" sz="1800" b="0" i="1" u="none" strike="noStrike" dirty="0">
                          <a:solidFill>
                            <a:srgbClr val="000000"/>
                          </a:solidFill>
                          <a:effectLst/>
                          <a:latin typeface="+mn-lt"/>
                          <a:cs typeface="Times New Roman" panose="02020603050405020304" pitchFamily="18" charset="0"/>
                        </a:rPr>
                        <a:t>t Stat</a:t>
                      </a:r>
                    </a:p>
                  </a:txBody>
                  <a:tcPr marL="9525" marR="9525" marT="9525" marB="0" anchor="b"/>
                </a:tc>
                <a:extLst>
                  <a:ext uri="{0D108BD9-81ED-4DB2-BD59-A6C34878D82A}">
                    <a16:rowId xmlns:a16="http://schemas.microsoft.com/office/drawing/2014/main" val="10007"/>
                  </a:ext>
                </a:extLst>
              </a:tr>
              <a:tr h="370840">
                <a:tc>
                  <a:txBody>
                    <a:bodyPr/>
                    <a:lstStyle/>
                    <a:p>
                      <a:pPr algn="l" fontAlgn="b"/>
                      <a:r>
                        <a:rPr lang="en-US" sz="1800" b="0" i="0" u="none" strike="noStrike" dirty="0">
                          <a:solidFill>
                            <a:srgbClr val="000000"/>
                          </a:solidFill>
                          <a:effectLst/>
                          <a:latin typeface="+mn-lt"/>
                          <a:cs typeface="Times New Roman" panose="02020603050405020304" pitchFamily="18" charset="0"/>
                        </a:rPr>
                        <a:t>Intercept</a:t>
                      </a:r>
                    </a:p>
                  </a:txBody>
                  <a:tcPr marL="9525" marR="9525" marT="9525" marB="0" anchor="b"/>
                </a:tc>
                <a:tc>
                  <a:txBody>
                    <a:bodyPr/>
                    <a:lstStyle/>
                    <a:p>
                      <a:pPr algn="r" fontAlgn="b"/>
                      <a:r>
                        <a:rPr lang="en-US" sz="1800" b="0" i="0" u="none" strike="noStrike" dirty="0">
                          <a:solidFill>
                            <a:srgbClr val="000000"/>
                          </a:solidFill>
                          <a:effectLst/>
                          <a:latin typeface="+mn-lt"/>
                          <a:cs typeface="Times New Roman" panose="02020603050405020304" pitchFamily="18" charset="0"/>
                        </a:rPr>
                        <a:t>20.38456</a:t>
                      </a:r>
                    </a:p>
                  </a:txBody>
                  <a:tcPr marL="9525" marR="9525" marT="9525" marB="0" anchor="b"/>
                </a:tc>
                <a:tc>
                  <a:txBody>
                    <a:bodyPr/>
                    <a:lstStyle/>
                    <a:p>
                      <a:pPr algn="r" fontAlgn="b"/>
                      <a:r>
                        <a:rPr lang="en-US" sz="1800" b="0" i="0" u="none" strike="noStrike" dirty="0">
                          <a:solidFill>
                            <a:srgbClr val="000000"/>
                          </a:solidFill>
                          <a:effectLst/>
                          <a:latin typeface="+mn-lt"/>
                          <a:cs typeface="Times New Roman" panose="02020603050405020304" pitchFamily="18" charset="0"/>
                        </a:rPr>
                        <a:t>0.260801</a:t>
                      </a:r>
                    </a:p>
                  </a:txBody>
                  <a:tcPr marL="9525" marR="9525" marT="9525" marB="0" anchor="b"/>
                </a:tc>
                <a:tc>
                  <a:txBody>
                    <a:bodyPr/>
                    <a:lstStyle/>
                    <a:p>
                      <a:pPr algn="r" fontAlgn="b"/>
                      <a:r>
                        <a:rPr lang="en-US" sz="1800" b="0" i="0" u="none" strike="noStrike" dirty="0">
                          <a:solidFill>
                            <a:srgbClr val="000000"/>
                          </a:solidFill>
                          <a:effectLst/>
                          <a:latin typeface="+mn-lt"/>
                          <a:cs typeface="Times New Roman" panose="02020603050405020304" pitchFamily="18" charset="0"/>
                        </a:rPr>
                        <a:t>78.16138</a:t>
                      </a:r>
                    </a:p>
                  </a:txBody>
                  <a:tcPr marL="9525" marR="9525" marT="9525" marB="0" anchor="b"/>
                </a:tc>
                <a:extLst>
                  <a:ext uri="{0D108BD9-81ED-4DB2-BD59-A6C34878D82A}">
                    <a16:rowId xmlns:a16="http://schemas.microsoft.com/office/drawing/2014/main" val="10008"/>
                  </a:ext>
                </a:extLst>
              </a:tr>
              <a:tr h="370840">
                <a:tc>
                  <a:txBody>
                    <a:bodyPr/>
                    <a:lstStyle/>
                    <a:p>
                      <a:pPr algn="l" fontAlgn="b"/>
                      <a:r>
                        <a:rPr lang="en-US" sz="1800" b="0" i="0" u="none" strike="noStrike" dirty="0">
                          <a:solidFill>
                            <a:srgbClr val="000000"/>
                          </a:solidFill>
                          <a:effectLst/>
                          <a:latin typeface="+mn-lt"/>
                          <a:cs typeface="Times New Roman" panose="02020603050405020304" pitchFamily="18" charset="0"/>
                        </a:rPr>
                        <a:t>Post</a:t>
                      </a:r>
                    </a:p>
                  </a:txBody>
                  <a:tcPr marL="9525" marR="9525" marT="9525" marB="0" anchor="b"/>
                </a:tc>
                <a:tc>
                  <a:txBody>
                    <a:bodyPr/>
                    <a:lstStyle/>
                    <a:p>
                      <a:pPr algn="r" fontAlgn="b"/>
                      <a:r>
                        <a:rPr lang="en-US" sz="1800" b="0" i="0" u="none" strike="noStrike" dirty="0">
                          <a:solidFill>
                            <a:srgbClr val="000000"/>
                          </a:solidFill>
                          <a:effectLst/>
                          <a:latin typeface="+mn-lt"/>
                          <a:cs typeface="Times New Roman" panose="02020603050405020304" pitchFamily="18" charset="0"/>
                        </a:rPr>
                        <a:t>1.33024</a:t>
                      </a:r>
                    </a:p>
                  </a:txBody>
                  <a:tcPr marL="9525" marR="9525" marT="9525" marB="0" anchor="b"/>
                </a:tc>
                <a:tc>
                  <a:txBody>
                    <a:bodyPr/>
                    <a:lstStyle/>
                    <a:p>
                      <a:pPr algn="r" fontAlgn="b"/>
                      <a:r>
                        <a:rPr lang="en-US" sz="1800" b="0" i="0" u="none" strike="noStrike" dirty="0">
                          <a:solidFill>
                            <a:srgbClr val="000000"/>
                          </a:solidFill>
                          <a:effectLst/>
                          <a:latin typeface="+mn-lt"/>
                          <a:cs typeface="Times New Roman" panose="02020603050405020304" pitchFamily="18" charset="0"/>
                        </a:rPr>
                        <a:t>0.368828</a:t>
                      </a:r>
                    </a:p>
                  </a:txBody>
                  <a:tcPr marL="9525" marR="9525" marT="9525" marB="0" anchor="b"/>
                </a:tc>
                <a:tc>
                  <a:txBody>
                    <a:bodyPr/>
                    <a:lstStyle/>
                    <a:p>
                      <a:pPr algn="r" fontAlgn="b"/>
                      <a:r>
                        <a:rPr lang="en-US" sz="1800" b="0" i="0" u="none" strike="noStrike" dirty="0">
                          <a:solidFill>
                            <a:srgbClr val="000000"/>
                          </a:solidFill>
                          <a:effectLst/>
                          <a:latin typeface="+mn-lt"/>
                          <a:cs typeface="Times New Roman" panose="02020603050405020304" pitchFamily="18" charset="0"/>
                        </a:rPr>
                        <a:t>3.606666</a:t>
                      </a:r>
                    </a:p>
                  </a:txBody>
                  <a:tcPr marL="9525" marR="9525" marT="9525" marB="0" anchor="b"/>
                </a:tc>
                <a:extLst>
                  <a:ext uri="{0D108BD9-81ED-4DB2-BD59-A6C34878D82A}">
                    <a16:rowId xmlns:a16="http://schemas.microsoft.com/office/drawing/2014/main" val="1812541091"/>
                  </a:ext>
                </a:extLst>
              </a:tr>
              <a:tr h="370840">
                <a:tc>
                  <a:txBody>
                    <a:bodyPr/>
                    <a:lstStyle/>
                    <a:p>
                      <a:pPr algn="l" fontAlgn="b"/>
                      <a:r>
                        <a:rPr lang="en-US" sz="1800" b="0" i="0" u="none" strike="noStrike" dirty="0">
                          <a:solidFill>
                            <a:srgbClr val="000000"/>
                          </a:solidFill>
                          <a:effectLst/>
                          <a:latin typeface="+mn-lt"/>
                          <a:cs typeface="Times New Roman" panose="02020603050405020304" pitchFamily="18" charset="0"/>
                        </a:rPr>
                        <a:t>Treatment</a:t>
                      </a:r>
                    </a:p>
                  </a:txBody>
                  <a:tcPr marL="9525" marR="9525" marT="9525" marB="0" anchor="b"/>
                </a:tc>
                <a:tc>
                  <a:txBody>
                    <a:bodyPr/>
                    <a:lstStyle/>
                    <a:p>
                      <a:pPr algn="r" fontAlgn="b"/>
                      <a:r>
                        <a:rPr lang="en-US" sz="1800" b="0" i="0" u="none" strike="noStrike" dirty="0">
                          <a:solidFill>
                            <a:srgbClr val="000000"/>
                          </a:solidFill>
                          <a:effectLst/>
                          <a:latin typeface="Calibri"/>
                        </a:rPr>
                        <a:t>-0.43912</a:t>
                      </a:r>
                    </a:p>
                  </a:txBody>
                  <a:tcPr marL="9525" marR="9525" marT="9525" marB="0" anchor="b"/>
                </a:tc>
                <a:tc>
                  <a:txBody>
                    <a:bodyPr/>
                    <a:lstStyle/>
                    <a:p>
                      <a:pPr algn="r" fontAlgn="b"/>
                      <a:r>
                        <a:rPr lang="en-US" sz="1800" b="0" i="0" u="none" strike="noStrike" dirty="0">
                          <a:solidFill>
                            <a:srgbClr val="000000"/>
                          </a:solidFill>
                          <a:effectLst/>
                          <a:latin typeface="+mn-lt"/>
                          <a:cs typeface="Times New Roman" panose="02020603050405020304" pitchFamily="18" charset="0"/>
                        </a:rPr>
                        <a:t>0.368828</a:t>
                      </a:r>
                    </a:p>
                  </a:txBody>
                  <a:tcPr marL="9525" marR="9525" marT="9525" marB="0" anchor="b"/>
                </a:tc>
                <a:tc>
                  <a:txBody>
                    <a:bodyPr/>
                    <a:lstStyle/>
                    <a:p>
                      <a:pPr algn="r" fontAlgn="b"/>
                      <a:r>
                        <a:rPr lang="en-US" sz="1800" b="0" i="0" u="none" strike="noStrike" dirty="0">
                          <a:solidFill>
                            <a:srgbClr val="000000"/>
                          </a:solidFill>
                          <a:effectLst/>
                          <a:latin typeface="+mn-lt"/>
                          <a:cs typeface="Times New Roman" panose="02020603050405020304" pitchFamily="18" charset="0"/>
                        </a:rPr>
                        <a:t>-1.19058</a:t>
                      </a:r>
                    </a:p>
                  </a:txBody>
                  <a:tcPr marL="9525" marR="9525" marT="9525" marB="0" anchor="b"/>
                </a:tc>
                <a:extLst>
                  <a:ext uri="{0D108BD9-81ED-4DB2-BD59-A6C34878D82A}">
                    <a16:rowId xmlns:a16="http://schemas.microsoft.com/office/drawing/2014/main" val="572065911"/>
                  </a:ext>
                </a:extLst>
              </a:tr>
              <a:tr h="370840">
                <a:tc>
                  <a:txBody>
                    <a:bodyPr/>
                    <a:lstStyle/>
                    <a:p>
                      <a:pPr algn="l" fontAlgn="b"/>
                      <a:r>
                        <a:rPr lang="en-US" sz="1800" b="0" i="0" u="none" strike="noStrike" dirty="0" err="1">
                          <a:solidFill>
                            <a:srgbClr val="000000"/>
                          </a:solidFill>
                          <a:effectLst/>
                          <a:latin typeface="+mn-lt"/>
                          <a:cs typeface="Times New Roman" panose="02020603050405020304" pitchFamily="18" charset="0"/>
                        </a:rPr>
                        <a:t>Posttreat</a:t>
                      </a:r>
                      <a:endParaRPr lang="en-US" sz="1800" b="0" i="0" u="none" strike="noStrike" dirty="0">
                        <a:solidFill>
                          <a:srgbClr val="000000"/>
                        </a:solidFill>
                        <a:effectLst/>
                        <a:latin typeface="+mn-lt"/>
                        <a:cs typeface="Times New Roman" panose="02020603050405020304" pitchFamily="18" charset="0"/>
                      </a:endParaRPr>
                    </a:p>
                  </a:txBody>
                  <a:tcPr marL="9525" marR="9525" marT="9525" marB="0" anchor="b"/>
                </a:tc>
                <a:tc>
                  <a:txBody>
                    <a:bodyPr/>
                    <a:lstStyle/>
                    <a:p>
                      <a:pPr algn="r" fontAlgn="b"/>
                      <a:r>
                        <a:rPr lang="en-US" sz="1800" b="0" i="0" u="none" strike="noStrike" dirty="0">
                          <a:solidFill>
                            <a:srgbClr val="000000"/>
                          </a:solidFill>
                          <a:effectLst/>
                          <a:latin typeface="+mn-lt"/>
                          <a:cs typeface="Times New Roman" panose="02020603050405020304" pitchFamily="18" charset="0"/>
                        </a:rPr>
                        <a:t>8.7708</a:t>
                      </a:r>
                    </a:p>
                  </a:txBody>
                  <a:tcPr marL="9525" marR="9525" marT="9525" marB="0" anchor="b"/>
                </a:tc>
                <a:tc>
                  <a:txBody>
                    <a:bodyPr/>
                    <a:lstStyle/>
                    <a:p>
                      <a:pPr algn="r" fontAlgn="b"/>
                      <a:r>
                        <a:rPr lang="en-US" sz="1800" b="0" i="0" u="none" strike="noStrike">
                          <a:solidFill>
                            <a:srgbClr val="000000"/>
                          </a:solidFill>
                          <a:effectLst/>
                          <a:latin typeface="+mn-lt"/>
                          <a:cs typeface="Times New Roman" panose="02020603050405020304" pitchFamily="18" charset="0"/>
                        </a:rPr>
                        <a:t>0.521602</a:t>
                      </a:r>
                    </a:p>
                  </a:txBody>
                  <a:tcPr marL="9525" marR="9525" marT="9525" marB="0" anchor="b"/>
                </a:tc>
                <a:tc>
                  <a:txBody>
                    <a:bodyPr/>
                    <a:lstStyle/>
                    <a:p>
                      <a:pPr algn="r" fontAlgn="b"/>
                      <a:r>
                        <a:rPr lang="en-US" sz="1800" b="0" i="0" u="none" strike="noStrike" dirty="0">
                          <a:solidFill>
                            <a:srgbClr val="000000"/>
                          </a:solidFill>
                          <a:effectLst/>
                          <a:latin typeface="+mn-lt"/>
                          <a:cs typeface="Times New Roman" panose="02020603050405020304" pitchFamily="18" charset="0"/>
                        </a:rPr>
                        <a:t>16.81513</a:t>
                      </a:r>
                    </a:p>
                  </a:txBody>
                  <a:tcPr marL="9525" marR="9525" marT="9525" marB="0" anchor="b"/>
                </a:tc>
                <a:extLst>
                  <a:ext uri="{0D108BD9-81ED-4DB2-BD59-A6C34878D82A}">
                    <a16:rowId xmlns:a16="http://schemas.microsoft.com/office/drawing/2014/main" val="10011"/>
                  </a:ext>
                </a:extLst>
              </a:tr>
            </a:tbl>
          </a:graphicData>
        </a:graphic>
      </p:graphicFrame>
    </p:spTree>
    <p:extLst>
      <p:ext uri="{BB962C8B-B14F-4D97-AF65-F5344CB8AC3E}">
        <p14:creationId xmlns:p14="http://schemas.microsoft.com/office/powerpoint/2010/main" val="1325223954"/>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What are the main issues?</a:t>
            </a:r>
          </a:p>
        </p:txBody>
      </p:sp>
      <p:sp>
        <p:nvSpPr>
          <p:cNvPr id="3" name="Content Placeholder 2"/>
          <p:cNvSpPr>
            <a:spLocks noGrp="1"/>
          </p:cNvSpPr>
          <p:nvPr>
            <p:ph idx="1"/>
          </p:nvPr>
        </p:nvSpPr>
        <p:spPr/>
        <p:txBody>
          <a:bodyPr/>
          <a:lstStyle/>
          <a:p>
            <a:r>
              <a:rPr lang="en-US" dirty="0"/>
              <a:t>All of the coefficients take on meaning -- what are these meanings?  And why are these meanings somewhat familiar to us, given our earlier table?</a:t>
            </a:r>
          </a:p>
          <a:p>
            <a:pPr marL="0" indent="0">
              <a:buNone/>
            </a:pPr>
            <a:endParaRPr lang="en-US" dirty="0"/>
          </a:p>
          <a:p>
            <a:r>
              <a:rPr lang="en-US" dirty="0"/>
              <a:t>What are the test statistics for each of the coefficients?  And what does their statistical significance (or lack thereof) imply?</a:t>
            </a:r>
          </a:p>
        </p:txBody>
      </p:sp>
    </p:spTree>
    <p:extLst>
      <p:ext uri="{BB962C8B-B14F-4D97-AF65-F5344CB8AC3E}">
        <p14:creationId xmlns:p14="http://schemas.microsoft.com/office/powerpoint/2010/main" val="626913589"/>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663D8A-8069-4DD1-984A-C417E3E4EB88}"/>
              </a:ext>
            </a:extLst>
          </p:cNvPr>
          <p:cNvSpPr>
            <a:spLocks noGrp="1"/>
          </p:cNvSpPr>
          <p:nvPr>
            <p:ph type="title"/>
          </p:nvPr>
        </p:nvSpPr>
        <p:spPr/>
        <p:txBody>
          <a:bodyPr/>
          <a:lstStyle/>
          <a:p>
            <a:r>
              <a:rPr lang="en-US" dirty="0"/>
              <a:t>The Coefficients</a:t>
            </a:r>
          </a:p>
        </p:txBody>
      </p:sp>
      <p:sp>
        <p:nvSpPr>
          <p:cNvPr id="3" name="Content Placeholder 2">
            <a:extLst>
              <a:ext uri="{FF2B5EF4-FFF2-40B4-BE49-F238E27FC236}">
                <a16:creationId xmlns:a16="http://schemas.microsoft.com/office/drawing/2014/main" id="{67201BCD-C1CB-404C-B24F-60FE7EABB448}"/>
              </a:ext>
            </a:extLst>
          </p:cNvPr>
          <p:cNvSpPr>
            <a:spLocks noGrp="1"/>
          </p:cNvSpPr>
          <p:nvPr>
            <p:ph idx="1"/>
          </p:nvPr>
        </p:nvSpPr>
        <p:spPr/>
        <p:txBody>
          <a:bodyPr/>
          <a:lstStyle/>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p:txBody>
      </p:sp>
      <p:graphicFrame>
        <p:nvGraphicFramePr>
          <p:cNvPr id="5" name="Table 4">
            <a:extLst>
              <a:ext uri="{FF2B5EF4-FFF2-40B4-BE49-F238E27FC236}">
                <a16:creationId xmlns:a16="http://schemas.microsoft.com/office/drawing/2014/main" id="{82A510A6-55A0-4F07-A52D-65833FC0867C}"/>
              </a:ext>
            </a:extLst>
          </p:cNvPr>
          <p:cNvGraphicFramePr>
            <a:graphicFrameLocks noGrp="1"/>
          </p:cNvGraphicFramePr>
          <p:nvPr>
            <p:extLst>
              <p:ext uri="{D42A27DB-BD31-4B8C-83A1-F6EECF244321}">
                <p14:modId xmlns:p14="http://schemas.microsoft.com/office/powerpoint/2010/main" val="701389804"/>
              </p:ext>
            </p:extLst>
          </p:nvPr>
        </p:nvGraphicFramePr>
        <p:xfrm>
          <a:off x="838200" y="1397000"/>
          <a:ext cx="7696200" cy="4297680"/>
        </p:xfrm>
        <a:graphic>
          <a:graphicData uri="http://schemas.openxmlformats.org/drawingml/2006/table">
            <a:tbl>
              <a:tblPr firstRow="1" bandRow="1">
                <a:tableStyleId>{5940675A-B579-460E-94D1-54222C63F5DA}</a:tableStyleId>
              </a:tblPr>
              <a:tblGrid>
                <a:gridCol w="1752600">
                  <a:extLst>
                    <a:ext uri="{9D8B030D-6E8A-4147-A177-3AD203B41FA5}">
                      <a16:colId xmlns:a16="http://schemas.microsoft.com/office/drawing/2014/main" val="3438490833"/>
                    </a:ext>
                  </a:extLst>
                </a:gridCol>
                <a:gridCol w="2590800">
                  <a:extLst>
                    <a:ext uri="{9D8B030D-6E8A-4147-A177-3AD203B41FA5}">
                      <a16:colId xmlns:a16="http://schemas.microsoft.com/office/drawing/2014/main" val="2403020295"/>
                    </a:ext>
                  </a:extLst>
                </a:gridCol>
                <a:gridCol w="3352800">
                  <a:extLst>
                    <a:ext uri="{9D8B030D-6E8A-4147-A177-3AD203B41FA5}">
                      <a16:colId xmlns:a16="http://schemas.microsoft.com/office/drawing/2014/main" val="193916846"/>
                    </a:ext>
                  </a:extLst>
                </a:gridCol>
              </a:tblGrid>
              <a:tr h="370840">
                <a:tc>
                  <a:txBody>
                    <a:bodyPr/>
                    <a:lstStyle/>
                    <a:p>
                      <a:pPr algn="ctr"/>
                      <a:r>
                        <a:rPr lang="en-US" sz="2800" dirty="0"/>
                        <a:t>Coefficient</a:t>
                      </a:r>
                    </a:p>
                  </a:txBody>
                  <a:tcPr/>
                </a:tc>
                <a:tc>
                  <a:txBody>
                    <a:bodyPr/>
                    <a:lstStyle/>
                    <a:p>
                      <a:pPr algn="ctr"/>
                      <a:r>
                        <a:rPr lang="en-US" sz="2800" dirty="0"/>
                        <a:t>T-statistic</a:t>
                      </a:r>
                    </a:p>
                  </a:txBody>
                  <a:tcPr/>
                </a:tc>
                <a:tc>
                  <a:txBody>
                    <a:bodyPr/>
                    <a:lstStyle/>
                    <a:p>
                      <a:pPr algn="ctr"/>
                      <a:r>
                        <a:rPr lang="en-US" sz="2800" dirty="0"/>
                        <a:t>Meaning</a:t>
                      </a:r>
                    </a:p>
                  </a:txBody>
                  <a:tcPr/>
                </a:tc>
                <a:extLst>
                  <a:ext uri="{0D108BD9-81ED-4DB2-BD59-A6C34878D82A}">
                    <a16:rowId xmlns:a16="http://schemas.microsoft.com/office/drawing/2014/main" val="1238890704"/>
                  </a:ext>
                </a:extLst>
              </a:tr>
              <a:tr h="370840">
                <a:tc>
                  <a:txBody>
                    <a:bodyPr/>
                    <a:lstStyle/>
                    <a:p>
                      <a:pPr algn="ctr"/>
                      <a:r>
                        <a:rPr lang="en-US" sz="2800" dirty="0"/>
                        <a:t>b</a:t>
                      </a:r>
                      <a:r>
                        <a:rPr lang="en-US" sz="2800" baseline="-25000" dirty="0"/>
                        <a:t>0</a:t>
                      </a:r>
                      <a:endParaRPr lang="en-US" sz="2800" dirty="0"/>
                    </a:p>
                  </a:txBody>
                  <a:tcPr anchor="ctr"/>
                </a:tc>
                <a:tc>
                  <a:txBody>
                    <a:bodyPr/>
                    <a:lstStyle/>
                    <a:p>
                      <a:pPr algn="ctr"/>
                      <a:endParaRPr lang="en-US" sz="2800" dirty="0"/>
                    </a:p>
                  </a:txBody>
                  <a:tcPr anchor="ctr"/>
                </a:tc>
                <a:tc>
                  <a:txBody>
                    <a:bodyPr/>
                    <a:lstStyle/>
                    <a:p>
                      <a:pPr algn="l"/>
                      <a:endParaRPr lang="en-US" sz="2800" dirty="0"/>
                    </a:p>
                    <a:p>
                      <a:pPr algn="l"/>
                      <a:endParaRPr lang="en-US" sz="2800" dirty="0"/>
                    </a:p>
                  </a:txBody>
                  <a:tcPr anchor="ctr"/>
                </a:tc>
                <a:extLst>
                  <a:ext uri="{0D108BD9-81ED-4DB2-BD59-A6C34878D82A}">
                    <a16:rowId xmlns:a16="http://schemas.microsoft.com/office/drawing/2014/main" val="759290416"/>
                  </a:ext>
                </a:extLst>
              </a:tr>
              <a:tr h="370840">
                <a:tc>
                  <a:txBody>
                    <a:bodyPr/>
                    <a:lstStyle/>
                    <a:p>
                      <a:pPr algn="ctr"/>
                      <a:r>
                        <a:rPr lang="en-US" sz="2800" dirty="0"/>
                        <a:t>b</a:t>
                      </a:r>
                      <a:r>
                        <a:rPr lang="en-US" sz="2800" baseline="-25000" dirty="0"/>
                        <a:t>1</a:t>
                      </a:r>
                      <a:endParaRPr lang="en-US" sz="2800" dirty="0"/>
                    </a:p>
                  </a:txBody>
                  <a:tcPr anchor="ctr"/>
                </a:tc>
                <a:tc>
                  <a:txBody>
                    <a:bodyPr/>
                    <a:lstStyle/>
                    <a:p>
                      <a:pPr algn="ctr"/>
                      <a:endParaRPr lang="en-US" sz="2800" dirty="0"/>
                    </a:p>
                  </a:txBody>
                  <a:tcPr anchor="ctr"/>
                </a:tc>
                <a:tc>
                  <a:txBody>
                    <a:bodyPr/>
                    <a:lstStyle/>
                    <a:p>
                      <a:pPr algn="l"/>
                      <a:endParaRPr lang="en-US" sz="2800" dirty="0"/>
                    </a:p>
                    <a:p>
                      <a:pPr algn="l"/>
                      <a:endParaRPr lang="en-US" sz="2800" dirty="0"/>
                    </a:p>
                  </a:txBody>
                  <a:tcPr anchor="ctr"/>
                </a:tc>
                <a:extLst>
                  <a:ext uri="{0D108BD9-81ED-4DB2-BD59-A6C34878D82A}">
                    <a16:rowId xmlns:a16="http://schemas.microsoft.com/office/drawing/2014/main" val="94550458"/>
                  </a:ext>
                </a:extLst>
              </a:tr>
              <a:tr h="370840">
                <a:tc>
                  <a:txBody>
                    <a:bodyPr/>
                    <a:lstStyle/>
                    <a:p>
                      <a:pPr algn="ctr"/>
                      <a:r>
                        <a:rPr lang="en-US" sz="2800" dirty="0"/>
                        <a:t>b</a:t>
                      </a:r>
                      <a:r>
                        <a:rPr lang="en-US" sz="2800" baseline="-25000" dirty="0"/>
                        <a:t>2</a:t>
                      </a:r>
                      <a:endParaRPr lang="en-US" sz="2800" dirty="0"/>
                    </a:p>
                  </a:txBody>
                  <a:tcPr anchor="ctr"/>
                </a:tc>
                <a:tc>
                  <a:txBody>
                    <a:bodyPr/>
                    <a:lstStyle/>
                    <a:p>
                      <a:pPr algn="ctr"/>
                      <a:endParaRPr lang="en-US" sz="2800" dirty="0"/>
                    </a:p>
                  </a:txBody>
                  <a:tcPr anchor="ctr"/>
                </a:tc>
                <a:tc>
                  <a:txBody>
                    <a:bodyPr/>
                    <a:lstStyle/>
                    <a:p>
                      <a:pPr algn="l"/>
                      <a:endParaRPr lang="en-US" sz="2800" dirty="0"/>
                    </a:p>
                    <a:p>
                      <a:pPr algn="l"/>
                      <a:endParaRPr lang="en-US" sz="2800" dirty="0"/>
                    </a:p>
                  </a:txBody>
                  <a:tcPr anchor="ctr"/>
                </a:tc>
                <a:extLst>
                  <a:ext uri="{0D108BD9-81ED-4DB2-BD59-A6C34878D82A}">
                    <a16:rowId xmlns:a16="http://schemas.microsoft.com/office/drawing/2014/main" val="4027142798"/>
                  </a:ext>
                </a:extLst>
              </a:tr>
              <a:tr h="370840">
                <a:tc>
                  <a:txBody>
                    <a:bodyPr/>
                    <a:lstStyle/>
                    <a:p>
                      <a:pPr algn="ctr"/>
                      <a:r>
                        <a:rPr lang="en-US" sz="2800" dirty="0"/>
                        <a:t>b</a:t>
                      </a:r>
                      <a:r>
                        <a:rPr lang="en-US" sz="2800" baseline="-25000" dirty="0"/>
                        <a:t>3</a:t>
                      </a:r>
                      <a:endParaRPr lang="en-US" sz="2800" dirty="0"/>
                    </a:p>
                  </a:txBody>
                  <a:tcPr anchor="ctr"/>
                </a:tc>
                <a:tc>
                  <a:txBody>
                    <a:bodyPr/>
                    <a:lstStyle/>
                    <a:p>
                      <a:pPr algn="ctr"/>
                      <a:endParaRPr lang="en-US" sz="2800" dirty="0"/>
                    </a:p>
                  </a:txBody>
                  <a:tcPr anchor="ctr"/>
                </a:tc>
                <a:tc>
                  <a:txBody>
                    <a:bodyPr/>
                    <a:lstStyle/>
                    <a:p>
                      <a:pPr algn="l"/>
                      <a:endParaRPr lang="en-US" sz="2800" dirty="0"/>
                    </a:p>
                    <a:p>
                      <a:pPr algn="l"/>
                      <a:endParaRPr lang="en-US" sz="2800" dirty="0"/>
                    </a:p>
                  </a:txBody>
                  <a:tcPr anchor="ctr"/>
                </a:tc>
                <a:extLst>
                  <a:ext uri="{0D108BD9-81ED-4DB2-BD59-A6C34878D82A}">
                    <a16:rowId xmlns:a16="http://schemas.microsoft.com/office/drawing/2014/main" val="581592043"/>
                  </a:ext>
                </a:extLst>
              </a:tr>
            </a:tbl>
          </a:graphicData>
        </a:graphic>
      </p:graphicFrame>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EF2B4148-E214-4B39-9627-76F10DB7DD9C}"/>
                  </a:ext>
                </a:extLst>
              </p:cNvPr>
              <p:cNvSpPr txBox="1"/>
              <p:nvPr/>
            </p:nvSpPr>
            <p:spPr>
              <a:xfrm>
                <a:off x="2667000" y="1905000"/>
                <a:ext cx="2438400" cy="987001"/>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f>
                        <m:fPr>
                          <m:ctrlPr>
                            <a:rPr lang="en-US" sz="2800" i="1">
                              <a:latin typeface="Cambria Math" panose="02040503050406030204" pitchFamily="18" charset="0"/>
                            </a:rPr>
                          </m:ctrlPr>
                        </m:fPr>
                        <m:num>
                          <m:sSub>
                            <m:sSubPr>
                              <m:ctrlPr>
                                <a:rPr lang="en-US" sz="2800" i="1">
                                  <a:latin typeface="Cambria Math" panose="02040503050406030204" pitchFamily="18" charset="0"/>
                                </a:rPr>
                              </m:ctrlPr>
                            </m:sSubPr>
                            <m:e>
                              <m:r>
                                <a:rPr lang="en-US" sz="2800" i="1">
                                  <a:latin typeface="Cambria Math" panose="02040503050406030204" pitchFamily="18" charset="0"/>
                                </a:rPr>
                                <m:t>𝑏</m:t>
                              </m:r>
                            </m:e>
                            <m:sub>
                              <m:r>
                                <a:rPr lang="en-US" sz="2800" i="1">
                                  <a:latin typeface="Cambria Math" panose="02040503050406030204" pitchFamily="18" charset="0"/>
                                </a:rPr>
                                <m:t>0</m:t>
                              </m:r>
                            </m:sub>
                          </m:sSub>
                          <m:r>
                            <a:rPr lang="en-US" sz="2800" i="1">
                              <a:latin typeface="Cambria Math" panose="02040503050406030204" pitchFamily="18" charset="0"/>
                            </a:rPr>
                            <m:t>−</m:t>
                          </m:r>
                          <m:sSub>
                            <m:sSubPr>
                              <m:ctrlPr>
                                <a:rPr lang="en-US" sz="2800" i="1">
                                  <a:latin typeface="Cambria Math" panose="02040503050406030204" pitchFamily="18" charset="0"/>
                                </a:rPr>
                              </m:ctrlPr>
                            </m:sSubPr>
                            <m:e>
                              <m:r>
                                <a:rPr lang="en-US" sz="2800" i="1">
                                  <a:latin typeface="Cambria Math" panose="02040503050406030204" pitchFamily="18" charset="0"/>
                                  <a:ea typeface="Cambria Math" panose="02040503050406030204" pitchFamily="18" charset="0"/>
                                </a:rPr>
                                <m:t>𝛽</m:t>
                              </m:r>
                            </m:e>
                            <m:sub>
                              <m:r>
                                <a:rPr lang="en-US" sz="2800" i="1">
                                  <a:latin typeface="Cambria Math" panose="02040503050406030204" pitchFamily="18" charset="0"/>
                                </a:rPr>
                                <m:t>0</m:t>
                              </m:r>
                            </m:sub>
                          </m:sSub>
                        </m:num>
                        <m:den>
                          <m:r>
                            <a:rPr lang="en-US" sz="2800" i="1">
                              <a:latin typeface="Cambria Math" panose="02040503050406030204" pitchFamily="18" charset="0"/>
                            </a:rPr>
                            <m:t>𝑠𝑒</m:t>
                          </m:r>
                          <m:r>
                            <a:rPr lang="en-US" sz="2800" i="1">
                              <a:latin typeface="Cambria Math" panose="02040503050406030204" pitchFamily="18" charset="0"/>
                            </a:rPr>
                            <m:t>(</m:t>
                          </m:r>
                          <m:sSub>
                            <m:sSubPr>
                              <m:ctrlPr>
                                <a:rPr lang="en-US" sz="2800" i="1">
                                  <a:latin typeface="Cambria Math" panose="02040503050406030204" pitchFamily="18" charset="0"/>
                                </a:rPr>
                              </m:ctrlPr>
                            </m:sSubPr>
                            <m:e>
                              <m:r>
                                <a:rPr lang="en-US" sz="2800" i="1">
                                  <a:latin typeface="Cambria Math" panose="02040503050406030204" pitchFamily="18" charset="0"/>
                                </a:rPr>
                                <m:t>𝑏</m:t>
                              </m:r>
                            </m:e>
                            <m:sub>
                              <m:r>
                                <a:rPr lang="en-US" sz="2800" i="1">
                                  <a:latin typeface="Cambria Math" panose="02040503050406030204" pitchFamily="18" charset="0"/>
                                </a:rPr>
                                <m:t>0</m:t>
                              </m:r>
                            </m:sub>
                          </m:sSub>
                          <m:r>
                            <a:rPr lang="en-US" sz="2800" i="1">
                              <a:latin typeface="Cambria Math" panose="02040503050406030204" pitchFamily="18" charset="0"/>
                            </a:rPr>
                            <m:t>)</m:t>
                          </m:r>
                        </m:den>
                      </m:f>
                      <m:r>
                        <a:rPr lang="en-US" sz="2800" i="1">
                          <a:latin typeface="Cambria Math" panose="02040503050406030204" pitchFamily="18" charset="0"/>
                        </a:rPr>
                        <m:t>=</m:t>
                      </m:r>
                      <m:r>
                        <m:rPr>
                          <m:nor/>
                        </m:rPr>
                        <a:rPr lang="en-US" sz="2800" dirty="0"/>
                        <m:t>78.2</m:t>
                      </m:r>
                    </m:oMath>
                  </m:oMathPara>
                </a14:m>
                <a:endParaRPr lang="en-US" sz="2800" dirty="0"/>
              </a:p>
            </p:txBody>
          </p:sp>
        </mc:Choice>
        <mc:Fallback xmlns="">
          <p:sp>
            <p:nvSpPr>
              <p:cNvPr id="4" name="TextBox 3">
                <a:extLst>
                  <a:ext uri="{FF2B5EF4-FFF2-40B4-BE49-F238E27FC236}">
                    <a16:creationId xmlns:a16="http://schemas.microsoft.com/office/drawing/2014/main" id="{EF2B4148-E214-4B39-9627-76F10DB7DD9C}"/>
                  </a:ext>
                </a:extLst>
              </p:cNvPr>
              <p:cNvSpPr txBox="1">
                <a:spLocks noRot="1" noChangeAspect="1" noMove="1" noResize="1" noEditPoints="1" noAdjustHandles="1" noChangeArrowheads="1" noChangeShapeType="1" noTextEdit="1"/>
              </p:cNvSpPr>
              <p:nvPr/>
            </p:nvSpPr>
            <p:spPr>
              <a:xfrm>
                <a:off x="2667000" y="1905000"/>
                <a:ext cx="2438400" cy="987001"/>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8C4FABE6-A9E0-4B13-88C9-12F50EEB6CB1}"/>
                  </a:ext>
                </a:extLst>
              </p:cNvPr>
              <p:cNvSpPr txBox="1"/>
              <p:nvPr/>
            </p:nvSpPr>
            <p:spPr>
              <a:xfrm>
                <a:off x="2590800" y="2840588"/>
                <a:ext cx="2438400" cy="987001"/>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f>
                        <m:fPr>
                          <m:ctrlPr>
                            <a:rPr lang="en-US" sz="2800" i="1">
                              <a:latin typeface="Cambria Math" panose="02040503050406030204" pitchFamily="18" charset="0"/>
                            </a:rPr>
                          </m:ctrlPr>
                        </m:fPr>
                        <m:num>
                          <m:sSub>
                            <m:sSubPr>
                              <m:ctrlPr>
                                <a:rPr lang="en-US" sz="2800" i="1">
                                  <a:latin typeface="Cambria Math" panose="02040503050406030204" pitchFamily="18" charset="0"/>
                                </a:rPr>
                              </m:ctrlPr>
                            </m:sSubPr>
                            <m:e>
                              <m:r>
                                <a:rPr lang="en-US" sz="2800" i="1">
                                  <a:latin typeface="Cambria Math" panose="02040503050406030204" pitchFamily="18" charset="0"/>
                                </a:rPr>
                                <m:t>𝑏</m:t>
                              </m:r>
                            </m:e>
                            <m:sub>
                              <m:r>
                                <a:rPr lang="en-US" sz="2800" i="1">
                                  <a:latin typeface="Cambria Math" panose="02040503050406030204" pitchFamily="18" charset="0"/>
                                </a:rPr>
                                <m:t>1</m:t>
                              </m:r>
                            </m:sub>
                          </m:sSub>
                          <m:r>
                            <a:rPr lang="en-US" sz="2800" i="1">
                              <a:latin typeface="Cambria Math" panose="02040503050406030204" pitchFamily="18" charset="0"/>
                            </a:rPr>
                            <m:t>−</m:t>
                          </m:r>
                          <m:sSub>
                            <m:sSubPr>
                              <m:ctrlPr>
                                <a:rPr lang="en-US" sz="2800" i="1">
                                  <a:latin typeface="Cambria Math" panose="02040503050406030204" pitchFamily="18" charset="0"/>
                                </a:rPr>
                              </m:ctrlPr>
                            </m:sSubPr>
                            <m:e>
                              <m:r>
                                <a:rPr lang="en-US" sz="2800" i="1">
                                  <a:latin typeface="Cambria Math" panose="02040503050406030204" pitchFamily="18" charset="0"/>
                                  <a:ea typeface="Cambria Math" panose="02040503050406030204" pitchFamily="18" charset="0"/>
                                </a:rPr>
                                <m:t>𝛽</m:t>
                              </m:r>
                            </m:e>
                            <m:sub>
                              <m:r>
                                <a:rPr lang="en-US" sz="2800" i="1">
                                  <a:latin typeface="Cambria Math" panose="02040503050406030204" pitchFamily="18" charset="0"/>
                                </a:rPr>
                                <m:t>1</m:t>
                              </m:r>
                            </m:sub>
                          </m:sSub>
                        </m:num>
                        <m:den>
                          <m:r>
                            <a:rPr lang="en-US" sz="2800" i="1">
                              <a:latin typeface="Cambria Math" panose="02040503050406030204" pitchFamily="18" charset="0"/>
                            </a:rPr>
                            <m:t>𝑠𝑒</m:t>
                          </m:r>
                          <m:d>
                            <m:dPr>
                              <m:ctrlPr>
                                <a:rPr lang="en-US" sz="2800" i="1">
                                  <a:latin typeface="Cambria Math" panose="02040503050406030204" pitchFamily="18" charset="0"/>
                                </a:rPr>
                              </m:ctrlPr>
                            </m:dPr>
                            <m:e>
                              <m:sSub>
                                <m:sSubPr>
                                  <m:ctrlPr>
                                    <a:rPr lang="en-US" sz="2800" i="1">
                                      <a:latin typeface="Cambria Math" panose="02040503050406030204" pitchFamily="18" charset="0"/>
                                    </a:rPr>
                                  </m:ctrlPr>
                                </m:sSubPr>
                                <m:e>
                                  <m:r>
                                    <a:rPr lang="en-US" sz="2800" i="1">
                                      <a:latin typeface="Cambria Math" panose="02040503050406030204" pitchFamily="18" charset="0"/>
                                    </a:rPr>
                                    <m:t>𝑏</m:t>
                                  </m:r>
                                </m:e>
                                <m:sub>
                                  <m:r>
                                    <a:rPr lang="en-US" sz="2800" i="1">
                                      <a:latin typeface="Cambria Math" panose="02040503050406030204" pitchFamily="18" charset="0"/>
                                    </a:rPr>
                                    <m:t>1</m:t>
                                  </m:r>
                                </m:sub>
                              </m:sSub>
                            </m:e>
                          </m:d>
                        </m:den>
                      </m:f>
                      <m:r>
                        <a:rPr lang="en-US" sz="2800" i="1">
                          <a:latin typeface="Cambria Math" panose="02040503050406030204" pitchFamily="18" charset="0"/>
                        </a:rPr>
                        <m:t>=</m:t>
                      </m:r>
                      <m:r>
                        <m:rPr>
                          <m:nor/>
                        </m:rPr>
                        <a:rPr lang="en-US" sz="2800" dirty="0"/>
                        <m:t>3.6</m:t>
                      </m:r>
                    </m:oMath>
                  </m:oMathPara>
                </a14:m>
                <a:endParaRPr lang="en-US" sz="2800" dirty="0"/>
              </a:p>
            </p:txBody>
          </p:sp>
        </mc:Choice>
        <mc:Fallback xmlns="">
          <p:sp>
            <p:nvSpPr>
              <p:cNvPr id="6" name="TextBox 5">
                <a:extLst>
                  <a:ext uri="{FF2B5EF4-FFF2-40B4-BE49-F238E27FC236}">
                    <a16:creationId xmlns:a16="http://schemas.microsoft.com/office/drawing/2014/main" id="{8C4FABE6-A9E0-4B13-88C9-12F50EEB6CB1}"/>
                  </a:ext>
                </a:extLst>
              </p:cNvPr>
              <p:cNvSpPr txBox="1">
                <a:spLocks noRot="1" noChangeAspect="1" noMove="1" noResize="1" noEditPoints="1" noAdjustHandles="1" noChangeArrowheads="1" noChangeShapeType="1" noTextEdit="1"/>
              </p:cNvSpPr>
              <p:nvPr/>
            </p:nvSpPr>
            <p:spPr>
              <a:xfrm>
                <a:off x="2590800" y="2840588"/>
                <a:ext cx="2438400" cy="987001"/>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Rectangle 6">
                <a:extLst>
                  <a:ext uri="{FF2B5EF4-FFF2-40B4-BE49-F238E27FC236}">
                    <a16:creationId xmlns:a16="http://schemas.microsoft.com/office/drawing/2014/main" id="{0ECFFAC4-CF62-4429-8431-465A0D311028}"/>
                  </a:ext>
                </a:extLst>
              </p:cNvPr>
              <p:cNvSpPr/>
              <p:nvPr/>
            </p:nvSpPr>
            <p:spPr>
              <a:xfrm>
                <a:off x="2667000" y="3794511"/>
                <a:ext cx="2611997" cy="981038"/>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f>
                        <m:fPr>
                          <m:ctrlPr>
                            <a:rPr lang="en-US" sz="2800" i="1">
                              <a:latin typeface="Cambria Math" panose="02040503050406030204" pitchFamily="18" charset="0"/>
                            </a:rPr>
                          </m:ctrlPr>
                        </m:fPr>
                        <m:num>
                          <m:sSub>
                            <m:sSubPr>
                              <m:ctrlPr>
                                <a:rPr lang="en-US" sz="2800" i="1">
                                  <a:latin typeface="Cambria Math" panose="02040503050406030204" pitchFamily="18" charset="0"/>
                                </a:rPr>
                              </m:ctrlPr>
                            </m:sSubPr>
                            <m:e>
                              <m:r>
                                <a:rPr lang="en-US" sz="2800" i="1">
                                  <a:latin typeface="Cambria Math" panose="02040503050406030204" pitchFamily="18" charset="0"/>
                                </a:rPr>
                                <m:t>𝑏</m:t>
                              </m:r>
                            </m:e>
                            <m:sub>
                              <m:r>
                                <a:rPr lang="en-US" sz="2800" i="1">
                                  <a:latin typeface="Cambria Math" panose="02040503050406030204" pitchFamily="18" charset="0"/>
                                </a:rPr>
                                <m:t>2</m:t>
                              </m:r>
                            </m:sub>
                          </m:sSub>
                          <m:r>
                            <a:rPr lang="en-US" sz="2800" i="1">
                              <a:latin typeface="Cambria Math" panose="02040503050406030204" pitchFamily="18" charset="0"/>
                            </a:rPr>
                            <m:t>−</m:t>
                          </m:r>
                          <m:sSub>
                            <m:sSubPr>
                              <m:ctrlPr>
                                <a:rPr lang="en-US" sz="2800" i="1">
                                  <a:latin typeface="Cambria Math" panose="02040503050406030204" pitchFamily="18" charset="0"/>
                                </a:rPr>
                              </m:ctrlPr>
                            </m:sSubPr>
                            <m:e>
                              <m:r>
                                <a:rPr lang="en-US" sz="2800" i="1">
                                  <a:latin typeface="Cambria Math" panose="02040503050406030204" pitchFamily="18" charset="0"/>
                                  <a:ea typeface="Cambria Math" panose="02040503050406030204" pitchFamily="18" charset="0"/>
                                </a:rPr>
                                <m:t>𝛽</m:t>
                              </m:r>
                            </m:e>
                            <m:sub>
                              <m:r>
                                <a:rPr lang="en-US" sz="2800" i="1">
                                  <a:latin typeface="Cambria Math" panose="02040503050406030204" pitchFamily="18" charset="0"/>
                                  <a:ea typeface="Cambria Math" panose="02040503050406030204" pitchFamily="18" charset="0"/>
                                </a:rPr>
                                <m:t>2</m:t>
                              </m:r>
                            </m:sub>
                          </m:sSub>
                        </m:num>
                        <m:den>
                          <m:r>
                            <a:rPr lang="en-US" sz="2800" i="1">
                              <a:latin typeface="Cambria Math" panose="02040503050406030204" pitchFamily="18" charset="0"/>
                            </a:rPr>
                            <m:t>𝑠𝑒</m:t>
                          </m:r>
                          <m:d>
                            <m:dPr>
                              <m:ctrlPr>
                                <a:rPr lang="en-US" sz="2800" i="1">
                                  <a:latin typeface="Cambria Math" panose="02040503050406030204" pitchFamily="18" charset="0"/>
                                </a:rPr>
                              </m:ctrlPr>
                            </m:dPr>
                            <m:e>
                              <m:sSub>
                                <m:sSubPr>
                                  <m:ctrlPr>
                                    <a:rPr lang="en-US" sz="2800" i="1">
                                      <a:latin typeface="Cambria Math" panose="02040503050406030204" pitchFamily="18" charset="0"/>
                                    </a:rPr>
                                  </m:ctrlPr>
                                </m:sSubPr>
                                <m:e>
                                  <m:r>
                                    <a:rPr lang="en-US" sz="2800" i="1">
                                      <a:latin typeface="Cambria Math" panose="02040503050406030204" pitchFamily="18" charset="0"/>
                                    </a:rPr>
                                    <m:t>𝑏</m:t>
                                  </m:r>
                                </m:e>
                                <m:sub>
                                  <m:r>
                                    <a:rPr lang="en-US" sz="2800" i="1">
                                      <a:latin typeface="Cambria Math" panose="02040503050406030204" pitchFamily="18" charset="0"/>
                                    </a:rPr>
                                    <m:t>2</m:t>
                                  </m:r>
                                </m:sub>
                              </m:sSub>
                            </m:e>
                          </m:d>
                        </m:den>
                      </m:f>
                      <m:r>
                        <a:rPr lang="en-US" sz="2800" i="1">
                          <a:latin typeface="Cambria Math" panose="02040503050406030204" pitchFamily="18" charset="0"/>
                        </a:rPr>
                        <m:t>=−1.2</m:t>
                      </m:r>
                    </m:oMath>
                  </m:oMathPara>
                </a14:m>
                <a:endParaRPr lang="en-US" sz="2800" dirty="0"/>
              </a:p>
            </p:txBody>
          </p:sp>
        </mc:Choice>
        <mc:Fallback xmlns="">
          <p:sp>
            <p:nvSpPr>
              <p:cNvPr id="7" name="Rectangle 6">
                <a:extLst>
                  <a:ext uri="{FF2B5EF4-FFF2-40B4-BE49-F238E27FC236}">
                    <a16:creationId xmlns:a16="http://schemas.microsoft.com/office/drawing/2014/main" id="{0ECFFAC4-CF62-4429-8431-465A0D311028}"/>
                  </a:ext>
                </a:extLst>
              </p:cNvPr>
              <p:cNvSpPr>
                <a:spLocks noRot="1" noChangeAspect="1" noMove="1" noResize="1" noEditPoints="1" noAdjustHandles="1" noChangeArrowheads="1" noChangeShapeType="1" noTextEdit="1"/>
              </p:cNvSpPr>
              <p:nvPr/>
            </p:nvSpPr>
            <p:spPr>
              <a:xfrm>
                <a:off x="2667000" y="3794511"/>
                <a:ext cx="2611997" cy="981038"/>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id="{52097BA6-AD51-45E6-8EFB-1C177148200D}"/>
                  </a:ext>
                </a:extLst>
              </p:cNvPr>
              <p:cNvSpPr/>
              <p:nvPr/>
            </p:nvSpPr>
            <p:spPr>
              <a:xfrm>
                <a:off x="2638532" y="4744657"/>
                <a:ext cx="2543068" cy="983218"/>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f>
                        <m:fPr>
                          <m:ctrlPr>
                            <a:rPr lang="en-US" sz="2800" i="1">
                              <a:latin typeface="Cambria Math" panose="02040503050406030204" pitchFamily="18" charset="0"/>
                            </a:rPr>
                          </m:ctrlPr>
                        </m:fPr>
                        <m:num>
                          <m:sSub>
                            <m:sSubPr>
                              <m:ctrlPr>
                                <a:rPr lang="en-US" sz="2800" i="1">
                                  <a:latin typeface="Cambria Math" panose="02040503050406030204" pitchFamily="18" charset="0"/>
                                </a:rPr>
                              </m:ctrlPr>
                            </m:sSubPr>
                            <m:e>
                              <m:r>
                                <a:rPr lang="en-US" sz="2800" i="1">
                                  <a:latin typeface="Cambria Math" panose="02040503050406030204" pitchFamily="18" charset="0"/>
                                </a:rPr>
                                <m:t>𝑏</m:t>
                              </m:r>
                            </m:e>
                            <m:sub>
                              <m:r>
                                <a:rPr lang="en-US" sz="2800" i="1">
                                  <a:latin typeface="Cambria Math" panose="02040503050406030204" pitchFamily="18" charset="0"/>
                                </a:rPr>
                                <m:t>3</m:t>
                              </m:r>
                            </m:sub>
                          </m:sSub>
                          <m:r>
                            <a:rPr lang="en-US" sz="2800" i="1">
                              <a:latin typeface="Cambria Math" panose="02040503050406030204" pitchFamily="18" charset="0"/>
                            </a:rPr>
                            <m:t>−</m:t>
                          </m:r>
                          <m:sSub>
                            <m:sSubPr>
                              <m:ctrlPr>
                                <a:rPr lang="en-US" sz="2800" i="1">
                                  <a:latin typeface="Cambria Math" panose="02040503050406030204" pitchFamily="18" charset="0"/>
                                </a:rPr>
                              </m:ctrlPr>
                            </m:sSubPr>
                            <m:e>
                              <m:r>
                                <a:rPr lang="en-US" sz="2800" i="1">
                                  <a:latin typeface="Cambria Math" panose="02040503050406030204" pitchFamily="18" charset="0"/>
                                  <a:ea typeface="Cambria Math" panose="02040503050406030204" pitchFamily="18" charset="0"/>
                                </a:rPr>
                                <m:t>𝛽</m:t>
                              </m:r>
                            </m:e>
                            <m:sub>
                              <m:r>
                                <a:rPr lang="en-US" sz="2800" i="1">
                                  <a:latin typeface="Cambria Math" panose="02040503050406030204" pitchFamily="18" charset="0"/>
                                  <a:ea typeface="Cambria Math" panose="02040503050406030204" pitchFamily="18" charset="0"/>
                                </a:rPr>
                                <m:t>3</m:t>
                              </m:r>
                            </m:sub>
                          </m:sSub>
                        </m:num>
                        <m:den>
                          <m:r>
                            <a:rPr lang="en-US" sz="2800" i="1">
                              <a:latin typeface="Cambria Math" panose="02040503050406030204" pitchFamily="18" charset="0"/>
                            </a:rPr>
                            <m:t>𝑠𝑒</m:t>
                          </m:r>
                          <m:d>
                            <m:dPr>
                              <m:ctrlPr>
                                <a:rPr lang="en-US" sz="2800" i="1">
                                  <a:latin typeface="Cambria Math" panose="02040503050406030204" pitchFamily="18" charset="0"/>
                                </a:rPr>
                              </m:ctrlPr>
                            </m:dPr>
                            <m:e>
                              <m:sSub>
                                <m:sSubPr>
                                  <m:ctrlPr>
                                    <a:rPr lang="en-US" sz="2800" i="1">
                                      <a:latin typeface="Cambria Math" panose="02040503050406030204" pitchFamily="18" charset="0"/>
                                    </a:rPr>
                                  </m:ctrlPr>
                                </m:sSubPr>
                                <m:e>
                                  <m:r>
                                    <a:rPr lang="en-US" sz="2800" i="1">
                                      <a:latin typeface="Cambria Math" panose="02040503050406030204" pitchFamily="18" charset="0"/>
                                    </a:rPr>
                                    <m:t>𝑏</m:t>
                                  </m:r>
                                </m:e>
                                <m:sub>
                                  <m:r>
                                    <a:rPr lang="en-US" sz="2800" i="1">
                                      <a:latin typeface="Cambria Math" panose="02040503050406030204" pitchFamily="18" charset="0"/>
                                    </a:rPr>
                                    <m:t>3</m:t>
                                  </m:r>
                                </m:sub>
                              </m:sSub>
                            </m:e>
                          </m:d>
                        </m:den>
                      </m:f>
                      <m:r>
                        <a:rPr lang="en-US" sz="2800" i="1">
                          <a:latin typeface="Cambria Math" panose="02040503050406030204" pitchFamily="18" charset="0"/>
                        </a:rPr>
                        <m:t>=16.8</m:t>
                      </m:r>
                    </m:oMath>
                  </m:oMathPara>
                </a14:m>
                <a:endParaRPr lang="en-US" sz="2800" dirty="0"/>
              </a:p>
            </p:txBody>
          </p:sp>
        </mc:Choice>
        <mc:Fallback xmlns="">
          <p:sp>
            <p:nvSpPr>
              <p:cNvPr id="8" name="Rectangle 7">
                <a:extLst>
                  <a:ext uri="{FF2B5EF4-FFF2-40B4-BE49-F238E27FC236}">
                    <a16:creationId xmlns:a16="http://schemas.microsoft.com/office/drawing/2014/main" id="{52097BA6-AD51-45E6-8EFB-1C177148200D}"/>
                  </a:ext>
                </a:extLst>
              </p:cNvPr>
              <p:cNvSpPr>
                <a:spLocks noRot="1" noChangeAspect="1" noMove="1" noResize="1" noEditPoints="1" noAdjustHandles="1" noChangeArrowheads="1" noChangeShapeType="1" noTextEdit="1"/>
              </p:cNvSpPr>
              <p:nvPr/>
            </p:nvSpPr>
            <p:spPr>
              <a:xfrm>
                <a:off x="2638532" y="4744657"/>
                <a:ext cx="2543068" cy="983218"/>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Rectangle 8">
                <a:extLst>
                  <a:ext uri="{FF2B5EF4-FFF2-40B4-BE49-F238E27FC236}">
                    <a16:creationId xmlns:a16="http://schemas.microsoft.com/office/drawing/2014/main" id="{F102CA99-3C47-4223-B5F3-37625A19033B}"/>
                  </a:ext>
                </a:extLst>
              </p:cNvPr>
              <p:cNvSpPr/>
              <p:nvPr/>
            </p:nvSpPr>
            <p:spPr>
              <a:xfrm>
                <a:off x="5243986" y="1927003"/>
                <a:ext cx="2743200" cy="944169"/>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m:rPr>
                          <m:nor/>
                        </m:rPr>
                        <a:rPr lang="en-US" sz="2800" dirty="0"/>
                        <m:t>“</m:t>
                      </m:r>
                      <m:r>
                        <m:rPr>
                          <m:nor/>
                        </m:rPr>
                        <a:rPr lang="en-US" sz="2800" dirty="0"/>
                        <m:t>Pre</m:t>
                      </m:r>
                      <m:r>
                        <m:rPr>
                          <m:nor/>
                        </m:rPr>
                        <a:rPr lang="en-US" sz="2800" dirty="0"/>
                        <m:t>” </m:t>
                      </m:r>
                      <m:r>
                        <m:rPr>
                          <m:nor/>
                        </m:rPr>
                        <a:rPr lang="en-US" sz="2800" dirty="0"/>
                        <m:t>average</m:t>
                      </m:r>
                      <m:r>
                        <m:rPr>
                          <m:nor/>
                        </m:rPr>
                        <a:rPr lang="en-US" sz="2800" dirty="0"/>
                        <m:t> </m:t>
                      </m:r>
                      <m:r>
                        <m:rPr>
                          <m:nor/>
                        </m:rPr>
                        <a:rPr lang="en-US" sz="2800" dirty="0"/>
                        <m:t>for</m:t>
                      </m:r>
                      <m:r>
                        <m:rPr>
                          <m:nor/>
                        </m:rPr>
                        <a:rPr lang="en-US" sz="2800" dirty="0"/>
                        <m:t> </m:t>
                      </m:r>
                      <m:r>
                        <m:rPr>
                          <m:nor/>
                        </m:rPr>
                        <a:rPr lang="en-US" sz="2800" dirty="0"/>
                        <m:t>control</m:t>
                      </m:r>
                      <m:r>
                        <m:rPr>
                          <m:nor/>
                        </m:rPr>
                        <a:rPr lang="en-US" sz="2800" dirty="0"/>
                        <m:t> </m:t>
                      </m:r>
                      <m:r>
                        <m:rPr>
                          <m:nor/>
                        </m:rPr>
                        <a:rPr lang="en-US" sz="2800" dirty="0"/>
                        <m:t>group</m:t>
                      </m:r>
                    </m:oMath>
                  </m:oMathPara>
                </a14:m>
                <a:endParaRPr lang="en-US" sz="2800" dirty="0"/>
              </a:p>
            </p:txBody>
          </p:sp>
        </mc:Choice>
        <mc:Fallback xmlns="">
          <p:sp>
            <p:nvSpPr>
              <p:cNvPr id="9" name="Rectangle 8">
                <a:extLst>
                  <a:ext uri="{FF2B5EF4-FFF2-40B4-BE49-F238E27FC236}">
                    <a16:creationId xmlns:a16="http://schemas.microsoft.com/office/drawing/2014/main" id="{F102CA99-3C47-4223-B5F3-37625A19033B}"/>
                  </a:ext>
                </a:extLst>
              </p:cNvPr>
              <p:cNvSpPr>
                <a:spLocks noRot="1" noChangeAspect="1" noMove="1" noResize="1" noEditPoints="1" noAdjustHandles="1" noChangeArrowheads="1" noChangeShapeType="1" noTextEdit="1"/>
              </p:cNvSpPr>
              <p:nvPr/>
            </p:nvSpPr>
            <p:spPr>
              <a:xfrm>
                <a:off x="5243986" y="1927003"/>
                <a:ext cx="2743200" cy="944169"/>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Rectangle 9">
                <a:extLst>
                  <a:ext uri="{FF2B5EF4-FFF2-40B4-BE49-F238E27FC236}">
                    <a16:creationId xmlns:a16="http://schemas.microsoft.com/office/drawing/2014/main" id="{668A2E73-7A98-47F8-843F-B3D14C71E9B3}"/>
                  </a:ext>
                </a:extLst>
              </p:cNvPr>
              <p:cNvSpPr/>
              <p:nvPr/>
            </p:nvSpPr>
            <p:spPr>
              <a:xfrm>
                <a:off x="5132901" y="2881088"/>
                <a:ext cx="3200400" cy="944169"/>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m:rPr>
                          <m:nor/>
                        </m:rPr>
                        <a:rPr lang="en-US" sz="2800" dirty="0"/>
                        <m:t>(“</m:t>
                      </m:r>
                      <m:r>
                        <m:rPr>
                          <m:nor/>
                        </m:rPr>
                        <a:rPr lang="en-US" sz="2800" dirty="0"/>
                        <m:t>Post</m:t>
                      </m:r>
                      <m:r>
                        <m:rPr>
                          <m:nor/>
                        </m:rPr>
                        <a:rPr lang="en-US" sz="2800" dirty="0"/>
                        <m:t>” – “</m:t>
                      </m:r>
                      <m:r>
                        <m:rPr>
                          <m:nor/>
                        </m:rPr>
                        <a:rPr lang="en-US" sz="2800" dirty="0"/>
                        <m:t>Pre</m:t>
                      </m:r>
                      <m:r>
                        <m:rPr>
                          <m:nor/>
                        </m:rPr>
                        <a:rPr lang="en-US" sz="2800" dirty="0"/>
                        <m:t>”) </m:t>
                      </m:r>
                      <m:r>
                        <m:rPr>
                          <m:nor/>
                        </m:rPr>
                        <a:rPr lang="en-US" sz="2800" dirty="0"/>
                        <m:t>for</m:t>
                      </m:r>
                      <m:r>
                        <m:rPr>
                          <m:nor/>
                        </m:rPr>
                        <a:rPr lang="en-US" sz="2800" dirty="0"/>
                        <m:t> </m:t>
                      </m:r>
                      <m:r>
                        <m:rPr>
                          <m:nor/>
                        </m:rPr>
                        <a:rPr lang="en-US" sz="2800" dirty="0"/>
                        <m:t>control</m:t>
                      </m:r>
                      <m:r>
                        <m:rPr>
                          <m:nor/>
                        </m:rPr>
                        <a:rPr lang="en-US" sz="2800" dirty="0"/>
                        <m:t> </m:t>
                      </m:r>
                      <m:r>
                        <m:rPr>
                          <m:nor/>
                        </m:rPr>
                        <a:rPr lang="en-US" sz="2800" dirty="0"/>
                        <m:t>group</m:t>
                      </m:r>
                      <m:r>
                        <m:rPr>
                          <m:nor/>
                        </m:rPr>
                        <a:rPr lang="en-US" sz="2800" dirty="0"/>
                        <m:t> </m:t>
                      </m:r>
                      <m:r>
                        <m:rPr>
                          <m:nor/>
                        </m:rPr>
                        <a:rPr lang="en-US" sz="2800" dirty="0"/>
                        <m:t>ONLY</m:t>
                      </m:r>
                    </m:oMath>
                  </m:oMathPara>
                </a14:m>
                <a:endParaRPr lang="en-US" sz="2800" dirty="0"/>
              </a:p>
            </p:txBody>
          </p:sp>
        </mc:Choice>
        <mc:Fallback xmlns="">
          <p:sp>
            <p:nvSpPr>
              <p:cNvPr id="10" name="Rectangle 9">
                <a:extLst>
                  <a:ext uri="{FF2B5EF4-FFF2-40B4-BE49-F238E27FC236}">
                    <a16:creationId xmlns:a16="http://schemas.microsoft.com/office/drawing/2014/main" id="{668A2E73-7A98-47F8-843F-B3D14C71E9B3}"/>
                  </a:ext>
                </a:extLst>
              </p:cNvPr>
              <p:cNvSpPr>
                <a:spLocks noRot="1" noChangeAspect="1" noMove="1" noResize="1" noEditPoints="1" noAdjustHandles="1" noChangeArrowheads="1" noChangeShapeType="1" noTextEdit="1"/>
              </p:cNvSpPr>
              <p:nvPr/>
            </p:nvSpPr>
            <p:spPr>
              <a:xfrm>
                <a:off x="5132901" y="2881088"/>
                <a:ext cx="3200400" cy="944169"/>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Rectangle 10">
                <a:extLst>
                  <a:ext uri="{FF2B5EF4-FFF2-40B4-BE49-F238E27FC236}">
                    <a16:creationId xmlns:a16="http://schemas.microsoft.com/office/drawing/2014/main" id="{E064D2B8-9755-4854-A67E-FFEFE8E86A6B}"/>
                  </a:ext>
                </a:extLst>
              </p:cNvPr>
              <p:cNvSpPr/>
              <p:nvPr/>
            </p:nvSpPr>
            <p:spPr>
              <a:xfrm>
                <a:off x="4968144" y="3805424"/>
                <a:ext cx="3200400" cy="944169"/>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m:rPr>
                          <m:nor/>
                        </m:rPr>
                        <a:rPr lang="en-US" sz="2800" dirty="0"/>
                        <m:t>“</m:t>
                      </m:r>
                      <m:r>
                        <m:rPr>
                          <m:nor/>
                        </m:rPr>
                        <a:rPr lang="en-US" sz="2800" dirty="0"/>
                        <m:t>Pre</m:t>
                      </m:r>
                      <m:r>
                        <m:rPr>
                          <m:nor/>
                        </m:rPr>
                        <a:rPr lang="en-US" sz="2800" dirty="0"/>
                        <m:t>” </m:t>
                      </m:r>
                      <m:r>
                        <m:rPr>
                          <m:nor/>
                        </m:rPr>
                        <a:rPr lang="en-US" sz="2800" dirty="0"/>
                        <m:t>Difference</m:t>
                      </m:r>
                      <m:r>
                        <m:rPr>
                          <m:nor/>
                        </m:rPr>
                        <a:rPr lang="en-US" sz="2800" dirty="0"/>
                        <m:t> </m:t>
                      </m:r>
                      <m:r>
                        <m:rPr>
                          <m:nor/>
                        </m:rPr>
                        <a:rPr lang="en-US" sz="2800" dirty="0"/>
                        <m:t>between</m:t>
                      </m:r>
                      <m:r>
                        <m:rPr>
                          <m:nor/>
                        </m:rPr>
                        <a:rPr lang="en-US" sz="2800" dirty="0"/>
                        <m:t> </m:t>
                      </m:r>
                      <m:r>
                        <m:rPr>
                          <m:nor/>
                        </m:rPr>
                        <a:rPr lang="en-US" sz="2800" dirty="0"/>
                        <m:t>T</m:t>
                      </m:r>
                      <m:r>
                        <m:rPr>
                          <m:nor/>
                        </m:rPr>
                        <a:rPr lang="en-US" sz="2800" dirty="0"/>
                        <m:t> </m:t>
                      </m:r>
                      <m:r>
                        <m:rPr>
                          <m:nor/>
                        </m:rPr>
                        <a:rPr lang="en-US" sz="2800" dirty="0"/>
                        <m:t>and</m:t>
                      </m:r>
                      <m:r>
                        <m:rPr>
                          <m:nor/>
                        </m:rPr>
                        <a:rPr lang="en-US" sz="2800" dirty="0"/>
                        <m:t> </m:t>
                      </m:r>
                      <m:r>
                        <m:rPr>
                          <m:nor/>
                        </m:rPr>
                        <a:rPr lang="en-US" sz="2800" dirty="0"/>
                        <m:t>C</m:t>
                      </m:r>
                    </m:oMath>
                  </m:oMathPara>
                </a14:m>
                <a:endParaRPr lang="en-US" sz="2800" dirty="0"/>
              </a:p>
            </p:txBody>
          </p:sp>
        </mc:Choice>
        <mc:Fallback xmlns="">
          <p:sp>
            <p:nvSpPr>
              <p:cNvPr id="11" name="Rectangle 10">
                <a:extLst>
                  <a:ext uri="{FF2B5EF4-FFF2-40B4-BE49-F238E27FC236}">
                    <a16:creationId xmlns:a16="http://schemas.microsoft.com/office/drawing/2014/main" id="{E064D2B8-9755-4854-A67E-FFEFE8E86A6B}"/>
                  </a:ext>
                </a:extLst>
              </p:cNvPr>
              <p:cNvSpPr>
                <a:spLocks noRot="1" noChangeAspect="1" noMove="1" noResize="1" noEditPoints="1" noAdjustHandles="1" noChangeArrowheads="1" noChangeShapeType="1" noTextEdit="1"/>
              </p:cNvSpPr>
              <p:nvPr/>
            </p:nvSpPr>
            <p:spPr>
              <a:xfrm>
                <a:off x="4968144" y="3805424"/>
                <a:ext cx="3200400" cy="944169"/>
              </a:xfrm>
              <a:prstGeom prst="rect">
                <a:avLst/>
              </a:prstGeom>
              <a:blipFill>
                <a:blip r:embed="rId8"/>
                <a:stretch>
                  <a:fillRect/>
                </a:stretch>
              </a:blipFill>
            </p:spPr>
            <p:txBody>
              <a:bodyPr/>
              <a:lstStyle/>
              <a:p>
                <a:r>
                  <a:rPr lang="en-US">
                    <a:noFill/>
                  </a:rPr>
                  <a:t> </a:t>
                </a:r>
              </a:p>
            </p:txBody>
          </p:sp>
        </mc:Fallback>
      </mc:AlternateContent>
      <p:sp>
        <p:nvSpPr>
          <p:cNvPr id="12" name="Rectangle 11">
            <a:extLst>
              <a:ext uri="{FF2B5EF4-FFF2-40B4-BE49-F238E27FC236}">
                <a16:creationId xmlns:a16="http://schemas.microsoft.com/office/drawing/2014/main" id="{76DB58FF-8B40-4777-BD0C-2AF032D8D9CE}"/>
              </a:ext>
            </a:extLst>
          </p:cNvPr>
          <p:cNvSpPr/>
          <p:nvPr/>
        </p:nvSpPr>
        <p:spPr>
          <a:xfrm>
            <a:off x="5363577" y="4898332"/>
            <a:ext cx="1047082" cy="523220"/>
          </a:xfrm>
          <a:prstGeom prst="rect">
            <a:avLst/>
          </a:prstGeom>
        </p:spPr>
        <p:txBody>
          <a:bodyPr wrap="none">
            <a:spAutoFit/>
          </a:bodyPr>
          <a:lstStyle/>
          <a:p>
            <a:r>
              <a:rPr lang="en-US" sz="2800" dirty="0"/>
              <a:t>D-</a:t>
            </a:r>
            <a:r>
              <a:rPr lang="en-US" sz="2800" dirty="0" err="1"/>
              <a:t>i</a:t>
            </a:r>
            <a:r>
              <a:rPr lang="en-US" sz="2800" dirty="0"/>
              <a:t>-D!</a:t>
            </a:r>
          </a:p>
        </p:txBody>
      </p:sp>
    </p:spTree>
    <p:extLst>
      <p:ext uri="{BB962C8B-B14F-4D97-AF65-F5344CB8AC3E}">
        <p14:creationId xmlns:p14="http://schemas.microsoft.com/office/powerpoint/2010/main" val="3875854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P spid="7" grpId="0"/>
      <p:bldP spid="8" grpId="0"/>
      <p:bldP spid="9" grpId="0"/>
      <p:bldP spid="10" grpId="0"/>
      <p:bldP spid="11" grpId="0"/>
      <p:bldP spid="12" grpId="0"/>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Switching gears: Pitfalls</a:t>
            </a:r>
          </a:p>
        </p:txBody>
      </p:sp>
      <p:sp>
        <p:nvSpPr>
          <p:cNvPr id="3" name="Content Placeholder 2"/>
          <p:cNvSpPr>
            <a:spLocks noGrp="1"/>
          </p:cNvSpPr>
          <p:nvPr>
            <p:ph idx="1"/>
          </p:nvPr>
        </p:nvSpPr>
        <p:spPr/>
        <p:txBody>
          <a:bodyPr/>
          <a:lstStyle/>
          <a:p>
            <a:pPr marL="0" indent="0">
              <a:buNone/>
            </a:pPr>
            <a:r>
              <a:rPr lang="en-US" dirty="0"/>
              <a:t>Diff-in-diff is a great tool, but we need to be mindful of how it can tell us different stories, and some potential problems with it.</a:t>
            </a:r>
          </a:p>
          <a:p>
            <a:pPr marL="0" indent="0">
              <a:buNone/>
            </a:pPr>
            <a:endParaRPr lang="en-US" dirty="0"/>
          </a:p>
          <a:p>
            <a:pPr marL="0" indent="0">
              <a:buNone/>
            </a:pPr>
            <a:r>
              <a:rPr lang="en-US" dirty="0"/>
              <a:t>Basically, we need to be aware of instances when we have data that don’t look like the example we just analyzed.</a:t>
            </a:r>
          </a:p>
        </p:txBody>
      </p:sp>
    </p:spTree>
    <p:extLst>
      <p:ext uri="{BB962C8B-B14F-4D97-AF65-F5344CB8AC3E}">
        <p14:creationId xmlns:p14="http://schemas.microsoft.com/office/powerpoint/2010/main" val="1606123481"/>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 Problematic D-i-D</a:t>
            </a:r>
          </a:p>
        </p:txBody>
      </p:sp>
      <p:sp>
        <p:nvSpPr>
          <p:cNvPr id="3" name="Content Placeholder 2"/>
          <p:cNvSpPr>
            <a:spLocks noGrp="1"/>
          </p:cNvSpPr>
          <p:nvPr>
            <p:ph idx="1"/>
          </p:nvPr>
        </p:nvSpPr>
        <p:spPr/>
        <p:txBody>
          <a:bodyPr/>
          <a:lstStyle/>
          <a:p>
            <a:pPr marL="0" indent="0">
              <a:buNone/>
            </a:pPr>
            <a:r>
              <a:rPr lang="en-US" dirty="0"/>
              <a:t>Suppose instead that we had something like this:</a:t>
            </a:r>
          </a:p>
          <a:p>
            <a:pPr marL="0" indent="0">
              <a:buNone/>
            </a:pPr>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834517291"/>
              </p:ext>
            </p:extLst>
          </p:nvPr>
        </p:nvGraphicFramePr>
        <p:xfrm>
          <a:off x="533400" y="3048000"/>
          <a:ext cx="7985760" cy="2499360"/>
        </p:xfrm>
        <a:graphic>
          <a:graphicData uri="http://schemas.openxmlformats.org/drawingml/2006/table">
            <a:tbl>
              <a:tblPr firstRow="1" bandRow="1">
                <a:tableStyleId>{5940675A-B579-460E-94D1-54222C63F5DA}</a:tableStyleId>
              </a:tblPr>
              <a:tblGrid>
                <a:gridCol w="1295400">
                  <a:extLst>
                    <a:ext uri="{9D8B030D-6E8A-4147-A177-3AD203B41FA5}">
                      <a16:colId xmlns:a16="http://schemas.microsoft.com/office/drawing/2014/main" val="20000"/>
                    </a:ext>
                  </a:extLst>
                </a:gridCol>
                <a:gridCol w="2590800">
                  <a:extLst>
                    <a:ext uri="{9D8B030D-6E8A-4147-A177-3AD203B41FA5}">
                      <a16:colId xmlns:a16="http://schemas.microsoft.com/office/drawing/2014/main" val="20001"/>
                    </a:ext>
                  </a:extLst>
                </a:gridCol>
                <a:gridCol w="2362200">
                  <a:extLst>
                    <a:ext uri="{9D8B030D-6E8A-4147-A177-3AD203B41FA5}">
                      <a16:colId xmlns:a16="http://schemas.microsoft.com/office/drawing/2014/main" val="20002"/>
                    </a:ext>
                  </a:extLst>
                </a:gridCol>
                <a:gridCol w="1737360">
                  <a:extLst>
                    <a:ext uri="{9D8B030D-6E8A-4147-A177-3AD203B41FA5}">
                      <a16:colId xmlns:a16="http://schemas.microsoft.com/office/drawing/2014/main" val="20003"/>
                    </a:ext>
                  </a:extLst>
                </a:gridCol>
              </a:tblGrid>
              <a:tr h="370840">
                <a:tc>
                  <a:txBody>
                    <a:bodyPr/>
                    <a:lstStyle/>
                    <a:p>
                      <a:pPr marL="0" marR="0">
                        <a:lnSpc>
                          <a:spcPct val="115000"/>
                        </a:lnSpc>
                        <a:spcBef>
                          <a:spcPts val="0"/>
                        </a:spcBef>
                        <a:spcAft>
                          <a:spcPts val="0"/>
                        </a:spcAft>
                      </a:pPr>
                      <a:r>
                        <a:rPr lang="en-US" sz="1100" dirty="0">
                          <a:effectLst/>
                          <a:latin typeface="Times New Roman"/>
                          <a:ea typeface="Times New Roman"/>
                          <a:cs typeface="Times New Roman"/>
                        </a:rPr>
                        <a:t> </a:t>
                      </a:r>
                      <a:endParaRPr lang="en-US" sz="1100" dirty="0">
                        <a:effectLst/>
                        <a:latin typeface="Calibri"/>
                        <a:ea typeface="Calibri"/>
                        <a:cs typeface="Times New Roman"/>
                      </a:endParaRPr>
                    </a:p>
                  </a:txBody>
                  <a:tcPr marL="68580" marR="68580" marT="0" marB="0"/>
                </a:tc>
                <a:tc>
                  <a:txBody>
                    <a:bodyPr/>
                    <a:lstStyle/>
                    <a:p>
                      <a:pPr algn="ctr"/>
                      <a:r>
                        <a:rPr lang="en-US" sz="2000" dirty="0"/>
                        <a:t>Pre-treatment average</a:t>
                      </a:r>
                      <a:r>
                        <a:rPr lang="en-US" sz="2000" baseline="0" dirty="0"/>
                        <a:t> productivity</a:t>
                      </a:r>
                      <a:endParaRPr lang="en-US" sz="2000" dirty="0"/>
                    </a:p>
                  </a:txBody>
                  <a:tcPr anchor="ctr"/>
                </a:tc>
                <a:tc>
                  <a:txBody>
                    <a:bodyPr/>
                    <a:lstStyle/>
                    <a:p>
                      <a:pPr algn="ctr"/>
                      <a:r>
                        <a:rPr lang="en-US" sz="2000" dirty="0"/>
                        <a:t>Post-treatment</a:t>
                      </a:r>
                    </a:p>
                    <a:p>
                      <a:pPr algn="ctr"/>
                      <a:r>
                        <a:rPr lang="en-US" sz="2000" dirty="0"/>
                        <a:t>average</a:t>
                      </a:r>
                      <a:r>
                        <a:rPr lang="en-US" sz="2000" baseline="0" dirty="0"/>
                        <a:t> productivity</a:t>
                      </a:r>
                      <a:endParaRPr lang="en-US" sz="2000" dirty="0"/>
                    </a:p>
                  </a:txBody>
                  <a:tcPr anchor="ctr"/>
                </a:tc>
                <a:tc>
                  <a:txBody>
                    <a:bodyPr/>
                    <a:lstStyle/>
                    <a:p>
                      <a:pPr algn="ctr"/>
                      <a:r>
                        <a:rPr lang="en-US" sz="2000" dirty="0"/>
                        <a:t>Difference</a:t>
                      </a:r>
                    </a:p>
                  </a:txBody>
                  <a:tcPr anchor="ctr"/>
                </a:tc>
                <a:extLst>
                  <a:ext uri="{0D108BD9-81ED-4DB2-BD59-A6C34878D82A}">
                    <a16:rowId xmlns:a16="http://schemas.microsoft.com/office/drawing/2014/main" val="10000"/>
                  </a:ext>
                </a:extLst>
              </a:tr>
              <a:tr h="370840">
                <a:tc>
                  <a:txBody>
                    <a:bodyPr/>
                    <a:lstStyle/>
                    <a:p>
                      <a:r>
                        <a:rPr lang="en-US" sz="2000" dirty="0"/>
                        <a:t>Treatment </a:t>
                      </a:r>
                    </a:p>
                    <a:p>
                      <a:r>
                        <a:rPr lang="en-US" sz="2000" dirty="0"/>
                        <a:t>Group</a:t>
                      </a:r>
                    </a:p>
                  </a:txBody>
                  <a:tcPr/>
                </a:tc>
                <a:tc>
                  <a:txBody>
                    <a:bodyPr/>
                    <a:lstStyle/>
                    <a:p>
                      <a:pPr marL="0" marR="0" algn="ctr">
                        <a:lnSpc>
                          <a:spcPct val="115000"/>
                        </a:lnSpc>
                        <a:spcBef>
                          <a:spcPts val="0"/>
                        </a:spcBef>
                        <a:spcAft>
                          <a:spcPts val="0"/>
                        </a:spcAft>
                      </a:pPr>
                      <a:r>
                        <a:rPr lang="en-US" sz="2000" dirty="0">
                          <a:effectLst/>
                          <a:latin typeface="Times New Roman"/>
                          <a:ea typeface="Times New Roman"/>
                          <a:cs typeface="Times New Roman"/>
                        </a:rPr>
                        <a:t>$30</a:t>
                      </a:r>
                      <a:endParaRPr lang="en-US" sz="2000" dirty="0">
                        <a:effectLst/>
                        <a:latin typeface="Calibri"/>
                        <a:ea typeface="Calibri"/>
                        <a:cs typeface="Times New Roman"/>
                      </a:endParaRPr>
                    </a:p>
                  </a:txBody>
                  <a:tcPr marL="68580" marR="68580" marT="0" marB="0" anchor="ctr"/>
                </a:tc>
                <a:tc>
                  <a:txBody>
                    <a:bodyPr/>
                    <a:lstStyle/>
                    <a:p>
                      <a:pPr marL="0" marR="0" algn="ctr">
                        <a:lnSpc>
                          <a:spcPct val="115000"/>
                        </a:lnSpc>
                        <a:spcBef>
                          <a:spcPts val="0"/>
                        </a:spcBef>
                        <a:spcAft>
                          <a:spcPts val="0"/>
                        </a:spcAft>
                      </a:pPr>
                      <a:r>
                        <a:rPr lang="en-US" sz="2000">
                          <a:effectLst/>
                          <a:latin typeface="Times New Roman"/>
                          <a:ea typeface="Times New Roman"/>
                          <a:cs typeface="Times New Roman"/>
                        </a:rPr>
                        <a:t>$38</a:t>
                      </a:r>
                      <a:endParaRPr lang="en-US" sz="2000">
                        <a:effectLst/>
                        <a:latin typeface="Calibri"/>
                        <a:ea typeface="Calibri"/>
                        <a:cs typeface="Times New Roman"/>
                      </a:endParaRPr>
                    </a:p>
                  </a:txBody>
                  <a:tcPr marL="68580" marR="68580" marT="0" marB="0" anchor="ctr"/>
                </a:tc>
                <a:tc>
                  <a:txBody>
                    <a:bodyPr/>
                    <a:lstStyle/>
                    <a:p>
                      <a:pPr marL="0" marR="0" algn="ctr">
                        <a:lnSpc>
                          <a:spcPct val="115000"/>
                        </a:lnSpc>
                        <a:spcBef>
                          <a:spcPts val="0"/>
                        </a:spcBef>
                        <a:spcAft>
                          <a:spcPts val="0"/>
                        </a:spcAft>
                      </a:pPr>
                      <a:r>
                        <a:rPr lang="en-US" sz="2000" dirty="0">
                          <a:effectLst/>
                          <a:latin typeface="Times New Roman"/>
                          <a:ea typeface="Times New Roman"/>
                          <a:cs typeface="Times New Roman"/>
                        </a:rPr>
                        <a:t>+$8</a:t>
                      </a:r>
                      <a:endParaRPr lang="en-US" sz="2000" dirty="0">
                        <a:effectLst/>
                        <a:latin typeface="Calibri"/>
                        <a:ea typeface="Calibri"/>
                        <a:cs typeface="Times New Roman"/>
                      </a:endParaRPr>
                    </a:p>
                  </a:txBody>
                  <a:tcPr marL="68580" marR="68580" marT="0" marB="0" anchor="ctr"/>
                </a:tc>
                <a:extLst>
                  <a:ext uri="{0D108BD9-81ED-4DB2-BD59-A6C34878D82A}">
                    <a16:rowId xmlns:a16="http://schemas.microsoft.com/office/drawing/2014/main" val="10001"/>
                  </a:ext>
                </a:extLst>
              </a:tr>
              <a:tr h="370840">
                <a:tc>
                  <a:txBody>
                    <a:bodyPr/>
                    <a:lstStyle/>
                    <a:p>
                      <a:r>
                        <a:rPr lang="en-US" sz="2000" dirty="0"/>
                        <a:t>Control</a:t>
                      </a:r>
                    </a:p>
                    <a:p>
                      <a:r>
                        <a:rPr lang="en-US" sz="2000" dirty="0"/>
                        <a:t>Group</a:t>
                      </a:r>
                    </a:p>
                  </a:txBody>
                  <a:tcPr/>
                </a:tc>
                <a:tc>
                  <a:txBody>
                    <a:bodyPr/>
                    <a:lstStyle/>
                    <a:p>
                      <a:pPr marL="0" marR="0" algn="ctr">
                        <a:lnSpc>
                          <a:spcPct val="115000"/>
                        </a:lnSpc>
                        <a:spcBef>
                          <a:spcPts val="0"/>
                        </a:spcBef>
                        <a:spcAft>
                          <a:spcPts val="0"/>
                        </a:spcAft>
                      </a:pPr>
                      <a:r>
                        <a:rPr lang="en-US" sz="2000" dirty="0">
                          <a:effectLst/>
                          <a:latin typeface="Times New Roman"/>
                          <a:ea typeface="Times New Roman"/>
                          <a:cs typeface="Times New Roman"/>
                        </a:rPr>
                        <a:t>$11</a:t>
                      </a:r>
                      <a:endParaRPr lang="en-US" sz="2000" dirty="0">
                        <a:effectLst/>
                        <a:latin typeface="Calibri"/>
                        <a:ea typeface="Calibri"/>
                        <a:cs typeface="Times New Roman"/>
                      </a:endParaRPr>
                    </a:p>
                  </a:txBody>
                  <a:tcPr marL="68580" marR="68580" marT="0" marB="0" anchor="ctr"/>
                </a:tc>
                <a:tc>
                  <a:txBody>
                    <a:bodyPr/>
                    <a:lstStyle/>
                    <a:p>
                      <a:pPr marL="0" marR="0" algn="ctr">
                        <a:lnSpc>
                          <a:spcPct val="115000"/>
                        </a:lnSpc>
                        <a:spcBef>
                          <a:spcPts val="0"/>
                        </a:spcBef>
                        <a:spcAft>
                          <a:spcPts val="0"/>
                        </a:spcAft>
                      </a:pPr>
                      <a:r>
                        <a:rPr lang="en-US" sz="2000" dirty="0">
                          <a:effectLst/>
                          <a:latin typeface="Times New Roman"/>
                          <a:ea typeface="Times New Roman"/>
                          <a:cs typeface="Times New Roman"/>
                        </a:rPr>
                        <a:t>$13</a:t>
                      </a:r>
                      <a:endParaRPr lang="en-US" sz="2000" dirty="0">
                        <a:effectLst/>
                        <a:latin typeface="Calibri"/>
                        <a:ea typeface="Calibri"/>
                        <a:cs typeface="Times New Roman"/>
                      </a:endParaRPr>
                    </a:p>
                  </a:txBody>
                  <a:tcPr marL="68580" marR="68580" marT="0" marB="0" anchor="ctr"/>
                </a:tc>
                <a:tc>
                  <a:txBody>
                    <a:bodyPr/>
                    <a:lstStyle/>
                    <a:p>
                      <a:pPr marL="0" marR="0" algn="ctr">
                        <a:lnSpc>
                          <a:spcPct val="115000"/>
                        </a:lnSpc>
                        <a:spcBef>
                          <a:spcPts val="0"/>
                        </a:spcBef>
                        <a:spcAft>
                          <a:spcPts val="0"/>
                        </a:spcAft>
                      </a:pPr>
                      <a:r>
                        <a:rPr lang="en-US" sz="2000" dirty="0">
                          <a:effectLst/>
                          <a:latin typeface="Times New Roman"/>
                          <a:ea typeface="Times New Roman"/>
                          <a:cs typeface="Times New Roman"/>
                        </a:rPr>
                        <a:t>+$2</a:t>
                      </a:r>
                      <a:endParaRPr lang="en-US" sz="2000" dirty="0">
                        <a:effectLst/>
                        <a:latin typeface="Calibri"/>
                        <a:ea typeface="Calibri"/>
                        <a:cs typeface="Times New Roman"/>
                      </a:endParaRPr>
                    </a:p>
                  </a:txBody>
                  <a:tcPr marL="68580" marR="68580" marT="0" marB="0" anchor="ctr"/>
                </a:tc>
                <a:extLst>
                  <a:ext uri="{0D108BD9-81ED-4DB2-BD59-A6C34878D82A}">
                    <a16:rowId xmlns:a16="http://schemas.microsoft.com/office/drawing/2014/main" val="10002"/>
                  </a:ext>
                </a:extLst>
              </a:tr>
              <a:tr h="370840">
                <a:tc>
                  <a:txBody>
                    <a:bodyPr/>
                    <a:lstStyle/>
                    <a:p>
                      <a:endParaRPr lang="en-US"/>
                    </a:p>
                  </a:txBody>
                  <a:tcPr/>
                </a:tc>
                <a:tc gridSpan="2">
                  <a:txBody>
                    <a:bodyPr/>
                    <a:lstStyle/>
                    <a:p>
                      <a:r>
                        <a:rPr lang="en-US" sz="2000" dirty="0"/>
                        <a:t>Difference-in-Differences</a:t>
                      </a:r>
                    </a:p>
                  </a:txBody>
                  <a:tcPr/>
                </a:tc>
                <a:tc hMerge="1">
                  <a:txBody>
                    <a:bodyPr/>
                    <a:lstStyle/>
                    <a:p>
                      <a:endParaRPr lang="en-US" sz="2000" dirty="0"/>
                    </a:p>
                  </a:txBody>
                  <a:tcPr/>
                </a:tc>
                <a:tc>
                  <a:txBody>
                    <a:bodyPr/>
                    <a:lstStyle/>
                    <a:p>
                      <a:r>
                        <a:rPr lang="en-US" sz="2000" kern="1200" dirty="0"/>
                        <a:t>$8 – ($2) = +$6</a:t>
                      </a:r>
                      <a:endParaRPr lang="en-US" sz="2000" dirty="0"/>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756219358"/>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 Problematic D-i-D</a:t>
            </a:r>
          </a:p>
        </p:txBody>
      </p:sp>
      <p:sp>
        <p:nvSpPr>
          <p:cNvPr id="3" name="Content Placeholder 2"/>
          <p:cNvSpPr>
            <a:spLocks noGrp="1"/>
          </p:cNvSpPr>
          <p:nvPr>
            <p:ph idx="1"/>
          </p:nvPr>
        </p:nvSpPr>
        <p:spPr/>
        <p:txBody>
          <a:bodyPr/>
          <a:lstStyle/>
          <a:p>
            <a:pPr marL="0" indent="0">
              <a:buNone/>
            </a:pPr>
            <a:r>
              <a:rPr lang="en-US" dirty="0"/>
              <a:t>Problem: pre-treatment differences between the groups</a:t>
            </a:r>
          </a:p>
          <a:p>
            <a:pPr marL="0" indent="0">
              <a:buNone/>
            </a:pPr>
            <a:endParaRPr lang="en-US" dirty="0"/>
          </a:p>
          <a:p>
            <a:pPr marL="0" indent="0">
              <a:buNone/>
            </a:pPr>
            <a:r>
              <a:rPr lang="en-US" dirty="0"/>
              <a:t>What might that imply?</a:t>
            </a:r>
          </a:p>
          <a:p>
            <a:pPr marL="0" indent="0">
              <a:buNone/>
            </a:pPr>
            <a:endParaRPr lang="en-US" dirty="0"/>
          </a:p>
          <a:p>
            <a:pPr marL="0" indent="0">
              <a:buNone/>
            </a:pPr>
            <a:r>
              <a:rPr lang="en-US" dirty="0"/>
              <a:t>Is there a fix?</a:t>
            </a:r>
          </a:p>
        </p:txBody>
      </p:sp>
    </p:spTree>
    <p:extLst>
      <p:ext uri="{BB962C8B-B14F-4D97-AF65-F5344CB8AC3E}">
        <p14:creationId xmlns:p14="http://schemas.microsoft.com/office/powerpoint/2010/main" val="1035242953"/>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 D-i-D that tells a different story</a:t>
            </a:r>
          </a:p>
        </p:txBody>
      </p:sp>
      <p:sp>
        <p:nvSpPr>
          <p:cNvPr id="3" name="Content Placeholder 2"/>
          <p:cNvSpPr>
            <a:spLocks noGrp="1"/>
          </p:cNvSpPr>
          <p:nvPr>
            <p:ph idx="1"/>
          </p:nvPr>
        </p:nvSpPr>
        <p:spPr/>
        <p:txBody>
          <a:bodyPr/>
          <a:lstStyle/>
          <a:p>
            <a:pPr marL="0" indent="0">
              <a:buNone/>
            </a:pPr>
            <a:r>
              <a:rPr lang="en-US" dirty="0"/>
              <a:t>Now suppose instead that we have something like this:</a:t>
            </a:r>
          </a:p>
          <a:p>
            <a:pPr marL="0" indent="0">
              <a:buNone/>
            </a:pPr>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3979120469"/>
              </p:ext>
            </p:extLst>
          </p:nvPr>
        </p:nvGraphicFramePr>
        <p:xfrm>
          <a:off x="609600" y="3048000"/>
          <a:ext cx="7848600" cy="2499360"/>
        </p:xfrm>
        <a:graphic>
          <a:graphicData uri="http://schemas.openxmlformats.org/drawingml/2006/table">
            <a:tbl>
              <a:tblPr firstRow="1" bandRow="1">
                <a:tableStyleId>{5940675A-B579-460E-94D1-54222C63F5DA}</a:tableStyleId>
              </a:tblPr>
              <a:tblGrid>
                <a:gridCol w="1295400">
                  <a:extLst>
                    <a:ext uri="{9D8B030D-6E8A-4147-A177-3AD203B41FA5}">
                      <a16:colId xmlns:a16="http://schemas.microsoft.com/office/drawing/2014/main" val="20000"/>
                    </a:ext>
                  </a:extLst>
                </a:gridCol>
                <a:gridCol w="2438400">
                  <a:extLst>
                    <a:ext uri="{9D8B030D-6E8A-4147-A177-3AD203B41FA5}">
                      <a16:colId xmlns:a16="http://schemas.microsoft.com/office/drawing/2014/main" val="20001"/>
                    </a:ext>
                  </a:extLst>
                </a:gridCol>
                <a:gridCol w="2362200">
                  <a:extLst>
                    <a:ext uri="{9D8B030D-6E8A-4147-A177-3AD203B41FA5}">
                      <a16:colId xmlns:a16="http://schemas.microsoft.com/office/drawing/2014/main" val="20002"/>
                    </a:ext>
                  </a:extLst>
                </a:gridCol>
                <a:gridCol w="1752600">
                  <a:extLst>
                    <a:ext uri="{9D8B030D-6E8A-4147-A177-3AD203B41FA5}">
                      <a16:colId xmlns:a16="http://schemas.microsoft.com/office/drawing/2014/main" val="20003"/>
                    </a:ext>
                  </a:extLst>
                </a:gridCol>
              </a:tblGrid>
              <a:tr h="370840">
                <a:tc>
                  <a:txBody>
                    <a:bodyPr/>
                    <a:lstStyle/>
                    <a:p>
                      <a:pPr marL="0" marR="0">
                        <a:lnSpc>
                          <a:spcPct val="115000"/>
                        </a:lnSpc>
                        <a:spcBef>
                          <a:spcPts val="0"/>
                        </a:spcBef>
                        <a:spcAft>
                          <a:spcPts val="0"/>
                        </a:spcAft>
                      </a:pPr>
                      <a:r>
                        <a:rPr lang="en-US" sz="1100" dirty="0">
                          <a:effectLst/>
                          <a:latin typeface="Times New Roman"/>
                          <a:ea typeface="Times New Roman"/>
                          <a:cs typeface="Times New Roman"/>
                        </a:rPr>
                        <a:t> </a:t>
                      </a:r>
                      <a:endParaRPr lang="en-US" sz="1100" dirty="0">
                        <a:effectLst/>
                        <a:latin typeface="Calibri"/>
                        <a:ea typeface="Calibri"/>
                        <a:cs typeface="Times New Roman"/>
                      </a:endParaRPr>
                    </a:p>
                  </a:txBody>
                  <a:tcPr marL="68580" marR="68580" marT="0" marB="0"/>
                </a:tc>
                <a:tc>
                  <a:txBody>
                    <a:bodyPr/>
                    <a:lstStyle/>
                    <a:p>
                      <a:pPr algn="ctr"/>
                      <a:r>
                        <a:rPr lang="en-US" sz="2000" dirty="0"/>
                        <a:t>Pre-treatment average</a:t>
                      </a:r>
                      <a:r>
                        <a:rPr lang="en-US" sz="2000" baseline="0" dirty="0"/>
                        <a:t> productivity</a:t>
                      </a:r>
                      <a:endParaRPr lang="en-US" sz="2000" dirty="0"/>
                    </a:p>
                  </a:txBody>
                  <a:tcPr anchor="ctr"/>
                </a:tc>
                <a:tc>
                  <a:txBody>
                    <a:bodyPr/>
                    <a:lstStyle/>
                    <a:p>
                      <a:pPr algn="ctr"/>
                      <a:r>
                        <a:rPr lang="en-US" sz="2000" dirty="0"/>
                        <a:t>Post-treatment</a:t>
                      </a:r>
                    </a:p>
                    <a:p>
                      <a:pPr algn="ctr"/>
                      <a:r>
                        <a:rPr lang="en-US" sz="2000" dirty="0"/>
                        <a:t>average</a:t>
                      </a:r>
                      <a:r>
                        <a:rPr lang="en-US" sz="2000" baseline="0" dirty="0"/>
                        <a:t> productivity</a:t>
                      </a:r>
                      <a:endParaRPr lang="en-US" sz="2000" dirty="0"/>
                    </a:p>
                  </a:txBody>
                  <a:tcPr anchor="ctr"/>
                </a:tc>
                <a:tc>
                  <a:txBody>
                    <a:bodyPr/>
                    <a:lstStyle/>
                    <a:p>
                      <a:pPr algn="ctr"/>
                      <a:r>
                        <a:rPr lang="en-US" sz="2000" dirty="0"/>
                        <a:t>Difference</a:t>
                      </a:r>
                    </a:p>
                  </a:txBody>
                  <a:tcPr anchor="ctr"/>
                </a:tc>
                <a:extLst>
                  <a:ext uri="{0D108BD9-81ED-4DB2-BD59-A6C34878D82A}">
                    <a16:rowId xmlns:a16="http://schemas.microsoft.com/office/drawing/2014/main" val="10000"/>
                  </a:ext>
                </a:extLst>
              </a:tr>
              <a:tr h="370840">
                <a:tc>
                  <a:txBody>
                    <a:bodyPr/>
                    <a:lstStyle/>
                    <a:p>
                      <a:r>
                        <a:rPr lang="en-US" sz="2000" dirty="0"/>
                        <a:t>Treatment </a:t>
                      </a:r>
                    </a:p>
                    <a:p>
                      <a:r>
                        <a:rPr lang="en-US" sz="2000" dirty="0"/>
                        <a:t>Group</a:t>
                      </a:r>
                    </a:p>
                  </a:txBody>
                  <a:tcPr/>
                </a:tc>
                <a:tc>
                  <a:txBody>
                    <a:bodyPr/>
                    <a:lstStyle/>
                    <a:p>
                      <a:pPr marL="0" marR="0" algn="ctr">
                        <a:lnSpc>
                          <a:spcPct val="115000"/>
                        </a:lnSpc>
                        <a:spcBef>
                          <a:spcPts val="0"/>
                        </a:spcBef>
                        <a:spcAft>
                          <a:spcPts val="0"/>
                        </a:spcAft>
                      </a:pPr>
                      <a:r>
                        <a:rPr lang="en-US" sz="2000" dirty="0">
                          <a:effectLst/>
                          <a:latin typeface="Times New Roman"/>
                          <a:ea typeface="Times New Roman"/>
                          <a:cs typeface="Times New Roman"/>
                        </a:rPr>
                        <a:t>$12</a:t>
                      </a:r>
                      <a:endParaRPr lang="en-US" sz="2000" dirty="0">
                        <a:effectLst/>
                        <a:latin typeface="Calibri"/>
                        <a:ea typeface="Calibri"/>
                        <a:cs typeface="Times New Roman"/>
                      </a:endParaRPr>
                    </a:p>
                  </a:txBody>
                  <a:tcPr marL="68580" marR="68580" marT="0" marB="0" anchor="ctr"/>
                </a:tc>
                <a:tc>
                  <a:txBody>
                    <a:bodyPr/>
                    <a:lstStyle/>
                    <a:p>
                      <a:pPr marL="0" marR="0" algn="ctr">
                        <a:lnSpc>
                          <a:spcPct val="115000"/>
                        </a:lnSpc>
                        <a:spcBef>
                          <a:spcPts val="0"/>
                        </a:spcBef>
                        <a:spcAft>
                          <a:spcPts val="0"/>
                        </a:spcAft>
                      </a:pPr>
                      <a:r>
                        <a:rPr lang="en-US" sz="2000" dirty="0">
                          <a:effectLst/>
                          <a:latin typeface="Times New Roman"/>
                          <a:ea typeface="Times New Roman"/>
                          <a:cs typeface="Times New Roman"/>
                        </a:rPr>
                        <a:t>$20</a:t>
                      </a:r>
                      <a:endParaRPr lang="en-US" sz="2000" dirty="0">
                        <a:effectLst/>
                        <a:latin typeface="Calibri"/>
                        <a:ea typeface="Calibri"/>
                        <a:cs typeface="Times New Roman"/>
                      </a:endParaRPr>
                    </a:p>
                  </a:txBody>
                  <a:tcPr marL="68580" marR="68580" marT="0" marB="0" anchor="ctr"/>
                </a:tc>
                <a:tc>
                  <a:txBody>
                    <a:bodyPr/>
                    <a:lstStyle/>
                    <a:p>
                      <a:pPr marL="0" marR="0" algn="ctr">
                        <a:lnSpc>
                          <a:spcPct val="115000"/>
                        </a:lnSpc>
                        <a:spcBef>
                          <a:spcPts val="0"/>
                        </a:spcBef>
                        <a:spcAft>
                          <a:spcPts val="0"/>
                        </a:spcAft>
                      </a:pPr>
                      <a:r>
                        <a:rPr lang="en-US" sz="2000" dirty="0">
                          <a:effectLst/>
                          <a:latin typeface="Times New Roman"/>
                          <a:ea typeface="Times New Roman"/>
                          <a:cs typeface="Times New Roman"/>
                        </a:rPr>
                        <a:t>+$8</a:t>
                      </a:r>
                      <a:endParaRPr lang="en-US" sz="2000" dirty="0">
                        <a:effectLst/>
                        <a:latin typeface="Calibri"/>
                        <a:ea typeface="Calibri"/>
                        <a:cs typeface="Times New Roman"/>
                      </a:endParaRPr>
                    </a:p>
                  </a:txBody>
                  <a:tcPr marL="68580" marR="68580" marT="0" marB="0" anchor="ctr"/>
                </a:tc>
                <a:extLst>
                  <a:ext uri="{0D108BD9-81ED-4DB2-BD59-A6C34878D82A}">
                    <a16:rowId xmlns:a16="http://schemas.microsoft.com/office/drawing/2014/main" val="10001"/>
                  </a:ext>
                </a:extLst>
              </a:tr>
              <a:tr h="370840">
                <a:tc>
                  <a:txBody>
                    <a:bodyPr/>
                    <a:lstStyle/>
                    <a:p>
                      <a:r>
                        <a:rPr lang="en-US" sz="2000" dirty="0"/>
                        <a:t>Control</a:t>
                      </a:r>
                    </a:p>
                    <a:p>
                      <a:r>
                        <a:rPr lang="en-US" sz="2000" dirty="0"/>
                        <a:t>Group</a:t>
                      </a:r>
                    </a:p>
                  </a:txBody>
                  <a:tcPr/>
                </a:tc>
                <a:tc>
                  <a:txBody>
                    <a:bodyPr/>
                    <a:lstStyle/>
                    <a:p>
                      <a:pPr marL="0" marR="0" algn="ctr">
                        <a:lnSpc>
                          <a:spcPct val="115000"/>
                        </a:lnSpc>
                        <a:spcBef>
                          <a:spcPts val="0"/>
                        </a:spcBef>
                        <a:spcAft>
                          <a:spcPts val="0"/>
                        </a:spcAft>
                      </a:pPr>
                      <a:r>
                        <a:rPr lang="en-US" sz="2000" dirty="0">
                          <a:effectLst/>
                          <a:latin typeface="Times New Roman"/>
                          <a:ea typeface="Times New Roman"/>
                          <a:cs typeface="Times New Roman"/>
                        </a:rPr>
                        <a:t>$11</a:t>
                      </a:r>
                      <a:endParaRPr lang="en-US" sz="2000" dirty="0">
                        <a:effectLst/>
                        <a:latin typeface="Calibri"/>
                        <a:ea typeface="Calibri"/>
                        <a:cs typeface="Times New Roman"/>
                      </a:endParaRPr>
                    </a:p>
                  </a:txBody>
                  <a:tcPr marL="68580" marR="68580" marT="0" marB="0" anchor="ctr"/>
                </a:tc>
                <a:tc>
                  <a:txBody>
                    <a:bodyPr/>
                    <a:lstStyle/>
                    <a:p>
                      <a:pPr marL="0" marR="0" algn="ctr">
                        <a:lnSpc>
                          <a:spcPct val="115000"/>
                        </a:lnSpc>
                        <a:spcBef>
                          <a:spcPts val="0"/>
                        </a:spcBef>
                        <a:spcAft>
                          <a:spcPts val="0"/>
                        </a:spcAft>
                      </a:pPr>
                      <a:r>
                        <a:rPr lang="en-US" sz="2000" dirty="0">
                          <a:effectLst/>
                          <a:latin typeface="Times New Roman"/>
                          <a:ea typeface="Times New Roman"/>
                          <a:cs typeface="Times New Roman"/>
                        </a:rPr>
                        <a:t>$18</a:t>
                      </a:r>
                      <a:endParaRPr lang="en-US" sz="2000" dirty="0">
                        <a:effectLst/>
                        <a:latin typeface="Calibri"/>
                        <a:ea typeface="Calibri"/>
                        <a:cs typeface="Times New Roman"/>
                      </a:endParaRPr>
                    </a:p>
                  </a:txBody>
                  <a:tcPr marL="68580" marR="68580" marT="0" marB="0" anchor="ctr"/>
                </a:tc>
                <a:tc>
                  <a:txBody>
                    <a:bodyPr/>
                    <a:lstStyle/>
                    <a:p>
                      <a:pPr marL="0" marR="0" algn="ctr">
                        <a:lnSpc>
                          <a:spcPct val="115000"/>
                        </a:lnSpc>
                        <a:spcBef>
                          <a:spcPts val="0"/>
                        </a:spcBef>
                        <a:spcAft>
                          <a:spcPts val="0"/>
                        </a:spcAft>
                      </a:pPr>
                      <a:r>
                        <a:rPr lang="en-US" sz="2000" dirty="0">
                          <a:effectLst/>
                          <a:latin typeface="Times New Roman"/>
                          <a:ea typeface="Times New Roman"/>
                          <a:cs typeface="Times New Roman"/>
                        </a:rPr>
                        <a:t>+$7</a:t>
                      </a:r>
                      <a:endParaRPr lang="en-US" sz="2000" dirty="0">
                        <a:effectLst/>
                        <a:latin typeface="Calibri"/>
                        <a:ea typeface="Calibri"/>
                        <a:cs typeface="Times New Roman"/>
                      </a:endParaRPr>
                    </a:p>
                  </a:txBody>
                  <a:tcPr marL="68580" marR="68580" marT="0" marB="0" anchor="ctr"/>
                </a:tc>
                <a:extLst>
                  <a:ext uri="{0D108BD9-81ED-4DB2-BD59-A6C34878D82A}">
                    <a16:rowId xmlns:a16="http://schemas.microsoft.com/office/drawing/2014/main" val="10002"/>
                  </a:ext>
                </a:extLst>
              </a:tr>
              <a:tr h="370840">
                <a:tc>
                  <a:txBody>
                    <a:bodyPr/>
                    <a:lstStyle/>
                    <a:p>
                      <a:endParaRPr lang="en-US"/>
                    </a:p>
                  </a:txBody>
                  <a:tcPr/>
                </a:tc>
                <a:tc gridSpan="2">
                  <a:txBody>
                    <a:bodyPr/>
                    <a:lstStyle/>
                    <a:p>
                      <a:r>
                        <a:rPr lang="en-US" sz="2000" dirty="0"/>
                        <a:t>Difference-in-Differences</a:t>
                      </a:r>
                    </a:p>
                  </a:txBody>
                  <a:tcPr/>
                </a:tc>
                <a:tc hMerge="1">
                  <a:txBody>
                    <a:bodyPr/>
                    <a:lstStyle/>
                    <a:p>
                      <a:endParaRPr lang="en-US" sz="2000" dirty="0"/>
                    </a:p>
                  </a:txBody>
                  <a:tcPr/>
                </a:tc>
                <a:tc>
                  <a:txBody>
                    <a:bodyPr/>
                    <a:lstStyle/>
                    <a:p>
                      <a:r>
                        <a:rPr lang="en-US" sz="2000" kern="1200" dirty="0"/>
                        <a:t>$8 – ($7) = +$1</a:t>
                      </a:r>
                      <a:endParaRPr lang="en-US" sz="2000" dirty="0"/>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675698052"/>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 D-i-D that tells a different story</a:t>
            </a:r>
          </a:p>
        </p:txBody>
      </p:sp>
      <p:sp>
        <p:nvSpPr>
          <p:cNvPr id="3" name="Content Placeholder 2"/>
          <p:cNvSpPr>
            <a:spLocks noGrp="1"/>
          </p:cNvSpPr>
          <p:nvPr>
            <p:ph idx="1"/>
          </p:nvPr>
        </p:nvSpPr>
        <p:spPr/>
        <p:txBody>
          <a:bodyPr/>
          <a:lstStyle/>
          <a:p>
            <a:pPr marL="0" indent="0">
              <a:buNone/>
            </a:pPr>
            <a:r>
              <a:rPr lang="en-US" dirty="0"/>
              <a:t>Treatment group has a benefit, but control shows that they would have improved anyway.</a:t>
            </a:r>
          </a:p>
          <a:p>
            <a:pPr marL="0" indent="0">
              <a:buNone/>
            </a:pPr>
            <a:endParaRPr lang="en-US" dirty="0"/>
          </a:p>
          <a:p>
            <a:pPr marL="0" indent="0">
              <a:buNone/>
            </a:pPr>
            <a:r>
              <a:rPr lang="en-US" dirty="0"/>
              <a:t>What does this tell us?</a:t>
            </a:r>
          </a:p>
        </p:txBody>
      </p:sp>
    </p:spTree>
    <p:extLst>
      <p:ext uri="{BB962C8B-B14F-4D97-AF65-F5344CB8AC3E}">
        <p14:creationId xmlns:p14="http://schemas.microsoft.com/office/powerpoint/2010/main" val="3505121204"/>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Some other warning signs</a:t>
            </a:r>
          </a:p>
        </p:txBody>
      </p:sp>
      <p:sp>
        <p:nvSpPr>
          <p:cNvPr id="3" name="Content Placeholder 2"/>
          <p:cNvSpPr>
            <a:spLocks noGrp="1"/>
          </p:cNvSpPr>
          <p:nvPr>
            <p:ph idx="1"/>
          </p:nvPr>
        </p:nvSpPr>
        <p:spPr/>
        <p:txBody>
          <a:bodyPr/>
          <a:lstStyle/>
          <a:p>
            <a:pPr marL="514350" indent="-514350">
              <a:buAutoNum type="arabicParenBoth"/>
            </a:pPr>
            <a:r>
              <a:rPr lang="en-US" dirty="0"/>
              <a:t>Hawthorne effects?</a:t>
            </a:r>
          </a:p>
          <a:p>
            <a:pPr marL="514350" indent="-514350">
              <a:buAutoNum type="arabicParenBoth"/>
            </a:pPr>
            <a:r>
              <a:rPr lang="en-US" dirty="0"/>
              <a:t>Contamination of Control group by the Treatment group?</a:t>
            </a:r>
          </a:p>
          <a:p>
            <a:pPr marL="514350" indent="-514350">
              <a:buAutoNum type="arabicParenBoth"/>
            </a:pPr>
            <a:r>
              <a:rPr lang="en-US" dirty="0"/>
              <a:t>Event simultaneous with intervention that only impacts one group (Treatment OR Control group) but </a:t>
            </a:r>
            <a:r>
              <a:rPr lang="en-US" b="1" u="sng" dirty="0"/>
              <a:t>NOT</a:t>
            </a:r>
            <a:r>
              <a:rPr lang="en-US" dirty="0"/>
              <a:t> the other</a:t>
            </a:r>
          </a:p>
          <a:p>
            <a:pPr marL="514350" indent="-514350">
              <a:buAutoNum type="arabicParenBoth"/>
            </a:pPr>
            <a:r>
              <a:rPr lang="en-US" dirty="0"/>
              <a:t>Were the two groups trending in the same direction well in advance of </a:t>
            </a:r>
            <a:r>
              <a:rPr lang="en-US"/>
              <a:t>the intervention?</a:t>
            </a:r>
            <a:endParaRPr lang="en-US" dirty="0"/>
          </a:p>
        </p:txBody>
      </p:sp>
    </p:spTree>
    <p:extLst>
      <p:ext uri="{BB962C8B-B14F-4D97-AF65-F5344CB8AC3E}">
        <p14:creationId xmlns:p14="http://schemas.microsoft.com/office/powerpoint/2010/main" val="140124917"/>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(1) Hawthorne Effects</a:t>
            </a:r>
            <a:endParaRPr lang="en-CA" dirty="0"/>
          </a:p>
        </p:txBody>
      </p:sp>
      <p:sp>
        <p:nvSpPr>
          <p:cNvPr id="3" name="Content Placeholder 2"/>
          <p:cNvSpPr>
            <a:spLocks noGrp="1"/>
          </p:cNvSpPr>
          <p:nvPr>
            <p:ph idx="1"/>
          </p:nvPr>
        </p:nvSpPr>
        <p:spPr/>
        <p:txBody>
          <a:bodyPr/>
          <a:lstStyle/>
          <a:p>
            <a:pPr marL="0" indent="0">
              <a:buNone/>
            </a:pPr>
            <a:r>
              <a:rPr lang="en-US" dirty="0"/>
              <a:t>The treatment group (and/or the control group) alters its behavior because it is being observed.</a:t>
            </a:r>
          </a:p>
          <a:p>
            <a:pPr marL="0" indent="0">
              <a:buNone/>
            </a:pPr>
            <a:endParaRPr lang="en-US" dirty="0"/>
          </a:p>
          <a:p>
            <a:pPr marL="0" indent="0">
              <a:buNone/>
            </a:pPr>
            <a:r>
              <a:rPr lang="en-US" dirty="0"/>
              <a:t>The causal effect is thus not due to treatment, but </a:t>
            </a:r>
            <a:r>
              <a:rPr lang="en-US" i="1" u="sng" dirty="0"/>
              <a:t>observation</a:t>
            </a:r>
            <a:r>
              <a:rPr lang="en-US" dirty="0"/>
              <a:t> (which is not what we want to know)</a:t>
            </a:r>
            <a:endParaRPr lang="en-CA" i="1" u="sng" dirty="0"/>
          </a:p>
        </p:txBody>
      </p:sp>
    </p:spTree>
    <p:extLst>
      <p:ext uri="{BB962C8B-B14F-4D97-AF65-F5344CB8AC3E}">
        <p14:creationId xmlns:p14="http://schemas.microsoft.com/office/powerpoint/2010/main" val="21547609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(2) Contamination of the Control Group</a:t>
            </a:r>
            <a:endParaRPr lang="en-CA" dirty="0"/>
          </a:p>
        </p:txBody>
      </p:sp>
      <p:sp>
        <p:nvSpPr>
          <p:cNvPr id="3" name="Content Placeholder 2"/>
          <p:cNvSpPr>
            <a:spLocks noGrp="1"/>
          </p:cNvSpPr>
          <p:nvPr>
            <p:ph idx="1"/>
          </p:nvPr>
        </p:nvSpPr>
        <p:spPr/>
        <p:txBody>
          <a:bodyPr/>
          <a:lstStyle/>
          <a:p>
            <a:pPr marL="0" indent="0">
              <a:buNone/>
            </a:pPr>
            <a:r>
              <a:rPr lang="en-US" dirty="0"/>
              <a:t>Does receipt of treatment impart an effect on the control group, too?</a:t>
            </a:r>
          </a:p>
          <a:p>
            <a:pPr marL="0" indent="0">
              <a:buNone/>
            </a:pPr>
            <a:endParaRPr lang="en-US" dirty="0"/>
          </a:p>
          <a:p>
            <a:pPr marL="571500" indent="-571500">
              <a:buAutoNum type="romanLcParenBoth"/>
            </a:pPr>
            <a:r>
              <a:rPr lang="en-US" dirty="0"/>
              <a:t>Training: T teaches C the techniques</a:t>
            </a:r>
          </a:p>
          <a:p>
            <a:pPr marL="571500" indent="-571500">
              <a:buAutoNum type="romanLcParenBoth"/>
            </a:pPr>
            <a:r>
              <a:rPr lang="en-US" dirty="0"/>
              <a:t>Coupon: C gets irritated by lack of benefit imparted to T</a:t>
            </a:r>
          </a:p>
          <a:p>
            <a:pPr marL="0" indent="0">
              <a:buNone/>
            </a:pPr>
            <a:endParaRPr lang="en-CA" dirty="0"/>
          </a:p>
        </p:txBody>
      </p:sp>
    </p:spTree>
    <p:extLst>
      <p:ext uri="{BB962C8B-B14F-4D97-AF65-F5344CB8AC3E}">
        <p14:creationId xmlns:p14="http://schemas.microsoft.com/office/powerpoint/2010/main" val="3508257255"/>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D-</a:t>
            </a:r>
            <a:r>
              <a:rPr lang="en-US" dirty="0" err="1"/>
              <a:t>i</a:t>
            </a:r>
            <a:r>
              <a:rPr lang="en-US" dirty="0"/>
              <a:t>-D table – with a twist!</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100179806"/>
              </p:ext>
            </p:extLst>
          </p:nvPr>
        </p:nvGraphicFramePr>
        <p:xfrm>
          <a:off x="381000" y="1600200"/>
          <a:ext cx="8229600" cy="2194560"/>
        </p:xfrm>
        <a:graphic>
          <a:graphicData uri="http://schemas.openxmlformats.org/drawingml/2006/table">
            <a:tbl>
              <a:tblPr firstRow="1" bandRow="1">
                <a:tableStyleId>{5940675A-B579-460E-94D1-54222C63F5DA}</a:tableStyleId>
              </a:tblPr>
              <a:tblGrid>
                <a:gridCol w="1295400">
                  <a:extLst>
                    <a:ext uri="{9D8B030D-6E8A-4147-A177-3AD203B41FA5}">
                      <a16:colId xmlns:a16="http://schemas.microsoft.com/office/drawing/2014/main" val="20000"/>
                    </a:ext>
                  </a:extLst>
                </a:gridCol>
                <a:gridCol w="1752600">
                  <a:extLst>
                    <a:ext uri="{9D8B030D-6E8A-4147-A177-3AD203B41FA5}">
                      <a16:colId xmlns:a16="http://schemas.microsoft.com/office/drawing/2014/main" val="20001"/>
                    </a:ext>
                  </a:extLst>
                </a:gridCol>
                <a:gridCol w="1752600">
                  <a:extLst>
                    <a:ext uri="{9D8B030D-6E8A-4147-A177-3AD203B41FA5}">
                      <a16:colId xmlns:a16="http://schemas.microsoft.com/office/drawing/2014/main" val="20002"/>
                    </a:ext>
                  </a:extLst>
                </a:gridCol>
                <a:gridCol w="3429000">
                  <a:extLst>
                    <a:ext uri="{9D8B030D-6E8A-4147-A177-3AD203B41FA5}">
                      <a16:colId xmlns:a16="http://schemas.microsoft.com/office/drawing/2014/main" val="20003"/>
                    </a:ext>
                  </a:extLst>
                </a:gridCol>
              </a:tblGrid>
              <a:tr h="370840">
                <a:tc>
                  <a:txBody>
                    <a:bodyPr/>
                    <a:lstStyle/>
                    <a:p>
                      <a:endParaRPr lang="en-US" sz="2000" dirty="0"/>
                    </a:p>
                  </a:txBody>
                  <a:tcPr/>
                </a:tc>
                <a:tc>
                  <a:txBody>
                    <a:bodyPr/>
                    <a:lstStyle/>
                    <a:p>
                      <a:pPr algn="ctr"/>
                      <a:r>
                        <a:rPr lang="en-US" sz="2000" dirty="0"/>
                        <a:t>“Pre”</a:t>
                      </a:r>
                      <a:r>
                        <a:rPr lang="en-US" sz="2000" baseline="0" dirty="0"/>
                        <a:t> Period</a:t>
                      </a:r>
                      <a:endParaRPr lang="en-US" sz="2000" dirty="0"/>
                    </a:p>
                  </a:txBody>
                  <a:tcPr/>
                </a:tc>
                <a:tc>
                  <a:txBody>
                    <a:bodyPr/>
                    <a:lstStyle/>
                    <a:p>
                      <a:pPr algn="ctr"/>
                      <a:r>
                        <a:rPr lang="en-US" sz="2000" dirty="0"/>
                        <a:t>“Post” period</a:t>
                      </a:r>
                    </a:p>
                  </a:txBody>
                  <a:tcPr/>
                </a:tc>
                <a:tc>
                  <a:txBody>
                    <a:bodyPr/>
                    <a:lstStyle/>
                    <a:p>
                      <a:pPr algn="ctr"/>
                      <a:r>
                        <a:rPr lang="en-US" sz="2000" dirty="0"/>
                        <a:t>Difference</a:t>
                      </a:r>
                    </a:p>
                  </a:txBody>
                  <a:tcPr/>
                </a:tc>
                <a:extLst>
                  <a:ext uri="{0D108BD9-81ED-4DB2-BD59-A6C34878D82A}">
                    <a16:rowId xmlns:a16="http://schemas.microsoft.com/office/drawing/2014/main" val="10000"/>
                  </a:ext>
                </a:extLst>
              </a:tr>
              <a:tr h="370840">
                <a:tc>
                  <a:txBody>
                    <a:bodyPr/>
                    <a:lstStyle/>
                    <a:p>
                      <a:r>
                        <a:rPr lang="en-US" sz="2000" dirty="0"/>
                        <a:t>Treatment </a:t>
                      </a:r>
                    </a:p>
                    <a:p>
                      <a:r>
                        <a:rPr lang="en-US" sz="2000" dirty="0"/>
                        <a:t>Group</a:t>
                      </a:r>
                    </a:p>
                  </a:txBody>
                  <a:tcPr/>
                </a:tc>
                <a:tc>
                  <a:txBody>
                    <a:bodyPr/>
                    <a:lstStyle/>
                    <a:p>
                      <a:pPr marL="0" marR="0" algn="ctr">
                        <a:lnSpc>
                          <a:spcPct val="115000"/>
                        </a:lnSpc>
                        <a:spcBef>
                          <a:spcPts val="0"/>
                        </a:spcBef>
                        <a:spcAft>
                          <a:spcPts val="0"/>
                        </a:spcAft>
                      </a:pPr>
                      <a:r>
                        <a:rPr lang="en-US" sz="2000" dirty="0">
                          <a:latin typeface="Calibri"/>
                          <a:ea typeface="Calibri"/>
                          <a:cs typeface="Times New Roman"/>
                        </a:rPr>
                        <a:t>A</a:t>
                      </a:r>
                    </a:p>
                  </a:txBody>
                  <a:tcPr marL="68580" marR="68580" marT="0" marB="0" anchor="ctr"/>
                </a:tc>
                <a:tc>
                  <a:txBody>
                    <a:bodyPr/>
                    <a:lstStyle/>
                    <a:p>
                      <a:pPr marL="0" marR="0" algn="ctr">
                        <a:lnSpc>
                          <a:spcPct val="115000"/>
                        </a:lnSpc>
                        <a:spcBef>
                          <a:spcPts val="0"/>
                        </a:spcBef>
                        <a:spcAft>
                          <a:spcPts val="0"/>
                        </a:spcAft>
                      </a:pPr>
                      <a:r>
                        <a:rPr lang="en-US" sz="2000" dirty="0">
                          <a:latin typeface="Calibri"/>
                          <a:ea typeface="Calibri"/>
                          <a:cs typeface="Times New Roman"/>
                        </a:rPr>
                        <a:t>B</a:t>
                      </a:r>
                    </a:p>
                  </a:txBody>
                  <a:tcPr marL="68580" marR="68580" marT="0" marB="0" anchor="ctr"/>
                </a:tc>
                <a:tc>
                  <a:txBody>
                    <a:bodyPr/>
                    <a:lstStyle/>
                    <a:p>
                      <a:pPr marL="0" marR="0" algn="ctr">
                        <a:lnSpc>
                          <a:spcPct val="115000"/>
                        </a:lnSpc>
                        <a:spcBef>
                          <a:spcPts val="0"/>
                        </a:spcBef>
                        <a:spcAft>
                          <a:spcPts val="0"/>
                        </a:spcAft>
                      </a:pPr>
                      <a:r>
                        <a:rPr lang="en-US" sz="2000" dirty="0">
                          <a:latin typeface="Calibri"/>
                          <a:ea typeface="Calibri"/>
                          <a:cs typeface="Times New Roman"/>
                        </a:rPr>
                        <a:t>B</a:t>
                      </a:r>
                      <a:r>
                        <a:rPr lang="en-US" sz="2000" baseline="0" dirty="0">
                          <a:latin typeface="Calibri"/>
                          <a:ea typeface="Calibri"/>
                          <a:cs typeface="Times New Roman"/>
                        </a:rPr>
                        <a:t> – A</a:t>
                      </a:r>
                      <a:endParaRPr lang="en-US" sz="2000" dirty="0">
                        <a:latin typeface="Calibri"/>
                        <a:ea typeface="Calibri"/>
                        <a:cs typeface="Times New Roman"/>
                      </a:endParaRPr>
                    </a:p>
                  </a:txBody>
                  <a:tcPr marL="68580" marR="68580" marT="0" marB="0" anchor="ctr"/>
                </a:tc>
                <a:extLst>
                  <a:ext uri="{0D108BD9-81ED-4DB2-BD59-A6C34878D82A}">
                    <a16:rowId xmlns:a16="http://schemas.microsoft.com/office/drawing/2014/main" val="10001"/>
                  </a:ext>
                </a:extLst>
              </a:tr>
              <a:tr h="370840">
                <a:tc>
                  <a:txBody>
                    <a:bodyPr/>
                    <a:lstStyle/>
                    <a:p>
                      <a:r>
                        <a:rPr lang="en-US" sz="2000" dirty="0"/>
                        <a:t>Control</a:t>
                      </a:r>
                    </a:p>
                    <a:p>
                      <a:r>
                        <a:rPr lang="en-US" sz="2000" dirty="0"/>
                        <a:t>Group</a:t>
                      </a:r>
                    </a:p>
                  </a:txBody>
                  <a:tcPr/>
                </a:tc>
                <a:tc>
                  <a:txBody>
                    <a:bodyPr/>
                    <a:lstStyle/>
                    <a:p>
                      <a:pPr marL="0" marR="0" algn="ctr">
                        <a:lnSpc>
                          <a:spcPct val="115000"/>
                        </a:lnSpc>
                        <a:spcBef>
                          <a:spcPts val="0"/>
                        </a:spcBef>
                        <a:spcAft>
                          <a:spcPts val="0"/>
                        </a:spcAft>
                      </a:pPr>
                      <a:r>
                        <a:rPr lang="en-US" sz="2000" dirty="0">
                          <a:latin typeface="Calibri"/>
                          <a:ea typeface="Calibri"/>
                          <a:cs typeface="Times New Roman"/>
                        </a:rPr>
                        <a:t>C</a:t>
                      </a:r>
                    </a:p>
                  </a:txBody>
                  <a:tcPr marL="68580" marR="68580" marT="0" marB="0" anchor="ctr"/>
                </a:tc>
                <a:tc>
                  <a:txBody>
                    <a:bodyPr/>
                    <a:lstStyle/>
                    <a:p>
                      <a:pPr marL="0" marR="0" algn="ctr">
                        <a:lnSpc>
                          <a:spcPct val="115000"/>
                        </a:lnSpc>
                        <a:spcBef>
                          <a:spcPts val="0"/>
                        </a:spcBef>
                        <a:spcAft>
                          <a:spcPts val="0"/>
                        </a:spcAft>
                      </a:pPr>
                      <a:r>
                        <a:rPr lang="en-US" sz="2000" dirty="0">
                          <a:latin typeface="Calibri"/>
                          <a:ea typeface="Calibri"/>
                          <a:cs typeface="Times New Roman"/>
                        </a:rPr>
                        <a:t>D</a:t>
                      </a:r>
                    </a:p>
                  </a:txBody>
                  <a:tcPr marL="68580" marR="68580" marT="0" marB="0" anchor="ctr"/>
                </a:tc>
                <a:tc>
                  <a:txBody>
                    <a:bodyPr/>
                    <a:lstStyle/>
                    <a:p>
                      <a:pPr marL="0" marR="0" algn="ctr">
                        <a:lnSpc>
                          <a:spcPct val="115000"/>
                        </a:lnSpc>
                        <a:spcBef>
                          <a:spcPts val="0"/>
                        </a:spcBef>
                        <a:spcAft>
                          <a:spcPts val="0"/>
                        </a:spcAft>
                      </a:pPr>
                      <a:r>
                        <a:rPr lang="en-US" sz="2000" dirty="0">
                          <a:latin typeface="+mn-lt"/>
                          <a:ea typeface="Calibri"/>
                          <a:cs typeface="Times New Roman"/>
                        </a:rPr>
                        <a:t>D</a:t>
                      </a:r>
                      <a:r>
                        <a:rPr lang="en-US" sz="2000" baseline="0" dirty="0">
                          <a:latin typeface="+mn-lt"/>
                          <a:ea typeface="Calibri"/>
                          <a:cs typeface="Times New Roman"/>
                        </a:rPr>
                        <a:t> – C</a:t>
                      </a:r>
                      <a:endParaRPr lang="en-US" sz="2000" dirty="0">
                        <a:latin typeface="Calibri"/>
                        <a:ea typeface="Calibri"/>
                        <a:cs typeface="Times New Roman"/>
                      </a:endParaRPr>
                    </a:p>
                  </a:txBody>
                  <a:tcPr marL="68580" marR="68580" marT="0" marB="0" anchor="ctr"/>
                </a:tc>
                <a:extLst>
                  <a:ext uri="{0D108BD9-81ED-4DB2-BD59-A6C34878D82A}">
                    <a16:rowId xmlns:a16="http://schemas.microsoft.com/office/drawing/2014/main" val="10002"/>
                  </a:ext>
                </a:extLst>
              </a:tr>
              <a:tr h="370840">
                <a:tc>
                  <a:txBody>
                    <a:bodyPr/>
                    <a:lstStyle/>
                    <a:p>
                      <a:endParaRPr lang="en-US" sz="2000" dirty="0"/>
                    </a:p>
                  </a:txBody>
                  <a:tcPr/>
                </a:tc>
                <a:tc gridSpan="2">
                  <a:txBody>
                    <a:bodyPr/>
                    <a:lstStyle/>
                    <a:p>
                      <a:r>
                        <a:rPr lang="en-US" sz="2000" dirty="0"/>
                        <a:t>Difference-in-Differences</a:t>
                      </a:r>
                    </a:p>
                  </a:txBody>
                  <a:tcPr/>
                </a:tc>
                <a:tc hMerge="1">
                  <a:txBody>
                    <a:bodyPr/>
                    <a:lstStyle/>
                    <a:p>
                      <a:endParaRPr lang="en-US" sz="200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a:t>(</a:t>
                      </a:r>
                      <a:r>
                        <a:rPr lang="en-US" sz="2000" dirty="0">
                          <a:latin typeface="+mn-lt"/>
                          <a:ea typeface="Calibri"/>
                          <a:cs typeface="Times New Roman"/>
                        </a:rPr>
                        <a:t>B</a:t>
                      </a:r>
                      <a:r>
                        <a:rPr lang="en-US" sz="2000" baseline="0" dirty="0">
                          <a:latin typeface="+mn-lt"/>
                          <a:ea typeface="Calibri"/>
                          <a:cs typeface="Times New Roman"/>
                        </a:rPr>
                        <a:t> – A</a:t>
                      </a:r>
                      <a:r>
                        <a:rPr lang="en-US" sz="2000" baseline="0" dirty="0">
                          <a:latin typeface="+mn-lt"/>
                          <a:ea typeface="+mn-ea"/>
                          <a:cs typeface="+mn-cs"/>
                        </a:rPr>
                        <a:t>) – (</a:t>
                      </a:r>
                      <a:r>
                        <a:rPr lang="en-US" sz="2000" dirty="0">
                          <a:latin typeface="+mn-lt"/>
                          <a:ea typeface="Calibri"/>
                          <a:cs typeface="Times New Roman"/>
                        </a:rPr>
                        <a:t>D</a:t>
                      </a:r>
                      <a:r>
                        <a:rPr lang="en-US" sz="2000" baseline="0" dirty="0">
                          <a:latin typeface="+mn-lt"/>
                          <a:ea typeface="Calibri"/>
                          <a:cs typeface="Times New Roman"/>
                        </a:rPr>
                        <a:t> – C) = DID* </a:t>
                      </a:r>
                      <a:endParaRPr lang="en-US" sz="2000" dirty="0">
                        <a:latin typeface="+mn-lt"/>
                        <a:ea typeface="Calibri"/>
                        <a:cs typeface="Times New Roman"/>
                      </a:endParaRPr>
                    </a:p>
                  </a:txBody>
                  <a:tcPr/>
                </a:tc>
                <a:extLst>
                  <a:ext uri="{0D108BD9-81ED-4DB2-BD59-A6C34878D82A}">
                    <a16:rowId xmlns:a16="http://schemas.microsoft.com/office/drawing/2014/main" val="10003"/>
                  </a:ext>
                </a:extLst>
              </a:tr>
            </a:tbl>
          </a:graphicData>
        </a:graphic>
      </p:graphicFrame>
      <p:sp>
        <p:nvSpPr>
          <p:cNvPr id="5" name="TextBox 4">
            <a:extLst>
              <a:ext uri="{FF2B5EF4-FFF2-40B4-BE49-F238E27FC236}">
                <a16:creationId xmlns:a16="http://schemas.microsoft.com/office/drawing/2014/main" id="{D9482A3C-58EE-4178-B1A3-DFBA6CB0AD23}"/>
              </a:ext>
            </a:extLst>
          </p:cNvPr>
          <p:cNvSpPr txBox="1"/>
          <p:nvPr/>
        </p:nvSpPr>
        <p:spPr>
          <a:xfrm>
            <a:off x="381000" y="3977322"/>
            <a:ext cx="8229600" cy="2246769"/>
          </a:xfrm>
          <a:prstGeom prst="rect">
            <a:avLst/>
          </a:prstGeom>
          <a:noFill/>
        </p:spPr>
        <p:txBody>
          <a:bodyPr wrap="square" rtlCol="0">
            <a:spAutoFit/>
          </a:bodyPr>
          <a:lstStyle/>
          <a:p>
            <a:r>
              <a:rPr lang="en-US" sz="2800" dirty="0"/>
              <a:t>Note, for future reference, we’ll use the term DID* to denote the amount (B – A) – (D – C).  This is the “true” D-</a:t>
            </a:r>
            <a:r>
              <a:rPr lang="en-US" sz="2800" dirty="0" err="1"/>
              <a:t>i</a:t>
            </a:r>
            <a:r>
              <a:rPr lang="en-US" sz="2800" dirty="0"/>
              <a:t>-D value we’d get if there were no problems with our framework.  So with this in hand, let’s re-examine the problem here</a:t>
            </a:r>
          </a:p>
        </p:txBody>
      </p:sp>
    </p:spTree>
    <p:extLst>
      <p:ext uri="{BB962C8B-B14F-4D97-AF65-F5344CB8AC3E}">
        <p14:creationId xmlns:p14="http://schemas.microsoft.com/office/powerpoint/2010/main" val="1646658764"/>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D-</a:t>
            </a:r>
            <a:r>
              <a:rPr lang="en-US" dirty="0" err="1"/>
              <a:t>i</a:t>
            </a:r>
            <a:r>
              <a:rPr lang="en-US" dirty="0"/>
              <a:t>-D table – with a twist!</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98847030"/>
              </p:ext>
            </p:extLst>
          </p:nvPr>
        </p:nvGraphicFramePr>
        <p:xfrm>
          <a:off x="445168" y="2528053"/>
          <a:ext cx="8229600" cy="2804160"/>
        </p:xfrm>
        <a:graphic>
          <a:graphicData uri="http://schemas.openxmlformats.org/drawingml/2006/table">
            <a:tbl>
              <a:tblPr firstRow="1" bandRow="1">
                <a:tableStyleId>{5940675A-B579-460E-94D1-54222C63F5DA}</a:tableStyleId>
              </a:tblPr>
              <a:tblGrid>
                <a:gridCol w="1295400">
                  <a:extLst>
                    <a:ext uri="{9D8B030D-6E8A-4147-A177-3AD203B41FA5}">
                      <a16:colId xmlns:a16="http://schemas.microsoft.com/office/drawing/2014/main" val="20000"/>
                    </a:ext>
                  </a:extLst>
                </a:gridCol>
                <a:gridCol w="1752600">
                  <a:extLst>
                    <a:ext uri="{9D8B030D-6E8A-4147-A177-3AD203B41FA5}">
                      <a16:colId xmlns:a16="http://schemas.microsoft.com/office/drawing/2014/main" val="20001"/>
                    </a:ext>
                  </a:extLst>
                </a:gridCol>
                <a:gridCol w="1752600">
                  <a:extLst>
                    <a:ext uri="{9D8B030D-6E8A-4147-A177-3AD203B41FA5}">
                      <a16:colId xmlns:a16="http://schemas.microsoft.com/office/drawing/2014/main" val="20002"/>
                    </a:ext>
                  </a:extLst>
                </a:gridCol>
                <a:gridCol w="3429000">
                  <a:extLst>
                    <a:ext uri="{9D8B030D-6E8A-4147-A177-3AD203B41FA5}">
                      <a16:colId xmlns:a16="http://schemas.microsoft.com/office/drawing/2014/main" val="20003"/>
                    </a:ext>
                  </a:extLst>
                </a:gridCol>
              </a:tblGrid>
              <a:tr h="370840">
                <a:tc>
                  <a:txBody>
                    <a:bodyPr/>
                    <a:lstStyle/>
                    <a:p>
                      <a:endParaRPr lang="en-US" sz="2000" dirty="0"/>
                    </a:p>
                  </a:txBody>
                  <a:tcPr/>
                </a:tc>
                <a:tc>
                  <a:txBody>
                    <a:bodyPr/>
                    <a:lstStyle/>
                    <a:p>
                      <a:pPr algn="ctr"/>
                      <a:r>
                        <a:rPr lang="en-US" sz="2000" dirty="0"/>
                        <a:t>“Pre”</a:t>
                      </a:r>
                      <a:r>
                        <a:rPr lang="en-US" sz="2000" baseline="0" dirty="0"/>
                        <a:t> Period</a:t>
                      </a:r>
                      <a:endParaRPr lang="en-US" sz="2000" dirty="0"/>
                    </a:p>
                  </a:txBody>
                  <a:tcPr/>
                </a:tc>
                <a:tc>
                  <a:txBody>
                    <a:bodyPr/>
                    <a:lstStyle/>
                    <a:p>
                      <a:pPr algn="ctr"/>
                      <a:r>
                        <a:rPr lang="en-US" sz="2000" dirty="0"/>
                        <a:t>“Post” period</a:t>
                      </a:r>
                    </a:p>
                  </a:txBody>
                  <a:tcPr/>
                </a:tc>
                <a:tc>
                  <a:txBody>
                    <a:bodyPr/>
                    <a:lstStyle/>
                    <a:p>
                      <a:pPr algn="ctr"/>
                      <a:r>
                        <a:rPr lang="en-US" sz="2000" dirty="0"/>
                        <a:t>Difference</a:t>
                      </a:r>
                    </a:p>
                  </a:txBody>
                  <a:tcPr/>
                </a:tc>
                <a:extLst>
                  <a:ext uri="{0D108BD9-81ED-4DB2-BD59-A6C34878D82A}">
                    <a16:rowId xmlns:a16="http://schemas.microsoft.com/office/drawing/2014/main" val="10000"/>
                  </a:ext>
                </a:extLst>
              </a:tr>
              <a:tr h="370840">
                <a:tc>
                  <a:txBody>
                    <a:bodyPr/>
                    <a:lstStyle/>
                    <a:p>
                      <a:r>
                        <a:rPr lang="en-US" sz="2000" dirty="0"/>
                        <a:t>Treatment </a:t>
                      </a:r>
                    </a:p>
                    <a:p>
                      <a:r>
                        <a:rPr lang="en-US" sz="2000" dirty="0"/>
                        <a:t>Group</a:t>
                      </a:r>
                    </a:p>
                  </a:txBody>
                  <a:tcPr/>
                </a:tc>
                <a:tc>
                  <a:txBody>
                    <a:bodyPr/>
                    <a:lstStyle/>
                    <a:p>
                      <a:pPr marL="0" marR="0" algn="ctr">
                        <a:lnSpc>
                          <a:spcPct val="115000"/>
                        </a:lnSpc>
                        <a:spcBef>
                          <a:spcPts val="0"/>
                        </a:spcBef>
                        <a:spcAft>
                          <a:spcPts val="0"/>
                        </a:spcAft>
                      </a:pPr>
                      <a:r>
                        <a:rPr lang="en-US" sz="2000" dirty="0">
                          <a:latin typeface="Calibri"/>
                          <a:ea typeface="Calibri"/>
                          <a:cs typeface="Times New Roman"/>
                        </a:rPr>
                        <a:t>A</a:t>
                      </a:r>
                    </a:p>
                  </a:txBody>
                  <a:tcPr marL="68580" marR="68580" marT="0" marB="0" anchor="ctr"/>
                </a:tc>
                <a:tc>
                  <a:txBody>
                    <a:bodyPr/>
                    <a:lstStyle/>
                    <a:p>
                      <a:pPr marL="0" marR="0" algn="ctr">
                        <a:lnSpc>
                          <a:spcPct val="115000"/>
                        </a:lnSpc>
                        <a:spcBef>
                          <a:spcPts val="0"/>
                        </a:spcBef>
                        <a:spcAft>
                          <a:spcPts val="0"/>
                        </a:spcAft>
                      </a:pPr>
                      <a:r>
                        <a:rPr lang="en-US" sz="2000" dirty="0">
                          <a:latin typeface="Calibri"/>
                          <a:ea typeface="Calibri"/>
                          <a:cs typeface="Times New Roman"/>
                        </a:rPr>
                        <a:t>B</a:t>
                      </a:r>
                    </a:p>
                  </a:txBody>
                  <a:tcPr marL="68580" marR="68580" marT="0" marB="0" anchor="ctr"/>
                </a:tc>
                <a:tc>
                  <a:txBody>
                    <a:bodyPr/>
                    <a:lstStyle/>
                    <a:p>
                      <a:pPr marL="0" marR="0" algn="ctr">
                        <a:lnSpc>
                          <a:spcPct val="115000"/>
                        </a:lnSpc>
                        <a:spcBef>
                          <a:spcPts val="0"/>
                        </a:spcBef>
                        <a:spcAft>
                          <a:spcPts val="0"/>
                        </a:spcAft>
                      </a:pPr>
                      <a:r>
                        <a:rPr lang="en-US" sz="2000" dirty="0">
                          <a:latin typeface="Calibri"/>
                          <a:ea typeface="Calibri"/>
                          <a:cs typeface="Times New Roman"/>
                        </a:rPr>
                        <a:t>B</a:t>
                      </a:r>
                      <a:r>
                        <a:rPr lang="en-US" sz="2000" baseline="0" dirty="0">
                          <a:latin typeface="Calibri"/>
                          <a:ea typeface="Calibri"/>
                          <a:cs typeface="Times New Roman"/>
                        </a:rPr>
                        <a:t> – A</a:t>
                      </a:r>
                      <a:endParaRPr lang="en-US" sz="2000" dirty="0">
                        <a:latin typeface="Calibri"/>
                        <a:ea typeface="Calibri"/>
                        <a:cs typeface="Times New Roman"/>
                      </a:endParaRPr>
                    </a:p>
                  </a:txBody>
                  <a:tcPr marL="68580" marR="68580" marT="0" marB="0" anchor="ctr"/>
                </a:tc>
                <a:extLst>
                  <a:ext uri="{0D108BD9-81ED-4DB2-BD59-A6C34878D82A}">
                    <a16:rowId xmlns:a16="http://schemas.microsoft.com/office/drawing/2014/main" val="10001"/>
                  </a:ext>
                </a:extLst>
              </a:tr>
              <a:tr h="370840">
                <a:tc>
                  <a:txBody>
                    <a:bodyPr/>
                    <a:lstStyle/>
                    <a:p>
                      <a:r>
                        <a:rPr lang="en-US" sz="2000" dirty="0"/>
                        <a:t>Control</a:t>
                      </a:r>
                    </a:p>
                    <a:p>
                      <a:r>
                        <a:rPr lang="en-US" sz="2000" dirty="0"/>
                        <a:t>Group</a:t>
                      </a:r>
                    </a:p>
                  </a:txBody>
                  <a:tcPr/>
                </a:tc>
                <a:tc>
                  <a:txBody>
                    <a:bodyPr/>
                    <a:lstStyle/>
                    <a:p>
                      <a:pPr marL="0" marR="0" algn="ctr">
                        <a:lnSpc>
                          <a:spcPct val="115000"/>
                        </a:lnSpc>
                        <a:spcBef>
                          <a:spcPts val="0"/>
                        </a:spcBef>
                        <a:spcAft>
                          <a:spcPts val="0"/>
                        </a:spcAft>
                      </a:pPr>
                      <a:r>
                        <a:rPr lang="en-US" sz="2000" dirty="0">
                          <a:latin typeface="Calibri"/>
                          <a:ea typeface="Calibri"/>
                          <a:cs typeface="Times New Roman"/>
                        </a:rPr>
                        <a:t>C</a:t>
                      </a:r>
                    </a:p>
                  </a:txBody>
                  <a:tcPr marL="68580" marR="68580" marT="0" marB="0" anchor="ctr"/>
                </a:tc>
                <a:tc>
                  <a:txBody>
                    <a:bodyPr/>
                    <a:lstStyle/>
                    <a:p>
                      <a:pPr marL="0" marR="0" algn="ctr">
                        <a:lnSpc>
                          <a:spcPct val="115000"/>
                        </a:lnSpc>
                        <a:spcBef>
                          <a:spcPts val="0"/>
                        </a:spcBef>
                        <a:spcAft>
                          <a:spcPts val="0"/>
                        </a:spcAft>
                      </a:pPr>
                      <a:endParaRPr lang="en-US" sz="2000" dirty="0">
                        <a:latin typeface="Calibri"/>
                        <a:ea typeface="Calibri"/>
                        <a:cs typeface="Times New Roman"/>
                      </a:endParaRPr>
                    </a:p>
                  </a:txBody>
                  <a:tcPr marL="68580" marR="68580" marT="0" marB="0" anchor="ctr"/>
                </a:tc>
                <a:tc>
                  <a:txBody>
                    <a:bodyPr/>
                    <a:lstStyle/>
                    <a:p>
                      <a:pPr marL="0" marR="0" algn="ctr">
                        <a:lnSpc>
                          <a:spcPct val="115000"/>
                        </a:lnSpc>
                        <a:spcBef>
                          <a:spcPts val="0"/>
                        </a:spcBef>
                        <a:spcAft>
                          <a:spcPts val="0"/>
                        </a:spcAft>
                      </a:pPr>
                      <a:endParaRPr lang="en-US" sz="2000" dirty="0">
                        <a:latin typeface="Calibri"/>
                        <a:ea typeface="Calibri"/>
                        <a:cs typeface="Times New Roman"/>
                      </a:endParaRPr>
                    </a:p>
                  </a:txBody>
                  <a:tcPr marL="68580" marR="68580" marT="0" marB="0" anchor="ctr"/>
                </a:tc>
                <a:extLst>
                  <a:ext uri="{0D108BD9-81ED-4DB2-BD59-A6C34878D82A}">
                    <a16:rowId xmlns:a16="http://schemas.microsoft.com/office/drawing/2014/main" val="10002"/>
                  </a:ext>
                </a:extLst>
              </a:tr>
              <a:tr h="370840">
                <a:tc>
                  <a:txBody>
                    <a:bodyPr/>
                    <a:lstStyle/>
                    <a:p>
                      <a:endParaRPr lang="en-US" sz="2000" dirty="0"/>
                    </a:p>
                  </a:txBody>
                  <a:tcPr/>
                </a:tc>
                <a:tc gridSpan="2">
                  <a:txBody>
                    <a:bodyPr/>
                    <a:lstStyle/>
                    <a:p>
                      <a:endParaRPr lang="en-US" sz="2000" dirty="0"/>
                    </a:p>
                    <a:p>
                      <a:r>
                        <a:rPr lang="en-US" sz="2000" dirty="0"/>
                        <a:t>Difference-in-Differences</a:t>
                      </a:r>
                    </a:p>
                  </a:txBody>
                  <a:tcPr/>
                </a:tc>
                <a:tc hMerge="1">
                  <a:txBody>
                    <a:bodyPr/>
                    <a:lstStyle/>
                    <a:p>
                      <a:endParaRPr lang="en-US" sz="200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2000" baseline="0" dirty="0">
                        <a:latin typeface="+mn-lt"/>
                        <a:ea typeface="Calibri"/>
                        <a:cs typeface="Times New Roman"/>
                      </a:endParaRPr>
                    </a:p>
                    <a:p>
                      <a:pPr marL="0" marR="0" indent="0" algn="ctr" defTabSz="914400" rtl="0" eaLnBrk="1" fontAlgn="auto" latinLnBrk="0" hangingPunct="1">
                        <a:lnSpc>
                          <a:spcPct val="100000"/>
                        </a:lnSpc>
                        <a:spcBef>
                          <a:spcPts val="0"/>
                        </a:spcBef>
                        <a:spcAft>
                          <a:spcPts val="0"/>
                        </a:spcAft>
                        <a:buClrTx/>
                        <a:buSzTx/>
                        <a:buFontTx/>
                        <a:buNone/>
                        <a:tabLst/>
                        <a:defRPr/>
                      </a:pPr>
                      <a:endParaRPr lang="en-US" sz="2000" baseline="0" dirty="0">
                        <a:latin typeface="+mn-lt"/>
                        <a:ea typeface="Calibri"/>
                        <a:cs typeface="Times New Roman"/>
                      </a:endParaRPr>
                    </a:p>
                    <a:p>
                      <a:pPr marL="0" marR="0" indent="0" algn="ctr" defTabSz="914400" rtl="0" eaLnBrk="1" fontAlgn="auto" latinLnBrk="0" hangingPunct="1">
                        <a:lnSpc>
                          <a:spcPct val="100000"/>
                        </a:lnSpc>
                        <a:spcBef>
                          <a:spcPts val="0"/>
                        </a:spcBef>
                        <a:spcAft>
                          <a:spcPts val="0"/>
                        </a:spcAft>
                        <a:buClrTx/>
                        <a:buSzTx/>
                        <a:buFontTx/>
                        <a:buNone/>
                        <a:tabLst/>
                        <a:defRPr/>
                      </a:pPr>
                      <a:endParaRPr lang="en-US" sz="2000" dirty="0">
                        <a:latin typeface="+mn-lt"/>
                        <a:ea typeface="Calibri"/>
                        <a:cs typeface="Times New Roman"/>
                      </a:endParaRPr>
                    </a:p>
                  </a:txBody>
                  <a:tcPr/>
                </a:tc>
                <a:extLst>
                  <a:ext uri="{0D108BD9-81ED-4DB2-BD59-A6C34878D82A}">
                    <a16:rowId xmlns:a16="http://schemas.microsoft.com/office/drawing/2014/main" val="10003"/>
                  </a:ext>
                </a:extLst>
              </a:tr>
            </a:tbl>
          </a:graphicData>
        </a:graphic>
      </p:graphicFrame>
      <p:sp>
        <p:nvSpPr>
          <p:cNvPr id="7" name="TextBox 6">
            <a:extLst>
              <a:ext uri="{FF2B5EF4-FFF2-40B4-BE49-F238E27FC236}">
                <a16:creationId xmlns:a16="http://schemas.microsoft.com/office/drawing/2014/main" id="{DAB433B6-C80B-4051-A82A-9C11249EC722}"/>
              </a:ext>
            </a:extLst>
          </p:cNvPr>
          <p:cNvSpPr txBox="1"/>
          <p:nvPr/>
        </p:nvSpPr>
        <p:spPr>
          <a:xfrm>
            <a:off x="4038600" y="3794879"/>
            <a:ext cx="668773" cy="369332"/>
          </a:xfrm>
          <a:prstGeom prst="rect">
            <a:avLst/>
          </a:prstGeom>
          <a:noFill/>
        </p:spPr>
        <p:txBody>
          <a:bodyPr wrap="none" rtlCol="0">
            <a:spAutoFit/>
          </a:bodyPr>
          <a:lstStyle/>
          <a:p>
            <a:r>
              <a:rPr lang="en-US" dirty="0"/>
              <a:t>D + X</a:t>
            </a:r>
          </a:p>
        </p:txBody>
      </p:sp>
      <p:sp>
        <p:nvSpPr>
          <p:cNvPr id="9" name="TextBox 8">
            <a:extLst>
              <a:ext uri="{FF2B5EF4-FFF2-40B4-BE49-F238E27FC236}">
                <a16:creationId xmlns:a16="http://schemas.microsoft.com/office/drawing/2014/main" id="{B8B0C2F0-14D7-4659-973C-D9A32E89FD55}"/>
              </a:ext>
            </a:extLst>
          </p:cNvPr>
          <p:cNvSpPr txBox="1"/>
          <p:nvPr/>
        </p:nvSpPr>
        <p:spPr>
          <a:xfrm>
            <a:off x="533400" y="1531392"/>
            <a:ext cx="8153400" cy="954107"/>
          </a:xfrm>
          <a:prstGeom prst="rect">
            <a:avLst/>
          </a:prstGeom>
          <a:noFill/>
        </p:spPr>
        <p:txBody>
          <a:bodyPr wrap="square" rtlCol="0">
            <a:spAutoFit/>
          </a:bodyPr>
          <a:lstStyle/>
          <a:p>
            <a:r>
              <a:rPr lang="en-US" sz="2800" dirty="0"/>
              <a:t>Let’s use the term “X” to represent the effect of the treatment group’s contamination of the control group</a:t>
            </a:r>
          </a:p>
        </p:txBody>
      </p:sp>
      <p:sp>
        <p:nvSpPr>
          <p:cNvPr id="10" name="TextBox 9">
            <a:extLst>
              <a:ext uri="{FF2B5EF4-FFF2-40B4-BE49-F238E27FC236}">
                <a16:creationId xmlns:a16="http://schemas.microsoft.com/office/drawing/2014/main" id="{0942D3CC-C7CE-487F-BF99-4783B6A504D1}"/>
              </a:ext>
            </a:extLst>
          </p:cNvPr>
          <p:cNvSpPr txBox="1"/>
          <p:nvPr/>
        </p:nvSpPr>
        <p:spPr>
          <a:xfrm>
            <a:off x="6264518" y="3656380"/>
            <a:ext cx="1375698" cy="646331"/>
          </a:xfrm>
          <a:prstGeom prst="rect">
            <a:avLst/>
          </a:prstGeom>
          <a:noFill/>
        </p:spPr>
        <p:txBody>
          <a:bodyPr wrap="none" rtlCol="0">
            <a:spAutoFit/>
          </a:bodyPr>
          <a:lstStyle/>
          <a:p>
            <a:r>
              <a:rPr lang="en-US" dirty="0"/>
              <a:t>(D + X) – C </a:t>
            </a:r>
          </a:p>
          <a:p>
            <a:r>
              <a:rPr lang="en-US" dirty="0"/>
              <a:t>=  (D – C) + X</a:t>
            </a:r>
          </a:p>
        </p:txBody>
      </p:sp>
      <p:sp>
        <p:nvSpPr>
          <p:cNvPr id="11" name="TextBox 10">
            <a:extLst>
              <a:ext uri="{FF2B5EF4-FFF2-40B4-BE49-F238E27FC236}">
                <a16:creationId xmlns:a16="http://schemas.microsoft.com/office/drawing/2014/main" id="{6C7B59D1-6109-4EDD-A8D8-D663D686715F}"/>
              </a:ext>
            </a:extLst>
          </p:cNvPr>
          <p:cNvSpPr txBox="1"/>
          <p:nvPr/>
        </p:nvSpPr>
        <p:spPr>
          <a:xfrm>
            <a:off x="5907548" y="4345265"/>
            <a:ext cx="2209800" cy="369332"/>
          </a:xfrm>
          <a:prstGeom prst="rect">
            <a:avLst/>
          </a:prstGeom>
          <a:noFill/>
        </p:spPr>
        <p:txBody>
          <a:bodyPr wrap="square" rtlCol="0">
            <a:spAutoFit/>
          </a:bodyPr>
          <a:lstStyle/>
          <a:p>
            <a:r>
              <a:rPr lang="en-US" dirty="0"/>
              <a:t>(</a:t>
            </a:r>
            <a:r>
              <a:rPr lang="en-US" dirty="0">
                <a:ea typeface="Calibri"/>
                <a:cs typeface="Times New Roman"/>
              </a:rPr>
              <a:t>B – A</a:t>
            </a:r>
            <a:r>
              <a:rPr lang="en-US" dirty="0"/>
              <a:t>) – [(</a:t>
            </a:r>
            <a:r>
              <a:rPr lang="en-US" dirty="0">
                <a:ea typeface="Calibri"/>
                <a:cs typeface="Times New Roman"/>
              </a:rPr>
              <a:t>D – C) + X]</a:t>
            </a:r>
          </a:p>
        </p:txBody>
      </p:sp>
      <p:sp>
        <p:nvSpPr>
          <p:cNvPr id="12" name="TextBox 11">
            <a:extLst>
              <a:ext uri="{FF2B5EF4-FFF2-40B4-BE49-F238E27FC236}">
                <a16:creationId xmlns:a16="http://schemas.microsoft.com/office/drawing/2014/main" id="{98827E9C-BD76-4441-A357-A17749E51F2D}"/>
              </a:ext>
            </a:extLst>
          </p:cNvPr>
          <p:cNvSpPr txBox="1"/>
          <p:nvPr/>
        </p:nvSpPr>
        <p:spPr>
          <a:xfrm>
            <a:off x="5795254" y="4654073"/>
            <a:ext cx="2843419" cy="369332"/>
          </a:xfrm>
          <a:prstGeom prst="rect">
            <a:avLst/>
          </a:prstGeom>
          <a:noFill/>
        </p:spPr>
        <p:txBody>
          <a:bodyPr wrap="square" rtlCol="0">
            <a:spAutoFit/>
          </a:bodyPr>
          <a:lstStyle/>
          <a:p>
            <a:r>
              <a:rPr lang="en-US" dirty="0"/>
              <a:t>= [(</a:t>
            </a:r>
            <a:r>
              <a:rPr lang="en-US" dirty="0">
                <a:ea typeface="Calibri"/>
                <a:cs typeface="Times New Roman"/>
              </a:rPr>
              <a:t>B – A</a:t>
            </a:r>
            <a:r>
              <a:rPr lang="en-US" dirty="0"/>
              <a:t>) – (</a:t>
            </a:r>
            <a:r>
              <a:rPr lang="en-US" dirty="0">
                <a:ea typeface="Calibri"/>
                <a:cs typeface="Times New Roman"/>
              </a:rPr>
              <a:t>D – C)] – X</a:t>
            </a:r>
          </a:p>
        </p:txBody>
      </p:sp>
      <p:sp>
        <p:nvSpPr>
          <p:cNvPr id="13" name="TextBox 12">
            <a:extLst>
              <a:ext uri="{FF2B5EF4-FFF2-40B4-BE49-F238E27FC236}">
                <a16:creationId xmlns:a16="http://schemas.microsoft.com/office/drawing/2014/main" id="{8EE0B9D7-194A-41B6-AA59-7C4B8991F2E8}"/>
              </a:ext>
            </a:extLst>
          </p:cNvPr>
          <p:cNvSpPr txBox="1"/>
          <p:nvPr/>
        </p:nvSpPr>
        <p:spPr>
          <a:xfrm>
            <a:off x="6248476" y="4984158"/>
            <a:ext cx="1495861" cy="369332"/>
          </a:xfrm>
          <a:prstGeom prst="rect">
            <a:avLst/>
          </a:prstGeom>
          <a:noFill/>
        </p:spPr>
        <p:txBody>
          <a:bodyPr wrap="square" rtlCol="0">
            <a:spAutoFit/>
          </a:bodyPr>
          <a:lstStyle/>
          <a:p>
            <a:r>
              <a:rPr lang="en-US" dirty="0"/>
              <a:t>= [DID*</a:t>
            </a:r>
            <a:r>
              <a:rPr lang="en-US" dirty="0">
                <a:ea typeface="Calibri"/>
                <a:cs typeface="Times New Roman"/>
              </a:rPr>
              <a:t>] – X</a:t>
            </a:r>
          </a:p>
        </p:txBody>
      </p:sp>
      <p:sp>
        <p:nvSpPr>
          <p:cNvPr id="14" name="Rectangle 13">
            <a:extLst>
              <a:ext uri="{FF2B5EF4-FFF2-40B4-BE49-F238E27FC236}">
                <a16:creationId xmlns:a16="http://schemas.microsoft.com/office/drawing/2014/main" id="{680A7F76-A15F-4392-A967-5429A7F85C65}"/>
              </a:ext>
            </a:extLst>
          </p:cNvPr>
          <p:cNvSpPr/>
          <p:nvPr/>
        </p:nvSpPr>
        <p:spPr>
          <a:xfrm>
            <a:off x="495300" y="5432572"/>
            <a:ext cx="8229600" cy="1077218"/>
          </a:xfrm>
          <a:prstGeom prst="rect">
            <a:avLst/>
          </a:prstGeom>
        </p:spPr>
        <p:txBody>
          <a:bodyPr wrap="square">
            <a:spAutoFit/>
          </a:bodyPr>
          <a:lstStyle/>
          <a:p>
            <a:r>
              <a:rPr lang="en-US" sz="3200" dirty="0"/>
              <a:t>So this type of contamination causes our estimate to be downward-biased.</a:t>
            </a:r>
          </a:p>
        </p:txBody>
      </p:sp>
    </p:spTree>
    <p:extLst>
      <p:ext uri="{BB962C8B-B14F-4D97-AF65-F5344CB8AC3E}">
        <p14:creationId xmlns:p14="http://schemas.microsoft.com/office/powerpoint/2010/main" val="32120019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0" grpId="0"/>
      <p:bldP spid="11" grpId="0"/>
      <p:bldP spid="12" grpId="0"/>
      <p:bldP spid="13" grpId="0"/>
      <p:bldP spid="14" grpId="0"/>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(3) Simultaneous, Separate contamination of </a:t>
            </a:r>
            <a:r>
              <a:rPr lang="en-US" u="sng" dirty="0"/>
              <a:t>one group</a:t>
            </a:r>
            <a:endParaRPr lang="en-CA" u="sng" dirty="0"/>
          </a:p>
        </p:txBody>
      </p:sp>
      <p:sp>
        <p:nvSpPr>
          <p:cNvPr id="3" name="Content Placeholder 2"/>
          <p:cNvSpPr>
            <a:spLocks noGrp="1"/>
          </p:cNvSpPr>
          <p:nvPr>
            <p:ph idx="1"/>
          </p:nvPr>
        </p:nvSpPr>
        <p:spPr/>
        <p:txBody>
          <a:bodyPr>
            <a:normAutofit/>
          </a:bodyPr>
          <a:lstStyle/>
          <a:p>
            <a:pPr marL="0" indent="0">
              <a:buNone/>
            </a:pPr>
            <a:r>
              <a:rPr lang="en-US" dirty="0"/>
              <a:t>The control group is supposed to tell us what would have happened to the treatment group </a:t>
            </a:r>
            <a:r>
              <a:rPr lang="en-US" i="1" u="sng" dirty="0"/>
              <a:t>but for a single event.</a:t>
            </a:r>
          </a:p>
          <a:p>
            <a:pPr marL="0" indent="0">
              <a:buNone/>
            </a:pPr>
            <a:r>
              <a:rPr lang="en-US" dirty="0"/>
              <a:t>To show what happens when TWO events occur together, suppose that a negative economic shock hits C, but not T.  And this shock happens at the same time as treatment.</a:t>
            </a:r>
          </a:p>
          <a:p>
            <a:pPr marL="0" indent="0">
              <a:buNone/>
            </a:pPr>
            <a:r>
              <a:rPr lang="en-US" dirty="0"/>
              <a:t>Let’s call this shock Y</a:t>
            </a:r>
          </a:p>
        </p:txBody>
      </p:sp>
    </p:spTree>
    <p:extLst>
      <p:ext uri="{BB962C8B-B14F-4D97-AF65-F5344CB8AC3E}">
        <p14:creationId xmlns:p14="http://schemas.microsoft.com/office/powerpoint/2010/main" val="27949602"/>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Back to the D-</a:t>
            </a:r>
            <a:r>
              <a:rPr lang="en-US" dirty="0" err="1"/>
              <a:t>i</a:t>
            </a:r>
            <a:r>
              <a:rPr lang="en-US" dirty="0"/>
              <a:t>-D table!</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993429301"/>
              </p:ext>
            </p:extLst>
          </p:nvPr>
        </p:nvGraphicFramePr>
        <p:xfrm>
          <a:off x="440989" y="1580352"/>
          <a:ext cx="8229600" cy="2804160"/>
        </p:xfrm>
        <a:graphic>
          <a:graphicData uri="http://schemas.openxmlformats.org/drawingml/2006/table">
            <a:tbl>
              <a:tblPr firstRow="1" bandRow="1">
                <a:tableStyleId>{5940675A-B579-460E-94D1-54222C63F5DA}</a:tableStyleId>
              </a:tblPr>
              <a:tblGrid>
                <a:gridCol w="1295400">
                  <a:extLst>
                    <a:ext uri="{9D8B030D-6E8A-4147-A177-3AD203B41FA5}">
                      <a16:colId xmlns:a16="http://schemas.microsoft.com/office/drawing/2014/main" val="20000"/>
                    </a:ext>
                  </a:extLst>
                </a:gridCol>
                <a:gridCol w="1752600">
                  <a:extLst>
                    <a:ext uri="{9D8B030D-6E8A-4147-A177-3AD203B41FA5}">
                      <a16:colId xmlns:a16="http://schemas.microsoft.com/office/drawing/2014/main" val="20001"/>
                    </a:ext>
                  </a:extLst>
                </a:gridCol>
                <a:gridCol w="1752600">
                  <a:extLst>
                    <a:ext uri="{9D8B030D-6E8A-4147-A177-3AD203B41FA5}">
                      <a16:colId xmlns:a16="http://schemas.microsoft.com/office/drawing/2014/main" val="20002"/>
                    </a:ext>
                  </a:extLst>
                </a:gridCol>
                <a:gridCol w="3429000">
                  <a:extLst>
                    <a:ext uri="{9D8B030D-6E8A-4147-A177-3AD203B41FA5}">
                      <a16:colId xmlns:a16="http://schemas.microsoft.com/office/drawing/2014/main" val="20003"/>
                    </a:ext>
                  </a:extLst>
                </a:gridCol>
              </a:tblGrid>
              <a:tr h="370840">
                <a:tc>
                  <a:txBody>
                    <a:bodyPr/>
                    <a:lstStyle/>
                    <a:p>
                      <a:endParaRPr lang="en-US" sz="2000" dirty="0"/>
                    </a:p>
                  </a:txBody>
                  <a:tcPr/>
                </a:tc>
                <a:tc>
                  <a:txBody>
                    <a:bodyPr/>
                    <a:lstStyle/>
                    <a:p>
                      <a:pPr algn="ctr"/>
                      <a:r>
                        <a:rPr lang="en-US" sz="2000" dirty="0"/>
                        <a:t>“Pre”</a:t>
                      </a:r>
                      <a:r>
                        <a:rPr lang="en-US" sz="2000" baseline="0" dirty="0"/>
                        <a:t> Period</a:t>
                      </a:r>
                      <a:endParaRPr lang="en-US" sz="2000" dirty="0"/>
                    </a:p>
                  </a:txBody>
                  <a:tcPr/>
                </a:tc>
                <a:tc>
                  <a:txBody>
                    <a:bodyPr/>
                    <a:lstStyle/>
                    <a:p>
                      <a:pPr algn="ctr"/>
                      <a:r>
                        <a:rPr lang="en-US" sz="2000" dirty="0"/>
                        <a:t>“Post” period</a:t>
                      </a:r>
                    </a:p>
                  </a:txBody>
                  <a:tcPr/>
                </a:tc>
                <a:tc>
                  <a:txBody>
                    <a:bodyPr/>
                    <a:lstStyle/>
                    <a:p>
                      <a:pPr algn="ctr"/>
                      <a:r>
                        <a:rPr lang="en-US" sz="2000" dirty="0"/>
                        <a:t>Difference</a:t>
                      </a:r>
                    </a:p>
                  </a:txBody>
                  <a:tcPr/>
                </a:tc>
                <a:extLst>
                  <a:ext uri="{0D108BD9-81ED-4DB2-BD59-A6C34878D82A}">
                    <a16:rowId xmlns:a16="http://schemas.microsoft.com/office/drawing/2014/main" val="10000"/>
                  </a:ext>
                </a:extLst>
              </a:tr>
              <a:tr h="370840">
                <a:tc>
                  <a:txBody>
                    <a:bodyPr/>
                    <a:lstStyle/>
                    <a:p>
                      <a:r>
                        <a:rPr lang="en-US" sz="2000" dirty="0"/>
                        <a:t>Treatment </a:t>
                      </a:r>
                    </a:p>
                    <a:p>
                      <a:r>
                        <a:rPr lang="en-US" sz="2000" dirty="0"/>
                        <a:t>Group</a:t>
                      </a:r>
                    </a:p>
                  </a:txBody>
                  <a:tcPr/>
                </a:tc>
                <a:tc>
                  <a:txBody>
                    <a:bodyPr/>
                    <a:lstStyle/>
                    <a:p>
                      <a:pPr marL="0" marR="0" algn="ctr">
                        <a:lnSpc>
                          <a:spcPct val="115000"/>
                        </a:lnSpc>
                        <a:spcBef>
                          <a:spcPts val="0"/>
                        </a:spcBef>
                        <a:spcAft>
                          <a:spcPts val="0"/>
                        </a:spcAft>
                      </a:pPr>
                      <a:r>
                        <a:rPr lang="en-US" sz="2000" dirty="0">
                          <a:latin typeface="Calibri"/>
                          <a:ea typeface="Calibri"/>
                          <a:cs typeface="Times New Roman"/>
                        </a:rPr>
                        <a:t>A</a:t>
                      </a:r>
                    </a:p>
                  </a:txBody>
                  <a:tcPr marL="68580" marR="68580" marT="0" marB="0" anchor="ctr"/>
                </a:tc>
                <a:tc>
                  <a:txBody>
                    <a:bodyPr/>
                    <a:lstStyle/>
                    <a:p>
                      <a:pPr marL="0" marR="0" algn="ctr">
                        <a:lnSpc>
                          <a:spcPct val="115000"/>
                        </a:lnSpc>
                        <a:spcBef>
                          <a:spcPts val="0"/>
                        </a:spcBef>
                        <a:spcAft>
                          <a:spcPts val="0"/>
                        </a:spcAft>
                      </a:pPr>
                      <a:r>
                        <a:rPr lang="en-US" sz="2000" dirty="0">
                          <a:latin typeface="Calibri"/>
                          <a:ea typeface="Calibri"/>
                          <a:cs typeface="Times New Roman"/>
                        </a:rPr>
                        <a:t>B</a:t>
                      </a:r>
                    </a:p>
                  </a:txBody>
                  <a:tcPr marL="68580" marR="68580" marT="0" marB="0" anchor="ctr"/>
                </a:tc>
                <a:tc>
                  <a:txBody>
                    <a:bodyPr/>
                    <a:lstStyle/>
                    <a:p>
                      <a:pPr marL="0" marR="0" algn="ctr">
                        <a:lnSpc>
                          <a:spcPct val="115000"/>
                        </a:lnSpc>
                        <a:spcBef>
                          <a:spcPts val="0"/>
                        </a:spcBef>
                        <a:spcAft>
                          <a:spcPts val="0"/>
                        </a:spcAft>
                      </a:pPr>
                      <a:r>
                        <a:rPr lang="en-US" sz="2000" dirty="0">
                          <a:latin typeface="Calibri"/>
                          <a:ea typeface="Calibri"/>
                          <a:cs typeface="Times New Roman"/>
                        </a:rPr>
                        <a:t>B</a:t>
                      </a:r>
                      <a:r>
                        <a:rPr lang="en-US" sz="2000" baseline="0" dirty="0">
                          <a:latin typeface="Calibri"/>
                          <a:ea typeface="Calibri"/>
                          <a:cs typeface="Times New Roman"/>
                        </a:rPr>
                        <a:t> – A</a:t>
                      </a:r>
                      <a:endParaRPr lang="en-US" sz="2000" dirty="0">
                        <a:latin typeface="Calibri"/>
                        <a:ea typeface="Calibri"/>
                        <a:cs typeface="Times New Roman"/>
                      </a:endParaRPr>
                    </a:p>
                  </a:txBody>
                  <a:tcPr marL="68580" marR="68580" marT="0" marB="0" anchor="ctr"/>
                </a:tc>
                <a:extLst>
                  <a:ext uri="{0D108BD9-81ED-4DB2-BD59-A6C34878D82A}">
                    <a16:rowId xmlns:a16="http://schemas.microsoft.com/office/drawing/2014/main" val="10001"/>
                  </a:ext>
                </a:extLst>
              </a:tr>
              <a:tr h="370840">
                <a:tc>
                  <a:txBody>
                    <a:bodyPr/>
                    <a:lstStyle/>
                    <a:p>
                      <a:r>
                        <a:rPr lang="en-US" sz="2000" dirty="0"/>
                        <a:t>Control</a:t>
                      </a:r>
                    </a:p>
                    <a:p>
                      <a:r>
                        <a:rPr lang="en-US" sz="2000" dirty="0"/>
                        <a:t>Group</a:t>
                      </a:r>
                    </a:p>
                  </a:txBody>
                  <a:tcPr/>
                </a:tc>
                <a:tc>
                  <a:txBody>
                    <a:bodyPr/>
                    <a:lstStyle/>
                    <a:p>
                      <a:pPr marL="0" marR="0" algn="ctr">
                        <a:lnSpc>
                          <a:spcPct val="115000"/>
                        </a:lnSpc>
                        <a:spcBef>
                          <a:spcPts val="0"/>
                        </a:spcBef>
                        <a:spcAft>
                          <a:spcPts val="0"/>
                        </a:spcAft>
                      </a:pPr>
                      <a:r>
                        <a:rPr lang="en-US" sz="2000" dirty="0">
                          <a:latin typeface="Calibri"/>
                          <a:ea typeface="Calibri"/>
                          <a:cs typeface="Times New Roman"/>
                        </a:rPr>
                        <a:t>C</a:t>
                      </a:r>
                    </a:p>
                  </a:txBody>
                  <a:tcPr marL="68580" marR="68580" marT="0" marB="0" anchor="ctr"/>
                </a:tc>
                <a:tc>
                  <a:txBody>
                    <a:bodyPr/>
                    <a:lstStyle/>
                    <a:p>
                      <a:pPr marL="0" marR="0" algn="ctr">
                        <a:lnSpc>
                          <a:spcPct val="115000"/>
                        </a:lnSpc>
                        <a:spcBef>
                          <a:spcPts val="0"/>
                        </a:spcBef>
                        <a:spcAft>
                          <a:spcPts val="0"/>
                        </a:spcAft>
                      </a:pPr>
                      <a:endParaRPr lang="en-US" sz="2000" dirty="0">
                        <a:latin typeface="Calibri"/>
                        <a:ea typeface="Calibri"/>
                        <a:cs typeface="Times New Roman"/>
                      </a:endParaRPr>
                    </a:p>
                  </a:txBody>
                  <a:tcPr marL="68580" marR="68580" marT="0" marB="0" anchor="ctr"/>
                </a:tc>
                <a:tc>
                  <a:txBody>
                    <a:bodyPr/>
                    <a:lstStyle/>
                    <a:p>
                      <a:pPr marL="0" marR="0" algn="ctr">
                        <a:lnSpc>
                          <a:spcPct val="115000"/>
                        </a:lnSpc>
                        <a:spcBef>
                          <a:spcPts val="0"/>
                        </a:spcBef>
                        <a:spcAft>
                          <a:spcPts val="0"/>
                        </a:spcAft>
                      </a:pPr>
                      <a:endParaRPr lang="en-US" sz="2000" dirty="0">
                        <a:latin typeface="Calibri"/>
                        <a:ea typeface="Calibri"/>
                        <a:cs typeface="Times New Roman"/>
                      </a:endParaRPr>
                    </a:p>
                  </a:txBody>
                  <a:tcPr marL="68580" marR="68580" marT="0" marB="0" anchor="ctr"/>
                </a:tc>
                <a:extLst>
                  <a:ext uri="{0D108BD9-81ED-4DB2-BD59-A6C34878D82A}">
                    <a16:rowId xmlns:a16="http://schemas.microsoft.com/office/drawing/2014/main" val="10002"/>
                  </a:ext>
                </a:extLst>
              </a:tr>
              <a:tr h="370840">
                <a:tc>
                  <a:txBody>
                    <a:bodyPr/>
                    <a:lstStyle/>
                    <a:p>
                      <a:endParaRPr lang="en-US" sz="2000" dirty="0"/>
                    </a:p>
                  </a:txBody>
                  <a:tcPr/>
                </a:tc>
                <a:tc gridSpan="2">
                  <a:txBody>
                    <a:bodyPr/>
                    <a:lstStyle/>
                    <a:p>
                      <a:endParaRPr lang="en-US" sz="2000" dirty="0"/>
                    </a:p>
                    <a:p>
                      <a:r>
                        <a:rPr lang="en-US" sz="2000" dirty="0"/>
                        <a:t>Difference-in-Differences</a:t>
                      </a:r>
                    </a:p>
                  </a:txBody>
                  <a:tcPr/>
                </a:tc>
                <a:tc hMerge="1">
                  <a:txBody>
                    <a:bodyPr/>
                    <a:lstStyle/>
                    <a:p>
                      <a:endParaRPr lang="en-US" sz="200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2000" baseline="0" dirty="0">
                        <a:latin typeface="+mn-lt"/>
                        <a:ea typeface="Calibri"/>
                        <a:cs typeface="Times New Roman"/>
                      </a:endParaRPr>
                    </a:p>
                    <a:p>
                      <a:pPr marL="0" marR="0" indent="0" algn="ctr" defTabSz="914400" rtl="0" eaLnBrk="1" fontAlgn="auto" latinLnBrk="0" hangingPunct="1">
                        <a:lnSpc>
                          <a:spcPct val="100000"/>
                        </a:lnSpc>
                        <a:spcBef>
                          <a:spcPts val="0"/>
                        </a:spcBef>
                        <a:spcAft>
                          <a:spcPts val="0"/>
                        </a:spcAft>
                        <a:buClrTx/>
                        <a:buSzTx/>
                        <a:buFontTx/>
                        <a:buNone/>
                        <a:tabLst/>
                        <a:defRPr/>
                      </a:pPr>
                      <a:endParaRPr lang="en-US" sz="2000" baseline="0" dirty="0">
                        <a:latin typeface="+mn-lt"/>
                        <a:ea typeface="Calibri"/>
                        <a:cs typeface="Times New Roman"/>
                      </a:endParaRPr>
                    </a:p>
                    <a:p>
                      <a:pPr marL="0" marR="0" indent="0" algn="ctr" defTabSz="914400" rtl="0" eaLnBrk="1" fontAlgn="auto" latinLnBrk="0" hangingPunct="1">
                        <a:lnSpc>
                          <a:spcPct val="100000"/>
                        </a:lnSpc>
                        <a:spcBef>
                          <a:spcPts val="0"/>
                        </a:spcBef>
                        <a:spcAft>
                          <a:spcPts val="0"/>
                        </a:spcAft>
                        <a:buClrTx/>
                        <a:buSzTx/>
                        <a:buFontTx/>
                        <a:buNone/>
                        <a:tabLst/>
                        <a:defRPr/>
                      </a:pPr>
                      <a:endParaRPr lang="en-US" sz="2000" dirty="0">
                        <a:latin typeface="+mn-lt"/>
                        <a:ea typeface="Calibri"/>
                        <a:cs typeface="Times New Roman"/>
                      </a:endParaRPr>
                    </a:p>
                  </a:txBody>
                  <a:tcPr/>
                </a:tc>
                <a:extLst>
                  <a:ext uri="{0D108BD9-81ED-4DB2-BD59-A6C34878D82A}">
                    <a16:rowId xmlns:a16="http://schemas.microsoft.com/office/drawing/2014/main" val="10003"/>
                  </a:ext>
                </a:extLst>
              </a:tr>
            </a:tbl>
          </a:graphicData>
        </a:graphic>
      </p:graphicFrame>
      <p:sp>
        <p:nvSpPr>
          <p:cNvPr id="7" name="TextBox 6">
            <a:extLst>
              <a:ext uri="{FF2B5EF4-FFF2-40B4-BE49-F238E27FC236}">
                <a16:creationId xmlns:a16="http://schemas.microsoft.com/office/drawing/2014/main" id="{DAB433B6-C80B-4051-A82A-9C11249EC722}"/>
              </a:ext>
            </a:extLst>
          </p:cNvPr>
          <p:cNvSpPr txBox="1"/>
          <p:nvPr/>
        </p:nvSpPr>
        <p:spPr>
          <a:xfrm>
            <a:off x="3981426" y="2871107"/>
            <a:ext cx="660758" cy="369332"/>
          </a:xfrm>
          <a:prstGeom prst="rect">
            <a:avLst/>
          </a:prstGeom>
          <a:noFill/>
        </p:spPr>
        <p:txBody>
          <a:bodyPr wrap="none" rtlCol="0">
            <a:spAutoFit/>
          </a:bodyPr>
          <a:lstStyle/>
          <a:p>
            <a:r>
              <a:rPr lang="en-US" dirty="0"/>
              <a:t>D – Y</a:t>
            </a:r>
          </a:p>
        </p:txBody>
      </p:sp>
      <p:sp>
        <p:nvSpPr>
          <p:cNvPr id="10" name="TextBox 9">
            <a:extLst>
              <a:ext uri="{FF2B5EF4-FFF2-40B4-BE49-F238E27FC236}">
                <a16:creationId xmlns:a16="http://schemas.microsoft.com/office/drawing/2014/main" id="{0942D3CC-C7CE-487F-BF99-4783B6A504D1}"/>
              </a:ext>
            </a:extLst>
          </p:cNvPr>
          <p:cNvSpPr txBox="1"/>
          <p:nvPr/>
        </p:nvSpPr>
        <p:spPr>
          <a:xfrm>
            <a:off x="6328607" y="2732607"/>
            <a:ext cx="1367682" cy="646331"/>
          </a:xfrm>
          <a:prstGeom prst="rect">
            <a:avLst/>
          </a:prstGeom>
          <a:noFill/>
        </p:spPr>
        <p:txBody>
          <a:bodyPr wrap="none" rtlCol="0">
            <a:spAutoFit/>
          </a:bodyPr>
          <a:lstStyle/>
          <a:p>
            <a:r>
              <a:rPr lang="en-US" dirty="0"/>
              <a:t>(D – Y) – C </a:t>
            </a:r>
          </a:p>
          <a:p>
            <a:r>
              <a:rPr lang="en-US" dirty="0"/>
              <a:t>=  (D – C) – Y</a:t>
            </a:r>
          </a:p>
        </p:txBody>
      </p:sp>
      <p:sp>
        <p:nvSpPr>
          <p:cNvPr id="11" name="TextBox 10">
            <a:extLst>
              <a:ext uri="{FF2B5EF4-FFF2-40B4-BE49-F238E27FC236}">
                <a16:creationId xmlns:a16="http://schemas.microsoft.com/office/drawing/2014/main" id="{6C7B59D1-6109-4EDD-A8D8-D663D686715F}"/>
              </a:ext>
            </a:extLst>
          </p:cNvPr>
          <p:cNvSpPr txBox="1"/>
          <p:nvPr/>
        </p:nvSpPr>
        <p:spPr>
          <a:xfrm>
            <a:off x="5907548" y="3359315"/>
            <a:ext cx="2209800" cy="369332"/>
          </a:xfrm>
          <a:prstGeom prst="rect">
            <a:avLst/>
          </a:prstGeom>
          <a:noFill/>
        </p:spPr>
        <p:txBody>
          <a:bodyPr wrap="square" rtlCol="0">
            <a:spAutoFit/>
          </a:bodyPr>
          <a:lstStyle/>
          <a:p>
            <a:r>
              <a:rPr lang="en-US" dirty="0"/>
              <a:t>(</a:t>
            </a:r>
            <a:r>
              <a:rPr lang="en-US" dirty="0">
                <a:ea typeface="Calibri"/>
                <a:cs typeface="Times New Roman"/>
              </a:rPr>
              <a:t>B – A</a:t>
            </a:r>
            <a:r>
              <a:rPr lang="en-US" dirty="0"/>
              <a:t>) – [(</a:t>
            </a:r>
            <a:r>
              <a:rPr lang="en-US" dirty="0">
                <a:ea typeface="Calibri"/>
                <a:cs typeface="Times New Roman"/>
              </a:rPr>
              <a:t>D – C) – Y]</a:t>
            </a:r>
          </a:p>
        </p:txBody>
      </p:sp>
      <p:sp>
        <p:nvSpPr>
          <p:cNvPr id="12" name="TextBox 11">
            <a:extLst>
              <a:ext uri="{FF2B5EF4-FFF2-40B4-BE49-F238E27FC236}">
                <a16:creationId xmlns:a16="http://schemas.microsoft.com/office/drawing/2014/main" id="{98827E9C-BD76-4441-A357-A17749E51F2D}"/>
              </a:ext>
            </a:extLst>
          </p:cNvPr>
          <p:cNvSpPr txBox="1"/>
          <p:nvPr/>
        </p:nvSpPr>
        <p:spPr>
          <a:xfrm>
            <a:off x="5827170" y="3663209"/>
            <a:ext cx="2843419" cy="369332"/>
          </a:xfrm>
          <a:prstGeom prst="rect">
            <a:avLst/>
          </a:prstGeom>
          <a:noFill/>
        </p:spPr>
        <p:txBody>
          <a:bodyPr wrap="square" rtlCol="0">
            <a:spAutoFit/>
          </a:bodyPr>
          <a:lstStyle/>
          <a:p>
            <a:r>
              <a:rPr lang="en-US" dirty="0"/>
              <a:t>= [(</a:t>
            </a:r>
            <a:r>
              <a:rPr lang="en-US" dirty="0">
                <a:ea typeface="Calibri"/>
                <a:cs typeface="Times New Roman"/>
              </a:rPr>
              <a:t>B – A</a:t>
            </a:r>
            <a:r>
              <a:rPr lang="en-US" dirty="0"/>
              <a:t>) – (</a:t>
            </a:r>
            <a:r>
              <a:rPr lang="en-US" dirty="0">
                <a:ea typeface="Calibri"/>
                <a:cs typeface="Times New Roman"/>
              </a:rPr>
              <a:t>D – C)] + Y</a:t>
            </a:r>
          </a:p>
        </p:txBody>
      </p:sp>
      <p:sp>
        <p:nvSpPr>
          <p:cNvPr id="13" name="TextBox 12">
            <a:extLst>
              <a:ext uri="{FF2B5EF4-FFF2-40B4-BE49-F238E27FC236}">
                <a16:creationId xmlns:a16="http://schemas.microsoft.com/office/drawing/2014/main" id="{8EE0B9D7-194A-41B6-AA59-7C4B8991F2E8}"/>
              </a:ext>
            </a:extLst>
          </p:cNvPr>
          <p:cNvSpPr txBox="1"/>
          <p:nvPr/>
        </p:nvSpPr>
        <p:spPr>
          <a:xfrm>
            <a:off x="6200428" y="3988544"/>
            <a:ext cx="1495861" cy="369332"/>
          </a:xfrm>
          <a:prstGeom prst="rect">
            <a:avLst/>
          </a:prstGeom>
          <a:noFill/>
        </p:spPr>
        <p:txBody>
          <a:bodyPr wrap="square" rtlCol="0">
            <a:spAutoFit/>
          </a:bodyPr>
          <a:lstStyle/>
          <a:p>
            <a:r>
              <a:rPr lang="en-US" dirty="0"/>
              <a:t>= [DID*</a:t>
            </a:r>
            <a:r>
              <a:rPr lang="en-US" dirty="0">
                <a:ea typeface="Calibri"/>
                <a:cs typeface="Times New Roman"/>
              </a:rPr>
              <a:t>] + Y</a:t>
            </a:r>
          </a:p>
        </p:txBody>
      </p:sp>
      <p:sp>
        <p:nvSpPr>
          <p:cNvPr id="14" name="Rectangle 13">
            <a:extLst>
              <a:ext uri="{FF2B5EF4-FFF2-40B4-BE49-F238E27FC236}">
                <a16:creationId xmlns:a16="http://schemas.microsoft.com/office/drawing/2014/main" id="{680A7F76-A15F-4392-A967-5429A7F85C65}"/>
              </a:ext>
            </a:extLst>
          </p:cNvPr>
          <p:cNvSpPr/>
          <p:nvPr/>
        </p:nvSpPr>
        <p:spPr>
          <a:xfrm>
            <a:off x="609600" y="4667435"/>
            <a:ext cx="8229600" cy="1077218"/>
          </a:xfrm>
          <a:prstGeom prst="rect">
            <a:avLst/>
          </a:prstGeom>
        </p:spPr>
        <p:txBody>
          <a:bodyPr wrap="square">
            <a:spAutoFit/>
          </a:bodyPr>
          <a:lstStyle/>
          <a:p>
            <a:r>
              <a:rPr lang="en-US" sz="3200" dirty="0"/>
              <a:t>So this type of problem causes our estimate to be upward-biased.</a:t>
            </a:r>
          </a:p>
        </p:txBody>
      </p:sp>
    </p:spTree>
    <p:extLst>
      <p:ext uri="{BB962C8B-B14F-4D97-AF65-F5344CB8AC3E}">
        <p14:creationId xmlns:p14="http://schemas.microsoft.com/office/powerpoint/2010/main" val="26447410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0" grpId="0"/>
      <p:bldP spid="11" grpId="0"/>
      <p:bldP spid="12" grpId="0"/>
      <p:bldP spid="13" grpId="0"/>
      <p:bldP spid="14" grpId="0"/>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(3A) Simultaneous, Separate contamination of </a:t>
            </a:r>
            <a:r>
              <a:rPr lang="en-US" u="sng" dirty="0"/>
              <a:t>both groups</a:t>
            </a:r>
            <a:endParaRPr lang="en-CA" u="sng" dirty="0"/>
          </a:p>
        </p:txBody>
      </p:sp>
      <p:sp>
        <p:nvSpPr>
          <p:cNvPr id="3" name="Content Placeholder 2"/>
          <p:cNvSpPr>
            <a:spLocks noGrp="1"/>
          </p:cNvSpPr>
          <p:nvPr>
            <p:ph idx="1"/>
          </p:nvPr>
        </p:nvSpPr>
        <p:spPr/>
        <p:txBody>
          <a:bodyPr/>
          <a:lstStyle/>
          <a:p>
            <a:pPr marL="0" indent="0">
              <a:buNone/>
            </a:pPr>
            <a:r>
              <a:rPr lang="en-US" dirty="0"/>
              <a:t>As a related point, suppose that BOTH the treatment and control groups experienced an identical, negative economic shock that was simultaneous treatment.</a:t>
            </a:r>
          </a:p>
          <a:p>
            <a:pPr marL="0" indent="0">
              <a:buNone/>
            </a:pPr>
            <a:endParaRPr lang="en-US" dirty="0"/>
          </a:p>
          <a:p>
            <a:pPr marL="0" indent="0">
              <a:buNone/>
            </a:pPr>
            <a:r>
              <a:rPr lang="en-US" dirty="0"/>
              <a:t>Again, let’s call this shock Z</a:t>
            </a:r>
          </a:p>
        </p:txBody>
      </p:sp>
    </p:spTree>
    <p:extLst>
      <p:ext uri="{BB962C8B-B14F-4D97-AF65-F5344CB8AC3E}">
        <p14:creationId xmlns:p14="http://schemas.microsoft.com/office/powerpoint/2010/main" val="1275128210"/>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Back to the D-</a:t>
            </a:r>
            <a:r>
              <a:rPr lang="en-US" dirty="0" err="1"/>
              <a:t>i</a:t>
            </a:r>
            <a:r>
              <a:rPr lang="en-US" dirty="0"/>
              <a:t>-D table!</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16416319"/>
              </p:ext>
            </p:extLst>
          </p:nvPr>
        </p:nvGraphicFramePr>
        <p:xfrm>
          <a:off x="440989" y="1580352"/>
          <a:ext cx="8229600" cy="3108960"/>
        </p:xfrm>
        <a:graphic>
          <a:graphicData uri="http://schemas.openxmlformats.org/drawingml/2006/table">
            <a:tbl>
              <a:tblPr firstRow="1" bandRow="1">
                <a:tableStyleId>{5940675A-B579-460E-94D1-54222C63F5DA}</a:tableStyleId>
              </a:tblPr>
              <a:tblGrid>
                <a:gridCol w="1295400">
                  <a:extLst>
                    <a:ext uri="{9D8B030D-6E8A-4147-A177-3AD203B41FA5}">
                      <a16:colId xmlns:a16="http://schemas.microsoft.com/office/drawing/2014/main" val="20000"/>
                    </a:ext>
                  </a:extLst>
                </a:gridCol>
                <a:gridCol w="1752600">
                  <a:extLst>
                    <a:ext uri="{9D8B030D-6E8A-4147-A177-3AD203B41FA5}">
                      <a16:colId xmlns:a16="http://schemas.microsoft.com/office/drawing/2014/main" val="20001"/>
                    </a:ext>
                  </a:extLst>
                </a:gridCol>
                <a:gridCol w="1752600">
                  <a:extLst>
                    <a:ext uri="{9D8B030D-6E8A-4147-A177-3AD203B41FA5}">
                      <a16:colId xmlns:a16="http://schemas.microsoft.com/office/drawing/2014/main" val="20002"/>
                    </a:ext>
                  </a:extLst>
                </a:gridCol>
                <a:gridCol w="3429000">
                  <a:extLst>
                    <a:ext uri="{9D8B030D-6E8A-4147-A177-3AD203B41FA5}">
                      <a16:colId xmlns:a16="http://schemas.microsoft.com/office/drawing/2014/main" val="20003"/>
                    </a:ext>
                  </a:extLst>
                </a:gridCol>
              </a:tblGrid>
              <a:tr h="370840">
                <a:tc>
                  <a:txBody>
                    <a:bodyPr/>
                    <a:lstStyle/>
                    <a:p>
                      <a:endParaRPr lang="en-US" sz="2000" dirty="0"/>
                    </a:p>
                  </a:txBody>
                  <a:tcPr/>
                </a:tc>
                <a:tc>
                  <a:txBody>
                    <a:bodyPr/>
                    <a:lstStyle/>
                    <a:p>
                      <a:pPr algn="ctr"/>
                      <a:r>
                        <a:rPr lang="en-US" sz="2000" dirty="0"/>
                        <a:t>“Pre”</a:t>
                      </a:r>
                      <a:r>
                        <a:rPr lang="en-US" sz="2000" baseline="0" dirty="0"/>
                        <a:t> Period</a:t>
                      </a:r>
                      <a:endParaRPr lang="en-US" sz="2000" dirty="0"/>
                    </a:p>
                  </a:txBody>
                  <a:tcPr/>
                </a:tc>
                <a:tc>
                  <a:txBody>
                    <a:bodyPr/>
                    <a:lstStyle/>
                    <a:p>
                      <a:pPr algn="ctr"/>
                      <a:r>
                        <a:rPr lang="en-US" sz="2000" dirty="0"/>
                        <a:t>“Post” period</a:t>
                      </a:r>
                    </a:p>
                  </a:txBody>
                  <a:tcPr/>
                </a:tc>
                <a:tc>
                  <a:txBody>
                    <a:bodyPr/>
                    <a:lstStyle/>
                    <a:p>
                      <a:pPr algn="ctr"/>
                      <a:r>
                        <a:rPr lang="en-US" sz="2000" dirty="0"/>
                        <a:t>Difference</a:t>
                      </a:r>
                    </a:p>
                  </a:txBody>
                  <a:tcPr/>
                </a:tc>
                <a:extLst>
                  <a:ext uri="{0D108BD9-81ED-4DB2-BD59-A6C34878D82A}">
                    <a16:rowId xmlns:a16="http://schemas.microsoft.com/office/drawing/2014/main" val="10000"/>
                  </a:ext>
                </a:extLst>
              </a:tr>
              <a:tr h="370840">
                <a:tc>
                  <a:txBody>
                    <a:bodyPr/>
                    <a:lstStyle/>
                    <a:p>
                      <a:r>
                        <a:rPr lang="en-US" sz="2000" dirty="0"/>
                        <a:t>Treatment </a:t>
                      </a:r>
                    </a:p>
                    <a:p>
                      <a:r>
                        <a:rPr lang="en-US" sz="2000" dirty="0"/>
                        <a:t>Group</a:t>
                      </a:r>
                    </a:p>
                  </a:txBody>
                  <a:tcPr/>
                </a:tc>
                <a:tc>
                  <a:txBody>
                    <a:bodyPr/>
                    <a:lstStyle/>
                    <a:p>
                      <a:pPr marL="0" marR="0" algn="ctr">
                        <a:lnSpc>
                          <a:spcPct val="115000"/>
                        </a:lnSpc>
                        <a:spcBef>
                          <a:spcPts val="0"/>
                        </a:spcBef>
                        <a:spcAft>
                          <a:spcPts val="0"/>
                        </a:spcAft>
                      </a:pPr>
                      <a:r>
                        <a:rPr lang="en-US" sz="2000" dirty="0">
                          <a:latin typeface="Calibri"/>
                          <a:ea typeface="Calibri"/>
                          <a:cs typeface="Times New Roman"/>
                        </a:rPr>
                        <a:t>A</a:t>
                      </a:r>
                    </a:p>
                  </a:txBody>
                  <a:tcPr marL="68580" marR="68580" marT="0" marB="0" anchor="ctr"/>
                </a:tc>
                <a:tc>
                  <a:txBody>
                    <a:bodyPr/>
                    <a:lstStyle/>
                    <a:p>
                      <a:pPr marL="0" marR="0" algn="ctr">
                        <a:lnSpc>
                          <a:spcPct val="115000"/>
                        </a:lnSpc>
                        <a:spcBef>
                          <a:spcPts val="0"/>
                        </a:spcBef>
                        <a:spcAft>
                          <a:spcPts val="0"/>
                        </a:spcAft>
                      </a:pPr>
                      <a:endParaRPr lang="en-US" sz="2000" dirty="0">
                        <a:latin typeface="Calibri"/>
                        <a:ea typeface="Calibri"/>
                        <a:cs typeface="Times New Roman"/>
                      </a:endParaRPr>
                    </a:p>
                  </a:txBody>
                  <a:tcPr marL="68580" marR="68580" marT="0" marB="0" anchor="ctr"/>
                </a:tc>
                <a:tc>
                  <a:txBody>
                    <a:bodyPr/>
                    <a:lstStyle/>
                    <a:p>
                      <a:pPr marL="0" marR="0" algn="ctr">
                        <a:lnSpc>
                          <a:spcPct val="115000"/>
                        </a:lnSpc>
                        <a:spcBef>
                          <a:spcPts val="0"/>
                        </a:spcBef>
                        <a:spcAft>
                          <a:spcPts val="0"/>
                        </a:spcAft>
                      </a:pPr>
                      <a:endParaRPr lang="en-US" sz="2000" dirty="0">
                        <a:latin typeface="Calibri"/>
                        <a:ea typeface="Calibri"/>
                        <a:cs typeface="Times New Roman"/>
                      </a:endParaRPr>
                    </a:p>
                  </a:txBody>
                  <a:tcPr marL="68580" marR="68580" marT="0" marB="0" anchor="ctr"/>
                </a:tc>
                <a:extLst>
                  <a:ext uri="{0D108BD9-81ED-4DB2-BD59-A6C34878D82A}">
                    <a16:rowId xmlns:a16="http://schemas.microsoft.com/office/drawing/2014/main" val="10001"/>
                  </a:ext>
                </a:extLst>
              </a:tr>
              <a:tr h="370840">
                <a:tc>
                  <a:txBody>
                    <a:bodyPr/>
                    <a:lstStyle/>
                    <a:p>
                      <a:r>
                        <a:rPr lang="en-US" sz="2000" dirty="0"/>
                        <a:t>Control</a:t>
                      </a:r>
                    </a:p>
                    <a:p>
                      <a:r>
                        <a:rPr lang="en-US" sz="2000" dirty="0"/>
                        <a:t>Group</a:t>
                      </a:r>
                    </a:p>
                  </a:txBody>
                  <a:tcPr/>
                </a:tc>
                <a:tc>
                  <a:txBody>
                    <a:bodyPr/>
                    <a:lstStyle/>
                    <a:p>
                      <a:pPr marL="0" marR="0" algn="ctr">
                        <a:lnSpc>
                          <a:spcPct val="115000"/>
                        </a:lnSpc>
                        <a:spcBef>
                          <a:spcPts val="0"/>
                        </a:spcBef>
                        <a:spcAft>
                          <a:spcPts val="0"/>
                        </a:spcAft>
                      </a:pPr>
                      <a:r>
                        <a:rPr lang="en-US" sz="2000" dirty="0">
                          <a:latin typeface="Calibri"/>
                          <a:ea typeface="Calibri"/>
                          <a:cs typeface="Times New Roman"/>
                        </a:rPr>
                        <a:t>C</a:t>
                      </a:r>
                    </a:p>
                  </a:txBody>
                  <a:tcPr marL="68580" marR="68580" marT="0" marB="0" anchor="ctr"/>
                </a:tc>
                <a:tc>
                  <a:txBody>
                    <a:bodyPr/>
                    <a:lstStyle/>
                    <a:p>
                      <a:pPr marL="0" marR="0" algn="ctr">
                        <a:lnSpc>
                          <a:spcPct val="115000"/>
                        </a:lnSpc>
                        <a:spcBef>
                          <a:spcPts val="0"/>
                        </a:spcBef>
                        <a:spcAft>
                          <a:spcPts val="0"/>
                        </a:spcAft>
                      </a:pPr>
                      <a:endParaRPr lang="en-US" sz="2000" dirty="0">
                        <a:latin typeface="Calibri"/>
                        <a:ea typeface="Calibri"/>
                        <a:cs typeface="Times New Roman"/>
                      </a:endParaRPr>
                    </a:p>
                  </a:txBody>
                  <a:tcPr marL="68580" marR="68580" marT="0" marB="0" anchor="ctr"/>
                </a:tc>
                <a:tc>
                  <a:txBody>
                    <a:bodyPr/>
                    <a:lstStyle/>
                    <a:p>
                      <a:pPr marL="0" marR="0" algn="ctr">
                        <a:lnSpc>
                          <a:spcPct val="115000"/>
                        </a:lnSpc>
                        <a:spcBef>
                          <a:spcPts val="0"/>
                        </a:spcBef>
                        <a:spcAft>
                          <a:spcPts val="0"/>
                        </a:spcAft>
                      </a:pPr>
                      <a:endParaRPr lang="en-US" sz="2000" dirty="0">
                        <a:latin typeface="Calibri"/>
                        <a:ea typeface="Calibri"/>
                        <a:cs typeface="Times New Roman"/>
                      </a:endParaRPr>
                    </a:p>
                  </a:txBody>
                  <a:tcPr marL="68580" marR="68580" marT="0" marB="0" anchor="ctr"/>
                </a:tc>
                <a:extLst>
                  <a:ext uri="{0D108BD9-81ED-4DB2-BD59-A6C34878D82A}">
                    <a16:rowId xmlns:a16="http://schemas.microsoft.com/office/drawing/2014/main" val="10002"/>
                  </a:ext>
                </a:extLst>
              </a:tr>
              <a:tr h="370840">
                <a:tc>
                  <a:txBody>
                    <a:bodyPr/>
                    <a:lstStyle/>
                    <a:p>
                      <a:endParaRPr lang="en-US" sz="2000" dirty="0"/>
                    </a:p>
                  </a:txBody>
                  <a:tcPr/>
                </a:tc>
                <a:tc gridSpan="2">
                  <a:txBody>
                    <a:bodyPr/>
                    <a:lstStyle/>
                    <a:p>
                      <a:endParaRPr lang="en-US" sz="2000" dirty="0"/>
                    </a:p>
                    <a:p>
                      <a:r>
                        <a:rPr lang="en-US" sz="2000" dirty="0"/>
                        <a:t>Difference-in-Differences</a:t>
                      </a:r>
                    </a:p>
                    <a:p>
                      <a:endParaRPr lang="en-US" sz="2000" dirty="0"/>
                    </a:p>
                    <a:p>
                      <a:endParaRPr lang="en-US" sz="2000" dirty="0"/>
                    </a:p>
                  </a:txBody>
                  <a:tcPr/>
                </a:tc>
                <a:tc hMerge="1">
                  <a:txBody>
                    <a:bodyPr/>
                    <a:lstStyle/>
                    <a:p>
                      <a:endParaRPr lang="en-US" sz="200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2000" baseline="0" dirty="0">
                        <a:latin typeface="+mn-lt"/>
                        <a:ea typeface="Calibri"/>
                        <a:cs typeface="Times New Roman"/>
                      </a:endParaRPr>
                    </a:p>
                    <a:p>
                      <a:pPr marL="0" marR="0" indent="0" algn="ctr" defTabSz="914400" rtl="0" eaLnBrk="1" fontAlgn="auto" latinLnBrk="0" hangingPunct="1">
                        <a:lnSpc>
                          <a:spcPct val="100000"/>
                        </a:lnSpc>
                        <a:spcBef>
                          <a:spcPts val="0"/>
                        </a:spcBef>
                        <a:spcAft>
                          <a:spcPts val="0"/>
                        </a:spcAft>
                        <a:buClrTx/>
                        <a:buSzTx/>
                        <a:buFontTx/>
                        <a:buNone/>
                        <a:tabLst/>
                        <a:defRPr/>
                      </a:pPr>
                      <a:endParaRPr lang="en-US" sz="2000" baseline="0" dirty="0">
                        <a:latin typeface="+mn-lt"/>
                        <a:ea typeface="Calibri"/>
                        <a:cs typeface="Times New Roman"/>
                      </a:endParaRPr>
                    </a:p>
                    <a:p>
                      <a:pPr marL="0" marR="0" indent="0" algn="ctr" defTabSz="914400" rtl="0" eaLnBrk="1" fontAlgn="auto" latinLnBrk="0" hangingPunct="1">
                        <a:lnSpc>
                          <a:spcPct val="100000"/>
                        </a:lnSpc>
                        <a:spcBef>
                          <a:spcPts val="0"/>
                        </a:spcBef>
                        <a:spcAft>
                          <a:spcPts val="0"/>
                        </a:spcAft>
                        <a:buClrTx/>
                        <a:buSzTx/>
                        <a:buFontTx/>
                        <a:buNone/>
                        <a:tabLst/>
                        <a:defRPr/>
                      </a:pPr>
                      <a:endParaRPr lang="en-US" sz="2000" dirty="0">
                        <a:latin typeface="+mn-lt"/>
                        <a:ea typeface="Calibri"/>
                        <a:cs typeface="Times New Roman"/>
                      </a:endParaRPr>
                    </a:p>
                  </a:txBody>
                  <a:tcPr/>
                </a:tc>
                <a:extLst>
                  <a:ext uri="{0D108BD9-81ED-4DB2-BD59-A6C34878D82A}">
                    <a16:rowId xmlns:a16="http://schemas.microsoft.com/office/drawing/2014/main" val="10003"/>
                  </a:ext>
                </a:extLst>
              </a:tr>
            </a:tbl>
          </a:graphicData>
        </a:graphic>
      </p:graphicFrame>
      <p:sp>
        <p:nvSpPr>
          <p:cNvPr id="7" name="TextBox 6">
            <a:extLst>
              <a:ext uri="{FF2B5EF4-FFF2-40B4-BE49-F238E27FC236}">
                <a16:creationId xmlns:a16="http://schemas.microsoft.com/office/drawing/2014/main" id="{DAB433B6-C80B-4051-A82A-9C11249EC722}"/>
              </a:ext>
            </a:extLst>
          </p:cNvPr>
          <p:cNvSpPr txBox="1"/>
          <p:nvPr/>
        </p:nvSpPr>
        <p:spPr>
          <a:xfrm>
            <a:off x="3981426" y="2871107"/>
            <a:ext cx="660758" cy="369332"/>
          </a:xfrm>
          <a:prstGeom prst="rect">
            <a:avLst/>
          </a:prstGeom>
          <a:noFill/>
        </p:spPr>
        <p:txBody>
          <a:bodyPr wrap="none" rtlCol="0">
            <a:spAutoFit/>
          </a:bodyPr>
          <a:lstStyle/>
          <a:p>
            <a:r>
              <a:rPr lang="en-US" dirty="0"/>
              <a:t>D – Z</a:t>
            </a:r>
          </a:p>
        </p:txBody>
      </p:sp>
      <p:sp>
        <p:nvSpPr>
          <p:cNvPr id="10" name="TextBox 9">
            <a:extLst>
              <a:ext uri="{FF2B5EF4-FFF2-40B4-BE49-F238E27FC236}">
                <a16:creationId xmlns:a16="http://schemas.microsoft.com/office/drawing/2014/main" id="{0942D3CC-C7CE-487F-BF99-4783B6A504D1}"/>
              </a:ext>
            </a:extLst>
          </p:cNvPr>
          <p:cNvSpPr txBox="1"/>
          <p:nvPr/>
        </p:nvSpPr>
        <p:spPr>
          <a:xfrm>
            <a:off x="6328607" y="2732607"/>
            <a:ext cx="1367682" cy="646331"/>
          </a:xfrm>
          <a:prstGeom prst="rect">
            <a:avLst/>
          </a:prstGeom>
          <a:noFill/>
        </p:spPr>
        <p:txBody>
          <a:bodyPr wrap="none" rtlCol="0">
            <a:spAutoFit/>
          </a:bodyPr>
          <a:lstStyle/>
          <a:p>
            <a:r>
              <a:rPr lang="en-US" dirty="0"/>
              <a:t>(D – Z) – C </a:t>
            </a:r>
          </a:p>
          <a:p>
            <a:r>
              <a:rPr lang="en-US" dirty="0"/>
              <a:t>=  (D – C) – Z</a:t>
            </a:r>
          </a:p>
        </p:txBody>
      </p:sp>
      <p:sp>
        <p:nvSpPr>
          <p:cNvPr id="11" name="TextBox 10">
            <a:extLst>
              <a:ext uri="{FF2B5EF4-FFF2-40B4-BE49-F238E27FC236}">
                <a16:creationId xmlns:a16="http://schemas.microsoft.com/office/drawing/2014/main" id="{6C7B59D1-6109-4EDD-A8D8-D663D686715F}"/>
              </a:ext>
            </a:extLst>
          </p:cNvPr>
          <p:cNvSpPr txBox="1"/>
          <p:nvPr/>
        </p:nvSpPr>
        <p:spPr>
          <a:xfrm>
            <a:off x="5610922" y="3360731"/>
            <a:ext cx="2626852" cy="369332"/>
          </a:xfrm>
          <a:prstGeom prst="rect">
            <a:avLst/>
          </a:prstGeom>
          <a:noFill/>
        </p:spPr>
        <p:txBody>
          <a:bodyPr wrap="square" rtlCol="0">
            <a:spAutoFit/>
          </a:bodyPr>
          <a:lstStyle/>
          <a:p>
            <a:r>
              <a:rPr lang="en-US" dirty="0"/>
              <a:t>[(</a:t>
            </a:r>
            <a:r>
              <a:rPr lang="en-US" dirty="0">
                <a:ea typeface="Calibri"/>
                <a:cs typeface="Times New Roman"/>
              </a:rPr>
              <a:t>B – A</a:t>
            </a:r>
            <a:r>
              <a:rPr lang="en-US" dirty="0"/>
              <a:t>) – Z] – [(</a:t>
            </a:r>
            <a:r>
              <a:rPr lang="en-US" dirty="0">
                <a:ea typeface="Calibri"/>
                <a:cs typeface="Times New Roman"/>
              </a:rPr>
              <a:t>D – C) – Z]</a:t>
            </a:r>
          </a:p>
        </p:txBody>
      </p:sp>
      <p:sp>
        <p:nvSpPr>
          <p:cNvPr id="12" name="TextBox 11">
            <a:extLst>
              <a:ext uri="{FF2B5EF4-FFF2-40B4-BE49-F238E27FC236}">
                <a16:creationId xmlns:a16="http://schemas.microsoft.com/office/drawing/2014/main" id="{98827E9C-BD76-4441-A357-A17749E51F2D}"/>
              </a:ext>
            </a:extLst>
          </p:cNvPr>
          <p:cNvSpPr txBox="1"/>
          <p:nvPr/>
        </p:nvSpPr>
        <p:spPr>
          <a:xfrm>
            <a:off x="5502638" y="3661861"/>
            <a:ext cx="2843419" cy="369332"/>
          </a:xfrm>
          <a:prstGeom prst="rect">
            <a:avLst/>
          </a:prstGeom>
          <a:noFill/>
        </p:spPr>
        <p:txBody>
          <a:bodyPr wrap="square" rtlCol="0">
            <a:spAutoFit/>
          </a:bodyPr>
          <a:lstStyle/>
          <a:p>
            <a:r>
              <a:rPr lang="en-US" dirty="0"/>
              <a:t>= [(</a:t>
            </a:r>
            <a:r>
              <a:rPr lang="en-US" dirty="0">
                <a:ea typeface="Calibri"/>
                <a:cs typeface="Times New Roman"/>
              </a:rPr>
              <a:t>B – A</a:t>
            </a:r>
            <a:r>
              <a:rPr lang="en-US" dirty="0"/>
              <a:t>) – (</a:t>
            </a:r>
            <a:r>
              <a:rPr lang="en-US" dirty="0">
                <a:ea typeface="Calibri"/>
                <a:cs typeface="Times New Roman"/>
              </a:rPr>
              <a:t>D – C)] </a:t>
            </a:r>
            <a:r>
              <a:rPr lang="en-US" dirty="0"/>
              <a:t>– Z </a:t>
            </a:r>
            <a:r>
              <a:rPr lang="en-US" dirty="0">
                <a:ea typeface="Calibri"/>
                <a:cs typeface="Times New Roman"/>
              </a:rPr>
              <a:t>+ Z</a:t>
            </a:r>
          </a:p>
        </p:txBody>
      </p:sp>
      <p:sp>
        <p:nvSpPr>
          <p:cNvPr id="13" name="TextBox 12">
            <a:extLst>
              <a:ext uri="{FF2B5EF4-FFF2-40B4-BE49-F238E27FC236}">
                <a16:creationId xmlns:a16="http://schemas.microsoft.com/office/drawing/2014/main" id="{8EE0B9D7-194A-41B6-AA59-7C4B8991F2E8}"/>
              </a:ext>
            </a:extLst>
          </p:cNvPr>
          <p:cNvSpPr txBox="1"/>
          <p:nvPr/>
        </p:nvSpPr>
        <p:spPr>
          <a:xfrm>
            <a:off x="6200428" y="3988544"/>
            <a:ext cx="1952972" cy="369332"/>
          </a:xfrm>
          <a:prstGeom prst="rect">
            <a:avLst/>
          </a:prstGeom>
          <a:noFill/>
        </p:spPr>
        <p:txBody>
          <a:bodyPr wrap="square" rtlCol="0">
            <a:spAutoFit/>
          </a:bodyPr>
          <a:lstStyle/>
          <a:p>
            <a:r>
              <a:rPr lang="en-US" dirty="0"/>
              <a:t>= [DID*</a:t>
            </a:r>
            <a:r>
              <a:rPr lang="en-US" dirty="0">
                <a:ea typeface="Calibri"/>
                <a:cs typeface="Times New Roman"/>
              </a:rPr>
              <a:t>] </a:t>
            </a:r>
            <a:r>
              <a:rPr lang="en-US" dirty="0"/>
              <a:t>– Z </a:t>
            </a:r>
            <a:r>
              <a:rPr lang="en-US" dirty="0">
                <a:ea typeface="Calibri"/>
                <a:cs typeface="Times New Roman"/>
              </a:rPr>
              <a:t>+ Z</a:t>
            </a:r>
          </a:p>
        </p:txBody>
      </p:sp>
      <p:sp>
        <p:nvSpPr>
          <p:cNvPr id="14" name="Rectangle 13">
            <a:extLst>
              <a:ext uri="{FF2B5EF4-FFF2-40B4-BE49-F238E27FC236}">
                <a16:creationId xmlns:a16="http://schemas.microsoft.com/office/drawing/2014/main" id="{680A7F76-A15F-4392-A967-5429A7F85C65}"/>
              </a:ext>
            </a:extLst>
          </p:cNvPr>
          <p:cNvSpPr/>
          <p:nvPr/>
        </p:nvSpPr>
        <p:spPr>
          <a:xfrm>
            <a:off x="685800" y="4852026"/>
            <a:ext cx="8229600" cy="1077218"/>
          </a:xfrm>
          <a:prstGeom prst="rect">
            <a:avLst/>
          </a:prstGeom>
        </p:spPr>
        <p:txBody>
          <a:bodyPr wrap="square">
            <a:spAutoFit/>
          </a:bodyPr>
          <a:lstStyle/>
          <a:p>
            <a:r>
              <a:rPr lang="en-US" sz="3200" dirty="0"/>
              <a:t>So this type of issue is actually not a problem – it just cancels out</a:t>
            </a:r>
          </a:p>
        </p:txBody>
      </p:sp>
      <p:sp>
        <p:nvSpPr>
          <p:cNvPr id="15" name="TextBox 14">
            <a:extLst>
              <a:ext uri="{FF2B5EF4-FFF2-40B4-BE49-F238E27FC236}">
                <a16:creationId xmlns:a16="http://schemas.microsoft.com/office/drawing/2014/main" id="{E58E0DCF-BC39-4344-B381-99251D3F1BDF}"/>
              </a:ext>
            </a:extLst>
          </p:cNvPr>
          <p:cNvSpPr txBox="1"/>
          <p:nvPr/>
        </p:nvSpPr>
        <p:spPr>
          <a:xfrm>
            <a:off x="3981426" y="2184328"/>
            <a:ext cx="660758" cy="369332"/>
          </a:xfrm>
          <a:prstGeom prst="rect">
            <a:avLst/>
          </a:prstGeom>
          <a:noFill/>
        </p:spPr>
        <p:txBody>
          <a:bodyPr wrap="none" rtlCol="0">
            <a:spAutoFit/>
          </a:bodyPr>
          <a:lstStyle/>
          <a:p>
            <a:r>
              <a:rPr lang="en-US" dirty="0"/>
              <a:t>B – Z</a:t>
            </a:r>
          </a:p>
        </p:txBody>
      </p:sp>
      <p:sp>
        <p:nvSpPr>
          <p:cNvPr id="16" name="TextBox 15">
            <a:extLst>
              <a:ext uri="{FF2B5EF4-FFF2-40B4-BE49-F238E27FC236}">
                <a16:creationId xmlns:a16="http://schemas.microsoft.com/office/drawing/2014/main" id="{D97DC018-439A-4703-9D65-87402D5D6235}"/>
              </a:ext>
            </a:extLst>
          </p:cNvPr>
          <p:cNvSpPr txBox="1"/>
          <p:nvPr/>
        </p:nvSpPr>
        <p:spPr>
          <a:xfrm>
            <a:off x="6240507" y="1994721"/>
            <a:ext cx="1367682" cy="646331"/>
          </a:xfrm>
          <a:prstGeom prst="rect">
            <a:avLst/>
          </a:prstGeom>
          <a:noFill/>
        </p:spPr>
        <p:txBody>
          <a:bodyPr wrap="none" rtlCol="0">
            <a:spAutoFit/>
          </a:bodyPr>
          <a:lstStyle/>
          <a:p>
            <a:r>
              <a:rPr lang="en-US" dirty="0"/>
              <a:t>(B – Z) – A </a:t>
            </a:r>
          </a:p>
          <a:p>
            <a:r>
              <a:rPr lang="en-US" dirty="0"/>
              <a:t>=  (B – A) – Z</a:t>
            </a:r>
          </a:p>
        </p:txBody>
      </p:sp>
      <p:sp>
        <p:nvSpPr>
          <p:cNvPr id="17" name="TextBox 16">
            <a:extLst>
              <a:ext uri="{FF2B5EF4-FFF2-40B4-BE49-F238E27FC236}">
                <a16:creationId xmlns:a16="http://schemas.microsoft.com/office/drawing/2014/main" id="{E991A0D5-8647-4B44-98E6-9E23B6A8F9C6}"/>
              </a:ext>
            </a:extLst>
          </p:cNvPr>
          <p:cNvSpPr txBox="1"/>
          <p:nvPr/>
        </p:nvSpPr>
        <p:spPr>
          <a:xfrm>
            <a:off x="6200428" y="4332323"/>
            <a:ext cx="1952972" cy="369332"/>
          </a:xfrm>
          <a:prstGeom prst="rect">
            <a:avLst/>
          </a:prstGeom>
          <a:noFill/>
        </p:spPr>
        <p:txBody>
          <a:bodyPr wrap="square" rtlCol="0">
            <a:spAutoFit/>
          </a:bodyPr>
          <a:lstStyle/>
          <a:p>
            <a:r>
              <a:rPr lang="en-US" dirty="0"/>
              <a:t>= [DID*</a:t>
            </a:r>
            <a:r>
              <a:rPr lang="en-US" dirty="0">
                <a:ea typeface="Calibri"/>
                <a:cs typeface="Times New Roman"/>
              </a:rPr>
              <a:t>]</a:t>
            </a:r>
          </a:p>
        </p:txBody>
      </p:sp>
    </p:spTree>
    <p:extLst>
      <p:ext uri="{BB962C8B-B14F-4D97-AF65-F5344CB8AC3E}">
        <p14:creationId xmlns:p14="http://schemas.microsoft.com/office/powerpoint/2010/main" val="15792035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7"/>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0" grpId="0"/>
      <p:bldP spid="11" grpId="0"/>
      <p:bldP spid="12" grpId="0"/>
      <p:bldP spid="13" grpId="0"/>
      <p:bldP spid="14" grpId="0"/>
      <p:bldP spid="15" grpId="0"/>
      <p:bldP spid="16" grpId="0"/>
      <p:bldP spid="17" grpId="0"/>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(4) Trends</a:t>
            </a:r>
            <a:endParaRPr lang="en-CA" dirty="0"/>
          </a:p>
        </p:txBody>
      </p:sp>
      <p:sp>
        <p:nvSpPr>
          <p:cNvPr id="3" name="Content Placeholder 2"/>
          <p:cNvSpPr>
            <a:spLocks noGrp="1"/>
          </p:cNvSpPr>
          <p:nvPr>
            <p:ph idx="1"/>
          </p:nvPr>
        </p:nvSpPr>
        <p:spPr/>
        <p:txBody>
          <a:bodyPr/>
          <a:lstStyle/>
          <a:p>
            <a:pPr marL="0" indent="0">
              <a:buNone/>
            </a:pPr>
            <a:r>
              <a:rPr lang="en-US" dirty="0"/>
              <a:t>This picture looks pretty good:  (</a:t>
            </a:r>
            <a:r>
              <a:rPr lang="en-US" dirty="0">
                <a:solidFill>
                  <a:srgbClr val="0070C0"/>
                </a:solidFill>
              </a:rPr>
              <a:t>T</a:t>
            </a:r>
            <a:r>
              <a:rPr lang="en-US" dirty="0"/>
              <a:t> and </a:t>
            </a:r>
            <a:r>
              <a:rPr lang="en-US" dirty="0">
                <a:solidFill>
                  <a:srgbClr val="00B050"/>
                </a:solidFill>
              </a:rPr>
              <a:t>C</a:t>
            </a:r>
            <a:r>
              <a:rPr lang="en-US" dirty="0"/>
              <a:t>)</a:t>
            </a:r>
          </a:p>
          <a:p>
            <a:pPr marL="0" indent="0">
              <a:buNone/>
            </a:pPr>
            <a:r>
              <a:rPr lang="en-US" dirty="0"/>
              <a:t>                                                          </a:t>
            </a:r>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CA" dirty="0"/>
          </a:p>
        </p:txBody>
      </p:sp>
      <p:cxnSp>
        <p:nvCxnSpPr>
          <p:cNvPr id="5" name="Straight Arrow Connector 4"/>
          <p:cNvCxnSpPr/>
          <p:nvPr/>
        </p:nvCxnSpPr>
        <p:spPr>
          <a:xfrm flipV="1">
            <a:off x="1295400" y="2286000"/>
            <a:ext cx="0" cy="327660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7" name="Straight Arrow Connector 6"/>
          <p:cNvCxnSpPr/>
          <p:nvPr/>
        </p:nvCxnSpPr>
        <p:spPr>
          <a:xfrm>
            <a:off x="1295400" y="5562600"/>
            <a:ext cx="6477000"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9" name="Straight Connector 8"/>
          <p:cNvCxnSpPr/>
          <p:nvPr/>
        </p:nvCxnSpPr>
        <p:spPr>
          <a:xfrm flipV="1">
            <a:off x="4419600" y="2286000"/>
            <a:ext cx="0" cy="3276600"/>
          </a:xfrm>
          <a:prstGeom prst="line">
            <a:avLst/>
          </a:prstGeom>
          <a:ln w="28575">
            <a:prstDash val="dash"/>
          </a:ln>
        </p:spPr>
        <p:style>
          <a:lnRef idx="1">
            <a:schemeClr val="accent2"/>
          </a:lnRef>
          <a:fillRef idx="0">
            <a:schemeClr val="accent2"/>
          </a:fillRef>
          <a:effectRef idx="0">
            <a:schemeClr val="accent2"/>
          </a:effectRef>
          <a:fontRef idx="minor">
            <a:schemeClr val="tx1"/>
          </a:fontRef>
        </p:style>
      </p:cxnSp>
      <p:sp>
        <p:nvSpPr>
          <p:cNvPr id="11" name="TextBox 10"/>
          <p:cNvSpPr txBox="1"/>
          <p:nvPr/>
        </p:nvSpPr>
        <p:spPr>
          <a:xfrm>
            <a:off x="3924301" y="3467703"/>
            <a:ext cx="381000" cy="646331"/>
          </a:xfrm>
          <a:prstGeom prst="rect">
            <a:avLst/>
          </a:prstGeom>
          <a:noFill/>
        </p:spPr>
        <p:txBody>
          <a:bodyPr wrap="square" rtlCol="0">
            <a:spAutoFit/>
          </a:bodyPr>
          <a:lstStyle/>
          <a:p>
            <a:r>
              <a:rPr lang="en-US" dirty="0">
                <a:solidFill>
                  <a:srgbClr val="0070C0"/>
                </a:solidFill>
              </a:rPr>
              <a:t>●</a:t>
            </a:r>
          </a:p>
          <a:p>
            <a:r>
              <a:rPr lang="en-US" dirty="0">
                <a:solidFill>
                  <a:srgbClr val="00B050"/>
                </a:solidFill>
              </a:rPr>
              <a:t>●</a:t>
            </a:r>
          </a:p>
        </p:txBody>
      </p:sp>
      <p:sp>
        <p:nvSpPr>
          <p:cNvPr id="12" name="TextBox 11"/>
          <p:cNvSpPr txBox="1"/>
          <p:nvPr/>
        </p:nvSpPr>
        <p:spPr>
          <a:xfrm>
            <a:off x="4575132" y="3740829"/>
            <a:ext cx="304800" cy="366941"/>
          </a:xfrm>
          <a:prstGeom prst="rect">
            <a:avLst/>
          </a:prstGeom>
          <a:noFill/>
        </p:spPr>
        <p:txBody>
          <a:bodyPr wrap="square" rtlCol="0">
            <a:spAutoFit/>
          </a:bodyPr>
          <a:lstStyle/>
          <a:p>
            <a:r>
              <a:rPr lang="en-US" dirty="0">
                <a:solidFill>
                  <a:srgbClr val="00B050"/>
                </a:solidFill>
              </a:rPr>
              <a:t>●</a:t>
            </a:r>
          </a:p>
        </p:txBody>
      </p:sp>
      <p:sp>
        <p:nvSpPr>
          <p:cNvPr id="13" name="TextBox 12"/>
          <p:cNvSpPr txBox="1"/>
          <p:nvPr/>
        </p:nvSpPr>
        <p:spPr>
          <a:xfrm>
            <a:off x="4571478" y="3282607"/>
            <a:ext cx="304800" cy="366941"/>
          </a:xfrm>
          <a:prstGeom prst="rect">
            <a:avLst/>
          </a:prstGeom>
          <a:noFill/>
          <a:ln>
            <a:noFill/>
          </a:ln>
        </p:spPr>
        <p:txBody>
          <a:bodyPr wrap="square" rtlCol="0">
            <a:spAutoFit/>
          </a:bodyPr>
          <a:lstStyle/>
          <a:p>
            <a:r>
              <a:rPr lang="en-US" dirty="0">
                <a:solidFill>
                  <a:srgbClr val="0070C0"/>
                </a:solidFill>
              </a:rPr>
              <a:t>●</a:t>
            </a:r>
          </a:p>
        </p:txBody>
      </p:sp>
    </p:spTree>
    <p:extLst>
      <p:ext uri="{BB962C8B-B14F-4D97-AF65-F5344CB8AC3E}">
        <p14:creationId xmlns:p14="http://schemas.microsoft.com/office/powerpoint/2010/main" val="34325070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3" grpId="0"/>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(4) Trends</a:t>
            </a:r>
            <a:endParaRPr lang="en-CA" dirty="0"/>
          </a:p>
        </p:txBody>
      </p:sp>
      <p:sp>
        <p:nvSpPr>
          <p:cNvPr id="3" name="Content Placeholder 2"/>
          <p:cNvSpPr>
            <a:spLocks noGrp="1"/>
          </p:cNvSpPr>
          <p:nvPr>
            <p:ph idx="1"/>
          </p:nvPr>
        </p:nvSpPr>
        <p:spPr/>
        <p:txBody>
          <a:bodyPr/>
          <a:lstStyle/>
          <a:p>
            <a:pPr marL="0" indent="0">
              <a:buNone/>
            </a:pPr>
            <a:r>
              <a:rPr lang="en-US" dirty="0"/>
              <a:t>But not now…</a:t>
            </a:r>
            <a:endParaRPr lang="en-CA" dirty="0"/>
          </a:p>
        </p:txBody>
      </p:sp>
      <p:cxnSp>
        <p:nvCxnSpPr>
          <p:cNvPr id="4" name="Straight Arrow Connector 3"/>
          <p:cNvCxnSpPr/>
          <p:nvPr/>
        </p:nvCxnSpPr>
        <p:spPr>
          <a:xfrm flipV="1">
            <a:off x="1298532" y="2362200"/>
            <a:ext cx="0" cy="327660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5" name="Straight Arrow Connector 4"/>
          <p:cNvCxnSpPr/>
          <p:nvPr/>
        </p:nvCxnSpPr>
        <p:spPr>
          <a:xfrm>
            <a:off x="1298532" y="5638800"/>
            <a:ext cx="6477000"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6" name="Straight Connector 5"/>
          <p:cNvCxnSpPr/>
          <p:nvPr/>
        </p:nvCxnSpPr>
        <p:spPr>
          <a:xfrm flipV="1">
            <a:off x="4419600" y="2362200"/>
            <a:ext cx="0" cy="3276600"/>
          </a:xfrm>
          <a:prstGeom prst="line">
            <a:avLst/>
          </a:prstGeom>
          <a:ln w="28575">
            <a:prstDash val="dash"/>
          </a:ln>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3886200" y="3540015"/>
            <a:ext cx="342900" cy="646331"/>
          </a:xfrm>
          <a:prstGeom prst="rect">
            <a:avLst/>
          </a:prstGeom>
          <a:noFill/>
        </p:spPr>
        <p:txBody>
          <a:bodyPr wrap="square" rtlCol="0">
            <a:spAutoFit/>
          </a:bodyPr>
          <a:lstStyle/>
          <a:p>
            <a:r>
              <a:rPr lang="en-US" dirty="0">
                <a:solidFill>
                  <a:srgbClr val="0070C0"/>
                </a:solidFill>
              </a:rPr>
              <a:t>●</a:t>
            </a:r>
          </a:p>
          <a:p>
            <a:r>
              <a:rPr lang="en-US" dirty="0">
                <a:solidFill>
                  <a:srgbClr val="00B050"/>
                </a:solidFill>
              </a:rPr>
              <a:t>●</a:t>
            </a:r>
          </a:p>
        </p:txBody>
      </p:sp>
      <p:sp>
        <p:nvSpPr>
          <p:cNvPr id="8" name="TextBox 7"/>
          <p:cNvSpPr txBox="1"/>
          <p:nvPr/>
        </p:nvSpPr>
        <p:spPr>
          <a:xfrm>
            <a:off x="4571478" y="3282607"/>
            <a:ext cx="304800" cy="366941"/>
          </a:xfrm>
          <a:prstGeom prst="rect">
            <a:avLst/>
          </a:prstGeom>
          <a:noFill/>
          <a:ln>
            <a:noFill/>
          </a:ln>
        </p:spPr>
        <p:txBody>
          <a:bodyPr wrap="square" rtlCol="0">
            <a:spAutoFit/>
          </a:bodyPr>
          <a:lstStyle/>
          <a:p>
            <a:r>
              <a:rPr lang="en-US" dirty="0">
                <a:solidFill>
                  <a:srgbClr val="0070C0"/>
                </a:solidFill>
              </a:rPr>
              <a:t>●</a:t>
            </a:r>
          </a:p>
        </p:txBody>
      </p:sp>
      <p:sp>
        <p:nvSpPr>
          <p:cNvPr id="9" name="TextBox 8"/>
          <p:cNvSpPr txBox="1"/>
          <p:nvPr/>
        </p:nvSpPr>
        <p:spPr>
          <a:xfrm>
            <a:off x="5181600" y="3039949"/>
            <a:ext cx="304800" cy="366941"/>
          </a:xfrm>
          <a:prstGeom prst="rect">
            <a:avLst/>
          </a:prstGeom>
          <a:noFill/>
          <a:ln>
            <a:noFill/>
          </a:ln>
        </p:spPr>
        <p:txBody>
          <a:bodyPr wrap="square" rtlCol="0">
            <a:spAutoFit/>
          </a:bodyPr>
          <a:lstStyle/>
          <a:p>
            <a:r>
              <a:rPr lang="en-US" dirty="0">
                <a:solidFill>
                  <a:srgbClr val="0070C0"/>
                </a:solidFill>
              </a:rPr>
              <a:t>●</a:t>
            </a:r>
          </a:p>
        </p:txBody>
      </p:sp>
      <p:sp>
        <p:nvSpPr>
          <p:cNvPr id="10" name="TextBox 9"/>
          <p:cNvSpPr txBox="1"/>
          <p:nvPr/>
        </p:nvSpPr>
        <p:spPr>
          <a:xfrm>
            <a:off x="5791722" y="2831426"/>
            <a:ext cx="304800" cy="366941"/>
          </a:xfrm>
          <a:prstGeom prst="rect">
            <a:avLst/>
          </a:prstGeom>
          <a:noFill/>
          <a:ln>
            <a:noFill/>
          </a:ln>
        </p:spPr>
        <p:txBody>
          <a:bodyPr wrap="square" rtlCol="0">
            <a:spAutoFit/>
          </a:bodyPr>
          <a:lstStyle/>
          <a:p>
            <a:r>
              <a:rPr lang="en-US" dirty="0">
                <a:solidFill>
                  <a:srgbClr val="0070C0"/>
                </a:solidFill>
              </a:rPr>
              <a:t>●</a:t>
            </a:r>
          </a:p>
        </p:txBody>
      </p:sp>
      <p:sp>
        <p:nvSpPr>
          <p:cNvPr id="11" name="TextBox 10"/>
          <p:cNvSpPr txBox="1"/>
          <p:nvPr/>
        </p:nvSpPr>
        <p:spPr>
          <a:xfrm>
            <a:off x="6400800" y="2535878"/>
            <a:ext cx="304800" cy="366941"/>
          </a:xfrm>
          <a:prstGeom prst="rect">
            <a:avLst/>
          </a:prstGeom>
          <a:noFill/>
          <a:ln>
            <a:noFill/>
          </a:ln>
        </p:spPr>
        <p:txBody>
          <a:bodyPr wrap="square" rtlCol="0">
            <a:spAutoFit/>
          </a:bodyPr>
          <a:lstStyle/>
          <a:p>
            <a:r>
              <a:rPr lang="en-US" dirty="0">
                <a:solidFill>
                  <a:srgbClr val="0070C0"/>
                </a:solidFill>
              </a:rPr>
              <a:t>●</a:t>
            </a:r>
          </a:p>
        </p:txBody>
      </p:sp>
      <p:sp>
        <p:nvSpPr>
          <p:cNvPr id="12" name="TextBox 11"/>
          <p:cNvSpPr txBox="1"/>
          <p:nvPr/>
        </p:nvSpPr>
        <p:spPr>
          <a:xfrm>
            <a:off x="3158648" y="3786678"/>
            <a:ext cx="304800" cy="366941"/>
          </a:xfrm>
          <a:prstGeom prst="rect">
            <a:avLst/>
          </a:prstGeom>
          <a:noFill/>
          <a:ln>
            <a:noFill/>
          </a:ln>
        </p:spPr>
        <p:txBody>
          <a:bodyPr wrap="square" rtlCol="0">
            <a:spAutoFit/>
          </a:bodyPr>
          <a:lstStyle/>
          <a:p>
            <a:r>
              <a:rPr lang="en-US" dirty="0">
                <a:solidFill>
                  <a:srgbClr val="0070C0"/>
                </a:solidFill>
              </a:rPr>
              <a:t>●</a:t>
            </a:r>
          </a:p>
        </p:txBody>
      </p:sp>
      <p:sp>
        <p:nvSpPr>
          <p:cNvPr id="13" name="TextBox 12"/>
          <p:cNvSpPr txBox="1"/>
          <p:nvPr/>
        </p:nvSpPr>
        <p:spPr>
          <a:xfrm>
            <a:off x="2531823" y="4000500"/>
            <a:ext cx="304800" cy="366941"/>
          </a:xfrm>
          <a:prstGeom prst="rect">
            <a:avLst/>
          </a:prstGeom>
          <a:noFill/>
          <a:ln>
            <a:noFill/>
          </a:ln>
        </p:spPr>
        <p:txBody>
          <a:bodyPr wrap="square" rtlCol="0">
            <a:spAutoFit/>
          </a:bodyPr>
          <a:lstStyle/>
          <a:p>
            <a:r>
              <a:rPr lang="en-US" dirty="0">
                <a:solidFill>
                  <a:srgbClr val="0070C0"/>
                </a:solidFill>
              </a:rPr>
              <a:t>●</a:t>
            </a:r>
          </a:p>
        </p:txBody>
      </p:sp>
      <p:sp>
        <p:nvSpPr>
          <p:cNvPr id="14" name="TextBox 13"/>
          <p:cNvSpPr txBox="1"/>
          <p:nvPr/>
        </p:nvSpPr>
        <p:spPr>
          <a:xfrm>
            <a:off x="1997117" y="4204171"/>
            <a:ext cx="304800" cy="366941"/>
          </a:xfrm>
          <a:prstGeom prst="rect">
            <a:avLst/>
          </a:prstGeom>
          <a:noFill/>
          <a:ln>
            <a:noFill/>
          </a:ln>
        </p:spPr>
        <p:txBody>
          <a:bodyPr wrap="square" rtlCol="0">
            <a:spAutoFit/>
          </a:bodyPr>
          <a:lstStyle/>
          <a:p>
            <a:r>
              <a:rPr lang="en-US" dirty="0">
                <a:solidFill>
                  <a:srgbClr val="0070C0"/>
                </a:solidFill>
              </a:rPr>
              <a:t>●</a:t>
            </a:r>
          </a:p>
        </p:txBody>
      </p:sp>
      <p:sp>
        <p:nvSpPr>
          <p:cNvPr id="15" name="TextBox 14"/>
          <p:cNvSpPr txBox="1"/>
          <p:nvPr/>
        </p:nvSpPr>
        <p:spPr>
          <a:xfrm>
            <a:off x="4585048" y="3786678"/>
            <a:ext cx="304800" cy="366941"/>
          </a:xfrm>
          <a:prstGeom prst="rect">
            <a:avLst/>
          </a:prstGeom>
          <a:noFill/>
        </p:spPr>
        <p:txBody>
          <a:bodyPr wrap="square" rtlCol="0">
            <a:spAutoFit/>
          </a:bodyPr>
          <a:lstStyle/>
          <a:p>
            <a:r>
              <a:rPr lang="en-US" dirty="0">
                <a:solidFill>
                  <a:srgbClr val="00B050"/>
                </a:solidFill>
              </a:rPr>
              <a:t>●</a:t>
            </a:r>
          </a:p>
        </p:txBody>
      </p:sp>
      <p:sp>
        <p:nvSpPr>
          <p:cNvPr id="16" name="TextBox 15"/>
          <p:cNvSpPr txBox="1"/>
          <p:nvPr/>
        </p:nvSpPr>
        <p:spPr>
          <a:xfrm>
            <a:off x="5237967" y="3777970"/>
            <a:ext cx="304800" cy="366941"/>
          </a:xfrm>
          <a:prstGeom prst="rect">
            <a:avLst/>
          </a:prstGeom>
          <a:noFill/>
        </p:spPr>
        <p:txBody>
          <a:bodyPr wrap="square" rtlCol="0">
            <a:spAutoFit/>
          </a:bodyPr>
          <a:lstStyle/>
          <a:p>
            <a:r>
              <a:rPr lang="en-US" dirty="0">
                <a:solidFill>
                  <a:srgbClr val="00B050"/>
                </a:solidFill>
              </a:rPr>
              <a:t>●</a:t>
            </a:r>
          </a:p>
        </p:txBody>
      </p:sp>
      <p:sp>
        <p:nvSpPr>
          <p:cNvPr id="17" name="TextBox 16"/>
          <p:cNvSpPr txBox="1"/>
          <p:nvPr/>
        </p:nvSpPr>
        <p:spPr>
          <a:xfrm>
            <a:off x="5812077" y="3774562"/>
            <a:ext cx="304800" cy="366941"/>
          </a:xfrm>
          <a:prstGeom prst="rect">
            <a:avLst/>
          </a:prstGeom>
          <a:noFill/>
        </p:spPr>
        <p:txBody>
          <a:bodyPr wrap="square" rtlCol="0">
            <a:spAutoFit/>
          </a:bodyPr>
          <a:lstStyle/>
          <a:p>
            <a:r>
              <a:rPr lang="en-US" dirty="0">
                <a:solidFill>
                  <a:srgbClr val="00B050"/>
                </a:solidFill>
              </a:rPr>
              <a:t>●</a:t>
            </a:r>
          </a:p>
        </p:txBody>
      </p:sp>
      <p:sp>
        <p:nvSpPr>
          <p:cNvPr id="18" name="TextBox 17"/>
          <p:cNvSpPr txBox="1"/>
          <p:nvPr/>
        </p:nvSpPr>
        <p:spPr>
          <a:xfrm>
            <a:off x="6432115" y="3720453"/>
            <a:ext cx="304800" cy="366941"/>
          </a:xfrm>
          <a:prstGeom prst="rect">
            <a:avLst/>
          </a:prstGeom>
          <a:noFill/>
        </p:spPr>
        <p:txBody>
          <a:bodyPr wrap="square" rtlCol="0">
            <a:spAutoFit/>
          </a:bodyPr>
          <a:lstStyle/>
          <a:p>
            <a:r>
              <a:rPr lang="en-US" dirty="0">
                <a:solidFill>
                  <a:srgbClr val="00B050"/>
                </a:solidFill>
              </a:rPr>
              <a:t>●</a:t>
            </a:r>
          </a:p>
        </p:txBody>
      </p:sp>
      <p:sp>
        <p:nvSpPr>
          <p:cNvPr id="19" name="TextBox 18"/>
          <p:cNvSpPr txBox="1"/>
          <p:nvPr/>
        </p:nvSpPr>
        <p:spPr>
          <a:xfrm>
            <a:off x="3167255" y="3872035"/>
            <a:ext cx="304800" cy="366941"/>
          </a:xfrm>
          <a:prstGeom prst="rect">
            <a:avLst/>
          </a:prstGeom>
          <a:noFill/>
        </p:spPr>
        <p:txBody>
          <a:bodyPr wrap="square" rtlCol="0">
            <a:spAutoFit/>
          </a:bodyPr>
          <a:lstStyle/>
          <a:p>
            <a:r>
              <a:rPr lang="en-US" dirty="0">
                <a:solidFill>
                  <a:srgbClr val="00B050"/>
                </a:solidFill>
              </a:rPr>
              <a:t>●</a:t>
            </a:r>
          </a:p>
        </p:txBody>
      </p:sp>
      <p:sp>
        <p:nvSpPr>
          <p:cNvPr id="20" name="TextBox 19"/>
          <p:cNvSpPr txBox="1"/>
          <p:nvPr/>
        </p:nvSpPr>
        <p:spPr>
          <a:xfrm>
            <a:off x="2519298" y="3836376"/>
            <a:ext cx="304800" cy="366941"/>
          </a:xfrm>
          <a:prstGeom prst="rect">
            <a:avLst/>
          </a:prstGeom>
          <a:noFill/>
        </p:spPr>
        <p:txBody>
          <a:bodyPr wrap="square" rtlCol="0">
            <a:spAutoFit/>
          </a:bodyPr>
          <a:lstStyle/>
          <a:p>
            <a:r>
              <a:rPr lang="en-US" dirty="0">
                <a:solidFill>
                  <a:srgbClr val="00B050"/>
                </a:solidFill>
              </a:rPr>
              <a:t>●</a:t>
            </a:r>
          </a:p>
        </p:txBody>
      </p:sp>
      <p:sp>
        <p:nvSpPr>
          <p:cNvPr id="21" name="TextBox 20"/>
          <p:cNvSpPr txBox="1"/>
          <p:nvPr/>
        </p:nvSpPr>
        <p:spPr>
          <a:xfrm>
            <a:off x="2005733" y="3836376"/>
            <a:ext cx="304800" cy="366941"/>
          </a:xfrm>
          <a:prstGeom prst="rect">
            <a:avLst/>
          </a:prstGeom>
          <a:noFill/>
        </p:spPr>
        <p:txBody>
          <a:bodyPr wrap="square" rtlCol="0">
            <a:spAutoFit/>
          </a:bodyPr>
          <a:lstStyle/>
          <a:p>
            <a:r>
              <a:rPr lang="en-US" dirty="0">
                <a:solidFill>
                  <a:srgbClr val="00B050"/>
                </a:solidFill>
              </a:rPr>
              <a:t>●</a:t>
            </a:r>
          </a:p>
        </p:txBody>
      </p:sp>
    </p:spTree>
    <p:extLst>
      <p:ext uri="{BB962C8B-B14F-4D97-AF65-F5344CB8AC3E}">
        <p14:creationId xmlns:p14="http://schemas.microsoft.com/office/powerpoint/2010/main" val="15417351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1"/>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0"/>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6"/>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7"/>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P spid="10" grpId="0"/>
      <p:bldP spid="11" grpId="0"/>
      <p:bldP spid="12" grpId="0"/>
      <p:bldP spid="13" grpId="0"/>
      <p:bldP spid="14" grpId="0"/>
      <p:bldP spid="15" grpId="0"/>
      <p:bldP spid="16" grpId="0"/>
      <p:bldP spid="17" grpId="0"/>
      <p:bldP spid="18" grpId="0"/>
      <p:bldP spid="19" grpId="0"/>
      <p:bldP spid="20" grpId="0"/>
      <p:bldP spid="21"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E8E3659896C5164B85D6EEE8CA74DFEA" ma:contentTypeVersion="11" ma:contentTypeDescription="Create a new document." ma:contentTypeScope="" ma:versionID="33f7ca8f44387fa8aaac84a5a1810fd6">
  <xsd:schema xmlns:xsd="http://www.w3.org/2001/XMLSchema" xmlns:xs="http://www.w3.org/2001/XMLSchema" xmlns:p="http://schemas.microsoft.com/office/2006/metadata/properties" xmlns:ns3="8dcc6482-83b0-4165-b123-94b7189eae53" targetNamespace="http://schemas.microsoft.com/office/2006/metadata/properties" ma:root="true" ma:fieldsID="e10d04518358f31e4eafd950489f8fbd" ns3:_="">
    <xsd:import namespace="8dcc6482-83b0-4165-b123-94b7189eae53"/>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OCR" minOccurs="0"/>
                <xsd:element ref="ns3:MediaServiceDateTaken" minOccurs="0"/>
                <xsd:element ref="ns3:MediaLengthInSeconds" minOccurs="0"/>
                <xsd:element ref="ns3:MediaServiceGenerationTime" minOccurs="0"/>
                <xsd:element ref="ns3:MediaServiceEventHashCode" minOccurs="0"/>
                <xsd:element ref="ns3:MediaServiceObjectDetectorVersions" minOccurs="0"/>
                <xsd:element ref="ns3:MediaServiceSystemTag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dcc6482-83b0-4165-b123-94b7189eae5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LengthInSeconds" ma:index="13" nillable="true" ma:displayName="MediaLengthInSeconds" ma:hidden="true" ma:internalName="MediaLengthInSeconds" ma:readOnly="true">
      <xsd:simpleType>
        <xsd:restriction base="dms:Unknow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ObjectDetectorVersions" ma:index="16" nillable="true" ma:displayName="MediaServiceObjectDetectorVersions" ma:description="" ma:hidden="true" ma:indexed="true" ma:internalName="MediaServiceObjectDetectorVersions" ma:readOnly="true">
      <xsd:simpleType>
        <xsd:restriction base="dms:Text"/>
      </xsd:simpleType>
    </xsd:element>
    <xsd:element name="MediaServiceSystemTags" ma:index="17" nillable="true" ma:displayName="MediaServiceSystemTags" ma:hidden="true" ma:internalName="MediaServiceSystemTags" ma:readOnly="true">
      <xsd:simpleType>
        <xsd:restriction base="dms:Note"/>
      </xsd:simpleType>
    </xsd:element>
    <xsd:element name="MediaServiceSearchProperties" ma:index="18"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D4DC375-BF15-4FB6-9352-4143915E68C8}">
  <ds:schemaRefs>
    <ds:schemaRef ds:uri="http://schemas.microsoft.com/sharepoint/v3/contenttype/forms"/>
  </ds:schemaRefs>
</ds:datastoreItem>
</file>

<file path=customXml/itemProps2.xml><?xml version="1.0" encoding="utf-8"?>
<ds:datastoreItem xmlns:ds="http://schemas.openxmlformats.org/officeDocument/2006/customXml" ds:itemID="{DFE8CE30-1DE8-4DFE-B595-63B430A4AAE5}">
  <ds:schemaRefs>
    <ds:schemaRef ds:uri="http://purl.org/dc/elements/1.1/"/>
    <ds:schemaRef ds:uri="http://schemas.microsoft.com/office/2006/documentManagement/types"/>
    <ds:schemaRef ds:uri="http://purl.org/dc/terms/"/>
    <ds:schemaRef ds:uri="8dcc6482-83b0-4165-b123-94b7189eae53"/>
    <ds:schemaRef ds:uri="http://schemas.microsoft.com/office/2006/metadata/properties"/>
    <ds:schemaRef ds:uri="http://purl.org/dc/dcmitype/"/>
    <ds:schemaRef ds:uri="http://schemas.openxmlformats.org/package/2006/metadata/core-properties"/>
    <ds:schemaRef ds:uri="http://schemas.microsoft.com/office/infopath/2007/PartnerControls"/>
    <ds:schemaRef ds:uri="http://www.w3.org/XML/1998/namespace"/>
  </ds:schemaRefs>
</ds:datastoreItem>
</file>

<file path=customXml/itemProps3.xml><?xml version="1.0" encoding="utf-8"?>
<ds:datastoreItem xmlns:ds="http://schemas.openxmlformats.org/officeDocument/2006/customXml" ds:itemID="{8FB8DCF0-EA16-4D68-A7C7-7D8EE9E7514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dcc6482-83b0-4165-b123-94b7189eae5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2817</TotalTime>
  <Words>5016</Words>
  <Application>Microsoft Office PowerPoint</Application>
  <PresentationFormat>On-screen Show (4:3)</PresentationFormat>
  <Paragraphs>828</Paragraphs>
  <Slides>97</Slides>
  <Notes>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97</vt:i4>
      </vt:variant>
    </vt:vector>
  </HeadingPairs>
  <TitlesOfParts>
    <vt:vector size="104" baseType="lpstr">
      <vt:lpstr>Arial</vt:lpstr>
      <vt:lpstr>Calibri</vt:lpstr>
      <vt:lpstr>Cambria Math</vt:lpstr>
      <vt:lpstr>Symbol</vt:lpstr>
      <vt:lpstr>Times New Roman</vt:lpstr>
      <vt:lpstr>Wingdings</vt:lpstr>
      <vt:lpstr>Office Theme</vt:lpstr>
      <vt:lpstr>PowerPoint Presentation</vt:lpstr>
      <vt:lpstr>Causality</vt:lpstr>
      <vt:lpstr>Some motivation for causality</vt:lpstr>
      <vt:lpstr>Some motivation for causality</vt:lpstr>
      <vt:lpstr>Some motivation for causality</vt:lpstr>
      <vt:lpstr>Correlation vs Causation</vt:lpstr>
      <vt:lpstr>Correlation vs Causation</vt:lpstr>
      <vt:lpstr>A call back to an earlier example</vt:lpstr>
      <vt:lpstr>A call back to an earlier example</vt:lpstr>
      <vt:lpstr>A call back to an earlier example</vt:lpstr>
      <vt:lpstr>A call back to an earlier example</vt:lpstr>
      <vt:lpstr>A call back to an earlier example</vt:lpstr>
      <vt:lpstr>A call back to an earlier example</vt:lpstr>
      <vt:lpstr>A call back to an earlier example</vt:lpstr>
      <vt:lpstr>Big Point</vt:lpstr>
      <vt:lpstr>How does this relate to our current discussion?</vt:lpstr>
      <vt:lpstr>How does this relate to our current discussion?</vt:lpstr>
      <vt:lpstr>Recall our earlier case</vt:lpstr>
      <vt:lpstr>Note the assumption here</vt:lpstr>
      <vt:lpstr>So how do we circumvent this problem?</vt:lpstr>
      <vt:lpstr>PowerPoint Presentation</vt:lpstr>
      <vt:lpstr>Why would this work?</vt:lpstr>
      <vt:lpstr>The next best thing</vt:lpstr>
      <vt:lpstr>The next best thing</vt:lpstr>
      <vt:lpstr>The next best thing</vt:lpstr>
      <vt:lpstr>An early example</vt:lpstr>
      <vt:lpstr>Snow’s study</vt:lpstr>
      <vt:lpstr>Snow’s study</vt:lpstr>
      <vt:lpstr>Snow’s study</vt:lpstr>
      <vt:lpstr>Snow’s study</vt:lpstr>
      <vt:lpstr>Differences in Differences</vt:lpstr>
      <vt:lpstr>Differences in Differences</vt:lpstr>
      <vt:lpstr>Differences in Differences</vt:lpstr>
      <vt:lpstr>PowerPoint Presentation</vt:lpstr>
      <vt:lpstr>Graphically</vt:lpstr>
      <vt:lpstr>So why are regressions relevant here?</vt:lpstr>
      <vt:lpstr>So how do we use regression here?</vt:lpstr>
      <vt:lpstr>So how do we use regression here?</vt:lpstr>
      <vt:lpstr>What the heck?</vt:lpstr>
      <vt:lpstr>The D-i-D table</vt:lpstr>
      <vt:lpstr>Now, the regression</vt:lpstr>
      <vt:lpstr>Quadrant #1: Treatment &amp; “Pre” </vt:lpstr>
      <vt:lpstr>So what is the conditional mean  in this case?</vt:lpstr>
      <vt:lpstr>Quadrant #1: Treatment &amp; “Pre” </vt:lpstr>
      <vt:lpstr>Quadrant #2: Treatment &amp; “Post” </vt:lpstr>
      <vt:lpstr>So what is the conditional mean  in this case?</vt:lpstr>
      <vt:lpstr>Quadrant #2: Treatment &amp; “Post” </vt:lpstr>
      <vt:lpstr>Quadrant #3: Control &amp; “Pre”</vt:lpstr>
      <vt:lpstr>So what is the conditional mean  in this case?</vt:lpstr>
      <vt:lpstr>Quadrant #3: Control &amp; “Pre”</vt:lpstr>
      <vt:lpstr>Quadrant #4: Control &amp; Post</vt:lpstr>
      <vt:lpstr>So what is the conditional mean  in this case?</vt:lpstr>
      <vt:lpstr>Put it all together</vt:lpstr>
      <vt:lpstr>Big punch line</vt:lpstr>
      <vt:lpstr>Big punch line</vt:lpstr>
      <vt:lpstr>Back to the graphical intuition</vt:lpstr>
      <vt:lpstr>PowerPoint Presentation</vt:lpstr>
      <vt:lpstr>The D-i-D</vt:lpstr>
      <vt:lpstr>What does the graph show?</vt:lpstr>
      <vt:lpstr>Let’s go back to the cakes</vt:lpstr>
      <vt:lpstr>Let’s go back to the cakes</vt:lpstr>
      <vt:lpstr>Let’s go back to the cakes</vt:lpstr>
      <vt:lpstr>Let’s go back to the cakes</vt:lpstr>
      <vt:lpstr>Let’s go back to the cakes</vt:lpstr>
      <vt:lpstr>Let’s go back to the cakes</vt:lpstr>
      <vt:lpstr>Let’s go back to the cakes</vt:lpstr>
      <vt:lpstr>Let’s go back to the cakes</vt:lpstr>
      <vt:lpstr>Let’s go back to the cakes</vt:lpstr>
      <vt:lpstr>Let’s go back to the cakes</vt:lpstr>
      <vt:lpstr>Let’s go back to the cakes</vt:lpstr>
      <vt:lpstr>Let’s go back to the cakes</vt:lpstr>
      <vt:lpstr>Let’s go back to the cakes</vt:lpstr>
      <vt:lpstr>Let’s go back to the cakes</vt:lpstr>
      <vt:lpstr>Regressions and D-i-D</vt:lpstr>
      <vt:lpstr>Regressions and D-i-D</vt:lpstr>
      <vt:lpstr>Regressions and D-i-D</vt:lpstr>
      <vt:lpstr>My results</vt:lpstr>
      <vt:lpstr>What do we see?</vt:lpstr>
      <vt:lpstr>Regression results</vt:lpstr>
      <vt:lpstr>What are the main issues?</vt:lpstr>
      <vt:lpstr>The Coefficients</vt:lpstr>
      <vt:lpstr>Switching gears: Pitfalls</vt:lpstr>
      <vt:lpstr>A Problematic D-i-D</vt:lpstr>
      <vt:lpstr>A Problematic D-i-D</vt:lpstr>
      <vt:lpstr>A D-i-D that tells a different story</vt:lpstr>
      <vt:lpstr>A D-i-D that tells a different story</vt:lpstr>
      <vt:lpstr>Some other warning signs</vt:lpstr>
      <vt:lpstr>(1) Hawthorne Effects</vt:lpstr>
      <vt:lpstr>(2) Contamination of the Control Group</vt:lpstr>
      <vt:lpstr>The D-i-D table – with a twist!</vt:lpstr>
      <vt:lpstr>The D-i-D table – with a twist!</vt:lpstr>
      <vt:lpstr>(3) Simultaneous, Separate contamination of one group</vt:lpstr>
      <vt:lpstr>Back to the D-i-D table!</vt:lpstr>
      <vt:lpstr>(3A) Simultaneous, Separate contamination of both groups</vt:lpstr>
      <vt:lpstr>Back to the D-i-D table!</vt:lpstr>
      <vt:lpstr>(4) Trends</vt:lpstr>
      <vt:lpstr>(4) Trends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Differences in Differences</dc:title>
  <dc:creator>Harry Krashinsky</dc:creator>
  <cp:lastModifiedBy>Harry Krashinsky</cp:lastModifiedBy>
  <cp:revision>163</cp:revision>
  <dcterms:created xsi:type="dcterms:W3CDTF">2013-11-28T15:33:42Z</dcterms:created>
  <dcterms:modified xsi:type="dcterms:W3CDTF">2025-06-24T16:00:34Z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0x010100E8E3659896C5164B85D6EEE8CA74DFEA</vt:lpwstr>
  </property>
</Properties>
</file>