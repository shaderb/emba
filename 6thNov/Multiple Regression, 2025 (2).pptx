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305" r:id="rId12"/>
    <p:sldId id="306" r:id="rId13"/>
    <p:sldId id="307" r:id="rId14"/>
    <p:sldId id="308" r:id="rId15"/>
    <p:sldId id="309" r:id="rId16"/>
    <p:sldId id="263" r:id="rId17"/>
    <p:sldId id="264" r:id="rId18"/>
    <p:sldId id="265" r:id="rId19"/>
    <p:sldId id="266" r:id="rId20"/>
    <p:sldId id="271" r:id="rId21"/>
    <p:sldId id="310" r:id="rId22"/>
    <p:sldId id="272" r:id="rId23"/>
    <p:sldId id="273" r:id="rId24"/>
    <p:sldId id="291" r:id="rId25"/>
    <p:sldId id="274" r:id="rId26"/>
    <p:sldId id="275" r:id="rId27"/>
    <p:sldId id="276" r:id="rId28"/>
    <p:sldId id="277" r:id="rId29"/>
    <p:sldId id="278" r:id="rId30"/>
    <p:sldId id="279" r:id="rId31"/>
    <p:sldId id="280" r:id="rId32"/>
    <p:sldId id="281" r:id="rId33"/>
    <p:sldId id="282" r:id="rId34"/>
    <p:sldId id="311" r:id="rId35"/>
    <p:sldId id="283" r:id="rId36"/>
    <p:sldId id="284" r:id="rId37"/>
    <p:sldId id="285" r:id="rId38"/>
    <p:sldId id="292" r:id="rId39"/>
    <p:sldId id="287" r:id="rId40"/>
    <p:sldId id="288" r:id="rId41"/>
    <p:sldId id="286" r:id="rId42"/>
    <p:sldId id="289" r:id="rId43"/>
    <p:sldId id="293" r:id="rId44"/>
    <p:sldId id="294" r:id="rId45"/>
    <p:sldId id="296" r:id="rId46"/>
    <p:sldId id="297" r:id="rId47"/>
    <p:sldId id="298" r:id="rId48"/>
    <p:sldId id="295" r:id="rId49"/>
    <p:sldId id="300" r:id="rId50"/>
    <p:sldId id="301" r:id="rId51"/>
    <p:sldId id="302" r:id="rId52"/>
    <p:sldId id="299" r:id="rId53"/>
    <p:sldId id="303" r:id="rId54"/>
    <p:sldId id="304"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36" r:id="rId73"/>
    <p:sldId id="337" r:id="rId74"/>
    <p:sldId id="329" r:id="rId75"/>
    <p:sldId id="330" r:id="rId76"/>
    <p:sldId id="331" r:id="rId77"/>
    <p:sldId id="332" r:id="rId78"/>
    <p:sldId id="333" r:id="rId79"/>
    <p:sldId id="334" r:id="rId80"/>
    <p:sldId id="335"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4" d="100"/>
          <a:sy n="44" d="100"/>
        </p:scale>
        <p:origin x="1056"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rashinsky" userId="a123f403-c6e0-4a01-a4ce-0196b3397f33" providerId="ADAL" clId="{89D2656E-A87F-4BED-BAE3-087D458450A8}"/>
    <pc:docChg chg="modSld">
      <pc:chgData name="Harry Krashinsky" userId="a123f403-c6e0-4a01-a4ce-0196b3397f33" providerId="ADAL" clId="{89D2656E-A87F-4BED-BAE3-087D458450A8}" dt="2025-06-24T15:36:31.473" v="2" actId="20577"/>
      <pc:docMkLst>
        <pc:docMk/>
      </pc:docMkLst>
      <pc:sldChg chg="modSp">
        <pc:chgData name="Harry Krashinsky" userId="a123f403-c6e0-4a01-a4ce-0196b3397f33" providerId="ADAL" clId="{89D2656E-A87F-4BED-BAE3-087D458450A8}" dt="2025-06-24T15:36:31.473" v="2" actId="20577"/>
        <pc:sldMkLst>
          <pc:docMk/>
          <pc:sldMk cId="0" sldId="256"/>
        </pc:sldMkLst>
        <pc:spChg chg="mod">
          <ac:chgData name="Harry Krashinsky" userId="a123f403-c6e0-4a01-a4ce-0196b3397f33" providerId="ADAL" clId="{89D2656E-A87F-4BED-BAE3-087D458450A8}" dt="2025-06-24T15:36:31.473" v="2" actId="20577"/>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2024A6-F213-47B1-B3C1-EF0E21B1D173}"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2024A6-F213-47B1-B3C1-EF0E21B1D173}"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024A6-F213-47B1-B3C1-EF0E21B1D173}"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2024A6-F213-47B1-B3C1-EF0E21B1D173}"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2024A6-F213-47B1-B3C1-EF0E21B1D173}" type="datetimeFigureOut">
              <a:rPr lang="en-US" smtClean="0"/>
              <a:t>6/24/2025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2024A6-F213-47B1-B3C1-EF0E21B1D173}" type="datetimeFigureOut">
              <a:rPr lang="en-US" smtClean="0"/>
              <a:t>6/24/2025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2024A6-F213-47B1-B3C1-EF0E21B1D173}" type="datetimeFigureOut">
              <a:rPr lang="en-US" smtClean="0"/>
              <a:t>6/24/2025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2024A6-F213-47B1-B3C1-EF0E21B1D173}"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2024A6-F213-47B1-B3C1-EF0E21B1D173}"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2024A6-F213-47B1-B3C1-EF0E21B1D173}"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2024A6-F213-47B1-B3C1-EF0E21B1D173}"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9C37D7-DEE5-4C42-B9BF-62797771963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2024A6-F213-47B1-B3C1-EF0E21B1D173}" type="datetimeFigureOut">
              <a:rPr lang="en-US" smtClean="0"/>
              <a:t>6/24/2025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9C37D7-DEE5-4C42-B9BF-6279777196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Multiple Regression </a:t>
            </a:r>
            <a:br>
              <a:rPr lang="en-US" dirty="0"/>
            </a:br>
            <a:r>
              <a:rPr lang="en-US" dirty="0"/>
              <a:t>and Dummy Variables</a:t>
            </a:r>
          </a:p>
        </p:txBody>
      </p:sp>
      <p:sp>
        <p:nvSpPr>
          <p:cNvPr id="3" name="Subtitle 2"/>
          <p:cNvSpPr>
            <a:spLocks noGrp="1"/>
          </p:cNvSpPr>
          <p:nvPr>
            <p:ph type="subTitle" idx="1"/>
          </p:nvPr>
        </p:nvSpPr>
        <p:spPr/>
        <p:txBody>
          <a:bodyPr/>
          <a:lstStyle/>
          <a:p>
            <a:r>
              <a:rPr lang="en-US" altLang="en-US" dirty="0">
                <a:solidFill>
                  <a:schemeClr val="tx1"/>
                </a:solidFill>
              </a:rPr>
              <a:t>Professor Harry Krashinsky</a:t>
            </a:r>
          </a:p>
          <a:p>
            <a:r>
              <a:rPr lang="en-GB" altLang="en-US" dirty="0">
                <a:solidFill>
                  <a:schemeClr val="tx1"/>
                </a:solidFill>
              </a:rPr>
              <a:t>EMBA 46, QRM 2025</a:t>
            </a:r>
            <a:endParaRPr lang="en-US" altLang="en-US" dirty="0">
              <a:solidFill>
                <a:schemeClr val="tx1"/>
              </a:solidFill>
            </a:endParaRPr>
          </a:p>
          <a:p>
            <a:endParaRPr lang="en-US" dirty="0"/>
          </a:p>
        </p:txBody>
      </p:sp>
      <p:pic>
        <p:nvPicPr>
          <p:cNvPr id="4" name="Picture 0" descr="Rotman Signature - blu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3338" y="404813"/>
            <a:ext cx="31305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Dummy Variables</a:t>
            </a:r>
          </a:p>
        </p:txBody>
      </p:sp>
      <p:sp>
        <p:nvSpPr>
          <p:cNvPr id="3" name="Content Placeholder 2"/>
          <p:cNvSpPr>
            <a:spLocks noGrp="1"/>
          </p:cNvSpPr>
          <p:nvPr>
            <p:ph idx="1"/>
          </p:nvPr>
        </p:nvSpPr>
        <p:spPr/>
        <p:txBody>
          <a:bodyPr/>
          <a:lstStyle/>
          <a:p>
            <a:pPr>
              <a:buNone/>
            </a:pPr>
            <a:r>
              <a:rPr lang="en-US" dirty="0"/>
              <a:t>One of the types of variables that we’ve not yet discussed is called a “dummy variable”.</a:t>
            </a:r>
          </a:p>
          <a:p>
            <a:pPr>
              <a:buNone/>
            </a:pPr>
            <a:endParaRPr lang="en-US" dirty="0"/>
          </a:p>
          <a:p>
            <a:pPr>
              <a:buNone/>
            </a:pPr>
            <a:r>
              <a:rPr lang="en-US" dirty="0"/>
              <a:t>These types of variables are also called indicator variables, but the main thing to know about them is that they are different from most variables we encounter.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None/>
            </a:pPr>
            <a:r>
              <a:rPr lang="en-US" dirty="0"/>
              <a:t>Most variables, like education, age, income, etc. will take on a variety of different values.</a:t>
            </a:r>
          </a:p>
          <a:p>
            <a:pPr>
              <a:buNone/>
            </a:pPr>
            <a:endParaRPr lang="en-US" dirty="0"/>
          </a:p>
          <a:p>
            <a:pPr>
              <a:buNone/>
            </a:pPr>
            <a:r>
              <a:rPr lang="en-US" dirty="0"/>
              <a:t>But dummy variables can only take two different possible values: zero or one.  And they are structured in this way in order to “indicate” membership in a particular group.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of a Dummy Variable</a:t>
            </a:r>
          </a:p>
        </p:txBody>
      </p:sp>
      <p:sp>
        <p:nvSpPr>
          <p:cNvPr id="3" name="Content Placeholder 2"/>
          <p:cNvSpPr>
            <a:spLocks noGrp="1"/>
          </p:cNvSpPr>
          <p:nvPr>
            <p:ph idx="1"/>
          </p:nvPr>
        </p:nvSpPr>
        <p:spPr/>
        <p:txBody>
          <a:bodyPr/>
          <a:lstStyle/>
          <a:p>
            <a:pPr>
              <a:buNone/>
            </a:pPr>
            <a:r>
              <a:rPr lang="en-US" dirty="0"/>
              <a:t>A dummy variable can represent people above a particular age in your sample if you have a dummy variable called “AgeAbove45”, defined as follows:</a:t>
            </a:r>
          </a:p>
          <a:p>
            <a:pPr>
              <a:buNone/>
            </a:pPr>
            <a:r>
              <a:rPr lang="en-US" dirty="0"/>
              <a:t>“AgeAbove45” = 1 if the person’s age is above 45 years</a:t>
            </a:r>
          </a:p>
          <a:p>
            <a:pPr>
              <a:buNone/>
            </a:pPr>
            <a:r>
              <a:rPr lang="en-US" dirty="0"/>
              <a:t>“AgeAbove45” = 0 if the person’s age is at or below 45 years</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of a Dummy Variable</a:t>
            </a:r>
          </a:p>
        </p:txBody>
      </p:sp>
      <p:sp>
        <p:nvSpPr>
          <p:cNvPr id="3" name="Content Placeholder 2"/>
          <p:cNvSpPr>
            <a:spLocks noGrp="1"/>
          </p:cNvSpPr>
          <p:nvPr>
            <p:ph idx="1"/>
          </p:nvPr>
        </p:nvSpPr>
        <p:spPr/>
        <p:txBody>
          <a:bodyPr/>
          <a:lstStyle/>
          <a:p>
            <a:pPr>
              <a:buNone/>
            </a:pPr>
            <a:r>
              <a:rPr lang="en-US" dirty="0"/>
              <a:t>A dummy variable can represent </a:t>
            </a:r>
            <a:r>
              <a:rPr lang="en-US" dirty="0" err="1"/>
              <a:t>labour</a:t>
            </a:r>
            <a:r>
              <a:rPr lang="en-US" dirty="0"/>
              <a:t> union members in your sample if you have a dummy variable called “union”, defined as follows:</a:t>
            </a:r>
          </a:p>
          <a:p>
            <a:pPr>
              <a:buNone/>
            </a:pPr>
            <a:endParaRPr lang="en-US" dirty="0"/>
          </a:p>
          <a:p>
            <a:pPr>
              <a:buNone/>
            </a:pPr>
            <a:r>
              <a:rPr lang="en-US" dirty="0"/>
              <a:t>“Union” = 1 if the person is a union member</a:t>
            </a:r>
          </a:p>
          <a:p>
            <a:pPr>
              <a:buNone/>
            </a:pPr>
            <a:r>
              <a:rPr lang="en-US" dirty="0"/>
              <a:t>“Union” = 0 if the person is not a union member</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None/>
            </a:pPr>
            <a:r>
              <a:rPr lang="en-US" dirty="0"/>
              <a:t>You get the idea.</a:t>
            </a:r>
          </a:p>
          <a:p>
            <a:pPr>
              <a:buNone/>
            </a:pPr>
            <a:endParaRPr lang="en-US" dirty="0"/>
          </a:p>
          <a:p>
            <a:pPr>
              <a:buNone/>
            </a:pPr>
            <a:r>
              <a:rPr lang="en-US" dirty="0"/>
              <a:t>Although these appear simplistic, dummy variables can be extremely useful for us in a number of different ways.</a:t>
            </a:r>
          </a:p>
          <a:p>
            <a:pPr>
              <a:buNone/>
            </a:pPr>
            <a:endParaRPr lang="en-US" dirty="0"/>
          </a:p>
          <a:p>
            <a:pPr>
              <a:buNone/>
            </a:pPr>
            <a:r>
              <a:rPr lang="en-US" dirty="0"/>
              <a:t>Let’s review some of the various things that they can do.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Dummy Variables and Conditional Means</a:t>
            </a:r>
          </a:p>
        </p:txBody>
      </p:sp>
      <p:sp>
        <p:nvSpPr>
          <p:cNvPr id="3" name="Content Placeholder 2"/>
          <p:cNvSpPr>
            <a:spLocks noGrp="1"/>
          </p:cNvSpPr>
          <p:nvPr>
            <p:ph idx="1"/>
          </p:nvPr>
        </p:nvSpPr>
        <p:spPr/>
        <p:txBody>
          <a:bodyPr>
            <a:normAutofit lnSpcReduction="10000"/>
          </a:bodyPr>
          <a:lstStyle/>
          <a:p>
            <a:pPr>
              <a:buNone/>
            </a:pPr>
            <a:r>
              <a:rPr lang="en-US" dirty="0"/>
              <a:t>We’ve already been through this two-word definition of a regression.  But as it happens, dummy variables are particularly good at calculating relative differences such as conditional means between groups.</a:t>
            </a:r>
          </a:p>
          <a:p>
            <a:pPr>
              <a:buNone/>
            </a:pPr>
            <a:endParaRPr lang="en-US" dirty="0"/>
          </a:p>
          <a:p>
            <a:pPr>
              <a:buNone/>
            </a:pPr>
            <a:r>
              <a:rPr lang="en-US" dirty="0"/>
              <a:t>Why?  To motivate this, consider revisiting a really early example of regressions we discussed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old example</a:t>
            </a:r>
          </a:p>
        </p:txBody>
      </p:sp>
      <p:sp>
        <p:nvSpPr>
          <p:cNvPr id="3" name="Content Placeholder 2"/>
          <p:cNvSpPr>
            <a:spLocks noGrp="1"/>
          </p:cNvSpPr>
          <p:nvPr>
            <p:ph idx="1"/>
          </p:nvPr>
        </p:nvSpPr>
        <p:spPr/>
        <p:txBody>
          <a:bodyPr/>
          <a:lstStyle/>
          <a:p>
            <a:pPr marL="0" indent="0">
              <a:buNone/>
            </a:pPr>
            <a:endParaRPr lang="en-US" dirty="0"/>
          </a:p>
          <a:p>
            <a:pPr marL="0" indent="0">
              <a:buNone/>
            </a:pPr>
            <a:r>
              <a:rPr lang="en-US" dirty="0"/>
              <a:t>Remember the first regression we saw in our online videos?  It looked like this:</a:t>
            </a:r>
          </a:p>
          <a:p>
            <a:pPr marL="0" indent="0">
              <a:buNone/>
            </a:pPr>
            <a:endParaRPr lang="en-US" dirty="0"/>
          </a:p>
          <a:p>
            <a:pPr marL="0" indent="0" algn="ctr">
              <a:buNone/>
            </a:pPr>
            <a:r>
              <a:rPr lang="en-US" dirty="0"/>
              <a:t>Y = 20 + (1)X</a:t>
            </a:r>
          </a:p>
        </p:txBody>
      </p:sp>
    </p:spTree>
    <p:extLst>
      <p:ext uri="{BB962C8B-B14F-4D97-AF65-F5344CB8AC3E}">
        <p14:creationId xmlns:p14="http://schemas.microsoft.com/office/powerpoint/2010/main" val="223454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old example</a:t>
            </a:r>
          </a:p>
        </p:txBody>
      </p:sp>
      <p:sp>
        <p:nvSpPr>
          <p:cNvPr id="3" name="Content Placeholder 2"/>
          <p:cNvSpPr>
            <a:spLocks noGrp="1"/>
          </p:cNvSpPr>
          <p:nvPr>
            <p:ph idx="1"/>
          </p:nvPr>
        </p:nvSpPr>
        <p:spPr/>
        <p:txBody>
          <a:bodyPr/>
          <a:lstStyle/>
          <a:p>
            <a:pPr marL="0" indent="0">
              <a:buNone/>
            </a:pPr>
            <a:r>
              <a:rPr lang="en-US" dirty="0"/>
              <a:t>With this example, we first discussed the way in which we could understand a regression as a conditional mean.</a:t>
            </a:r>
          </a:p>
          <a:p>
            <a:pPr marL="0" indent="0">
              <a:buNone/>
            </a:pPr>
            <a:endParaRPr lang="en-US" dirty="0"/>
          </a:p>
          <a:p>
            <a:pPr marL="0" indent="0">
              <a:buNone/>
            </a:pPr>
            <a:r>
              <a:rPr lang="en-US" dirty="0"/>
              <a:t>We argued that specific values of X could be matched with specific means in Y </a:t>
            </a:r>
          </a:p>
        </p:txBody>
      </p:sp>
    </p:spTree>
    <p:extLst>
      <p:ext uri="{BB962C8B-B14F-4D97-AF65-F5344CB8AC3E}">
        <p14:creationId xmlns:p14="http://schemas.microsoft.com/office/powerpoint/2010/main" val="46155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old example</a:t>
            </a:r>
          </a:p>
        </p:txBody>
      </p:sp>
      <p:sp>
        <p:nvSpPr>
          <p:cNvPr id="3" name="Content Placeholder 2"/>
          <p:cNvSpPr>
            <a:spLocks noGrp="1"/>
          </p:cNvSpPr>
          <p:nvPr>
            <p:ph idx="1"/>
          </p:nvPr>
        </p:nvSpPr>
        <p:spPr/>
        <p:txBody>
          <a:bodyPr/>
          <a:lstStyle/>
          <a:p>
            <a:pPr marL="0" indent="0">
              <a:buNone/>
            </a:pPr>
            <a:r>
              <a:rPr lang="en-US" dirty="0"/>
              <a:t>In fact, we set up a table like this: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034454231"/>
              </p:ext>
            </p:extLst>
          </p:nvPr>
        </p:nvGraphicFramePr>
        <p:xfrm>
          <a:off x="1524000" y="2362200"/>
          <a:ext cx="6096000" cy="310896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401250166"/>
                    </a:ext>
                  </a:extLst>
                </a:gridCol>
                <a:gridCol w="330200">
                  <a:extLst>
                    <a:ext uri="{9D8B030D-6E8A-4147-A177-3AD203B41FA5}">
                      <a16:colId xmlns:a16="http://schemas.microsoft.com/office/drawing/2014/main" val="846477181"/>
                    </a:ext>
                  </a:extLst>
                </a:gridCol>
                <a:gridCol w="3733800">
                  <a:extLst>
                    <a:ext uri="{9D8B030D-6E8A-4147-A177-3AD203B41FA5}">
                      <a16:colId xmlns:a16="http://schemas.microsoft.com/office/drawing/2014/main" val="3319699121"/>
                    </a:ext>
                  </a:extLst>
                </a:gridCol>
              </a:tblGrid>
              <a:tr h="370840">
                <a:tc>
                  <a:txBody>
                    <a:bodyPr/>
                    <a:lstStyle/>
                    <a:p>
                      <a:pPr algn="ctr"/>
                      <a:r>
                        <a:rPr lang="en-US" sz="2800" dirty="0">
                          <a:solidFill>
                            <a:schemeClr val="tx1"/>
                          </a:solidFill>
                        </a:rPr>
                        <a:t>X</a:t>
                      </a:r>
                      <a:endParaRPr lang="en-CA" sz="2800" dirty="0">
                        <a:solidFill>
                          <a:schemeClr val="tx1"/>
                        </a:solidFill>
                      </a:endParaRPr>
                    </a:p>
                  </a:txBody>
                  <a:tcPr anchor="ctr"/>
                </a:tc>
                <a:tc>
                  <a:txBody>
                    <a:bodyPr/>
                    <a:lstStyle/>
                    <a:p>
                      <a:pPr algn="ctr"/>
                      <a:endParaRPr lang="en-CA" sz="2800" dirty="0">
                        <a:solidFill>
                          <a:schemeClr val="tx1"/>
                        </a:solidFill>
                      </a:endParaRPr>
                    </a:p>
                  </a:txBody>
                  <a:tcPr anchor="ctr"/>
                </a:tc>
                <a:tc>
                  <a:txBody>
                    <a:bodyPr/>
                    <a:lstStyle/>
                    <a:p>
                      <a:pPr algn="ctr"/>
                      <a:r>
                        <a:rPr lang="en-US" sz="2800" dirty="0">
                          <a:solidFill>
                            <a:schemeClr val="tx1"/>
                          </a:solidFill>
                        </a:rPr>
                        <a:t>Conditional Mean of Y</a:t>
                      </a:r>
                      <a:endParaRPr lang="en-CA" sz="2800" dirty="0">
                        <a:solidFill>
                          <a:schemeClr val="tx1"/>
                        </a:solidFill>
                      </a:endParaRPr>
                    </a:p>
                  </a:txBody>
                  <a:tcPr anchor="ctr"/>
                </a:tc>
                <a:extLst>
                  <a:ext uri="{0D108BD9-81ED-4DB2-BD59-A6C34878D82A}">
                    <a16:rowId xmlns:a16="http://schemas.microsoft.com/office/drawing/2014/main" val="3691421550"/>
                  </a:ext>
                </a:extLst>
              </a:tr>
              <a:tr h="370840">
                <a:tc>
                  <a:txBody>
                    <a:bodyPr/>
                    <a:lstStyle/>
                    <a:p>
                      <a:pPr algn="ctr"/>
                      <a:r>
                        <a:rPr lang="en-US" sz="2800" dirty="0"/>
                        <a:t>1</a:t>
                      </a:r>
                      <a:endParaRPr lang="en-CA" sz="2800" dirty="0"/>
                    </a:p>
                  </a:txBody>
                  <a:tcPr anchor="ctr"/>
                </a:tc>
                <a:tc>
                  <a:txBody>
                    <a:bodyPr/>
                    <a:lstStyle/>
                    <a:p>
                      <a:pPr algn="ctr"/>
                      <a:endParaRPr lang="en-CA" sz="2800" dirty="0"/>
                    </a:p>
                  </a:txBody>
                  <a:tcPr anchor="ctr"/>
                </a:tc>
                <a:tc>
                  <a:txBody>
                    <a:bodyPr/>
                    <a:lstStyle/>
                    <a:p>
                      <a:pPr algn="ctr"/>
                      <a:r>
                        <a:rPr lang="en-US" sz="2800" dirty="0"/>
                        <a:t>21</a:t>
                      </a:r>
                      <a:endParaRPr lang="en-CA" sz="2800" dirty="0"/>
                    </a:p>
                  </a:txBody>
                  <a:tcPr anchor="ctr"/>
                </a:tc>
                <a:extLst>
                  <a:ext uri="{0D108BD9-81ED-4DB2-BD59-A6C34878D82A}">
                    <a16:rowId xmlns:a16="http://schemas.microsoft.com/office/drawing/2014/main" val="916300683"/>
                  </a:ext>
                </a:extLst>
              </a:tr>
              <a:tr h="370840">
                <a:tc>
                  <a:txBody>
                    <a:bodyPr/>
                    <a:lstStyle/>
                    <a:p>
                      <a:pPr algn="ctr"/>
                      <a:r>
                        <a:rPr lang="en-US" sz="2800" dirty="0"/>
                        <a:t>2</a:t>
                      </a:r>
                      <a:endParaRPr lang="en-CA" sz="2800" dirty="0"/>
                    </a:p>
                  </a:txBody>
                  <a:tcPr anchor="ctr"/>
                </a:tc>
                <a:tc>
                  <a:txBody>
                    <a:bodyPr/>
                    <a:lstStyle/>
                    <a:p>
                      <a:pPr algn="ctr"/>
                      <a:endParaRPr lang="en-CA" sz="2800" dirty="0"/>
                    </a:p>
                  </a:txBody>
                  <a:tcPr anchor="ctr"/>
                </a:tc>
                <a:tc>
                  <a:txBody>
                    <a:bodyPr/>
                    <a:lstStyle/>
                    <a:p>
                      <a:pPr algn="ctr"/>
                      <a:r>
                        <a:rPr lang="en-US" sz="2800" dirty="0"/>
                        <a:t>22</a:t>
                      </a:r>
                      <a:endParaRPr lang="en-CA" sz="2800" dirty="0"/>
                    </a:p>
                  </a:txBody>
                  <a:tcPr anchor="ctr"/>
                </a:tc>
                <a:extLst>
                  <a:ext uri="{0D108BD9-81ED-4DB2-BD59-A6C34878D82A}">
                    <a16:rowId xmlns:a16="http://schemas.microsoft.com/office/drawing/2014/main" val="3394466540"/>
                  </a:ext>
                </a:extLst>
              </a:tr>
              <a:tr h="370840">
                <a:tc>
                  <a:txBody>
                    <a:bodyPr/>
                    <a:lstStyle/>
                    <a:p>
                      <a:pPr algn="ctr"/>
                      <a:r>
                        <a:rPr lang="en-US" sz="2800" dirty="0"/>
                        <a:t>3</a:t>
                      </a:r>
                      <a:endParaRPr lang="en-CA" sz="2800" dirty="0"/>
                    </a:p>
                  </a:txBody>
                  <a:tcPr anchor="ctr"/>
                </a:tc>
                <a:tc>
                  <a:txBody>
                    <a:bodyPr/>
                    <a:lstStyle/>
                    <a:p>
                      <a:pPr algn="ctr"/>
                      <a:endParaRPr lang="en-CA" sz="2800" dirty="0"/>
                    </a:p>
                  </a:txBody>
                  <a:tcPr anchor="ctr"/>
                </a:tc>
                <a:tc>
                  <a:txBody>
                    <a:bodyPr/>
                    <a:lstStyle/>
                    <a:p>
                      <a:pPr algn="ctr"/>
                      <a:r>
                        <a:rPr lang="en-US" sz="2800" dirty="0"/>
                        <a:t>23</a:t>
                      </a:r>
                      <a:endParaRPr lang="en-CA" sz="2800" dirty="0"/>
                    </a:p>
                  </a:txBody>
                  <a:tcPr anchor="ctr"/>
                </a:tc>
                <a:extLst>
                  <a:ext uri="{0D108BD9-81ED-4DB2-BD59-A6C34878D82A}">
                    <a16:rowId xmlns:a16="http://schemas.microsoft.com/office/drawing/2014/main" val="1789740389"/>
                  </a:ext>
                </a:extLst>
              </a:tr>
              <a:tr h="370840">
                <a:tc>
                  <a:txBody>
                    <a:bodyPr/>
                    <a:lstStyle/>
                    <a:p>
                      <a:pPr algn="ctr"/>
                      <a:r>
                        <a:rPr lang="en-US" sz="2800" b="0" u="none" dirty="0">
                          <a:solidFill>
                            <a:schemeClr val="tx1"/>
                          </a:solidFill>
                        </a:rPr>
                        <a:t>4</a:t>
                      </a:r>
                      <a:endParaRPr lang="en-CA" sz="2800" b="0" u="none" dirty="0">
                        <a:solidFill>
                          <a:schemeClr val="tx1"/>
                        </a:solidFill>
                      </a:endParaRPr>
                    </a:p>
                  </a:txBody>
                  <a:tcPr anchor="ctr"/>
                </a:tc>
                <a:tc>
                  <a:txBody>
                    <a:bodyPr/>
                    <a:lstStyle/>
                    <a:p>
                      <a:pPr algn="ctr"/>
                      <a:endParaRPr lang="en-CA" sz="2800" b="0" u="none" dirty="0">
                        <a:solidFill>
                          <a:schemeClr val="tx1"/>
                        </a:solidFill>
                      </a:endParaRPr>
                    </a:p>
                  </a:txBody>
                  <a:tcPr anchor="ctr"/>
                </a:tc>
                <a:tc>
                  <a:txBody>
                    <a:bodyPr/>
                    <a:lstStyle/>
                    <a:p>
                      <a:pPr algn="ctr"/>
                      <a:r>
                        <a:rPr lang="en-US" sz="2800" b="0" u="none" dirty="0">
                          <a:solidFill>
                            <a:schemeClr val="tx1"/>
                          </a:solidFill>
                        </a:rPr>
                        <a:t>24</a:t>
                      </a:r>
                      <a:endParaRPr lang="en-CA" sz="2800" b="0" u="none" dirty="0">
                        <a:solidFill>
                          <a:schemeClr val="tx1"/>
                        </a:solidFill>
                      </a:endParaRPr>
                    </a:p>
                  </a:txBody>
                  <a:tcPr anchor="ctr"/>
                </a:tc>
                <a:extLst>
                  <a:ext uri="{0D108BD9-81ED-4DB2-BD59-A6C34878D82A}">
                    <a16:rowId xmlns:a16="http://schemas.microsoft.com/office/drawing/2014/main" val="785909871"/>
                  </a:ext>
                </a:extLst>
              </a:tr>
              <a:tr h="370840">
                <a:tc>
                  <a:txBody>
                    <a:bodyPr/>
                    <a:lstStyle/>
                    <a:p>
                      <a:pPr algn="ctr"/>
                      <a:r>
                        <a:rPr lang="en-US" sz="2800" dirty="0"/>
                        <a:t>5</a:t>
                      </a:r>
                      <a:endParaRPr lang="en-CA" sz="2800" dirty="0"/>
                    </a:p>
                  </a:txBody>
                  <a:tcPr anchor="ctr"/>
                </a:tc>
                <a:tc>
                  <a:txBody>
                    <a:bodyPr/>
                    <a:lstStyle/>
                    <a:p>
                      <a:pPr algn="ctr"/>
                      <a:endParaRPr lang="en-CA" sz="2800" dirty="0"/>
                    </a:p>
                  </a:txBody>
                  <a:tcPr anchor="ctr"/>
                </a:tc>
                <a:tc>
                  <a:txBody>
                    <a:bodyPr/>
                    <a:lstStyle/>
                    <a:p>
                      <a:pPr algn="ctr"/>
                      <a:r>
                        <a:rPr lang="en-US" sz="2800" dirty="0"/>
                        <a:t>25</a:t>
                      </a:r>
                      <a:endParaRPr lang="en-CA" sz="2800" dirty="0"/>
                    </a:p>
                  </a:txBody>
                  <a:tcPr anchor="ctr"/>
                </a:tc>
                <a:extLst>
                  <a:ext uri="{0D108BD9-81ED-4DB2-BD59-A6C34878D82A}">
                    <a16:rowId xmlns:a16="http://schemas.microsoft.com/office/drawing/2014/main" val="3538163213"/>
                  </a:ext>
                </a:extLst>
              </a:tr>
            </a:tbl>
          </a:graphicData>
        </a:graphic>
      </p:graphicFrame>
    </p:spTree>
    <p:extLst>
      <p:ext uri="{BB962C8B-B14F-4D97-AF65-F5344CB8AC3E}">
        <p14:creationId xmlns:p14="http://schemas.microsoft.com/office/powerpoint/2010/main" val="3864142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old example</a:t>
            </a:r>
          </a:p>
        </p:txBody>
      </p:sp>
      <p:sp>
        <p:nvSpPr>
          <p:cNvPr id="3" name="Content Placeholder 2"/>
          <p:cNvSpPr>
            <a:spLocks noGrp="1"/>
          </p:cNvSpPr>
          <p:nvPr>
            <p:ph idx="1"/>
          </p:nvPr>
        </p:nvSpPr>
        <p:spPr/>
        <p:txBody>
          <a:bodyPr/>
          <a:lstStyle/>
          <a:p>
            <a:pPr marL="0" indent="0">
              <a:buNone/>
            </a:pPr>
            <a:r>
              <a:rPr lang="en-US" dirty="0"/>
              <a:t>But what if X = 0?  What would be the conditional mean of Y in this case?</a:t>
            </a:r>
          </a:p>
          <a:p>
            <a:pPr marL="0" indent="0">
              <a:buNone/>
            </a:pPr>
            <a:endParaRPr lang="en-US" dirty="0"/>
          </a:p>
          <a:p>
            <a:pPr marL="0" indent="0" algn="ctr">
              <a:buNone/>
            </a:pPr>
            <a:r>
              <a:rPr lang="en-US" dirty="0"/>
              <a:t>Y = 20 + 1(0) = 20</a:t>
            </a:r>
          </a:p>
          <a:p>
            <a:pPr marL="0" indent="0" algn="ctr">
              <a:buNone/>
            </a:pPr>
            <a:endParaRPr lang="en-US" dirty="0"/>
          </a:p>
          <a:p>
            <a:pPr marL="0" indent="0">
              <a:buNone/>
            </a:pPr>
            <a:r>
              <a:rPr lang="en-US" dirty="0"/>
              <a:t>So what does this tell us? </a:t>
            </a:r>
          </a:p>
          <a:p>
            <a:pPr marL="0" indent="0">
              <a:buNone/>
            </a:pPr>
            <a:r>
              <a:rPr lang="en-US" dirty="0"/>
              <a:t>Here, the intercept captures the conditional mean when X = 0</a:t>
            </a:r>
          </a:p>
          <a:p>
            <a:pPr marL="0" indent="0">
              <a:buNone/>
            </a:pPr>
            <a:endParaRPr lang="en-US" dirty="0"/>
          </a:p>
        </p:txBody>
      </p:sp>
    </p:spTree>
    <p:extLst>
      <p:ext uri="{BB962C8B-B14F-4D97-AF65-F5344CB8AC3E}">
        <p14:creationId xmlns:p14="http://schemas.microsoft.com/office/powerpoint/2010/main" val="136332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old example</a:t>
            </a:r>
          </a:p>
        </p:txBody>
      </p:sp>
      <p:sp>
        <p:nvSpPr>
          <p:cNvPr id="3" name="Content Placeholder 2"/>
          <p:cNvSpPr>
            <a:spLocks noGrp="1"/>
          </p:cNvSpPr>
          <p:nvPr>
            <p:ph idx="1"/>
          </p:nvPr>
        </p:nvSpPr>
        <p:spPr/>
        <p:txBody>
          <a:bodyPr/>
          <a:lstStyle/>
          <a:p>
            <a:pPr marL="0" indent="0">
              <a:buNone/>
            </a:pPr>
            <a:r>
              <a:rPr lang="en-US" dirty="0"/>
              <a:t>This is a relatively easy point, but it turns out to be exceptionally important for thinking about the interpretation of dummy variables.</a:t>
            </a:r>
          </a:p>
          <a:p>
            <a:pPr marL="0" indent="0">
              <a:buNone/>
            </a:pPr>
            <a:endParaRPr lang="en-US" dirty="0"/>
          </a:p>
          <a:p>
            <a:pPr marL="0" indent="0">
              <a:buNone/>
            </a:pPr>
            <a:r>
              <a:rPr lang="en-US" dirty="0"/>
              <a:t>Specifically: understanding how you think about the intercept in the context of a conditional mean is critical for what we’re about to do.</a:t>
            </a:r>
          </a:p>
        </p:txBody>
      </p:sp>
    </p:spTree>
    <p:extLst>
      <p:ext uri="{BB962C8B-B14F-4D97-AF65-F5344CB8AC3E}">
        <p14:creationId xmlns:p14="http://schemas.microsoft.com/office/powerpoint/2010/main" val="192393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p:sp>
        <p:nvSpPr>
          <p:cNvPr id="3" name="Content Placeholder 2"/>
          <p:cNvSpPr>
            <a:spLocks noGrp="1"/>
          </p:cNvSpPr>
          <p:nvPr>
            <p:ph idx="1"/>
          </p:nvPr>
        </p:nvSpPr>
        <p:spPr>
          <a:xfrm>
            <a:off x="457200" y="1447800"/>
            <a:ext cx="8229600" cy="4678363"/>
          </a:xfrm>
        </p:spPr>
        <p:txBody>
          <a:bodyPr/>
          <a:lstStyle/>
          <a:p>
            <a:pPr>
              <a:buNone/>
            </a:pPr>
            <a:r>
              <a:rPr lang="en-US" dirty="0"/>
              <a:t>Let’s suppose that we have a sample of workers at a firm, and we are asked to explore whether or not workers older than 45 are paid differently from workers who are 45 and younger.  </a:t>
            </a:r>
          </a:p>
          <a:p>
            <a:pPr>
              <a:buNone/>
            </a:pPr>
            <a:r>
              <a:rPr lang="en-US" dirty="0"/>
              <a:t>Suppose that workers older than 45 earn $20/hour on average, while workers who are 45 and younger earn $17/hour on average.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None/>
                </a:pPr>
                <a:r>
                  <a:rPr lang="en-US" dirty="0"/>
                  <a:t>And now let’s suppose that we investigated this difference, and estimated the following regression from our sample data:</a:t>
                </a:r>
              </a:p>
              <a:p>
                <a:pPr algn="ctr">
                  <a:buNone/>
                </a:pPr>
                <a:r>
                  <a:rPr lang="en-US" dirty="0"/>
                  <a:t>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1</m:t>
                        </m:r>
                      </m:sub>
                    </m:sSub>
                  </m:oMath>
                </a14:m>
                <a:r>
                  <a:rPr lang="en-US" dirty="0"/>
                  <a:t> (AgeAbove45)</a:t>
                </a:r>
              </a:p>
              <a:p>
                <a:pPr>
                  <a:buNone/>
                </a:pPr>
                <a:r>
                  <a:rPr lang="en-US" dirty="0"/>
                  <a:t>In this case, “AgeAbove45” is equal to one each person in our sample who is older than 45, and zero for each person who is 45 years old or younger.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519"/>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p:sp>
        <p:nvSpPr>
          <p:cNvPr id="3" name="Content Placeholder 2"/>
          <p:cNvSpPr>
            <a:spLocks noGrp="1"/>
          </p:cNvSpPr>
          <p:nvPr>
            <p:ph idx="1"/>
          </p:nvPr>
        </p:nvSpPr>
        <p:spPr/>
        <p:txBody>
          <a:bodyPr/>
          <a:lstStyle/>
          <a:p>
            <a:pPr>
              <a:buNone/>
            </a:pPr>
            <a:r>
              <a:rPr lang="en-US" dirty="0"/>
              <a:t>Given the information we have about average earnings for those above 45 years of age and those who are 45 and younger, what will be the value of each coefficient?</a:t>
            </a:r>
          </a:p>
          <a:p>
            <a:pPr>
              <a:buNone/>
            </a:pPr>
            <a:endParaRPr lang="en-US" dirty="0"/>
          </a:p>
          <a:p>
            <a:pPr>
              <a:buNone/>
            </a:pPr>
            <a:r>
              <a:rPr lang="en-US" dirty="0"/>
              <a:t>Let’s consider what the regression looks like for both groups.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None/>
                </a:pPr>
                <a:r>
                  <a:rPr lang="en-US" b="1" u="sng" dirty="0"/>
                  <a:t>For workers who are 45 and younger:</a:t>
                </a:r>
                <a:r>
                  <a:rPr lang="en-US" dirty="0"/>
                  <a:t> </a:t>
                </a:r>
              </a:p>
              <a:p>
                <a:pPr>
                  <a:buNone/>
                </a:pPr>
                <a:r>
                  <a:rPr lang="en-US" dirty="0"/>
                  <a:t>	 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(AgeAbove45)</a:t>
                </a:r>
              </a:p>
              <a:p>
                <a:pPr>
                  <a:buNone/>
                </a:pPr>
                <a:r>
                  <a:rPr lang="en-US" dirty="0"/>
                  <a:t>    </a:t>
                </a:r>
                <a:r>
                  <a:rPr lang="en-US" dirty="0">
                    <a:sym typeface="Wingdings" panose="05000000000000000000" pitchFamily="2" charset="2"/>
                  </a:rPr>
                  <a:t> </a:t>
                </a:r>
                <a:r>
                  <a:rPr lang="en-US" dirty="0"/>
                  <a:t>(Wage)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(0)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endParaRPr lang="en-US" baseline="-25000" dirty="0"/>
              </a:p>
              <a:p>
                <a:pPr>
                  <a:buNone/>
                </a:pPr>
                <a:r>
                  <a:rPr lang="en-US" dirty="0"/>
                  <a:t>What does this mean?  In this simple regression,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a:t> represents the conditional mean for the data with AgeAbove45 =0.</a:t>
                </a:r>
                <a:br>
                  <a:rPr lang="en-US" dirty="0"/>
                </a:br>
                <a:r>
                  <a:rPr lang="en-US" dirty="0">
                    <a:sym typeface="Wingdings" panose="05000000000000000000" pitchFamily="2" charset="2"/>
                  </a:rPr>
                  <a:t></a:t>
                </a:r>
                <a:r>
                  <a:rPr lang="en-US" dirty="0"/>
                  <a:t>These would be average wages for workers who are 45 and younger.  That is,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a:t> = 17.</a:t>
                </a:r>
              </a:p>
              <a:p>
                <a:pPr>
                  <a:buNone/>
                </a:pPr>
                <a:endParaRPr lang="en-US" dirty="0"/>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2074" b="-175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None/>
                </a:pPr>
                <a:r>
                  <a:rPr lang="en-US" b="1" u="sng" dirty="0"/>
                  <a:t>For workers who are older than 45 :</a:t>
                </a:r>
                <a:r>
                  <a:rPr lang="en-US" dirty="0"/>
                  <a:t> </a:t>
                </a:r>
              </a:p>
              <a:p>
                <a:pPr>
                  <a:buNone/>
                </a:pPr>
                <a:r>
                  <a:rPr lang="en-US" dirty="0"/>
                  <a:t>	 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(AgeAbove45)</a:t>
                </a:r>
              </a:p>
              <a:p>
                <a:pPr>
                  <a:buNone/>
                </a:pPr>
                <a:r>
                  <a:rPr lang="en-US" dirty="0">
                    <a:sym typeface="Wingdings" panose="05000000000000000000" pitchFamily="2" charset="2"/>
                  </a:rPr>
                  <a:t></a:t>
                </a:r>
                <a:r>
                  <a:rPr lang="en-US" dirty="0"/>
                  <a:t>(Wage)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(1)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endParaRPr lang="en-US" baseline="-25000" dirty="0"/>
              </a:p>
              <a:p>
                <a:pPr>
                  <a:buNone/>
                </a:pPr>
                <a:r>
                  <a:rPr lang="en-US" dirty="0"/>
                  <a:t>The value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represents the conditional mean of wages when the variable AgeAbove45 = 1.  And what group is represented when AgeAbove45 = 1?  </a:t>
                </a:r>
                <a:r>
                  <a:rPr lang="en-US" u="sng" dirty="0"/>
                  <a:t>Workers older than 45</a:t>
                </a:r>
                <a:r>
                  <a:rPr lang="en-US" dirty="0"/>
                  <a:t>.</a:t>
                </a:r>
                <a:endParaRPr lang="en-US" u="sn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815" b="-1213"/>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r>
                  <a:rPr lang="en-US" dirty="0">
                    <a:sym typeface="Wingdings" pitchFamily="2" charset="2"/>
                  </a:rPr>
                  <a:t>But we already know that average wages for workers who are older than 45 is equal 20</a:t>
                </a:r>
              </a:p>
              <a:p>
                <a:pPr>
                  <a:buNone/>
                </a:pPr>
                <a:endParaRPr lang="en-US" dirty="0">
                  <a:sym typeface="Wingdings" pitchFamily="2" charset="2"/>
                </a:endParaRPr>
              </a:p>
              <a:p>
                <a:pPr>
                  <a:buFont typeface="Wingdings"/>
                  <a:buChar char="à"/>
                </a:pPr>
                <a:r>
                  <a:rPr lang="en-US" dirty="0">
                    <a:sym typeface="Wingdings" pitchFamily="2" charset="2"/>
                  </a:rPr>
                  <a:t> So 20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333674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r>
                  <a:rPr lang="en-US" dirty="0"/>
                  <a:t>But we already know that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17, given our work with the other sample.  So what is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a:t>
                </a:r>
              </a:p>
              <a:p>
                <a:pPr>
                  <a:buNone/>
                </a:pPr>
                <a:endParaRPr lang="en-US" dirty="0"/>
              </a:p>
              <a:p>
                <a:pPr>
                  <a:buNone/>
                </a:pPr>
                <a:r>
                  <a:rPr lang="en-US" dirty="0">
                    <a:sym typeface="Wingdings" pitchFamily="2" charset="2"/>
                  </a:rPr>
                  <a:t>If 20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oMath>
                </a14:m>
                <a:r>
                  <a:rPr lang="en-US" dirty="0"/>
                  <a:t>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then:</a:t>
                </a:r>
              </a:p>
              <a:p>
                <a:pPr>
                  <a:buNone/>
                </a:pPr>
                <a:r>
                  <a:rPr lang="en-US" dirty="0">
                    <a:sym typeface="Wingdings" pitchFamily="2" charset="2"/>
                  </a:rPr>
                  <a:t> 20 = </a:t>
                </a:r>
                <a:r>
                  <a:rPr lang="en-US" dirty="0"/>
                  <a:t>17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endParaRPr lang="en-US" dirty="0"/>
              </a:p>
              <a:p>
                <a:pPr>
                  <a:buFont typeface="Wingdings"/>
                  <a:buChar char="à"/>
                </a:pPr>
                <a:r>
                  <a:rPr lang="en-US" dirty="0">
                    <a:sym typeface="Wingdings" pitchFamily="2" charset="2"/>
                  </a:rPr>
                  <a:t> 20 – 17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endParaRPr lang="en-US" baseline="-25000" dirty="0"/>
              </a:p>
              <a:p>
                <a:pPr>
                  <a:buFont typeface="Wingdings"/>
                  <a:buChar char="à"/>
                </a:pPr>
                <a:r>
                  <a:rPr lang="en-US" dirty="0"/>
                  <a:t> 3 =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endParaRPr lang="en-US" dirty="0"/>
              </a:p>
              <a:p>
                <a:pPr>
                  <a:buNone/>
                </a:pPr>
                <a:endParaRPr lang="en-US" dirty="0"/>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078"/>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r>
                  <a:rPr lang="en-US" dirty="0"/>
                  <a:t>So what does a value of 3 for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represent?</a:t>
                </a:r>
              </a:p>
              <a:p>
                <a:pPr>
                  <a:buNone/>
                </a:pPr>
                <a:endParaRPr lang="en-US" dirty="0"/>
              </a:p>
              <a:p>
                <a:pPr>
                  <a:buNone/>
                </a:pPr>
                <a:r>
                  <a:rPr lang="en-US" dirty="0"/>
                  <a:t>It’s the </a:t>
                </a:r>
                <a:r>
                  <a:rPr lang="en-US" b="1" u="sng" dirty="0"/>
                  <a:t>relative wage of “older” workers</a:t>
                </a:r>
                <a:r>
                  <a:rPr lang="en-US" dirty="0"/>
                  <a:t>, in comparison with “younger” workers (using the cut-off of 45 years of age).  In this case, “older” workers earn three dollars more, on average, than “younger” workers.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078"/>
                </a:stretch>
              </a:blipFill>
            </p:spPr>
            <p:txBody>
              <a:bodyPr/>
              <a:lstStyle/>
              <a:p>
                <a:r>
                  <a:rPr 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endParaRPr lang="en-CA" dirty="0"/>
          </a:p>
        </p:txBody>
      </p:sp>
      <p:sp>
        <p:nvSpPr>
          <p:cNvPr id="3" name="Content Placeholder 2"/>
          <p:cNvSpPr>
            <a:spLocks noGrp="1"/>
          </p:cNvSpPr>
          <p:nvPr>
            <p:ph idx="1"/>
          </p:nvPr>
        </p:nvSpPr>
        <p:spPr/>
        <p:txBody>
          <a:bodyPr/>
          <a:lstStyle/>
          <a:p>
            <a:pPr marL="0" indent="0">
              <a:buNone/>
            </a:pPr>
            <a:r>
              <a:rPr lang="en-US" dirty="0"/>
              <a:t>So what would our estimated regression look like here?</a:t>
            </a:r>
          </a:p>
          <a:p>
            <a:pPr marL="0" indent="0" algn="ctr">
              <a:buNone/>
            </a:pPr>
            <a:r>
              <a:rPr lang="en-US"/>
              <a:t>(Wage) </a:t>
            </a:r>
            <a:r>
              <a:rPr lang="en-US" dirty="0"/>
              <a:t>= 17 + 3(AgeAbove45)</a:t>
            </a:r>
          </a:p>
          <a:p>
            <a:pPr marL="0" indent="0" algn="ctr">
              <a:buNone/>
            </a:pPr>
            <a:endParaRPr lang="en-US" dirty="0"/>
          </a:p>
          <a:p>
            <a:pPr marL="0" indent="0" algn="ctr">
              <a:buNone/>
            </a:pPr>
            <a:endParaRPr lang="en-CA" dirty="0"/>
          </a:p>
        </p:txBody>
      </p:sp>
    </p:spTree>
    <p:extLst>
      <p:ext uri="{BB962C8B-B14F-4D97-AF65-F5344CB8AC3E}">
        <p14:creationId xmlns:p14="http://schemas.microsoft.com/office/powerpoint/2010/main" val="425318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r>
                  <a:rPr lang="en-US" dirty="0"/>
                  <a:t>And another useful thing here: we can do t-tests on these coefficients to see if these two groups have significantly different wages!</a:t>
                </a:r>
              </a:p>
              <a:p>
                <a:pPr>
                  <a:buNone/>
                </a:pPr>
                <a:endParaRPr lang="en-US" dirty="0"/>
              </a:p>
              <a:p>
                <a:pPr>
                  <a:buNone/>
                </a:pPr>
                <a:r>
                  <a:rPr lang="en-US" dirty="0"/>
                  <a:t>Suppose that the standard error on the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estimate was 1.2 – how would we test that “older” and “younger workers had different wages?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2074"/>
                </a:stretch>
              </a:blipFill>
            </p:spPr>
            <p:txBody>
              <a:bodyPr/>
              <a:lstStyle/>
              <a:p>
                <a:r>
                  <a:rPr 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p:sp>
        <p:nvSpPr>
          <p:cNvPr id="3" name="Content Placeholder 2"/>
          <p:cNvSpPr>
            <a:spLocks noGrp="1"/>
          </p:cNvSpPr>
          <p:nvPr>
            <p:ph idx="1"/>
          </p:nvPr>
        </p:nvSpPr>
        <p:spPr/>
        <p:txBody>
          <a:bodyPr/>
          <a:lstStyle/>
          <a:p>
            <a:pPr>
              <a:buNone/>
            </a:pPr>
            <a:r>
              <a:rPr lang="en-US" dirty="0"/>
              <a:t>We would set up our null hypothesis:</a:t>
            </a:r>
          </a:p>
          <a:p>
            <a:pPr algn="ctr">
              <a:buNone/>
            </a:pPr>
            <a:r>
              <a:rPr lang="en-US" dirty="0"/>
              <a:t>H</a:t>
            </a:r>
            <a:r>
              <a:rPr lang="en-US" baseline="-25000" dirty="0"/>
              <a:t>0</a:t>
            </a:r>
            <a:r>
              <a:rPr lang="en-US" dirty="0"/>
              <a:t>: </a:t>
            </a:r>
            <a:r>
              <a:rPr lang="en-US" dirty="0">
                <a:latin typeface="Symbol" panose="05050102010706020507" pitchFamily="18" charset="2"/>
              </a:rPr>
              <a:t>b</a:t>
            </a:r>
            <a:r>
              <a:rPr lang="en-US" baseline="-25000" dirty="0"/>
              <a:t>1</a:t>
            </a:r>
            <a:r>
              <a:rPr lang="en-US" dirty="0"/>
              <a:t> = 0</a:t>
            </a:r>
          </a:p>
          <a:p>
            <a:pPr algn="ctr">
              <a:buNone/>
            </a:pPr>
            <a:r>
              <a:rPr lang="en-US" dirty="0"/>
              <a:t>H</a:t>
            </a:r>
            <a:r>
              <a:rPr lang="en-US" baseline="-25000" dirty="0"/>
              <a:t>a</a:t>
            </a:r>
            <a:r>
              <a:rPr lang="en-US" dirty="0"/>
              <a:t>: </a:t>
            </a:r>
            <a:r>
              <a:rPr lang="en-US" dirty="0">
                <a:latin typeface="Symbol" panose="05050102010706020507" pitchFamily="18" charset="2"/>
              </a:rPr>
              <a:t>b</a:t>
            </a:r>
            <a:r>
              <a:rPr lang="en-US" baseline="-25000" dirty="0"/>
              <a:t>1</a:t>
            </a:r>
            <a:r>
              <a:rPr lang="en-US" dirty="0"/>
              <a:t> ≠ 0</a:t>
            </a:r>
          </a:p>
          <a:p>
            <a:pPr>
              <a:buNone/>
            </a:pPr>
            <a:r>
              <a:rPr lang="en-US" dirty="0"/>
              <a:t>(Note – we’re setting up a null that we may be able to reject.  And if we do reject it, what would we conclude about wage differences between the two groups?)</a:t>
            </a:r>
          </a:p>
          <a:p>
            <a:pPr algn="ct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None/>
                </a:pPr>
                <a:r>
                  <a:rPr lang="en-US" dirty="0"/>
                  <a:t>In this case, our t-statistic would be:</a:t>
                </a: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3−0</m:t>
                          </m:r>
                        </m:num>
                        <m:den>
                          <m:r>
                            <a:rPr lang="en-US" b="0" i="1" smtClean="0">
                              <a:latin typeface="Cambria Math" panose="02040503050406030204" pitchFamily="18" charset="0"/>
                            </a:rPr>
                            <m:t>1.2</m:t>
                          </m:r>
                        </m:den>
                      </m:f>
                      <m:r>
                        <a:rPr lang="en-US" b="0" i="1" smtClean="0">
                          <a:latin typeface="Cambria Math" panose="02040503050406030204" pitchFamily="18" charset="0"/>
                        </a:rPr>
                        <m:t>=2.5</m:t>
                      </m:r>
                    </m:oMath>
                  </m:oMathPara>
                </a14:m>
                <a:endParaRPr lang="en-US" dirty="0"/>
              </a:p>
              <a:p>
                <a:pPr>
                  <a:buNone/>
                </a:pPr>
                <a:r>
                  <a:rPr lang="en-US" dirty="0"/>
                  <a:t>Since our t-statistic (in absolute value) is bigger than 2, then we would reject our null hypothesis at the 5% level of significance.  That is, we reject the hypothesis that those older than 45, and those who are 45 and younger, have the same wages.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b="-4178"/>
                </a:stretch>
              </a:blipFill>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One last thing about this example</a:t>
            </a:r>
          </a:p>
        </p:txBody>
      </p:sp>
      <p:sp>
        <p:nvSpPr>
          <p:cNvPr id="5" name="Content Placeholder 4"/>
          <p:cNvSpPr>
            <a:spLocks noGrp="1"/>
          </p:cNvSpPr>
          <p:nvPr>
            <p:ph idx="1"/>
          </p:nvPr>
        </p:nvSpPr>
        <p:spPr/>
        <p:txBody>
          <a:bodyPr>
            <a:normAutofit/>
          </a:bodyPr>
          <a:lstStyle/>
          <a:p>
            <a:pPr>
              <a:buNone/>
            </a:pPr>
            <a:r>
              <a:rPr lang="en-US" dirty="0"/>
              <a:t>As this case shows, dummy variables often represent </a:t>
            </a:r>
            <a:r>
              <a:rPr lang="en-US" b="1" dirty="0"/>
              <a:t>relative</a:t>
            </a:r>
            <a:r>
              <a:rPr lang="en-US" dirty="0"/>
              <a:t> effects.  But relative to what?  </a:t>
            </a:r>
          </a:p>
          <a:p>
            <a:pPr>
              <a:buNone/>
            </a:pPr>
            <a:r>
              <a:rPr lang="en-US" dirty="0"/>
              <a:t>Relative to the group not explicitly represented by the dummy variable (sometimes called the </a:t>
            </a:r>
            <a:r>
              <a:rPr lang="en-US" b="1" dirty="0"/>
              <a:t>“omitted reference category”</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last thing about this example</a:t>
            </a:r>
          </a:p>
        </p:txBody>
      </p:sp>
      <mc:AlternateContent xmlns:mc="http://schemas.openxmlformats.org/markup-compatibility/2006" xmlns:a14="http://schemas.microsoft.com/office/drawing/2010/main">
        <mc:Choice Requires="a14">
          <p:sp>
            <p:nvSpPr>
              <p:cNvPr id="4" name="Title 1"/>
              <p:cNvSpPr>
                <a:spLocks noGrp="1"/>
              </p:cNvSpPr>
              <p:nvPr>
                <p:ph idx="1"/>
              </p:nvPr>
            </p:nvSpPr>
            <p:spPr/>
            <p:txBody>
              <a:bodyPr/>
              <a:lstStyle/>
              <a:p>
                <a:pPr>
                  <a:buNone/>
                </a:pPr>
                <a:r>
                  <a:rPr lang="en-US" dirty="0"/>
                  <a:t>In this case, the coefficient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estimates the wages of workers who are older than 45 </a:t>
                </a:r>
                <a:r>
                  <a:rPr lang="en-US" b="1" i="1" dirty="0"/>
                  <a:t>relative</a:t>
                </a:r>
                <a:r>
                  <a:rPr lang="en-US" dirty="0"/>
                  <a:t> to workers who are 45 and younger, who are not explicitly represented by the Age45 dummy variable.</a:t>
                </a:r>
              </a:p>
            </p:txBody>
          </p:sp>
        </mc:Choice>
        <mc:Fallback xmlns="">
          <p:sp>
            <p:nvSpPr>
              <p:cNvPr id="4" name="Title 1"/>
              <p:cNvSpPr>
                <a:spLocks noGrp="1" noRot="1" noChangeAspect="1" noMove="1" noResize="1" noEditPoints="1" noAdjustHandles="1" noChangeArrowheads="1" noChangeShapeType="1" noTextEdit="1"/>
              </p:cNvSpPr>
              <p:nvPr>
                <p:ph idx="1"/>
              </p:nvPr>
            </p:nvSpPr>
            <p:spPr>
              <a:blipFill>
                <a:blip r:embed="rId2"/>
                <a:stretch>
                  <a:fillRect l="-1852" t="-1078"/>
                </a:stretch>
              </a:blipFill>
            </p:spPr>
            <p:txBody>
              <a:bodyPr/>
              <a:lstStyle/>
              <a:p>
                <a:r>
                  <a:rPr 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#2</a:t>
            </a:r>
          </a:p>
        </p:txBody>
      </p:sp>
      <p:sp>
        <p:nvSpPr>
          <p:cNvPr id="3" name="Content Placeholder 2"/>
          <p:cNvSpPr>
            <a:spLocks noGrp="1"/>
          </p:cNvSpPr>
          <p:nvPr>
            <p:ph idx="1"/>
          </p:nvPr>
        </p:nvSpPr>
        <p:spPr/>
        <p:txBody>
          <a:bodyPr/>
          <a:lstStyle/>
          <a:p>
            <a:pPr>
              <a:buNone/>
            </a:pPr>
            <a:r>
              <a:rPr lang="en-US" dirty="0"/>
              <a:t>Let’s consider dummy variables in a multiple regression context.</a:t>
            </a:r>
          </a:p>
          <a:p>
            <a:pPr>
              <a:buNone/>
            </a:pPr>
            <a:endParaRPr lang="en-US" dirty="0"/>
          </a:p>
          <a:p>
            <a:pPr>
              <a:buNone/>
            </a:pPr>
            <a:r>
              <a:rPr lang="en-US" dirty="0"/>
              <a:t>Load up “speeding data.xls” into your Excel program.  This data set contains average speeds on the 401 highway under different road and weather conditions.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10000"/>
          </a:bodyPr>
          <a:lstStyle/>
          <a:p>
            <a:pPr>
              <a:buNone/>
            </a:pPr>
            <a:r>
              <a:rPr lang="en-US" dirty="0"/>
              <a:t>The variables are:</a:t>
            </a:r>
          </a:p>
          <a:p>
            <a:pPr>
              <a:buNone/>
            </a:pPr>
            <a:r>
              <a:rPr lang="en-US" dirty="0"/>
              <a:t>(</a:t>
            </a:r>
            <a:r>
              <a:rPr lang="en-US" dirty="0" err="1"/>
              <a:t>i</a:t>
            </a:r>
            <a:r>
              <a:rPr lang="en-US" dirty="0"/>
              <a:t>) “Speed”: the average speed on the highway (km/h)</a:t>
            </a:r>
          </a:p>
          <a:p>
            <a:pPr>
              <a:buNone/>
            </a:pPr>
            <a:r>
              <a:rPr lang="en-US" dirty="0"/>
              <a:t>(ii) “Wet”: a dummy variable equal to one if the highway was wet.</a:t>
            </a:r>
          </a:p>
          <a:p>
            <a:pPr>
              <a:buNone/>
            </a:pPr>
            <a:r>
              <a:rPr lang="en-US" dirty="0"/>
              <a:t>(iii) “Snow”: a dummy variable equal to one if there was snow on the highway.</a:t>
            </a:r>
          </a:p>
          <a:p>
            <a:pPr>
              <a:buNone/>
            </a:pPr>
            <a:r>
              <a:rPr lang="en-US" dirty="0"/>
              <a:t>(iv) “</a:t>
            </a:r>
            <a:r>
              <a:rPr lang="en-US" dirty="0" err="1"/>
              <a:t>Visib</a:t>
            </a:r>
            <a:r>
              <a:rPr lang="en-US" dirty="0"/>
              <a:t>”: a dummy variable equal to one if visibility on the highway was poor.</a:t>
            </a:r>
          </a:p>
          <a:p>
            <a:pPr>
              <a:buNone/>
            </a:pPr>
            <a:r>
              <a:rPr lang="en-US" dirty="0"/>
              <a:t>(v) “Congest”: a dummy variable equal to one if the highway was congested with traffic.</a:t>
            </a:r>
          </a:p>
          <a:p>
            <a:pPr>
              <a:buNone/>
            </a:pPr>
            <a:endParaRPr lang="en-US" dirty="0"/>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Mean Example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r>
                  <a:rPr lang="en-US" dirty="0"/>
                  <a:t>Let’s estimate the following regression:</a:t>
                </a:r>
              </a:p>
              <a:p>
                <a:pPr>
                  <a:buNone/>
                </a:pPr>
                <a:endParaRPr lang="en-US" dirty="0">
                  <a:latin typeface="Symbol" panose="05050102010706020507" pitchFamily="18" charset="2"/>
                </a:endParaRPr>
              </a:p>
              <a:p>
                <a:pP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𝑆𝑝𝑒𝑒𝑑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𝑊𝑒𝑡</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2</m:t>
                          </m:r>
                        </m:sub>
                      </m:sSub>
                      <m:d>
                        <m:dPr>
                          <m:ctrlPr>
                            <a:rPr lang="en-US" i="1">
                              <a:latin typeface="Cambria Math" panose="02040503050406030204" pitchFamily="18" charset="0"/>
                            </a:rPr>
                          </m:ctrlPr>
                        </m:dPr>
                        <m:e>
                          <m:r>
                            <a:rPr lang="en-US" b="0" i="1" smtClean="0">
                              <a:latin typeface="Cambria Math" panose="02040503050406030204" pitchFamily="18" charset="0"/>
                            </a:rPr>
                            <m:t>𝑆𝑛𝑜𝑤</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3</m:t>
                          </m:r>
                        </m:sub>
                      </m:sSub>
                      <m:d>
                        <m:dPr>
                          <m:ctrlPr>
                            <a:rPr lang="en-US" i="1">
                              <a:latin typeface="Cambria Math" panose="02040503050406030204" pitchFamily="18" charset="0"/>
                            </a:rPr>
                          </m:ctrlPr>
                        </m:dPr>
                        <m:e>
                          <m:r>
                            <a:rPr lang="en-US" b="0" i="1" smtClean="0">
                              <a:latin typeface="Cambria Math" panose="02040503050406030204" pitchFamily="18" charset="0"/>
                            </a:rPr>
                            <m:t>𝑉𝑖𝑠𝑖𝑏</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4</m:t>
                          </m:r>
                        </m:sub>
                      </m:sSub>
                      <m:d>
                        <m:dPr>
                          <m:ctrlPr>
                            <a:rPr lang="en-US" i="1">
                              <a:latin typeface="Cambria Math" panose="02040503050406030204" pitchFamily="18" charset="0"/>
                            </a:rPr>
                          </m:ctrlPr>
                        </m:dPr>
                        <m:e>
                          <m:r>
                            <a:rPr lang="en-US" b="0" i="1" smtClean="0">
                              <a:latin typeface="Cambria Math" panose="02040503050406030204" pitchFamily="18" charset="0"/>
                            </a:rPr>
                            <m:t>𝐶𝑜𝑛𝑔𝑒𝑠𝑡</m:t>
                          </m:r>
                        </m:e>
                      </m:d>
                    </m:oMath>
                  </m:oMathPara>
                </a14:m>
                <a:endParaRPr lang="en-US" dirty="0">
                  <a:latin typeface="Symbol" panose="05050102010706020507" pitchFamily="18"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a:t>Results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63447328"/>
              </p:ext>
            </p:extLst>
          </p:nvPr>
        </p:nvGraphicFramePr>
        <p:xfrm>
          <a:off x="457200" y="1143000"/>
          <a:ext cx="8229600" cy="5581650"/>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fontAlgn="b"/>
                      <a:r>
                        <a:rPr lang="en-CA" sz="2400" u="none" strike="noStrike" dirty="0">
                          <a:effectLst/>
                        </a:rPr>
                        <a:t>R Square</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0.885387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fontAlgn="b"/>
                      <a:r>
                        <a:rPr lang="en-CA" sz="2400" u="none" strike="noStrike" dirty="0">
                          <a:effectLst/>
                        </a:rPr>
                        <a:t>Standard Error</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9.995144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fontAlgn="b"/>
                      <a:r>
                        <a:rPr lang="en-CA" sz="2400" u="none" strike="noStrike" dirty="0">
                          <a:effectLst/>
                        </a:rPr>
                        <a:t>Observations</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10000</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fontAlgn="b"/>
                      <a:r>
                        <a:rPr lang="en-CA" sz="2400" u="none" strike="noStrike" dirty="0">
                          <a:effectLst/>
                        </a:rPr>
                        <a:t>ANOVA</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err="1">
                          <a:effectLst/>
                        </a:rPr>
                        <a:t>df</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SS</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MS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fontAlgn="b"/>
                      <a:r>
                        <a:rPr lang="en-CA" sz="2400" u="none" strike="noStrike">
                          <a:effectLst/>
                        </a:rPr>
                        <a:t>Regression</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7713629</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1928407</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fontAlgn="b"/>
                      <a:r>
                        <a:rPr lang="en-CA" sz="2400" u="none" strike="noStrike">
                          <a:effectLst/>
                        </a:rPr>
                        <a:t>Residual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998529.5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99.9029</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l" fontAlgn="b"/>
                      <a:r>
                        <a:rPr lang="en-CA" sz="2400" u="none" strike="noStrike">
                          <a:effectLst/>
                        </a:rPr>
                        <a:t>Total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9999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8712158</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CA" sz="2400" u="none" strike="noStrike" dirty="0">
                          <a:effectLst/>
                        </a:rPr>
                        <a:t> </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fontAlgn="b"/>
                      <a:r>
                        <a:rPr lang="en-CA" sz="2400" u="none" strike="noStrike" dirty="0">
                          <a:effectLst/>
                        </a:rPr>
                        <a:t> </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Coefficients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Standard Error</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t Stat</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l" fontAlgn="b"/>
                      <a:r>
                        <a:rPr lang="en-CA" sz="2400" u="none" strike="noStrike" dirty="0">
                          <a:effectLst/>
                        </a:rPr>
                        <a:t>Intercept</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120.0759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0.225301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532.9581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l" fontAlgn="b"/>
                      <a:r>
                        <a:rPr lang="en-CA" sz="2400" u="none" strike="noStrike" dirty="0">
                          <a:effectLst/>
                        </a:rPr>
                        <a:t>Wet Road</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-14.8773</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0.199921</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-74.4161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algn="l" fontAlgn="b"/>
                      <a:r>
                        <a:rPr lang="en-CA" sz="2400" u="none" strike="noStrike" dirty="0">
                          <a:effectLst/>
                        </a:rPr>
                        <a:t>Snow</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-19.9808</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0.199939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-99.9346</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70840">
                <a:tc>
                  <a:txBody>
                    <a:bodyPr/>
                    <a:lstStyle/>
                    <a:p>
                      <a:pPr algn="l" fontAlgn="b"/>
                      <a:r>
                        <a:rPr lang="en-CA" sz="2400" u="none" strike="noStrike" dirty="0" err="1">
                          <a:effectLst/>
                        </a:rPr>
                        <a:t>Visib</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-30.1321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0.199965</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-150.687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70840">
                <a:tc>
                  <a:txBody>
                    <a:bodyPr/>
                    <a:lstStyle/>
                    <a:p>
                      <a:pPr algn="l" fontAlgn="b"/>
                      <a:r>
                        <a:rPr lang="en-CA" sz="2400" u="none" strike="noStrike" dirty="0">
                          <a:effectLst/>
                        </a:rPr>
                        <a:t>Congest</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-39.9964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0.199952</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-200.03</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Results</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87371335"/>
              </p:ext>
            </p:extLst>
          </p:nvPr>
        </p:nvGraphicFramePr>
        <p:xfrm>
          <a:off x="457200" y="1143000"/>
          <a:ext cx="8229600" cy="558165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1898192883"/>
                    </a:ext>
                  </a:extLst>
                </a:gridCol>
                <a:gridCol w="2057400">
                  <a:extLst>
                    <a:ext uri="{9D8B030D-6E8A-4147-A177-3AD203B41FA5}">
                      <a16:colId xmlns:a16="http://schemas.microsoft.com/office/drawing/2014/main" val="1122785550"/>
                    </a:ext>
                  </a:extLst>
                </a:gridCol>
                <a:gridCol w="2057400">
                  <a:extLst>
                    <a:ext uri="{9D8B030D-6E8A-4147-A177-3AD203B41FA5}">
                      <a16:colId xmlns:a16="http://schemas.microsoft.com/office/drawing/2014/main" val="821523497"/>
                    </a:ext>
                  </a:extLst>
                </a:gridCol>
                <a:gridCol w="2057400">
                  <a:extLst>
                    <a:ext uri="{9D8B030D-6E8A-4147-A177-3AD203B41FA5}">
                      <a16:colId xmlns:a16="http://schemas.microsoft.com/office/drawing/2014/main" val="1058685310"/>
                    </a:ext>
                  </a:extLst>
                </a:gridCol>
              </a:tblGrid>
              <a:tr h="370840">
                <a:tc>
                  <a:txBody>
                    <a:bodyPr/>
                    <a:lstStyle/>
                    <a:p>
                      <a:pPr algn="l" fontAlgn="b"/>
                      <a:r>
                        <a:rPr lang="en-CA" sz="2400" u="none" strike="noStrike" dirty="0">
                          <a:effectLst/>
                        </a:rPr>
                        <a:t>R Square</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0.89</a:t>
                      </a:r>
                      <a:endParaRPr lang="en-CA" sz="2400" b="0" i="0" u="none" strike="noStrike" dirty="0">
                        <a:solidFill>
                          <a:srgbClr val="FF0000"/>
                        </a:solidFill>
                        <a:effectLst/>
                        <a:latin typeface="Arial"/>
                      </a:endParaRPr>
                    </a:p>
                  </a:txBody>
                  <a:tcPr marL="9525" marR="9525" marT="9525" marB="0" anchor="b"/>
                </a:tc>
                <a:tc>
                  <a:txBody>
                    <a:bodyPr/>
                    <a:lstStyle/>
                    <a:p>
                      <a:endParaRPr lang="en-CA" sz="2400" dirty="0"/>
                    </a:p>
                  </a:txBody>
                  <a:tcPr/>
                </a:tc>
                <a:tc>
                  <a:txBody>
                    <a:bodyPr/>
                    <a:lstStyle/>
                    <a:p>
                      <a:endParaRPr lang="en-CA" sz="2400"/>
                    </a:p>
                  </a:txBody>
                  <a:tcPr/>
                </a:tc>
                <a:extLst>
                  <a:ext uri="{0D108BD9-81ED-4DB2-BD59-A6C34878D82A}">
                    <a16:rowId xmlns:a16="http://schemas.microsoft.com/office/drawing/2014/main" val="2455295063"/>
                  </a:ext>
                </a:extLst>
              </a:tr>
              <a:tr h="370840">
                <a:tc>
                  <a:txBody>
                    <a:bodyPr/>
                    <a:lstStyle/>
                    <a:p>
                      <a:pPr algn="l" fontAlgn="b"/>
                      <a:r>
                        <a:rPr lang="en-CA" sz="2400" u="none" strike="noStrike" dirty="0">
                          <a:effectLst/>
                        </a:rPr>
                        <a:t>Standard Error</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10</a:t>
                      </a:r>
                      <a:endParaRPr lang="en-CA" sz="2400" b="0" i="0" u="none" strike="noStrike" dirty="0">
                        <a:solidFill>
                          <a:srgbClr val="FF0000"/>
                        </a:solidFill>
                        <a:effectLst/>
                        <a:latin typeface="Arial"/>
                      </a:endParaRPr>
                    </a:p>
                  </a:txBody>
                  <a:tcPr marL="9525" marR="9525" marT="9525" marB="0" anchor="b"/>
                </a:tc>
                <a:tc>
                  <a:txBody>
                    <a:bodyPr/>
                    <a:lstStyle/>
                    <a:p>
                      <a:endParaRPr lang="en-CA" sz="2400"/>
                    </a:p>
                  </a:txBody>
                  <a:tcPr/>
                </a:tc>
                <a:tc>
                  <a:txBody>
                    <a:bodyPr/>
                    <a:lstStyle/>
                    <a:p>
                      <a:endParaRPr lang="en-CA" sz="2400" dirty="0"/>
                    </a:p>
                  </a:txBody>
                  <a:tcPr/>
                </a:tc>
                <a:extLst>
                  <a:ext uri="{0D108BD9-81ED-4DB2-BD59-A6C34878D82A}">
                    <a16:rowId xmlns:a16="http://schemas.microsoft.com/office/drawing/2014/main" val="1634375375"/>
                  </a:ext>
                </a:extLst>
              </a:tr>
              <a:tr h="370840">
                <a:tc>
                  <a:txBody>
                    <a:bodyPr/>
                    <a:lstStyle/>
                    <a:p>
                      <a:pPr algn="l" fontAlgn="b"/>
                      <a:r>
                        <a:rPr lang="en-CA" sz="2400" u="none" strike="noStrike" dirty="0">
                          <a:effectLst/>
                        </a:rPr>
                        <a:t>Observations</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effectLst/>
                        </a:rPr>
                        <a:t>10000</a:t>
                      </a:r>
                      <a:endParaRPr lang="en-CA" sz="2400" b="0" i="0" u="none" strike="noStrike" dirty="0">
                        <a:effectLst/>
                        <a:latin typeface="Arial"/>
                      </a:endParaRPr>
                    </a:p>
                  </a:txBody>
                  <a:tcPr marL="9525" marR="9525" marT="9525" marB="0" anchor="b"/>
                </a:tc>
                <a:tc>
                  <a:txBody>
                    <a:bodyPr/>
                    <a:lstStyle/>
                    <a:p>
                      <a:endParaRPr lang="en-CA" sz="2400" dirty="0"/>
                    </a:p>
                  </a:txBody>
                  <a:tcPr/>
                </a:tc>
                <a:tc>
                  <a:txBody>
                    <a:bodyPr/>
                    <a:lstStyle/>
                    <a:p>
                      <a:endParaRPr lang="en-CA" sz="2400"/>
                    </a:p>
                  </a:txBody>
                  <a:tcPr/>
                </a:tc>
                <a:extLst>
                  <a:ext uri="{0D108BD9-81ED-4DB2-BD59-A6C34878D82A}">
                    <a16:rowId xmlns:a16="http://schemas.microsoft.com/office/drawing/2014/main" val="455138218"/>
                  </a:ext>
                </a:extLst>
              </a:tr>
              <a:tr h="370840">
                <a:tc>
                  <a:txBody>
                    <a:bodyPr/>
                    <a:lstStyle/>
                    <a:p>
                      <a:pPr algn="l" fontAlgn="b"/>
                      <a:r>
                        <a:rPr lang="en-CA" sz="2400" u="none" strike="noStrike" dirty="0">
                          <a:effectLst/>
                        </a:rPr>
                        <a:t>ANOVA</a:t>
                      </a:r>
                      <a:endParaRPr lang="en-CA" sz="2400" b="0" i="0" u="none" strike="noStrike" dirty="0">
                        <a:effectLst/>
                        <a:latin typeface="Arial"/>
                      </a:endParaRPr>
                    </a:p>
                  </a:txBody>
                  <a:tcPr marL="9525" marR="9525" marT="9525" marB="0" anchor="b"/>
                </a:tc>
                <a:tc>
                  <a:txBody>
                    <a:bodyPr/>
                    <a:lstStyle/>
                    <a:p>
                      <a:pPr algn="ctr" fontAlgn="b"/>
                      <a:r>
                        <a:rPr lang="en-CA" sz="2400" u="none" strike="noStrike" dirty="0" err="1">
                          <a:effectLst/>
                        </a:rPr>
                        <a:t>Df</a:t>
                      </a:r>
                      <a:endParaRPr lang="en-CA" sz="2400" b="0" i="1" u="none" strike="noStrike" dirty="0">
                        <a:effectLst/>
                        <a:latin typeface="Arial"/>
                      </a:endParaRPr>
                    </a:p>
                  </a:txBody>
                  <a:tcPr marL="9525" marR="9525" marT="9525" marB="0" anchor="b"/>
                </a:tc>
                <a:tc>
                  <a:txBody>
                    <a:bodyPr/>
                    <a:lstStyle/>
                    <a:p>
                      <a:pPr algn="ctr" fontAlgn="b"/>
                      <a:r>
                        <a:rPr lang="en-CA" sz="2400" u="none" strike="noStrike" dirty="0">
                          <a:effectLst/>
                        </a:rPr>
                        <a:t>SS</a:t>
                      </a:r>
                      <a:endParaRPr lang="en-CA" sz="2400" b="0" i="1" u="none" strike="noStrike" dirty="0">
                        <a:effectLst/>
                        <a:latin typeface="Arial"/>
                      </a:endParaRPr>
                    </a:p>
                  </a:txBody>
                  <a:tcPr marL="9525" marR="9525" marT="9525" marB="0" anchor="b"/>
                </a:tc>
                <a:tc>
                  <a:txBody>
                    <a:bodyPr/>
                    <a:lstStyle/>
                    <a:p>
                      <a:pPr algn="ctr" fontAlgn="b"/>
                      <a:r>
                        <a:rPr lang="en-CA" sz="2400" u="none" strike="noStrike">
                          <a:effectLst/>
                        </a:rPr>
                        <a:t>MS</a:t>
                      </a:r>
                      <a:endParaRPr lang="en-CA" sz="2400" b="0" i="1" u="none" strike="noStrike">
                        <a:effectLst/>
                        <a:latin typeface="Arial"/>
                      </a:endParaRPr>
                    </a:p>
                  </a:txBody>
                  <a:tcPr marL="9525" marR="9525" marT="9525" marB="0" anchor="b"/>
                </a:tc>
                <a:extLst>
                  <a:ext uri="{0D108BD9-81ED-4DB2-BD59-A6C34878D82A}">
                    <a16:rowId xmlns:a16="http://schemas.microsoft.com/office/drawing/2014/main" val="928168084"/>
                  </a:ext>
                </a:extLst>
              </a:tr>
              <a:tr h="370840">
                <a:tc>
                  <a:txBody>
                    <a:bodyPr/>
                    <a:lstStyle/>
                    <a:p>
                      <a:pPr algn="l" fontAlgn="b"/>
                      <a:r>
                        <a:rPr lang="en-CA" sz="2400" u="none" strike="noStrike">
                          <a:effectLst/>
                        </a:rPr>
                        <a:t>Regression</a:t>
                      </a:r>
                      <a:endParaRPr lang="en-CA" sz="2400" b="0" i="0" u="none" strike="noStrike">
                        <a:effectLst/>
                        <a:latin typeface="Arial"/>
                      </a:endParaRPr>
                    </a:p>
                  </a:txBody>
                  <a:tcPr marL="9525" marR="9525" marT="9525" marB="0" anchor="b"/>
                </a:tc>
                <a:tc>
                  <a:txBody>
                    <a:bodyPr/>
                    <a:lstStyle/>
                    <a:p>
                      <a:pPr algn="r" fontAlgn="b"/>
                      <a:r>
                        <a:rPr lang="en-CA" sz="2400" u="none" strike="noStrike" dirty="0">
                          <a:effectLst/>
                        </a:rPr>
                        <a:t>4</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effectLst/>
                        </a:rPr>
                        <a:t>7713629</a:t>
                      </a:r>
                      <a:endParaRPr lang="en-CA" sz="2400" b="0" i="0" u="none" strike="noStrike" dirty="0">
                        <a:effectLst/>
                        <a:latin typeface="Arial"/>
                      </a:endParaRPr>
                    </a:p>
                  </a:txBody>
                  <a:tcPr marL="9525" marR="9525" marT="9525" marB="0" anchor="b"/>
                </a:tc>
                <a:tc>
                  <a:txBody>
                    <a:bodyPr/>
                    <a:lstStyle/>
                    <a:p>
                      <a:pPr algn="r" fontAlgn="b"/>
                      <a:r>
                        <a:rPr lang="en-CA" sz="2400" u="none" strike="noStrike">
                          <a:effectLst/>
                        </a:rPr>
                        <a:t>1928407</a:t>
                      </a:r>
                      <a:endParaRPr lang="en-CA" sz="2400" b="0" i="0" u="none" strike="noStrike">
                        <a:effectLst/>
                        <a:latin typeface="Arial"/>
                      </a:endParaRPr>
                    </a:p>
                  </a:txBody>
                  <a:tcPr marL="9525" marR="9525" marT="9525" marB="0" anchor="b"/>
                </a:tc>
                <a:extLst>
                  <a:ext uri="{0D108BD9-81ED-4DB2-BD59-A6C34878D82A}">
                    <a16:rowId xmlns:a16="http://schemas.microsoft.com/office/drawing/2014/main" val="1212684778"/>
                  </a:ext>
                </a:extLst>
              </a:tr>
              <a:tr h="370840">
                <a:tc>
                  <a:txBody>
                    <a:bodyPr/>
                    <a:lstStyle/>
                    <a:p>
                      <a:pPr algn="l" fontAlgn="b"/>
                      <a:r>
                        <a:rPr lang="en-CA" sz="2400" u="none" strike="noStrike">
                          <a:effectLst/>
                        </a:rPr>
                        <a:t>Residual</a:t>
                      </a:r>
                      <a:endParaRPr lang="en-CA" sz="2400" b="0" i="0" u="none" strike="noStrike">
                        <a:effectLst/>
                        <a:latin typeface="Arial"/>
                      </a:endParaRPr>
                    </a:p>
                  </a:txBody>
                  <a:tcPr marL="9525" marR="9525" marT="9525" marB="0" anchor="b"/>
                </a:tc>
                <a:tc>
                  <a:txBody>
                    <a:bodyPr/>
                    <a:lstStyle/>
                    <a:p>
                      <a:pPr algn="r" fontAlgn="b"/>
                      <a:r>
                        <a:rPr lang="en-CA" sz="2400" u="none" strike="noStrike" dirty="0">
                          <a:effectLst/>
                        </a:rPr>
                        <a:t>9995</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effectLst/>
                        </a:rPr>
                        <a:t>998529.5</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effectLst/>
                        </a:rPr>
                        <a:t>99.9029</a:t>
                      </a:r>
                      <a:endParaRPr lang="en-CA" sz="2400" b="0" i="0" u="none" strike="noStrike" dirty="0">
                        <a:effectLst/>
                        <a:latin typeface="Arial"/>
                      </a:endParaRPr>
                    </a:p>
                  </a:txBody>
                  <a:tcPr marL="9525" marR="9525" marT="9525" marB="0" anchor="b"/>
                </a:tc>
                <a:extLst>
                  <a:ext uri="{0D108BD9-81ED-4DB2-BD59-A6C34878D82A}">
                    <a16:rowId xmlns:a16="http://schemas.microsoft.com/office/drawing/2014/main" val="1575840539"/>
                  </a:ext>
                </a:extLst>
              </a:tr>
              <a:tr h="370840">
                <a:tc>
                  <a:txBody>
                    <a:bodyPr/>
                    <a:lstStyle/>
                    <a:p>
                      <a:pPr algn="l" fontAlgn="b"/>
                      <a:r>
                        <a:rPr lang="en-CA" sz="2400" u="none" strike="noStrike">
                          <a:effectLst/>
                        </a:rPr>
                        <a:t>Total</a:t>
                      </a:r>
                      <a:endParaRPr lang="en-CA" sz="2400" b="0" i="0" u="none" strike="noStrike">
                        <a:effectLst/>
                        <a:latin typeface="Arial"/>
                      </a:endParaRPr>
                    </a:p>
                  </a:txBody>
                  <a:tcPr marL="9525" marR="9525" marT="9525" marB="0" anchor="b"/>
                </a:tc>
                <a:tc>
                  <a:txBody>
                    <a:bodyPr/>
                    <a:lstStyle/>
                    <a:p>
                      <a:pPr algn="r" fontAlgn="b"/>
                      <a:r>
                        <a:rPr lang="en-CA" sz="2400" u="none" strike="noStrike" dirty="0">
                          <a:effectLst/>
                        </a:rPr>
                        <a:t>9999</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effectLst/>
                        </a:rPr>
                        <a:t>8712158</a:t>
                      </a:r>
                      <a:endParaRPr lang="en-CA" sz="2400" b="0" i="0" u="none" strike="noStrike" dirty="0">
                        <a:effectLst/>
                        <a:latin typeface="Arial"/>
                      </a:endParaRPr>
                    </a:p>
                  </a:txBody>
                  <a:tcPr marL="9525" marR="9525" marT="9525" marB="0" anchor="b"/>
                </a:tc>
                <a:tc>
                  <a:txBody>
                    <a:bodyPr/>
                    <a:lstStyle/>
                    <a:p>
                      <a:pPr algn="l" fontAlgn="b"/>
                      <a:r>
                        <a:rPr lang="en-CA" sz="2400" u="none" strike="noStrike" dirty="0">
                          <a:effectLst/>
                        </a:rPr>
                        <a:t> </a:t>
                      </a:r>
                      <a:endParaRPr lang="en-CA" sz="2400" b="0" i="0" u="none" strike="noStrike" dirty="0">
                        <a:effectLst/>
                        <a:latin typeface="Arial"/>
                      </a:endParaRPr>
                    </a:p>
                  </a:txBody>
                  <a:tcPr marL="9525" marR="9525" marT="9525" marB="0" anchor="b"/>
                </a:tc>
                <a:extLst>
                  <a:ext uri="{0D108BD9-81ED-4DB2-BD59-A6C34878D82A}">
                    <a16:rowId xmlns:a16="http://schemas.microsoft.com/office/drawing/2014/main" val="679152410"/>
                  </a:ext>
                </a:extLst>
              </a:tr>
              <a:tr h="370840">
                <a:tc>
                  <a:txBody>
                    <a:bodyPr/>
                    <a:lstStyle/>
                    <a:p>
                      <a:endParaRPr lang="en-CA" sz="2400"/>
                    </a:p>
                  </a:txBody>
                  <a:tcPr/>
                </a:tc>
                <a:tc>
                  <a:txBody>
                    <a:bodyPr/>
                    <a:lstStyle/>
                    <a:p>
                      <a:endParaRPr lang="en-CA" sz="2400" dirty="0"/>
                    </a:p>
                  </a:txBody>
                  <a:tcPr/>
                </a:tc>
                <a:tc>
                  <a:txBody>
                    <a:bodyPr/>
                    <a:lstStyle/>
                    <a:p>
                      <a:endParaRPr lang="en-CA" sz="2400" dirty="0"/>
                    </a:p>
                  </a:txBody>
                  <a:tcPr/>
                </a:tc>
                <a:tc>
                  <a:txBody>
                    <a:bodyPr/>
                    <a:lstStyle/>
                    <a:p>
                      <a:endParaRPr lang="en-CA" sz="2400" dirty="0"/>
                    </a:p>
                  </a:txBody>
                  <a:tcPr/>
                </a:tc>
                <a:extLst>
                  <a:ext uri="{0D108BD9-81ED-4DB2-BD59-A6C34878D82A}">
                    <a16:rowId xmlns:a16="http://schemas.microsoft.com/office/drawing/2014/main" val="2438518537"/>
                  </a:ext>
                </a:extLst>
              </a:tr>
              <a:tr h="370840">
                <a:tc>
                  <a:txBody>
                    <a:bodyPr/>
                    <a:lstStyle/>
                    <a:p>
                      <a:pPr algn="ctr" fontAlgn="b"/>
                      <a:r>
                        <a:rPr lang="en-CA" sz="2400" u="none" strike="noStrike" dirty="0">
                          <a:effectLst/>
                        </a:rPr>
                        <a:t> </a:t>
                      </a:r>
                      <a:endParaRPr lang="en-CA" sz="2400" b="0" i="1" u="none" strike="noStrike" dirty="0">
                        <a:effectLst/>
                        <a:latin typeface="Arial"/>
                      </a:endParaRPr>
                    </a:p>
                  </a:txBody>
                  <a:tcPr marL="9525" marR="9525" marT="9525" marB="0" anchor="b"/>
                </a:tc>
                <a:tc>
                  <a:txBody>
                    <a:bodyPr/>
                    <a:lstStyle/>
                    <a:p>
                      <a:pPr algn="ctr" fontAlgn="b"/>
                      <a:r>
                        <a:rPr lang="en-CA" sz="2400" u="none" strike="noStrike" dirty="0">
                          <a:effectLst/>
                        </a:rPr>
                        <a:t>Coefficients</a:t>
                      </a:r>
                      <a:endParaRPr lang="en-CA" sz="2400" b="0" i="1" u="none" strike="noStrike" dirty="0">
                        <a:effectLst/>
                        <a:latin typeface="Arial"/>
                      </a:endParaRPr>
                    </a:p>
                  </a:txBody>
                  <a:tcPr marL="9525" marR="9525" marT="9525" marB="0" anchor="b"/>
                </a:tc>
                <a:tc>
                  <a:txBody>
                    <a:bodyPr/>
                    <a:lstStyle/>
                    <a:p>
                      <a:pPr algn="ctr" fontAlgn="b"/>
                      <a:r>
                        <a:rPr lang="en-CA" sz="2400" u="none" strike="noStrike" dirty="0">
                          <a:effectLst/>
                        </a:rPr>
                        <a:t>Standard Error</a:t>
                      </a:r>
                      <a:endParaRPr lang="en-CA" sz="2400" b="0" i="1" u="none" strike="noStrike" dirty="0">
                        <a:effectLst/>
                        <a:latin typeface="Arial"/>
                      </a:endParaRPr>
                    </a:p>
                  </a:txBody>
                  <a:tcPr marL="9525" marR="9525" marT="9525" marB="0" anchor="b"/>
                </a:tc>
                <a:tc>
                  <a:txBody>
                    <a:bodyPr/>
                    <a:lstStyle/>
                    <a:p>
                      <a:pPr algn="ctr" fontAlgn="b"/>
                      <a:r>
                        <a:rPr lang="en-CA" sz="2400" u="none" strike="noStrike" dirty="0">
                          <a:effectLst/>
                        </a:rPr>
                        <a:t>t Stat</a:t>
                      </a:r>
                      <a:endParaRPr lang="en-CA" sz="2400" b="0" i="1" u="none" strike="noStrike" dirty="0">
                        <a:effectLst/>
                        <a:latin typeface="Arial"/>
                      </a:endParaRPr>
                    </a:p>
                  </a:txBody>
                  <a:tcPr marL="9525" marR="9525" marT="9525" marB="0" anchor="b"/>
                </a:tc>
                <a:extLst>
                  <a:ext uri="{0D108BD9-81ED-4DB2-BD59-A6C34878D82A}">
                    <a16:rowId xmlns:a16="http://schemas.microsoft.com/office/drawing/2014/main" val="1123776801"/>
                  </a:ext>
                </a:extLst>
              </a:tr>
              <a:tr h="370840">
                <a:tc>
                  <a:txBody>
                    <a:bodyPr/>
                    <a:lstStyle/>
                    <a:p>
                      <a:pPr algn="l" fontAlgn="b"/>
                      <a:r>
                        <a:rPr lang="en-CA" sz="2400" u="none" strike="noStrike" dirty="0">
                          <a:effectLst/>
                        </a:rPr>
                        <a:t>Intercept</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120</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0.225</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533</a:t>
                      </a:r>
                      <a:endParaRPr lang="en-CA"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856529254"/>
                  </a:ext>
                </a:extLst>
              </a:tr>
              <a:tr h="370840">
                <a:tc>
                  <a:txBody>
                    <a:bodyPr/>
                    <a:lstStyle/>
                    <a:p>
                      <a:pPr algn="l" fontAlgn="b"/>
                      <a:r>
                        <a:rPr lang="en-CA" sz="2400" u="none" strike="noStrike" dirty="0">
                          <a:effectLst/>
                        </a:rPr>
                        <a:t>Wet Road</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-15</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0.2</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-74</a:t>
                      </a:r>
                      <a:endParaRPr lang="en-CA"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223172922"/>
                  </a:ext>
                </a:extLst>
              </a:tr>
              <a:tr h="370840">
                <a:tc>
                  <a:txBody>
                    <a:bodyPr/>
                    <a:lstStyle/>
                    <a:p>
                      <a:pPr algn="l" fontAlgn="b"/>
                      <a:r>
                        <a:rPr lang="en-CA" sz="2400" u="none" strike="noStrike" dirty="0">
                          <a:effectLst/>
                        </a:rPr>
                        <a:t>Snow</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-20</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0.2</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-100</a:t>
                      </a:r>
                      <a:endParaRPr lang="en-CA"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2083169855"/>
                  </a:ext>
                </a:extLst>
              </a:tr>
              <a:tr h="370840">
                <a:tc>
                  <a:txBody>
                    <a:bodyPr/>
                    <a:lstStyle/>
                    <a:p>
                      <a:pPr algn="l" fontAlgn="b"/>
                      <a:r>
                        <a:rPr lang="en-CA" sz="2400" u="none" strike="noStrike" dirty="0" err="1">
                          <a:effectLst/>
                        </a:rPr>
                        <a:t>Visib</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-30</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0.2</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-150</a:t>
                      </a:r>
                      <a:endParaRPr lang="en-CA"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1999879929"/>
                  </a:ext>
                </a:extLst>
              </a:tr>
              <a:tr h="370840">
                <a:tc>
                  <a:txBody>
                    <a:bodyPr/>
                    <a:lstStyle/>
                    <a:p>
                      <a:pPr algn="l" fontAlgn="b"/>
                      <a:r>
                        <a:rPr lang="en-CA" sz="2400" u="none" strike="noStrike" dirty="0">
                          <a:effectLst/>
                        </a:rPr>
                        <a:t>Congest</a:t>
                      </a:r>
                      <a:endParaRPr lang="en-CA" sz="2400" b="0" i="0" u="none" strike="noStrike" dirty="0">
                        <a:effectLst/>
                        <a:latin typeface="Arial"/>
                      </a:endParaRPr>
                    </a:p>
                  </a:txBody>
                  <a:tcPr marL="9525" marR="9525" marT="9525" marB="0" anchor="b"/>
                </a:tc>
                <a:tc>
                  <a:txBody>
                    <a:bodyPr/>
                    <a:lstStyle/>
                    <a:p>
                      <a:pPr algn="r" fontAlgn="b"/>
                      <a:r>
                        <a:rPr lang="en-CA" sz="2400" u="none" strike="noStrike" dirty="0">
                          <a:solidFill>
                            <a:srgbClr val="FF0000"/>
                          </a:solidFill>
                          <a:effectLst/>
                        </a:rPr>
                        <a:t>-40</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0.2</a:t>
                      </a:r>
                      <a:endParaRPr lang="en-CA" sz="2400" b="0" i="0" u="none" strike="noStrike" dirty="0">
                        <a:solidFill>
                          <a:srgbClr val="FF0000"/>
                        </a:solidFill>
                        <a:effectLst/>
                        <a:latin typeface="Arial"/>
                      </a:endParaRPr>
                    </a:p>
                  </a:txBody>
                  <a:tcPr marL="9525" marR="9525" marT="9525" marB="0" anchor="b"/>
                </a:tc>
                <a:tc>
                  <a:txBody>
                    <a:bodyPr/>
                    <a:lstStyle/>
                    <a:p>
                      <a:pPr algn="r" fontAlgn="b"/>
                      <a:r>
                        <a:rPr lang="en-CA" sz="2400" u="none" strike="noStrike" dirty="0">
                          <a:solidFill>
                            <a:srgbClr val="FF0000"/>
                          </a:solidFill>
                          <a:effectLst/>
                        </a:rPr>
                        <a:t>-200</a:t>
                      </a:r>
                      <a:endParaRPr lang="en-CA"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956419337"/>
                  </a:ext>
                </a:extLst>
              </a:tr>
            </a:tbl>
          </a:graphicData>
        </a:graphic>
      </p:graphicFrame>
    </p:spTree>
    <p:extLst>
      <p:ext uri="{BB962C8B-B14F-4D97-AF65-F5344CB8AC3E}">
        <p14:creationId xmlns:p14="http://schemas.microsoft.com/office/powerpoint/2010/main" val="4190076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a:t>
            </a:r>
          </a:p>
        </p:txBody>
      </p:sp>
      <p:sp>
        <p:nvSpPr>
          <p:cNvPr id="3" name="Content Placeholder 2"/>
          <p:cNvSpPr>
            <a:spLocks noGrp="1"/>
          </p:cNvSpPr>
          <p:nvPr>
            <p:ph idx="1"/>
          </p:nvPr>
        </p:nvSpPr>
        <p:spPr/>
        <p:txBody>
          <a:bodyPr/>
          <a:lstStyle/>
          <a:p>
            <a:pPr>
              <a:buNone/>
            </a:pPr>
            <a:r>
              <a:rPr lang="en-US" dirty="0"/>
              <a:t>What do the results actually mean?</a:t>
            </a:r>
          </a:p>
          <a:p>
            <a:pPr>
              <a:buNone/>
            </a:pPr>
            <a:endParaRPr lang="en-US" dirty="0"/>
          </a:p>
          <a:p>
            <a:pPr>
              <a:buNone/>
            </a:pPr>
            <a:r>
              <a:rPr lang="en-US" dirty="0"/>
              <a:t>As before, the key issue is to recognize that the coefficients represent </a:t>
            </a:r>
            <a:r>
              <a:rPr lang="en-US" b="1" u="sng" dirty="0"/>
              <a:t>relative</a:t>
            </a:r>
            <a:r>
              <a:rPr lang="en-US" dirty="0"/>
              <a:t> effects.</a:t>
            </a:r>
          </a:p>
          <a:p>
            <a:pPr>
              <a:buNone/>
            </a:pPr>
            <a:endParaRPr lang="en-US" dirty="0"/>
          </a:p>
          <a:p>
            <a:pPr>
              <a:buNone/>
            </a:pPr>
            <a:r>
              <a:rPr lang="en-US" dirty="0"/>
              <a:t>But relative to what?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buNone/>
            </a:pPr>
            <a:r>
              <a:rPr lang="en-US" dirty="0"/>
              <a:t>The effects represented by the coefficients on the dummies in this regression are relative to the “omitted reference category” – the situation not represented by any of the dummy variables.</a:t>
            </a:r>
          </a:p>
          <a:p>
            <a:pPr>
              <a:buNone/>
            </a:pPr>
            <a:endParaRPr lang="en-US" dirty="0"/>
          </a:p>
          <a:p>
            <a:pPr>
              <a:buNone/>
            </a:pPr>
            <a:r>
              <a:rPr lang="en-US" dirty="0"/>
              <a:t>In our first case, the omitted reference category was men, but what is it in this case?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38200"/>
                <a:ext cx="8229600" cy="5287963"/>
              </a:xfrm>
            </p:spPr>
            <p:txBody>
              <a:bodyPr>
                <a:normAutofit fontScale="92500" lnSpcReduction="20000"/>
              </a:bodyPr>
              <a:lstStyle/>
              <a:p>
                <a:pPr>
                  <a:buNone/>
                </a:pPr>
                <a:r>
                  <a:rPr lang="en-US" dirty="0"/>
                  <a:t>Recall that our regression is:</a:t>
                </a:r>
              </a:p>
              <a:p>
                <a:pPr>
                  <a:buNone/>
                </a:pPr>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𝑆𝑝𝑒𝑒𝑑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𝑊𝑒𝑡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2</m:t>
                          </m:r>
                        </m:sub>
                      </m:sSub>
                      <m:d>
                        <m:dPr>
                          <m:ctrlPr>
                            <a:rPr lang="en-US" i="1">
                              <a:latin typeface="Cambria Math" panose="02040503050406030204" pitchFamily="18" charset="0"/>
                            </a:rPr>
                          </m:ctrlPr>
                        </m:dPr>
                        <m:e>
                          <m:r>
                            <a:rPr lang="en-US" i="1">
                              <a:latin typeface="Cambria Math" panose="02040503050406030204" pitchFamily="18" charset="0"/>
                            </a:rPr>
                            <m:t>𝑆𝑛𝑜𝑤</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3</m:t>
                          </m:r>
                        </m:sub>
                      </m:sSub>
                      <m:d>
                        <m:dPr>
                          <m:ctrlPr>
                            <a:rPr lang="en-US" i="1">
                              <a:latin typeface="Cambria Math" panose="02040503050406030204" pitchFamily="18" charset="0"/>
                            </a:rPr>
                          </m:ctrlPr>
                        </m:dPr>
                        <m:e>
                          <m:r>
                            <a:rPr lang="en-US" i="1">
                              <a:latin typeface="Cambria Math" panose="02040503050406030204" pitchFamily="18" charset="0"/>
                            </a:rPr>
                            <m:t>𝑉𝑖𝑠𝑖𝑏</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4</m:t>
                          </m:r>
                        </m:sub>
                      </m:sSub>
                      <m:d>
                        <m:dPr>
                          <m:ctrlPr>
                            <a:rPr lang="en-US" i="1">
                              <a:latin typeface="Cambria Math" panose="02040503050406030204" pitchFamily="18" charset="0"/>
                            </a:rPr>
                          </m:ctrlPr>
                        </m:dPr>
                        <m:e>
                          <m:r>
                            <a:rPr lang="en-US" i="1">
                              <a:latin typeface="Cambria Math" panose="02040503050406030204" pitchFamily="18" charset="0"/>
                            </a:rPr>
                            <m:t>𝐶𝑜𝑛𝑔𝑒𝑠𝑡</m:t>
                          </m:r>
                        </m:e>
                      </m:d>
                    </m:oMath>
                  </m:oMathPara>
                </a14:m>
                <a:endParaRPr lang="en-US" dirty="0">
                  <a:latin typeface="Symbol" panose="05050102010706020507" pitchFamily="18" charset="2"/>
                </a:endParaRPr>
              </a:p>
              <a:p>
                <a:pPr>
                  <a:buNone/>
                </a:pPr>
                <a:endParaRPr lang="en-US" dirty="0"/>
              </a:p>
              <a:p>
                <a:pPr>
                  <a:buNone/>
                </a:pPr>
                <a:r>
                  <a:rPr lang="en-US" dirty="0"/>
                  <a:t>So what group is represented by the intercept, </a:t>
                </a:r>
                <a:r>
                  <a:rPr lang="en-US" dirty="0">
                    <a:latin typeface="Symbol" panose="05050102010706020507" pitchFamily="18" charset="2"/>
                  </a:rPr>
                  <a:t>b</a:t>
                </a:r>
                <a:r>
                  <a:rPr lang="en-US" baseline="-25000" dirty="0"/>
                  <a:t>0</a:t>
                </a:r>
                <a:r>
                  <a:rPr lang="en-US" dirty="0"/>
                  <a:t>?  It’s the group that is not represented by </a:t>
                </a:r>
                <a:r>
                  <a:rPr lang="en-US" b="1" u="sng" dirty="0"/>
                  <a:t>any</a:t>
                </a:r>
                <a:r>
                  <a:rPr lang="en-US" dirty="0"/>
                  <a:t> of the dummies.</a:t>
                </a:r>
              </a:p>
              <a:p>
                <a:pPr>
                  <a:buNone/>
                </a:pPr>
                <a:r>
                  <a:rPr lang="en-US" dirty="0"/>
                  <a:t>This group is: not wet, and no snow, and no poor visibility and no congestion due to traffic.  We’ll call this a “clear road”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38200"/>
                <a:ext cx="8229600" cy="5287963"/>
              </a:xfrm>
              <a:blipFill>
                <a:blip r:embed="rId2"/>
                <a:stretch>
                  <a:fillRect l="-1704" t="-2999" r="-296" b="-231"/>
                </a:stretch>
              </a:blipFill>
            </p:spPr>
            <p:txBody>
              <a:bodyPr/>
              <a:lstStyle/>
              <a:p>
                <a:r>
                  <a:rPr 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So our first question to ask is: what is the average speed on the 401 when the road is “clear”?</a:t>
                </a:r>
              </a:p>
              <a:p>
                <a:pPr marL="0" indent="0">
                  <a:buNone/>
                </a:pPr>
                <a:endParaRPr lang="en-US" dirty="0"/>
              </a:p>
              <a:p>
                <a:pPr marL="0" indent="0">
                  <a:buNone/>
                </a:pPr>
                <a:r>
                  <a:rPr lang="en-US" dirty="0">
                    <a:sym typeface="Wingdings" panose="05000000000000000000" pitchFamily="2" charset="2"/>
                  </a:rPr>
                  <a:t>That’s given to us by our estimate of the intercept term, which is </a:t>
                </a:r>
                <a14:m>
                  <m:oMath xmlns:m="http://schemas.openxmlformats.org/officeDocument/2006/math">
                    <m:sSub>
                      <m:sSubPr>
                        <m:ctrlPr>
                          <a:rPr lang="en-US" i="1" smtClean="0">
                            <a:latin typeface="Cambria Math" panose="02040503050406030204" pitchFamily="18" charset="0"/>
                            <a:sym typeface="Wingdings" panose="05000000000000000000" pitchFamily="2" charset="2"/>
                          </a:rPr>
                        </m:ctrlPr>
                      </m:sSubPr>
                      <m:e>
                        <m:acc>
                          <m:accPr>
                            <m:chr m:val="̂"/>
                            <m:ctrlPr>
                              <a:rPr lang="en-US" i="1" smtClean="0">
                                <a:latin typeface="Cambria Math" panose="02040503050406030204" pitchFamily="18" charset="0"/>
                                <a:sym typeface="Wingdings" panose="05000000000000000000" pitchFamily="2" charset="2"/>
                              </a:rPr>
                            </m:ctrlPr>
                          </m:accPr>
                          <m:e>
                            <m:r>
                              <a:rPr lang="en-US" i="1">
                                <a:latin typeface="Cambria Math" panose="02040503050406030204" pitchFamily="18" charset="0"/>
                                <a:sym typeface="Wingdings" panose="05000000000000000000" pitchFamily="2" charset="2"/>
                              </a:rPr>
                              <m:t>𝑏</m:t>
                            </m:r>
                          </m:e>
                        </m:acc>
                      </m:e>
                      <m:sub>
                        <m:r>
                          <a:rPr lang="en-US" b="0" i="1" smtClean="0">
                            <a:latin typeface="Cambria Math" panose="02040503050406030204" pitchFamily="18" charset="0"/>
                            <a:sym typeface="Wingdings" panose="05000000000000000000" pitchFamily="2" charset="2"/>
                          </a:rPr>
                          <m:t>0</m:t>
                        </m:r>
                      </m:sub>
                    </m:sSub>
                    <m:r>
                      <a:rPr lang="en-US" b="0" i="1" smtClean="0">
                        <a:latin typeface="Cambria Math" panose="02040503050406030204" pitchFamily="18" charset="0"/>
                        <a:sym typeface="Wingdings" panose="05000000000000000000" pitchFamily="2" charset="2"/>
                      </a:rPr>
                      <m:t>=120</m:t>
                    </m:r>
                  </m:oMath>
                </a14:m>
                <a:r>
                  <a:rPr lang="en-US" dirty="0"/>
                  <a:t>, or 120 km/h</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399498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85800"/>
                <a:ext cx="8229600" cy="5440363"/>
              </a:xfrm>
            </p:spPr>
            <p:txBody>
              <a:bodyPr>
                <a:normAutofit lnSpcReduction="10000"/>
              </a:bodyPr>
              <a:lstStyle/>
              <a:p>
                <a:pPr>
                  <a:buNone/>
                </a:pPr>
                <a:r>
                  <a:rPr lang="en-US" dirty="0"/>
                  <a:t>And now that we have the clear road’s speed fixed in our minds, let’s start asking some questions about </a:t>
                </a:r>
                <a:r>
                  <a:rPr lang="en-US" b="1" i="1" dirty="0"/>
                  <a:t>relative</a:t>
                </a:r>
                <a:r>
                  <a:rPr lang="en-US" dirty="0"/>
                  <a:t> speeds.</a:t>
                </a:r>
              </a:p>
              <a:p>
                <a:pPr>
                  <a:buNone/>
                </a:pPr>
                <a:endParaRPr lang="en-US" dirty="0"/>
              </a:p>
              <a:p>
                <a:pPr>
                  <a:buNone/>
                </a:pPr>
                <a:r>
                  <a:rPr lang="en-US" dirty="0"/>
                  <a:t>So what is the effect of having a wet road (with no snow, poor visibility or traffic congestion), relative to a “clear road”?</a:t>
                </a:r>
              </a:p>
              <a:p>
                <a:pPr>
                  <a:buNone/>
                </a:pPr>
                <a:endParaRPr lang="en-US" dirty="0"/>
              </a:p>
              <a:p>
                <a:pPr>
                  <a:buNone/>
                </a:pPr>
                <a:r>
                  <a:rPr lang="en-US" dirty="0"/>
                  <a:t>That’s represented by our estimated coefficient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which shows that traffic is about 15 km/h slower in this case.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85800"/>
                <a:ext cx="8229600" cy="5440363"/>
              </a:xfrm>
              <a:blipFill>
                <a:blip r:embed="rId2"/>
                <a:stretch>
                  <a:fillRect l="-1852" t="-2354" r="-74" b="-1682"/>
                </a:stretch>
              </a:blipFill>
            </p:spPr>
            <p:txBody>
              <a:bodyPr/>
              <a:lstStyle/>
              <a:p>
                <a:r>
                  <a:rPr lang="en-CA">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related question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None/>
                </a:pPr>
                <a:r>
                  <a:rPr lang="en-US" dirty="0"/>
                  <a:t>Is this speed difference statistically significant?</a:t>
                </a:r>
              </a:p>
              <a:p>
                <a:pPr>
                  <a:buNone/>
                </a:pPr>
                <a:r>
                  <a:rPr lang="en-US" dirty="0"/>
                  <a:t>We need to use a t-test to determine that.</a:t>
                </a:r>
              </a:p>
              <a:p>
                <a:pPr>
                  <a:buNone/>
                </a:pPr>
                <a:endParaRPr lang="en-US" dirty="0"/>
              </a:p>
              <a:p>
                <a:pPr>
                  <a:buNone/>
                </a:pPr>
                <a:r>
                  <a:rPr lang="en-US" dirty="0"/>
                  <a:t>In this case, our null hypothesis would be:</a:t>
                </a:r>
              </a:p>
              <a:p>
                <a:pP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b="0" i="1" smtClean="0">
                          <a:latin typeface="Cambria Math" panose="02040503050406030204" pitchFamily="18" charset="0"/>
                        </a:rPr>
                        <m:t>=0</m:t>
                      </m:r>
                    </m:oMath>
                  </m:oMathPara>
                </a14:m>
                <a:endParaRPr lang="en-US" dirty="0">
                  <a:latin typeface="Symbol" panose="05050102010706020507" pitchFamily="18" charset="2"/>
                </a:endParaRPr>
              </a:p>
              <a:p>
                <a:pPr>
                  <a:buNone/>
                </a:pPr>
                <a:r>
                  <a:rPr lang="en-US" dirty="0"/>
                  <a:t>And our alternative hypothesis would be:</a:t>
                </a:r>
              </a:p>
              <a:p>
                <a:pP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𝐻</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oMath>
                  </m:oMathPara>
                </a14:m>
                <a:endParaRPr lang="en-US" dirty="0">
                  <a:latin typeface="Symbol" panose="05050102010706020507" pitchFamily="18" charset="2"/>
                </a:endParaRPr>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a:buNone/>
            </a:pPr>
            <a:r>
              <a:rPr lang="en-US" dirty="0"/>
              <a:t>Fortunately, we see that Excel calculates this t-statistic for us.  The t-statistic is </a:t>
            </a:r>
            <a:r>
              <a:rPr lang="en-US" i="1" u="sng" dirty="0"/>
              <a:t>approximately</a:t>
            </a:r>
            <a:r>
              <a:rPr lang="en-US" dirty="0"/>
              <a:t> –74, and the absolute value of this number is (very much) larger than 2, so we would suggest that we can reject our null hypothesis that the coefficient is equal to zero.  Therefore, the speeds are different when the roads are clear compared to when they are wet.</a:t>
            </a:r>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slightly more complicated question</a:t>
            </a:r>
          </a:p>
        </p:txBody>
      </p:sp>
      <p:sp>
        <p:nvSpPr>
          <p:cNvPr id="3" name="Content Placeholder 2"/>
          <p:cNvSpPr>
            <a:spLocks noGrp="1"/>
          </p:cNvSpPr>
          <p:nvPr>
            <p:ph idx="1"/>
          </p:nvPr>
        </p:nvSpPr>
        <p:spPr/>
        <p:txBody>
          <a:bodyPr/>
          <a:lstStyle/>
          <a:p>
            <a:pPr>
              <a:buNone/>
            </a:pPr>
            <a:r>
              <a:rPr lang="en-US" dirty="0"/>
              <a:t>Suppose that you had this data and were contracted to do some analysis for the city of Toronto.</a:t>
            </a:r>
          </a:p>
          <a:p>
            <a:pPr>
              <a:buNone/>
            </a:pPr>
            <a:endParaRPr lang="en-US" dirty="0"/>
          </a:p>
          <a:p>
            <a:pPr>
              <a:buNone/>
            </a:pPr>
            <a:r>
              <a:rPr lang="en-US" dirty="0"/>
              <a:t>The city is concerned about the amount of money to invest in snow clearance during rush hour, and they want to know how slow the roads become under these conditions.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would you proceed as an analyst?</a:t>
            </a:r>
            <a:endParaRPr lang="en-CA" dirty="0"/>
          </a:p>
        </p:txBody>
      </p:sp>
      <p:sp>
        <p:nvSpPr>
          <p:cNvPr id="3" name="Content Placeholder 2"/>
          <p:cNvSpPr>
            <a:spLocks noGrp="1"/>
          </p:cNvSpPr>
          <p:nvPr>
            <p:ph idx="1"/>
          </p:nvPr>
        </p:nvSpPr>
        <p:spPr/>
        <p:txBody>
          <a:bodyPr/>
          <a:lstStyle/>
          <a:p>
            <a:pPr marL="0" indent="0">
              <a:buNone/>
            </a:pPr>
            <a:r>
              <a:rPr lang="en-US" dirty="0"/>
              <a:t>One way to consider this question would involve the regression we just estimated.  You </a:t>
            </a:r>
            <a:r>
              <a:rPr lang="en-US" b="1" i="1" dirty="0"/>
              <a:t>might</a:t>
            </a:r>
            <a:r>
              <a:rPr lang="en-US" dirty="0"/>
              <a:t> want to know what average speeds looked like if the roads were congested and snow-covered, but there was no wetness from rain or poor visibility.  </a:t>
            </a:r>
            <a:endParaRPr lang="en-CA" dirty="0"/>
          </a:p>
        </p:txBody>
      </p:sp>
    </p:spTree>
    <p:extLst>
      <p:ext uri="{BB962C8B-B14F-4D97-AF65-F5344CB8AC3E}">
        <p14:creationId xmlns:p14="http://schemas.microsoft.com/office/powerpoint/2010/main" val="3879936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 #1</a:t>
            </a:r>
            <a:endParaRPr lang="en-CA" dirty="0"/>
          </a:p>
        </p:txBody>
      </p:sp>
      <p:sp>
        <p:nvSpPr>
          <p:cNvPr id="3" name="Content Placeholder 2"/>
          <p:cNvSpPr>
            <a:spLocks noGrp="1"/>
          </p:cNvSpPr>
          <p:nvPr>
            <p:ph idx="1"/>
          </p:nvPr>
        </p:nvSpPr>
        <p:spPr/>
        <p:txBody>
          <a:bodyPr/>
          <a:lstStyle/>
          <a:p>
            <a:pPr marL="0" indent="0">
              <a:buNone/>
            </a:pPr>
            <a:r>
              <a:rPr lang="en-US" dirty="0"/>
              <a:t>What would the predicted average speed be in that case?</a:t>
            </a:r>
          </a:p>
          <a:p>
            <a:pPr marL="0" indent="0">
              <a:buNone/>
            </a:pPr>
            <a:endParaRPr lang="en-US" dirty="0"/>
          </a:p>
          <a:p>
            <a:pPr marL="0" indent="0">
              <a:buNone/>
            </a:pPr>
            <a:r>
              <a:rPr lang="en-US" dirty="0"/>
              <a:t>Fortunately, we know that a regression can serve as a conditional mean.  So we can just use the regression formula to give us the information we want.</a:t>
            </a:r>
            <a:endParaRPr lang="en-CA" dirty="0"/>
          </a:p>
        </p:txBody>
      </p:sp>
    </p:spTree>
    <p:extLst>
      <p:ext uri="{BB962C8B-B14F-4D97-AF65-F5344CB8AC3E}">
        <p14:creationId xmlns:p14="http://schemas.microsoft.com/office/powerpoint/2010/main" val="12220139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14400"/>
                <a:ext cx="8229600" cy="5211763"/>
              </a:xfrm>
            </p:spPr>
            <p:txBody>
              <a:bodyPr>
                <a:normAutofit/>
              </a:bodyPr>
              <a:lstStyle/>
              <a:p>
                <a:pPr marL="0" indent="0" fontAlgn="b">
                  <a:buNone/>
                </a:pPr>
                <a:r>
                  <a:rPr lang="en-US" dirty="0"/>
                  <a:t>Here’s our regression formula (using the rounded values to make our lives a little easier), which is derived from our output:</a:t>
                </a:r>
                <a:endParaRPr lang="en-CA" dirty="0"/>
              </a:p>
              <a:p>
                <a:pPr marL="0" indent="0" fontAlgn="b">
                  <a:buNone/>
                </a:pPr>
                <a:endParaRPr lang="en-US" dirty="0"/>
              </a:p>
              <a:p>
                <a:pPr marL="0" indent="0" fontAlgn="b">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𝑆𝑝𝑒𝑒𝑑</m:t>
                      </m:r>
                      <m:r>
                        <a:rPr lang="en-US" b="0" i="1" smtClean="0">
                          <a:latin typeface="Cambria Math" panose="02040503050406030204" pitchFamily="18" charset="0"/>
                        </a:rPr>
                        <m:t>=120−15</m:t>
                      </m:r>
                      <m:d>
                        <m:dPr>
                          <m:ctrlPr>
                            <a:rPr lang="en-US" b="0" i="1" smtClean="0">
                              <a:latin typeface="Cambria Math" panose="02040503050406030204" pitchFamily="18" charset="0"/>
                            </a:rPr>
                          </m:ctrlPr>
                        </m:dPr>
                        <m:e>
                          <m:r>
                            <a:rPr lang="en-US" b="0" i="1" smtClean="0">
                              <a:latin typeface="Cambria Math" panose="02040503050406030204" pitchFamily="18" charset="0"/>
                            </a:rPr>
                            <m:t>𝑊𝑒𝑡</m:t>
                          </m:r>
                        </m:e>
                      </m:d>
                      <m:r>
                        <a:rPr lang="en-US" b="0" i="1" smtClean="0">
                          <a:latin typeface="Cambria Math" panose="02040503050406030204" pitchFamily="18" charset="0"/>
                        </a:rPr>
                        <m:t>−20</m:t>
                      </m:r>
                      <m:d>
                        <m:dPr>
                          <m:ctrlPr>
                            <a:rPr lang="en-US" b="0" i="1" smtClean="0">
                              <a:latin typeface="Cambria Math" panose="02040503050406030204" pitchFamily="18" charset="0"/>
                            </a:rPr>
                          </m:ctrlPr>
                        </m:dPr>
                        <m:e>
                          <m:r>
                            <a:rPr lang="en-US" b="0" i="1" smtClean="0">
                              <a:latin typeface="Cambria Math" panose="02040503050406030204" pitchFamily="18" charset="0"/>
                            </a:rPr>
                            <m:t>𝑆𝑛𝑜𝑤</m:t>
                          </m:r>
                        </m:e>
                      </m:d>
                    </m:oMath>
                  </m:oMathPara>
                </a14:m>
                <a:endParaRPr lang="en-US" b="0" i="1" dirty="0">
                  <a:latin typeface="Cambria Math" panose="02040503050406030204" pitchFamily="18" charset="0"/>
                </a:endParaRPr>
              </a:p>
              <a:p>
                <a:pPr marL="0" indent="0" fontAlgn="b">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−30</m:t>
                      </m:r>
                      <m:d>
                        <m:dPr>
                          <m:ctrlPr>
                            <a:rPr lang="en-US" b="0" i="1" smtClean="0">
                              <a:latin typeface="Cambria Math" panose="02040503050406030204" pitchFamily="18" charset="0"/>
                            </a:rPr>
                          </m:ctrlPr>
                        </m:dPr>
                        <m:e>
                          <m:r>
                            <a:rPr lang="en-US" b="0" i="1" smtClean="0">
                              <a:latin typeface="Cambria Math" panose="02040503050406030204" pitchFamily="18" charset="0"/>
                            </a:rPr>
                            <m:t>𝑉𝑖𝑠𝑖𝑏</m:t>
                          </m:r>
                        </m:e>
                      </m:d>
                      <m:r>
                        <a:rPr lang="en-US" b="0" i="1" smtClean="0">
                          <a:latin typeface="Cambria Math" panose="02040503050406030204" pitchFamily="18" charset="0"/>
                        </a:rPr>
                        <m:t>−40(</m:t>
                      </m:r>
                      <m:r>
                        <a:rPr lang="en-US" b="0" i="1" smtClean="0">
                          <a:latin typeface="Cambria Math" panose="02040503050406030204" pitchFamily="18" charset="0"/>
                        </a:rPr>
                        <m:t>𝐶𝑜𝑛𝑔𝑒𝑠𝑡</m:t>
                      </m:r>
                      <m:r>
                        <a:rPr lang="en-US" b="0" i="1" smtClean="0">
                          <a:latin typeface="Cambria Math" panose="02040503050406030204" pitchFamily="18" charset="0"/>
                        </a:rPr>
                        <m:t>)</m:t>
                      </m:r>
                    </m:oMath>
                  </m:oMathPara>
                </a14:m>
                <a:endParaRPr lang="en-CA"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14400"/>
                <a:ext cx="8229600" cy="5211763"/>
              </a:xfrm>
              <a:blipFill>
                <a:blip r:embed="rId2"/>
                <a:stretch>
                  <a:fillRect l="-1852" t="-1520" r="-1037"/>
                </a:stretch>
              </a:blipFill>
            </p:spPr>
            <p:txBody>
              <a:bodyPr/>
              <a:lstStyle/>
              <a:p>
                <a:r>
                  <a:rPr lang="en-CA">
                    <a:noFill/>
                  </a:rPr>
                  <a:t> </a:t>
                </a:r>
              </a:p>
            </p:txBody>
          </p:sp>
        </mc:Fallback>
      </mc:AlternateContent>
    </p:spTree>
    <p:extLst>
      <p:ext uri="{BB962C8B-B14F-4D97-AF65-F5344CB8AC3E}">
        <p14:creationId xmlns:p14="http://schemas.microsoft.com/office/powerpoint/2010/main" val="2738427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a:t>In this case, we want to know the average road speed like if the roads were: </a:t>
            </a:r>
          </a:p>
          <a:p>
            <a:pPr marL="0" indent="0">
              <a:buNone/>
            </a:pPr>
            <a:r>
              <a:rPr lang="en-US" dirty="0"/>
              <a:t>(</a:t>
            </a:r>
            <a:r>
              <a:rPr lang="en-US" dirty="0" err="1"/>
              <a:t>i</a:t>
            </a:r>
            <a:r>
              <a:rPr lang="en-US" dirty="0"/>
              <a:t>) Congested (Congest=1)</a:t>
            </a:r>
          </a:p>
          <a:p>
            <a:pPr marL="0" indent="0">
              <a:buNone/>
            </a:pPr>
            <a:r>
              <a:rPr lang="en-US" dirty="0"/>
              <a:t>(ii) Snow-covered (Snow=1)</a:t>
            </a:r>
          </a:p>
          <a:p>
            <a:pPr marL="0" indent="0">
              <a:buNone/>
            </a:pPr>
            <a:r>
              <a:rPr lang="en-US" dirty="0"/>
              <a:t>(iii) Not wet from rain (Wet=0)</a:t>
            </a:r>
          </a:p>
          <a:p>
            <a:pPr marL="0" indent="0">
              <a:buNone/>
            </a:pPr>
            <a:r>
              <a:rPr lang="en-US" dirty="0"/>
              <a:t>(iv) Not subject to poor visibility (</a:t>
            </a:r>
            <a:r>
              <a:rPr lang="en-US" dirty="0" err="1"/>
              <a:t>Visib</a:t>
            </a:r>
            <a:r>
              <a:rPr lang="en-US" dirty="0"/>
              <a:t>=0)</a:t>
            </a:r>
          </a:p>
          <a:p>
            <a:pPr marL="0" indent="0">
              <a:buNone/>
            </a:pPr>
            <a:endParaRPr lang="en-US" dirty="0"/>
          </a:p>
          <a:p>
            <a:pPr marL="0" indent="0">
              <a:buNone/>
            </a:pPr>
            <a:r>
              <a:rPr lang="en-US" dirty="0"/>
              <a:t>Plug these values into our regression formula</a:t>
            </a:r>
            <a:endParaRPr lang="en-CA" dirty="0"/>
          </a:p>
          <a:p>
            <a:pPr marL="0" indent="0">
              <a:buNone/>
            </a:pPr>
            <a:endParaRPr lang="en-CA" dirty="0"/>
          </a:p>
        </p:txBody>
      </p:sp>
    </p:spTree>
    <p:extLst>
      <p:ext uri="{BB962C8B-B14F-4D97-AF65-F5344CB8AC3E}">
        <p14:creationId xmlns:p14="http://schemas.microsoft.com/office/powerpoint/2010/main" val="14964388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
              <p:cNvSpPr>
                <a:spLocks noGrp="1"/>
              </p:cNvSpPr>
              <p:nvPr>
                <p:ph idx="1"/>
              </p:nvPr>
            </p:nvSpPr>
            <p:spPr>
              <a:xfrm>
                <a:off x="457200" y="609600"/>
                <a:ext cx="8229600" cy="5516563"/>
              </a:xfrm>
            </p:spPr>
            <p:txBody>
              <a:bodyPr>
                <a:normAutofit/>
              </a:bodyPr>
              <a:lstStyle/>
              <a:p>
                <a:pPr marL="0" indent="0" fontAlgn="b">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𝑆𝑝𝑒𝑒𝑑</m:t>
                      </m:r>
                      <m:r>
                        <a:rPr lang="en-US" i="1" smtClean="0">
                          <a:latin typeface="Cambria Math" panose="02040503050406030204" pitchFamily="18" charset="0"/>
                        </a:rPr>
                        <m:t>=120−15</m:t>
                      </m:r>
                      <m:d>
                        <m:dPr>
                          <m:ctrlPr>
                            <a:rPr lang="en-US" i="1">
                              <a:latin typeface="Cambria Math" panose="02040503050406030204" pitchFamily="18" charset="0"/>
                            </a:rPr>
                          </m:ctrlPr>
                        </m:dPr>
                        <m:e>
                          <m:r>
                            <a:rPr lang="en-US" i="1">
                              <a:latin typeface="Cambria Math" panose="02040503050406030204" pitchFamily="18" charset="0"/>
                            </a:rPr>
                            <m:t>𝑊𝑒𝑡</m:t>
                          </m:r>
                        </m:e>
                      </m:d>
                      <m:r>
                        <a:rPr lang="en-US" i="1">
                          <a:latin typeface="Cambria Math" panose="02040503050406030204" pitchFamily="18" charset="0"/>
                        </a:rPr>
                        <m:t>−20</m:t>
                      </m:r>
                      <m:d>
                        <m:dPr>
                          <m:ctrlPr>
                            <a:rPr lang="en-US" i="1">
                              <a:latin typeface="Cambria Math" panose="02040503050406030204" pitchFamily="18" charset="0"/>
                            </a:rPr>
                          </m:ctrlPr>
                        </m:dPr>
                        <m:e>
                          <m:r>
                            <a:rPr lang="en-US" i="1">
                              <a:latin typeface="Cambria Math" panose="02040503050406030204" pitchFamily="18" charset="0"/>
                            </a:rPr>
                            <m:t>𝑆𝑛𝑜𝑤</m:t>
                          </m:r>
                        </m:e>
                      </m:d>
                    </m:oMath>
                  </m:oMathPara>
                </a14:m>
                <a:endParaRPr lang="en-US" i="1" dirty="0">
                  <a:latin typeface="Cambria Math" panose="02040503050406030204" pitchFamily="18" charset="0"/>
                </a:endParaRPr>
              </a:p>
              <a:p>
                <a:pPr marL="0" indent="0" fontAlgn="b">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−30</m:t>
                      </m:r>
                      <m:d>
                        <m:dPr>
                          <m:ctrlPr>
                            <a:rPr lang="en-US" i="1">
                              <a:latin typeface="Cambria Math" panose="02040503050406030204" pitchFamily="18" charset="0"/>
                            </a:rPr>
                          </m:ctrlPr>
                        </m:dPr>
                        <m:e>
                          <m:r>
                            <a:rPr lang="en-US" i="1">
                              <a:latin typeface="Cambria Math" panose="02040503050406030204" pitchFamily="18" charset="0"/>
                            </a:rPr>
                            <m:t>𝑉𝑖𝑠𝑖𝑏</m:t>
                          </m:r>
                        </m:e>
                      </m:d>
                      <m:r>
                        <a:rPr lang="en-US" i="1">
                          <a:latin typeface="Cambria Math" panose="02040503050406030204" pitchFamily="18" charset="0"/>
                        </a:rPr>
                        <m:t>−40(</m:t>
                      </m:r>
                      <m:r>
                        <a:rPr lang="en-US" i="1">
                          <a:latin typeface="Cambria Math" panose="02040503050406030204" pitchFamily="18" charset="0"/>
                        </a:rPr>
                        <m:t>𝐶𝑜𝑛𝑔𝑒𝑠𝑡</m:t>
                      </m:r>
                      <m:r>
                        <a:rPr lang="en-US" i="1">
                          <a:latin typeface="Cambria Math" panose="02040503050406030204" pitchFamily="18" charset="0"/>
                        </a:rPr>
                        <m:t>)</m:t>
                      </m:r>
                    </m:oMath>
                  </m:oMathPara>
                </a14:m>
                <a:endParaRPr lang="en-CA" dirty="0"/>
              </a:p>
              <a:p>
                <a:pPr marL="0" indent="0">
                  <a:buNone/>
                </a:pPr>
                <a:endParaRPr lang="en-US" dirty="0"/>
              </a:p>
              <a:p>
                <a:pPr marL="0" indent="0" fontAlgn="b">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𝑆𝑝𝑒𝑒𝑑</m:t>
                      </m:r>
                      <m:r>
                        <a:rPr lang="en-US" i="1">
                          <a:latin typeface="Cambria Math" panose="02040503050406030204" pitchFamily="18" charset="0"/>
                        </a:rPr>
                        <m:t>=120−15</m:t>
                      </m:r>
                      <m:d>
                        <m:dPr>
                          <m:ctrlPr>
                            <a:rPr lang="en-US" i="1">
                              <a:latin typeface="Cambria Math" panose="02040503050406030204" pitchFamily="18" charset="0"/>
                            </a:rPr>
                          </m:ctrlPr>
                        </m:dPr>
                        <m:e>
                          <m:r>
                            <a:rPr lang="en-US" b="0" i="1" smtClean="0">
                              <a:latin typeface="Cambria Math" panose="02040503050406030204" pitchFamily="18" charset="0"/>
                            </a:rPr>
                            <m:t>0</m:t>
                          </m:r>
                        </m:e>
                      </m:d>
                      <m:r>
                        <a:rPr lang="en-US" i="1">
                          <a:latin typeface="Cambria Math" panose="02040503050406030204" pitchFamily="18" charset="0"/>
                        </a:rPr>
                        <m:t>−20</m:t>
                      </m:r>
                      <m:d>
                        <m:dPr>
                          <m:ctrlPr>
                            <a:rPr lang="en-US" i="1">
                              <a:latin typeface="Cambria Math" panose="02040503050406030204" pitchFamily="18" charset="0"/>
                            </a:rPr>
                          </m:ctrlPr>
                        </m:dPr>
                        <m:e>
                          <m:r>
                            <a:rPr lang="en-US" b="0" i="1" smtClean="0">
                              <a:latin typeface="Cambria Math" panose="02040503050406030204" pitchFamily="18" charset="0"/>
                            </a:rPr>
                            <m:t>1</m:t>
                          </m:r>
                        </m:e>
                      </m:d>
                    </m:oMath>
                  </m:oMathPara>
                </a14:m>
                <a:endParaRPr lang="en-US" i="1" dirty="0">
                  <a:latin typeface="Cambria Math" panose="02040503050406030204" pitchFamily="18" charset="0"/>
                </a:endParaRPr>
              </a:p>
              <a:p>
                <a:pPr marL="0" indent="0" fontAlgn="b">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−30</m:t>
                      </m:r>
                      <m:d>
                        <m:dPr>
                          <m:ctrlPr>
                            <a:rPr lang="en-US" i="1">
                              <a:latin typeface="Cambria Math" panose="02040503050406030204" pitchFamily="18" charset="0"/>
                            </a:rPr>
                          </m:ctrlPr>
                        </m:dPr>
                        <m:e>
                          <m:r>
                            <a:rPr lang="en-US" b="0" i="1" smtClean="0">
                              <a:latin typeface="Cambria Math" panose="02040503050406030204" pitchFamily="18" charset="0"/>
                            </a:rPr>
                            <m:t>0</m:t>
                          </m:r>
                        </m:e>
                      </m:d>
                      <m:r>
                        <a:rPr lang="en-US" i="1">
                          <a:latin typeface="Cambria Math" panose="02040503050406030204" pitchFamily="18" charset="0"/>
                        </a:rPr>
                        <m:t>−40(</m:t>
                      </m:r>
                      <m:r>
                        <a:rPr lang="en-US" b="0" i="1" smtClean="0">
                          <a:latin typeface="Cambria Math" panose="02040503050406030204" pitchFamily="18" charset="0"/>
                        </a:rPr>
                        <m:t>1</m:t>
                      </m:r>
                      <m:r>
                        <a:rPr lang="en-US" i="1">
                          <a:latin typeface="Cambria Math" panose="02040503050406030204" pitchFamily="18" charset="0"/>
                        </a:rPr>
                        <m:t>)</m:t>
                      </m:r>
                    </m:oMath>
                  </m:oMathPara>
                </a14:m>
                <a:endParaRPr lang="en-CA" dirty="0"/>
              </a:p>
              <a:p>
                <a:pPr marL="0" indent="0">
                  <a:buNone/>
                </a:pPr>
                <a:endParaRPr lang="en-US" dirty="0"/>
              </a:p>
              <a:p>
                <a:pPr marL="0" indent="0" fontAlgn="b">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𝑆𝑝𝑒𝑒𝑑</m:t>
                      </m:r>
                      <m:r>
                        <a:rPr lang="en-US" i="1">
                          <a:latin typeface="Cambria Math" panose="02040503050406030204" pitchFamily="18" charset="0"/>
                        </a:rPr>
                        <m:t>=120−</m:t>
                      </m:r>
                      <m:d>
                        <m:dPr>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−20−</m:t>
                      </m:r>
                      <m:d>
                        <m:dPr>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−40</m:t>
                      </m:r>
                      <m:r>
                        <a:rPr lang="en-US" b="0" i="1" smtClean="0">
                          <a:latin typeface="Cambria Math" panose="02040503050406030204" pitchFamily="18" charset="0"/>
                        </a:rPr>
                        <m:t>=60</m:t>
                      </m:r>
                    </m:oMath>
                  </m:oMathPara>
                </a14:m>
                <a:endParaRPr lang="en-CA" dirty="0"/>
              </a:p>
              <a:p>
                <a:pPr marL="0" indent="0" fontAlgn="b">
                  <a:buNone/>
                </a:pPr>
                <a:endParaRPr lang="en-CA" dirty="0"/>
              </a:p>
              <a:p>
                <a:pPr marL="0" indent="0" fontAlgn="b">
                  <a:buNone/>
                </a:pPr>
                <a:r>
                  <a:rPr lang="en-CA" dirty="0"/>
                  <a:t>So the average speed during under these circumstances is 60 km/h.</a:t>
                </a:r>
              </a:p>
              <a:p>
                <a:pPr marL="0" indent="0">
                  <a:buNone/>
                </a:pPr>
                <a:endParaRPr lang="en-US" dirty="0"/>
              </a:p>
              <a:p>
                <a:pPr marL="0" indent="0">
                  <a:buNone/>
                </a:pPr>
                <a:endParaRPr lang="en-CA" dirty="0"/>
              </a:p>
            </p:txBody>
          </p:sp>
        </mc:Choice>
        <mc:Fallback xmlns="">
          <p:sp>
            <p:nvSpPr>
              <p:cNvPr id="4" name="Title 1"/>
              <p:cNvSpPr>
                <a:spLocks noGrp="1" noRot="1" noChangeAspect="1" noMove="1" noResize="1" noEditPoints="1" noAdjustHandles="1" noChangeArrowheads="1" noChangeShapeType="1" noTextEdit="1"/>
              </p:cNvSpPr>
              <p:nvPr>
                <p:ph idx="1"/>
              </p:nvPr>
            </p:nvSpPr>
            <p:spPr>
              <a:xfrm>
                <a:off x="457200" y="609600"/>
                <a:ext cx="8229600" cy="5516563"/>
              </a:xfrm>
              <a:blipFill>
                <a:blip r:embed="rId2"/>
                <a:stretch>
                  <a:fillRect l="-1852" b="-773"/>
                </a:stretch>
              </a:blipFill>
            </p:spPr>
            <p:txBody>
              <a:bodyPr/>
              <a:lstStyle/>
              <a:p>
                <a:r>
                  <a:rPr lang="en-CA">
                    <a:noFill/>
                  </a:rPr>
                  <a:t> </a:t>
                </a:r>
              </a:p>
            </p:txBody>
          </p:sp>
        </mc:Fallback>
      </mc:AlternateContent>
    </p:spTree>
    <p:extLst>
      <p:ext uri="{BB962C8B-B14F-4D97-AF65-F5344CB8AC3E}">
        <p14:creationId xmlns:p14="http://schemas.microsoft.com/office/powerpoint/2010/main" val="203525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 #2</a:t>
            </a:r>
            <a:endParaRPr lang="en-CA" dirty="0"/>
          </a:p>
        </p:txBody>
      </p:sp>
      <p:sp>
        <p:nvSpPr>
          <p:cNvPr id="3" name="Content Placeholder 2"/>
          <p:cNvSpPr>
            <a:spLocks noGrp="1"/>
          </p:cNvSpPr>
          <p:nvPr>
            <p:ph idx="1"/>
          </p:nvPr>
        </p:nvSpPr>
        <p:spPr/>
        <p:txBody>
          <a:bodyPr>
            <a:normAutofit lnSpcReduction="10000"/>
          </a:bodyPr>
          <a:lstStyle/>
          <a:p>
            <a:pPr marL="0" indent="0">
              <a:buNone/>
            </a:pPr>
            <a:r>
              <a:rPr lang="en-US" dirty="0"/>
              <a:t>And can we conceive of a confidence interval in this case?</a:t>
            </a:r>
          </a:p>
          <a:p>
            <a:pPr marL="0" indent="0">
              <a:buNone/>
            </a:pPr>
            <a:endParaRPr lang="en-US" dirty="0"/>
          </a:p>
          <a:p>
            <a:pPr marL="0" indent="0">
              <a:buNone/>
            </a:pPr>
            <a:r>
              <a:rPr lang="en-US" dirty="0"/>
              <a:t>This is a little more complicated than talking about a confidence interval around a single coefficient.  In this case, we would want to be forming a confidence interval around an estimate from our regression.  So it’s like we would need a </a:t>
            </a:r>
            <a:r>
              <a:rPr lang="en-US" b="1" u="sng" dirty="0"/>
              <a:t>standard error for our regression.</a:t>
            </a:r>
          </a:p>
          <a:p>
            <a:pPr marL="0" indent="0">
              <a:buNone/>
            </a:pPr>
            <a:endParaRPr lang="en-CA" dirty="0"/>
          </a:p>
        </p:txBody>
      </p:sp>
    </p:spTree>
    <p:extLst>
      <p:ext uri="{BB962C8B-B14F-4D97-AF65-F5344CB8AC3E}">
        <p14:creationId xmlns:p14="http://schemas.microsoft.com/office/powerpoint/2010/main" val="28630200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pPr marL="0" indent="0">
              <a:buNone/>
            </a:pPr>
            <a:r>
              <a:rPr lang="en-US" dirty="0"/>
              <a:t>We’ve seen this before, but a brief intuitive recap might be merited.</a:t>
            </a:r>
          </a:p>
          <a:p>
            <a:pPr marL="0" indent="0">
              <a:buNone/>
            </a:pPr>
            <a:endParaRPr lang="en-US" dirty="0"/>
          </a:p>
          <a:p>
            <a:pPr marL="0" indent="0">
              <a:buNone/>
            </a:pPr>
            <a:r>
              <a:rPr lang="en-US" dirty="0"/>
              <a:t>Let’s think back to what confidence intervals are:</a:t>
            </a:r>
          </a:p>
          <a:p>
            <a:pPr marL="0" indent="0">
              <a:buNone/>
            </a:pPr>
            <a:r>
              <a:rPr lang="en-US" dirty="0"/>
              <a:t>(</a:t>
            </a:r>
            <a:r>
              <a:rPr lang="en-US" dirty="0" err="1"/>
              <a:t>i</a:t>
            </a:r>
            <a:r>
              <a:rPr lang="en-US" dirty="0"/>
              <a:t>) They are ranges around the averages that we calculate from samples we have.</a:t>
            </a:r>
          </a:p>
          <a:p>
            <a:pPr marL="0" indent="0">
              <a:buNone/>
            </a:pPr>
            <a:r>
              <a:rPr lang="en-US" dirty="0"/>
              <a:t>(ii) If we have a normal distribution, then we create a range two standard deviations above and below our mean to construct a 95% confidence interval.</a:t>
            </a:r>
            <a:endParaRPr lang="en-CA" dirty="0"/>
          </a:p>
        </p:txBody>
      </p:sp>
    </p:spTree>
    <p:extLst>
      <p:ext uri="{BB962C8B-B14F-4D97-AF65-F5344CB8AC3E}">
        <p14:creationId xmlns:p14="http://schemas.microsoft.com/office/powerpoint/2010/main" val="1418454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a:t>(iii) In the case of regression, we create confidence intervals for our coefficients by creating ranges that are two </a:t>
            </a:r>
            <a:r>
              <a:rPr lang="en-US" b="1" dirty="0"/>
              <a:t>standard errors</a:t>
            </a:r>
            <a:r>
              <a:rPr lang="en-US" dirty="0"/>
              <a:t> (the regression equivalent of a standard deviation) above and below our coefficient estimates.  We do this to understand the effect of a </a:t>
            </a:r>
            <a:r>
              <a:rPr lang="en-US" b="1" u="sng" dirty="0"/>
              <a:t>single coefficient</a:t>
            </a:r>
            <a:r>
              <a:rPr lang="en-US" dirty="0"/>
              <a:t> from our regression.</a:t>
            </a:r>
          </a:p>
          <a:p>
            <a:pPr marL="0" indent="0">
              <a:buNone/>
            </a:pPr>
            <a:endParaRPr lang="en-US" dirty="0"/>
          </a:p>
        </p:txBody>
      </p:sp>
    </p:spTree>
    <p:extLst>
      <p:ext uri="{BB962C8B-B14F-4D97-AF65-F5344CB8AC3E}">
        <p14:creationId xmlns:p14="http://schemas.microsoft.com/office/powerpoint/2010/main" val="959981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a:t>(iv) We should recognize that our guess of an average </a:t>
            </a:r>
            <a:r>
              <a:rPr lang="en-CA" dirty="0"/>
              <a:t>speed of 60 km/h when the road is snow-covered and congested is, in a sense, an effect from </a:t>
            </a:r>
            <a:r>
              <a:rPr lang="en-CA" b="1" u="sng" dirty="0"/>
              <a:t>all of our coefficients</a:t>
            </a:r>
            <a:r>
              <a:rPr lang="en-CA" dirty="0"/>
              <a:t>.  So do we have a standard error for the effect of all of our coefficients?</a:t>
            </a:r>
          </a:p>
          <a:p>
            <a:pPr marL="0" indent="0">
              <a:buNone/>
            </a:pPr>
            <a:endParaRPr lang="en-US" dirty="0"/>
          </a:p>
          <a:p>
            <a:pPr marL="0" indent="0">
              <a:buNone/>
            </a:pPr>
            <a:r>
              <a:rPr lang="en-US" dirty="0"/>
              <a:t>Yes – it’s the standard error of the regression.</a:t>
            </a:r>
            <a:endParaRPr lang="en-CA" dirty="0"/>
          </a:p>
          <a:p>
            <a:pPr marL="0" indent="0">
              <a:buNone/>
            </a:pPr>
            <a:r>
              <a:rPr lang="en-US" dirty="0"/>
              <a:t> </a:t>
            </a:r>
            <a:endParaRPr lang="en-CA" dirty="0"/>
          </a:p>
        </p:txBody>
      </p:sp>
    </p:spTree>
    <p:extLst>
      <p:ext uri="{BB962C8B-B14F-4D97-AF65-F5344CB8AC3E}">
        <p14:creationId xmlns:p14="http://schemas.microsoft.com/office/powerpoint/2010/main" val="39979400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868362"/>
          </a:xfrm>
        </p:spPr>
        <p:txBody>
          <a:bodyPr/>
          <a:lstStyle/>
          <a:p>
            <a:r>
              <a:rPr lang="en-US" dirty="0"/>
              <a:t>Recall out regression output</a:t>
            </a:r>
            <a:endParaRPr lang="en-CA"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73092441"/>
              </p:ext>
            </p:extLst>
          </p:nvPr>
        </p:nvGraphicFramePr>
        <p:xfrm>
          <a:off x="457200" y="1143000"/>
          <a:ext cx="8229600" cy="5581650"/>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fontAlgn="b"/>
                      <a:r>
                        <a:rPr lang="en-CA" sz="2400" u="none" strike="noStrike" dirty="0">
                          <a:effectLst/>
                        </a:rPr>
                        <a:t>R Square</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0.885387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fontAlgn="b"/>
                      <a:r>
                        <a:rPr lang="en-CA" sz="2400" u="none" strike="noStrike" dirty="0">
                          <a:effectLst/>
                        </a:rPr>
                        <a:t>Standard Error</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9.995144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fontAlgn="b"/>
                      <a:r>
                        <a:rPr lang="en-CA" sz="2400" u="none" strike="noStrike" dirty="0">
                          <a:effectLst/>
                        </a:rPr>
                        <a:t>Observations</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10000</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fontAlgn="b"/>
                      <a:r>
                        <a:rPr lang="en-CA" sz="2400" u="none" strike="noStrike" dirty="0">
                          <a:effectLst/>
                        </a:rPr>
                        <a:t>ANOVA</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err="1">
                          <a:effectLst/>
                        </a:rPr>
                        <a:t>df</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SS</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MS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fontAlgn="b"/>
                      <a:r>
                        <a:rPr lang="en-CA" sz="2400" u="none" strike="noStrike">
                          <a:effectLst/>
                        </a:rPr>
                        <a:t>Regression</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7713629</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1928407</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fontAlgn="b"/>
                      <a:r>
                        <a:rPr lang="en-CA" sz="2400" u="none" strike="noStrike">
                          <a:effectLst/>
                        </a:rPr>
                        <a:t>Residual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9995</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998529.5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99.9029</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l" fontAlgn="b"/>
                      <a:r>
                        <a:rPr lang="en-CA" sz="2400" u="none" strike="noStrike">
                          <a:effectLst/>
                        </a:rPr>
                        <a:t>Total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9999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8712158</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CA" sz="2400" u="none" strike="noStrike" dirty="0">
                          <a:effectLst/>
                        </a:rPr>
                        <a:t> </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fontAlgn="b"/>
                      <a:r>
                        <a:rPr lang="en-CA" sz="2400" u="none" strike="noStrike" dirty="0">
                          <a:effectLst/>
                        </a:rPr>
                        <a:t> </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Coefficients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Standard Error</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t Stat</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l" fontAlgn="b"/>
                      <a:r>
                        <a:rPr lang="en-CA" sz="2400" u="none" strike="noStrike" dirty="0">
                          <a:effectLst/>
                        </a:rPr>
                        <a:t>Intercept</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120.0759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0.225301</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532.9581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l" fontAlgn="b"/>
                      <a:r>
                        <a:rPr lang="en-CA" sz="2400" u="none" strike="noStrike" dirty="0">
                          <a:effectLst/>
                        </a:rPr>
                        <a:t>Wet Road</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-14.8773</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0.199921</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-74.4161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algn="l" fontAlgn="b"/>
                      <a:r>
                        <a:rPr lang="en-CA" sz="2400" u="none" strike="noStrike" dirty="0">
                          <a:effectLst/>
                        </a:rPr>
                        <a:t>Snow</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-19.9808</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0.199939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-99.9346</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70840">
                <a:tc>
                  <a:txBody>
                    <a:bodyPr/>
                    <a:lstStyle/>
                    <a:p>
                      <a:pPr algn="l" fontAlgn="b"/>
                      <a:r>
                        <a:rPr lang="en-CA" sz="2400" u="none" strike="noStrike" dirty="0" err="1">
                          <a:effectLst/>
                        </a:rPr>
                        <a:t>Visib</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-30.1321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0.199965</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-150.687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70840">
                <a:tc>
                  <a:txBody>
                    <a:bodyPr/>
                    <a:lstStyle/>
                    <a:p>
                      <a:pPr algn="l" fontAlgn="b"/>
                      <a:r>
                        <a:rPr lang="en-CA" sz="2400" u="none" strike="noStrike" dirty="0">
                          <a:effectLst/>
                        </a:rPr>
                        <a:t>Congest</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-39.9964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0.199952</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-200.03</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7" name="Oval 6"/>
          <p:cNvSpPr/>
          <p:nvPr/>
        </p:nvSpPr>
        <p:spPr>
          <a:xfrm>
            <a:off x="414131" y="1615109"/>
            <a:ext cx="44958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ln>
                <a:solidFill>
                  <a:srgbClr val="FF0000"/>
                </a:solidFill>
              </a:ln>
            </a:endParaRPr>
          </a:p>
        </p:txBody>
      </p:sp>
    </p:spTree>
    <p:extLst>
      <p:ext uri="{BB962C8B-B14F-4D97-AF65-F5344CB8AC3E}">
        <p14:creationId xmlns:p14="http://schemas.microsoft.com/office/powerpoint/2010/main" val="2739318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pPr marL="0" indent="0">
              <a:buNone/>
            </a:pPr>
            <a:r>
              <a:rPr lang="en-US" dirty="0"/>
              <a:t>Let’s make our life easy and use the rounded value here and say that the standard error of the regression is about 10.</a:t>
            </a:r>
          </a:p>
          <a:p>
            <a:pPr marL="0" indent="0">
              <a:buNone/>
            </a:pPr>
            <a:endParaRPr lang="en-US" dirty="0"/>
          </a:p>
          <a:p>
            <a:pPr marL="0" indent="0">
              <a:buNone/>
            </a:pPr>
            <a:r>
              <a:rPr lang="en-US" dirty="0"/>
              <a:t>In this case, then:</a:t>
            </a:r>
          </a:p>
          <a:p>
            <a:pPr marL="0" indent="0">
              <a:buNone/>
            </a:pPr>
            <a:endParaRPr lang="en-US" dirty="0"/>
          </a:p>
          <a:p>
            <a:pPr marL="0" indent="0">
              <a:buNone/>
            </a:pPr>
            <a:r>
              <a:rPr lang="en-US" dirty="0"/>
              <a:t>Conditional Mean (regression) estimate = 60</a:t>
            </a:r>
          </a:p>
          <a:p>
            <a:pPr marL="0" indent="0">
              <a:buNone/>
            </a:pPr>
            <a:r>
              <a:rPr lang="en-US" dirty="0"/>
              <a:t>Standard error of the regression = 10</a:t>
            </a:r>
          </a:p>
          <a:p>
            <a:pPr marL="0" indent="0">
              <a:buNone/>
            </a:pPr>
            <a:endParaRPr lang="en-US" dirty="0"/>
          </a:p>
          <a:p>
            <a:pPr marL="0" indent="0">
              <a:buNone/>
            </a:pPr>
            <a:r>
              <a:rPr lang="en-US" dirty="0"/>
              <a:t>What’s the confidence interval?</a:t>
            </a:r>
            <a:endParaRPr lang="en-CA" dirty="0"/>
          </a:p>
        </p:txBody>
      </p:sp>
    </p:spTree>
    <p:extLst>
      <p:ext uri="{BB962C8B-B14F-4D97-AF65-F5344CB8AC3E}">
        <p14:creationId xmlns:p14="http://schemas.microsoft.com/office/powerpoint/2010/main" val="76667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r>
              <a:rPr lang="en-US" dirty="0"/>
              <a:t>It’s the usual calculation:</a:t>
            </a:r>
          </a:p>
          <a:p>
            <a:pPr marL="0" indent="0">
              <a:buNone/>
            </a:pPr>
            <a:endParaRPr lang="en-US" dirty="0"/>
          </a:p>
          <a:p>
            <a:pPr marL="0" indent="0">
              <a:buNone/>
            </a:pPr>
            <a:r>
              <a:rPr lang="en-US" dirty="0"/>
              <a:t>	Regression estimate ± 2*Standard error</a:t>
            </a:r>
          </a:p>
          <a:p>
            <a:pPr marL="0" indent="0">
              <a:buNone/>
            </a:pPr>
            <a:r>
              <a:rPr lang="en-US" dirty="0"/>
              <a:t>		</a:t>
            </a:r>
            <a:r>
              <a:rPr lang="en-US" dirty="0">
                <a:sym typeface="Wingdings" pitchFamily="2" charset="2"/>
              </a:rPr>
              <a:t> 60 </a:t>
            </a:r>
            <a:r>
              <a:rPr lang="en-US" dirty="0"/>
              <a:t>± 2*10</a:t>
            </a:r>
          </a:p>
          <a:p>
            <a:pPr marL="0" indent="0">
              <a:buNone/>
            </a:pPr>
            <a:endParaRPr lang="en-US" dirty="0">
              <a:sym typeface="Wingdings" pitchFamily="2" charset="2"/>
            </a:endParaRPr>
          </a:p>
          <a:p>
            <a:pPr marL="0" indent="0">
              <a:buNone/>
            </a:pPr>
            <a:r>
              <a:rPr lang="en-US" dirty="0"/>
              <a:t>So the 95% confidence interval is between 40 km/h and 80 km/h.</a:t>
            </a:r>
          </a:p>
          <a:p>
            <a:pPr marL="0" indent="0">
              <a:buNone/>
            </a:pPr>
            <a:r>
              <a:rPr lang="en-US" dirty="0"/>
              <a:t>What can we say about this speed relative to clear conditions?</a:t>
            </a:r>
          </a:p>
          <a:p>
            <a:pPr marL="0" indent="0">
              <a:buNone/>
            </a:pPr>
            <a:endParaRPr lang="en-CA" dirty="0"/>
          </a:p>
        </p:txBody>
      </p:sp>
    </p:spTree>
    <p:extLst>
      <p:ext uri="{BB962C8B-B14F-4D97-AF65-F5344CB8AC3E}">
        <p14:creationId xmlns:p14="http://schemas.microsoft.com/office/powerpoint/2010/main" val="2540703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Another Use of Dummy Variables</a:t>
            </a:r>
          </a:p>
        </p:txBody>
      </p:sp>
      <p:sp>
        <p:nvSpPr>
          <p:cNvPr id="3" name="Content Placeholder 2"/>
          <p:cNvSpPr>
            <a:spLocks noGrp="1"/>
          </p:cNvSpPr>
          <p:nvPr>
            <p:ph idx="1"/>
          </p:nvPr>
        </p:nvSpPr>
        <p:spPr/>
        <p:txBody>
          <a:bodyPr/>
          <a:lstStyle/>
          <a:p>
            <a:pPr>
              <a:buNone/>
            </a:pPr>
            <a:r>
              <a:rPr lang="en-US" dirty="0"/>
              <a:t>Sometimes, as managers, we are presented with statements like:</a:t>
            </a:r>
          </a:p>
          <a:p>
            <a:r>
              <a:rPr lang="en-US" dirty="0"/>
              <a:t>“Things are looking much better this quarter”</a:t>
            </a:r>
          </a:p>
          <a:p>
            <a:r>
              <a:rPr lang="en-US" dirty="0"/>
              <a:t>“This reorganization has really improved productivity”</a:t>
            </a:r>
          </a:p>
          <a:p>
            <a:r>
              <a:rPr lang="en-US" dirty="0"/>
              <a:t>“Our new marketing campaign has been a complete disaster”</a:t>
            </a:r>
          </a:p>
        </p:txBody>
      </p:sp>
    </p:spTree>
    <p:extLst>
      <p:ext uri="{BB962C8B-B14F-4D97-AF65-F5344CB8AC3E}">
        <p14:creationId xmlns:p14="http://schemas.microsoft.com/office/powerpoint/2010/main" val="1045127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a:t>Anytime we hear statements like this, we should try to understand them from a statistical standpoint as well as possible.</a:t>
            </a:r>
          </a:p>
          <a:p>
            <a:pPr marL="0" indent="0">
              <a:buNone/>
            </a:pPr>
            <a:endParaRPr lang="en-US" dirty="0"/>
          </a:p>
          <a:p>
            <a:pPr marL="0" indent="0">
              <a:buNone/>
            </a:pPr>
            <a:r>
              <a:rPr lang="en-US" dirty="0"/>
              <a:t>These are </a:t>
            </a:r>
            <a:r>
              <a:rPr lang="en-US" b="1" u="sng" dirty="0"/>
              <a:t>comparative</a:t>
            </a:r>
            <a:r>
              <a:rPr lang="en-US" dirty="0"/>
              <a:t> statements.  And with your statistical training, you would want to be able to respond to these types of statements in good, careful ways.</a:t>
            </a:r>
            <a:endParaRPr lang="en-CA" dirty="0"/>
          </a:p>
        </p:txBody>
      </p:sp>
    </p:spTree>
    <p:extLst>
      <p:ext uri="{BB962C8B-B14F-4D97-AF65-F5344CB8AC3E}">
        <p14:creationId xmlns:p14="http://schemas.microsoft.com/office/powerpoint/2010/main" val="38100204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 how could you do that?</a:t>
            </a:r>
            <a:endParaRPr lang="en-CA" dirty="0"/>
          </a:p>
        </p:txBody>
      </p:sp>
      <p:sp>
        <p:nvSpPr>
          <p:cNvPr id="3" name="Content Placeholder 2"/>
          <p:cNvSpPr>
            <a:spLocks noGrp="1"/>
          </p:cNvSpPr>
          <p:nvPr>
            <p:ph idx="1"/>
          </p:nvPr>
        </p:nvSpPr>
        <p:spPr/>
        <p:txBody>
          <a:bodyPr/>
          <a:lstStyle/>
          <a:p>
            <a:pPr marL="0" indent="0">
              <a:buNone/>
            </a:pPr>
            <a:r>
              <a:rPr lang="en-US" dirty="0"/>
              <a:t>Regressions and dummy variables will help you immensely with these types of tasks.</a:t>
            </a:r>
          </a:p>
          <a:p>
            <a:pPr marL="0" indent="0">
              <a:buNone/>
            </a:pPr>
            <a:endParaRPr lang="en-US" dirty="0"/>
          </a:p>
          <a:p>
            <a:pPr marL="0" indent="0">
              <a:buNone/>
            </a:pPr>
            <a:r>
              <a:rPr lang="en-US" dirty="0"/>
              <a:t>Consider three potential changes to productivity that are mapped before and after a reorganizational change at a set of firms</a:t>
            </a:r>
            <a:endParaRPr lang="en-CA" dirty="0"/>
          </a:p>
        </p:txBody>
      </p:sp>
    </p:spTree>
    <p:extLst>
      <p:ext uri="{BB962C8B-B14F-4D97-AF65-F5344CB8AC3E}">
        <p14:creationId xmlns:p14="http://schemas.microsoft.com/office/powerpoint/2010/main" val="3733864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endParaRPr lang="en-CA"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7999" y="1295400"/>
            <a:ext cx="7124700" cy="5181600"/>
          </a:xfrm>
        </p:spPr>
      </p:pic>
    </p:spTree>
    <p:extLst>
      <p:ext uri="{BB962C8B-B14F-4D97-AF65-F5344CB8AC3E}">
        <p14:creationId xmlns:p14="http://schemas.microsoft.com/office/powerpoint/2010/main" val="2160640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endParaRPr lang="en-CA"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2774" y="1371600"/>
            <a:ext cx="6915150" cy="5029200"/>
          </a:xfrm>
        </p:spPr>
      </p:pic>
    </p:spTree>
    <p:extLst>
      <p:ext uri="{BB962C8B-B14F-4D97-AF65-F5344CB8AC3E}">
        <p14:creationId xmlns:p14="http://schemas.microsoft.com/office/powerpoint/2010/main" val="11032604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endParaRPr lang="en-CA"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7999" y="1295400"/>
            <a:ext cx="7124700" cy="5181600"/>
          </a:xfrm>
        </p:spPr>
      </p:pic>
    </p:spTree>
    <p:extLst>
      <p:ext uri="{BB962C8B-B14F-4D97-AF65-F5344CB8AC3E}">
        <p14:creationId xmlns:p14="http://schemas.microsoft.com/office/powerpoint/2010/main" val="2773011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r>
              <a:rPr lang="en-US" dirty="0"/>
              <a:t>For certain, there appear to be changes in productivity for a couple of these examples, but how do we answer this question in a good statistical way?</a:t>
            </a:r>
          </a:p>
          <a:p>
            <a:pPr marL="0" indent="0">
              <a:buNone/>
            </a:pPr>
            <a:endParaRPr lang="en-US" dirty="0"/>
          </a:p>
          <a:p>
            <a:pPr marL="0" indent="0">
              <a:buNone/>
            </a:pPr>
            <a:r>
              <a:rPr lang="en-US" dirty="0"/>
              <a:t>We need to think about productivity after the reorganizational change </a:t>
            </a:r>
            <a:r>
              <a:rPr lang="en-US" b="1" i="1" dirty="0"/>
              <a:t>relative</a:t>
            </a:r>
            <a:r>
              <a:rPr lang="en-US" dirty="0"/>
              <a:t> to the original system.</a:t>
            </a:r>
            <a:endParaRPr lang="en-CA" dirty="0"/>
          </a:p>
        </p:txBody>
      </p:sp>
    </p:spTree>
    <p:extLst>
      <p:ext uri="{BB962C8B-B14F-4D97-AF65-F5344CB8AC3E}">
        <p14:creationId xmlns:p14="http://schemas.microsoft.com/office/powerpoint/2010/main" val="33082958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Wage example</a:t>
            </a:r>
            <a:endParaRPr lang="en-CA" dirty="0"/>
          </a:p>
        </p:txBody>
      </p:sp>
      <p:sp>
        <p:nvSpPr>
          <p:cNvPr id="3" name="Content Placeholder 2"/>
          <p:cNvSpPr>
            <a:spLocks noGrp="1"/>
          </p:cNvSpPr>
          <p:nvPr>
            <p:ph idx="1"/>
          </p:nvPr>
        </p:nvSpPr>
        <p:spPr/>
        <p:txBody>
          <a:bodyPr>
            <a:normAutofit/>
          </a:bodyPr>
          <a:lstStyle/>
          <a:p>
            <a:pPr>
              <a:buNone/>
            </a:pPr>
            <a:r>
              <a:rPr lang="en-US" dirty="0"/>
              <a:t>Recall the regression we estimated:</a:t>
            </a:r>
          </a:p>
          <a:p>
            <a:pPr algn="ctr">
              <a:buNone/>
            </a:pPr>
            <a:r>
              <a:rPr lang="en-US" dirty="0"/>
              <a:t>Wage = b</a:t>
            </a:r>
            <a:r>
              <a:rPr lang="en-US" baseline="-25000" dirty="0"/>
              <a:t>0</a:t>
            </a:r>
            <a:r>
              <a:rPr lang="en-US" dirty="0"/>
              <a:t> + b</a:t>
            </a:r>
            <a:r>
              <a:rPr lang="en-US" baseline="-25000" dirty="0"/>
              <a:t>1</a:t>
            </a:r>
            <a:r>
              <a:rPr lang="en-US" dirty="0"/>
              <a:t>(AgeAbove45)</a:t>
            </a:r>
          </a:p>
          <a:p>
            <a:pPr marL="0" indent="0">
              <a:buNone/>
            </a:pPr>
            <a:endParaRPr lang="en-US" dirty="0"/>
          </a:p>
          <a:p>
            <a:pPr marL="0" indent="0">
              <a:buNone/>
            </a:pPr>
            <a:r>
              <a:rPr lang="en-US" dirty="0"/>
              <a:t>What’s the interpretation of b</a:t>
            </a:r>
            <a:r>
              <a:rPr lang="en-US" baseline="-25000" dirty="0"/>
              <a:t>0</a:t>
            </a:r>
            <a:r>
              <a:rPr lang="en-US" dirty="0"/>
              <a:t>?</a:t>
            </a:r>
          </a:p>
          <a:p>
            <a:pPr marL="0" indent="0">
              <a:buNone/>
            </a:pPr>
            <a:endParaRPr lang="en-US" dirty="0">
              <a:sym typeface="Wingdings" panose="05000000000000000000" pitchFamily="2" charset="2"/>
            </a:endParaRPr>
          </a:p>
          <a:p>
            <a:pPr marL="0" indent="0">
              <a:buNone/>
            </a:pPr>
            <a:r>
              <a:rPr lang="en-US" dirty="0"/>
              <a:t>And what’s the interpretation of b</a:t>
            </a:r>
            <a:r>
              <a:rPr lang="en-US" baseline="-25000" dirty="0"/>
              <a:t>1</a:t>
            </a:r>
            <a:r>
              <a:rPr lang="en-US" dirty="0"/>
              <a:t>?</a:t>
            </a:r>
          </a:p>
          <a:p>
            <a:pPr marL="0" indent="0">
              <a:buNone/>
            </a:pPr>
            <a:endParaRPr lang="en-CA" dirty="0"/>
          </a:p>
          <a:p>
            <a:pPr marL="0" indent="0">
              <a:buNone/>
            </a:pPr>
            <a:endParaRPr lang="en-CA" dirty="0"/>
          </a:p>
        </p:txBody>
      </p:sp>
      <mc:AlternateContent xmlns:mc="http://schemas.openxmlformats.org/markup-compatibility/2006" xmlns:a14="http://schemas.microsoft.com/office/drawing/2010/main">
        <mc:Choice Requires="a14">
          <p:sp>
            <p:nvSpPr>
              <p:cNvPr id="4" name="TextBox 3"/>
              <p:cNvSpPr txBox="1"/>
              <p:nvPr/>
            </p:nvSpPr>
            <p:spPr>
              <a:xfrm>
                <a:off x="500608" y="3861048"/>
                <a:ext cx="815340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3200" dirty="0">
                          <a:sym typeface="Wingdings" panose="05000000000000000000" pitchFamily="2" charset="2"/>
                        </a:rPr>
                        <m:t></m:t>
                      </m:r>
                      <m:r>
                        <m:rPr>
                          <m:nor/>
                        </m:rPr>
                        <a:rPr lang="en-US" sz="3200" dirty="0">
                          <a:sym typeface="Wingdings" panose="05000000000000000000" pitchFamily="2" charset="2"/>
                        </a:rPr>
                        <m:t>Average</m:t>
                      </m:r>
                      <m:r>
                        <m:rPr>
                          <m:nor/>
                        </m:rPr>
                        <a:rPr lang="en-US" sz="3200" dirty="0">
                          <a:sym typeface="Wingdings" panose="05000000000000000000" pitchFamily="2" charset="2"/>
                        </a:rPr>
                        <m:t> </m:t>
                      </m:r>
                      <m:r>
                        <m:rPr>
                          <m:nor/>
                        </m:rPr>
                        <a:rPr lang="en-US" sz="3200" dirty="0">
                          <a:sym typeface="Wingdings" panose="05000000000000000000" pitchFamily="2" charset="2"/>
                        </a:rPr>
                        <m:t>wages</m:t>
                      </m:r>
                      <m:r>
                        <m:rPr>
                          <m:nor/>
                        </m:rPr>
                        <a:rPr lang="en-US" sz="3200" dirty="0">
                          <a:sym typeface="Wingdings" panose="05000000000000000000" pitchFamily="2" charset="2"/>
                        </a:rPr>
                        <m:t> </m:t>
                      </m:r>
                      <m:r>
                        <m:rPr>
                          <m:nor/>
                        </m:rPr>
                        <a:rPr lang="en-US" sz="3200" dirty="0">
                          <a:sym typeface="Wingdings" panose="05000000000000000000" pitchFamily="2" charset="2"/>
                        </a:rPr>
                        <m:t>for</m:t>
                      </m:r>
                      <m:r>
                        <m:rPr>
                          <m:nor/>
                        </m:rPr>
                        <a:rPr lang="en-US" sz="3200" dirty="0">
                          <a:sym typeface="Wingdings" panose="05000000000000000000" pitchFamily="2" charset="2"/>
                        </a:rPr>
                        <m:t> </m:t>
                      </m:r>
                      <m:r>
                        <m:rPr>
                          <m:nor/>
                        </m:rPr>
                        <a:rPr lang="en-US" sz="3200" b="0" i="0" dirty="0" smtClean="0">
                          <a:sym typeface="Wingdings" panose="05000000000000000000" pitchFamily="2" charset="2"/>
                        </a:rPr>
                        <m:t>workers</m:t>
                      </m:r>
                      <m:r>
                        <m:rPr>
                          <m:nor/>
                        </m:rPr>
                        <a:rPr lang="en-US" sz="3200" b="0" i="0" dirty="0" smtClean="0">
                          <a:sym typeface="Wingdings" panose="05000000000000000000" pitchFamily="2" charset="2"/>
                        </a:rPr>
                        <m:t> 45 </m:t>
                      </m:r>
                      <m:r>
                        <m:rPr>
                          <m:nor/>
                        </m:rPr>
                        <a:rPr lang="en-US" sz="3200" b="0" i="0" dirty="0" smtClean="0">
                          <a:sym typeface="Wingdings" panose="05000000000000000000" pitchFamily="2" charset="2"/>
                        </a:rPr>
                        <m:t>and</m:t>
                      </m:r>
                      <m:r>
                        <m:rPr>
                          <m:nor/>
                        </m:rPr>
                        <a:rPr lang="en-US" sz="3200" b="0" i="0" dirty="0" smtClean="0">
                          <a:sym typeface="Wingdings" panose="05000000000000000000" pitchFamily="2" charset="2"/>
                        </a:rPr>
                        <m:t> </m:t>
                      </m:r>
                      <m:r>
                        <m:rPr>
                          <m:nor/>
                        </m:rPr>
                        <a:rPr lang="en-US" sz="3200" b="0" i="0" dirty="0" smtClean="0">
                          <a:sym typeface="Wingdings" panose="05000000000000000000" pitchFamily="2" charset="2"/>
                        </a:rPr>
                        <m:t>younger</m:t>
                      </m:r>
                    </m:oMath>
                  </m:oMathPara>
                </a14:m>
                <a:endParaRPr lang="en-US" sz="3200" dirty="0">
                  <a:sym typeface="Wingdings" panose="05000000000000000000" pitchFamily="2" charset="2"/>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500608" y="3861048"/>
                <a:ext cx="8153400" cy="58477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33400" y="4912289"/>
                <a:ext cx="8153400" cy="15469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3200" dirty="0">
                          <a:sym typeface="Wingdings" panose="05000000000000000000" pitchFamily="2" charset="2"/>
                        </a:rPr>
                        <m:t></m:t>
                      </m:r>
                      <m:r>
                        <m:rPr>
                          <m:nor/>
                        </m:rPr>
                        <a:rPr lang="en-US" sz="3200" dirty="0">
                          <a:sym typeface="Wingdings" panose="05000000000000000000" pitchFamily="2" charset="2"/>
                        </a:rPr>
                        <m:t>Relative</m:t>
                      </m:r>
                      <m:r>
                        <m:rPr>
                          <m:nor/>
                        </m:rPr>
                        <a:rPr lang="en-US" sz="3200" dirty="0">
                          <a:sym typeface="Wingdings" panose="05000000000000000000" pitchFamily="2" charset="2"/>
                        </a:rPr>
                        <m:t> </m:t>
                      </m:r>
                      <m:r>
                        <m:rPr>
                          <m:nor/>
                        </m:rPr>
                        <a:rPr lang="en-US" sz="3200" dirty="0">
                          <a:sym typeface="Wingdings" panose="05000000000000000000" pitchFamily="2" charset="2"/>
                        </a:rPr>
                        <m:t>wage</m:t>
                      </m:r>
                      <m:r>
                        <m:rPr>
                          <m:nor/>
                        </m:rPr>
                        <a:rPr lang="en-US" sz="3200" dirty="0">
                          <a:sym typeface="Wingdings" panose="05000000000000000000" pitchFamily="2" charset="2"/>
                        </a:rPr>
                        <m:t> </m:t>
                      </m:r>
                      <m:r>
                        <m:rPr>
                          <m:nor/>
                        </m:rPr>
                        <a:rPr lang="en-US" sz="3200" dirty="0">
                          <a:sym typeface="Wingdings" panose="05000000000000000000" pitchFamily="2" charset="2"/>
                        </a:rPr>
                        <m:t>difference</m:t>
                      </m:r>
                      <m:r>
                        <m:rPr>
                          <m:nor/>
                        </m:rPr>
                        <a:rPr lang="en-US" sz="3200" dirty="0">
                          <a:sym typeface="Wingdings" panose="05000000000000000000" pitchFamily="2" charset="2"/>
                        </a:rPr>
                        <m:t> </m:t>
                      </m:r>
                      <m:r>
                        <m:rPr>
                          <m:nor/>
                        </m:rPr>
                        <a:rPr lang="en-US" sz="3200" dirty="0">
                          <a:sym typeface="Wingdings" panose="05000000000000000000" pitchFamily="2" charset="2"/>
                        </a:rPr>
                        <m:t>for</m:t>
                      </m:r>
                      <m:r>
                        <m:rPr>
                          <m:nor/>
                        </m:rPr>
                        <a:rPr lang="en-US" sz="3200" dirty="0">
                          <a:sym typeface="Wingdings" panose="05000000000000000000" pitchFamily="2" charset="2"/>
                        </a:rPr>
                        <m:t> </m:t>
                      </m:r>
                      <m:r>
                        <m:rPr>
                          <m:nor/>
                        </m:rPr>
                        <a:rPr lang="en-US" sz="3200" b="0" i="0" dirty="0" smtClean="0">
                          <a:sym typeface="Wingdings" panose="05000000000000000000" pitchFamily="2" charset="2"/>
                        </a:rPr>
                        <m:t>workers</m:t>
                      </m:r>
                      <m:r>
                        <m:rPr>
                          <m:nor/>
                        </m:rPr>
                        <a:rPr lang="en-US" sz="3200" b="0" i="0" dirty="0" smtClean="0">
                          <a:sym typeface="Wingdings" panose="05000000000000000000" pitchFamily="2" charset="2"/>
                        </a:rPr>
                        <m:t> </m:t>
                      </m:r>
                      <m:r>
                        <m:rPr>
                          <m:nor/>
                        </m:rPr>
                        <a:rPr lang="en-US" sz="3200" b="0" i="0" dirty="0" smtClean="0">
                          <a:sym typeface="Wingdings" panose="05000000000000000000" pitchFamily="2" charset="2"/>
                        </a:rPr>
                        <m:t>older</m:t>
                      </m:r>
                      <m:r>
                        <m:rPr>
                          <m:nor/>
                        </m:rPr>
                        <a:rPr lang="en-US" sz="3200" b="0" i="0" dirty="0" smtClean="0">
                          <a:sym typeface="Wingdings" panose="05000000000000000000" pitchFamily="2" charset="2"/>
                        </a:rPr>
                        <m:t> </m:t>
                      </m:r>
                      <m:r>
                        <m:rPr>
                          <m:nor/>
                        </m:rPr>
                        <a:rPr lang="en-US" sz="3200" b="0" i="0" dirty="0" smtClean="0">
                          <a:sym typeface="Wingdings" panose="05000000000000000000" pitchFamily="2" charset="2"/>
                        </a:rPr>
                        <m:t>than</m:t>
                      </m:r>
                      <m:r>
                        <m:rPr>
                          <m:nor/>
                        </m:rPr>
                        <a:rPr lang="en-US" sz="3200" b="0" i="0" dirty="0" smtClean="0">
                          <a:sym typeface="Wingdings" panose="05000000000000000000" pitchFamily="2" charset="2"/>
                        </a:rPr>
                        <m:t> 45 </m:t>
                      </m:r>
                      <m:r>
                        <m:rPr>
                          <m:nor/>
                        </m:rPr>
                        <a:rPr lang="en-US" sz="3200" dirty="0">
                          <a:sym typeface="Wingdings" panose="05000000000000000000" pitchFamily="2" charset="2"/>
                        </a:rPr>
                        <m:t>compared</m:t>
                      </m:r>
                      <m:r>
                        <m:rPr>
                          <m:nor/>
                        </m:rPr>
                        <a:rPr lang="en-US" sz="3200" dirty="0">
                          <a:sym typeface="Wingdings" panose="05000000000000000000" pitchFamily="2" charset="2"/>
                        </a:rPr>
                        <m:t> </m:t>
                      </m:r>
                      <m:r>
                        <m:rPr>
                          <m:nor/>
                        </m:rPr>
                        <a:rPr lang="en-US" sz="3200" dirty="0">
                          <a:sym typeface="Wingdings" panose="05000000000000000000" pitchFamily="2" charset="2"/>
                        </a:rPr>
                        <m:t>to</m:t>
                      </m:r>
                      <m:r>
                        <m:rPr>
                          <m:nor/>
                        </m:rPr>
                        <a:rPr lang="en-US" sz="3200" dirty="0">
                          <a:sym typeface="Wingdings" panose="05000000000000000000" pitchFamily="2" charset="2"/>
                        </a:rPr>
                        <m:t> </m:t>
                      </m:r>
                      <m:r>
                        <m:rPr>
                          <m:nor/>
                        </m:rPr>
                        <a:rPr lang="en-US" sz="3200" b="0" i="0" dirty="0" smtClean="0">
                          <a:sym typeface="Wingdings" panose="05000000000000000000" pitchFamily="2" charset="2"/>
                        </a:rPr>
                        <m:t>workers</m:t>
                      </m:r>
                      <m:r>
                        <m:rPr>
                          <m:nor/>
                        </m:rPr>
                        <a:rPr lang="en-US" sz="3200" b="0" i="0" dirty="0" smtClean="0">
                          <a:sym typeface="Wingdings" panose="05000000000000000000" pitchFamily="2" charset="2"/>
                        </a:rPr>
                        <m:t> </m:t>
                      </m:r>
                      <m:r>
                        <m:rPr>
                          <m:nor/>
                        </m:rPr>
                        <a:rPr lang="en-US" sz="3200" b="0" i="0" dirty="0" smtClean="0">
                          <a:sym typeface="Wingdings" panose="05000000000000000000" pitchFamily="2" charset="2"/>
                        </a:rPr>
                        <m:t>who</m:t>
                      </m:r>
                      <m:r>
                        <m:rPr>
                          <m:nor/>
                        </m:rPr>
                        <a:rPr lang="en-US" sz="3200" b="0" i="0" dirty="0" smtClean="0">
                          <a:sym typeface="Wingdings" panose="05000000000000000000" pitchFamily="2" charset="2"/>
                        </a:rPr>
                        <m:t> </m:t>
                      </m:r>
                      <m:r>
                        <m:rPr>
                          <m:nor/>
                        </m:rPr>
                        <a:rPr lang="en-US" sz="3200" b="0" i="0" dirty="0" smtClean="0">
                          <a:sym typeface="Wingdings" panose="05000000000000000000" pitchFamily="2" charset="2"/>
                        </a:rPr>
                        <m:t>are</m:t>
                      </m:r>
                      <m:r>
                        <m:rPr>
                          <m:nor/>
                        </m:rPr>
                        <a:rPr lang="en-US" sz="3200" b="0" i="0" dirty="0" smtClean="0">
                          <a:sym typeface="Wingdings" panose="05000000000000000000" pitchFamily="2" charset="2"/>
                        </a:rPr>
                        <m:t> 45 </m:t>
                      </m:r>
                      <m:r>
                        <m:rPr>
                          <m:nor/>
                        </m:rPr>
                        <a:rPr lang="en-US" sz="3200" b="0" i="0" dirty="0" smtClean="0">
                          <a:sym typeface="Wingdings" panose="05000000000000000000" pitchFamily="2" charset="2"/>
                        </a:rPr>
                        <m:t>and</m:t>
                      </m:r>
                      <m:r>
                        <m:rPr>
                          <m:nor/>
                        </m:rPr>
                        <a:rPr lang="en-US" sz="3200" b="0" i="0" dirty="0" smtClean="0">
                          <a:sym typeface="Wingdings" panose="05000000000000000000" pitchFamily="2" charset="2"/>
                        </a:rPr>
                        <m:t> </m:t>
                      </m:r>
                      <m:r>
                        <m:rPr>
                          <m:nor/>
                        </m:rPr>
                        <a:rPr lang="en-US" sz="3200" b="0" i="0" dirty="0" smtClean="0">
                          <a:sym typeface="Wingdings" panose="05000000000000000000" pitchFamily="2" charset="2"/>
                        </a:rPr>
                        <m:t>younger</m:t>
                      </m:r>
                    </m:oMath>
                  </m:oMathPara>
                </a14:m>
                <a:endParaRPr lang="en-US" sz="3200" dirty="0">
                  <a:sym typeface="Wingdings" panose="05000000000000000000" pitchFamily="2" charset="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33400" y="4912289"/>
                <a:ext cx="8153400" cy="154696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3695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762000"/>
                <a:ext cx="8229600" cy="5364163"/>
              </a:xfrm>
            </p:spPr>
            <p:txBody>
              <a:bodyPr/>
              <a:lstStyle/>
              <a:p>
                <a:pPr marL="0" indent="0">
                  <a:buNone/>
                </a:pPr>
                <a:r>
                  <a:rPr lang="en-US" dirty="0"/>
                  <a:t>So what would happen if we ran the following regression: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𝑃𝑟𝑜𝑑𝑢𝑐𝑡𝑖𝑣𝑖𝑡𝑦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𝑃𝑜𝑠𝑡𝑟𝑒𝑜𝑟𝑔</m:t>
                      </m:r>
                      <m:r>
                        <a:rPr lang="en-US" b="0" i="1" smtClean="0">
                          <a:latin typeface="Cambria Math" panose="02040503050406030204" pitchFamily="18" charset="0"/>
                        </a:rPr>
                        <m:t>)</m:t>
                      </m:r>
                    </m:oMath>
                  </m:oMathPara>
                </a14:m>
                <a:endParaRPr lang="en-US" dirty="0"/>
              </a:p>
              <a:p>
                <a:pPr marL="0" indent="0" algn="ctr">
                  <a:buNone/>
                </a:pPr>
                <a:endParaRPr lang="en-US" dirty="0"/>
              </a:p>
              <a:p>
                <a:pPr marL="0" indent="0">
                  <a:buNone/>
                </a:pPr>
                <a:r>
                  <a:rPr lang="en-US" dirty="0"/>
                  <a:t>Here, “</a:t>
                </a:r>
                <a:r>
                  <a:rPr lang="en-US" dirty="0" err="1"/>
                  <a:t>Postreorg</a:t>
                </a:r>
                <a:r>
                  <a:rPr lang="en-US" dirty="0"/>
                  <a:t>” is a dummy variable equal to one if the date is after the reorganization, and zero if it is before.</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762000"/>
                <a:ext cx="8229600" cy="5364163"/>
              </a:xfrm>
              <a:blipFill>
                <a:blip r:embed="rId2"/>
                <a:stretch>
                  <a:fillRect l="-1852" t="-1477"/>
                </a:stretch>
              </a:blipFill>
            </p:spPr>
            <p:txBody>
              <a:bodyPr/>
              <a:lstStyle/>
              <a:p>
                <a:r>
                  <a:rPr lang="en-US">
                    <a:noFill/>
                  </a:rPr>
                  <a:t> </a:t>
                </a:r>
              </a:p>
            </p:txBody>
          </p:sp>
        </mc:Fallback>
      </mc:AlternateContent>
    </p:spTree>
    <p:extLst>
      <p:ext uri="{BB962C8B-B14F-4D97-AF65-F5344CB8AC3E}">
        <p14:creationId xmlns:p14="http://schemas.microsoft.com/office/powerpoint/2010/main" val="37166094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28800"/>
            <a:ext cx="8229600" cy="4497363"/>
          </a:xfrm>
        </p:spPr>
        <p:txBody>
          <a:bodyPr>
            <a:normAutofit/>
          </a:bodyPr>
          <a:lstStyle/>
          <a:p>
            <a:pPr marL="0" indent="0">
              <a:buNone/>
            </a:pPr>
            <a:r>
              <a:rPr lang="en-US" dirty="0"/>
              <a:t>(1) What does the coefficient b</a:t>
            </a:r>
            <a:r>
              <a:rPr lang="en-US" baseline="-25000" dirty="0"/>
              <a:t>0</a:t>
            </a:r>
            <a:r>
              <a:rPr lang="en-US" dirty="0"/>
              <a:t> represent?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Title 1"/>
          <p:cNvSpPr>
            <a:spLocks noGrp="1"/>
          </p:cNvSpPr>
          <p:nvPr>
            <p:ph type="title"/>
          </p:nvPr>
        </p:nvSpPr>
        <p:spPr>
          <a:xfrm>
            <a:off x="457200" y="274638"/>
            <a:ext cx="8229600" cy="1143000"/>
          </a:xfrm>
        </p:spPr>
        <p:txBody>
          <a:bodyPr>
            <a:normAutofit fontScale="90000"/>
          </a:bodyPr>
          <a:lstStyle/>
          <a:p>
            <a:r>
              <a:rPr lang="en-US" dirty="0"/>
              <a:t>Intuition (remember the earlier wage regression) for b</a:t>
            </a:r>
            <a:r>
              <a:rPr lang="en-US" baseline="-25000" dirty="0"/>
              <a:t>0</a:t>
            </a:r>
            <a:endParaRPr lang="en-CA" dirty="0"/>
          </a:p>
        </p:txBody>
      </p:sp>
      <p:sp>
        <p:nvSpPr>
          <p:cNvPr id="6" name="TextBox 5"/>
          <p:cNvSpPr txBox="1"/>
          <p:nvPr/>
        </p:nvSpPr>
        <p:spPr>
          <a:xfrm>
            <a:off x="500608" y="2204864"/>
            <a:ext cx="8153400" cy="1569660"/>
          </a:xfrm>
          <a:prstGeom prst="rect">
            <a:avLst/>
          </a:prstGeom>
          <a:noFill/>
        </p:spPr>
        <p:txBody>
          <a:bodyPr wrap="square" rtlCol="0">
            <a:spAutoFit/>
          </a:bodyPr>
          <a:lstStyle/>
          <a:p>
            <a:r>
              <a:rPr lang="en-US" sz="3200" dirty="0">
                <a:sym typeface="Wingdings" panose="05000000000000000000" pitchFamily="2" charset="2"/>
              </a:rPr>
              <a:t>Remember the omitted reference category!</a:t>
            </a:r>
          </a:p>
          <a:p>
            <a:r>
              <a:rPr lang="en-US" sz="3200" dirty="0">
                <a:sym typeface="Wingdings" panose="05000000000000000000" pitchFamily="2" charset="2"/>
              </a:rPr>
              <a:t>When “</a:t>
            </a:r>
            <a:r>
              <a:rPr lang="en-US" sz="3200" dirty="0" err="1">
                <a:sym typeface="Wingdings" panose="05000000000000000000" pitchFamily="2" charset="2"/>
              </a:rPr>
              <a:t>postreorg</a:t>
            </a:r>
            <a:r>
              <a:rPr lang="en-US" sz="3200" dirty="0">
                <a:sym typeface="Wingdings" panose="05000000000000000000" pitchFamily="2" charset="2"/>
              </a:rPr>
              <a:t>” equals zero, then to which period does this refer?</a:t>
            </a:r>
          </a:p>
        </p:txBody>
      </p:sp>
      <p:sp>
        <p:nvSpPr>
          <p:cNvPr id="5" name="TextBox 4"/>
          <p:cNvSpPr txBox="1"/>
          <p:nvPr/>
        </p:nvSpPr>
        <p:spPr>
          <a:xfrm>
            <a:off x="500608" y="3941038"/>
            <a:ext cx="8153400" cy="1077218"/>
          </a:xfrm>
          <a:prstGeom prst="rect">
            <a:avLst/>
          </a:prstGeom>
          <a:noFill/>
        </p:spPr>
        <p:txBody>
          <a:bodyPr wrap="square" rtlCol="0">
            <a:spAutoFit/>
          </a:bodyPr>
          <a:lstStyle/>
          <a:p>
            <a:r>
              <a:rPr lang="en-US" sz="3200" dirty="0">
                <a:sym typeface="Wingdings" panose="05000000000000000000" pitchFamily="2" charset="2"/>
              </a:rPr>
              <a:t>The “pre”-reorganization period!  And this is our “omitted reference category”</a:t>
            </a:r>
          </a:p>
        </p:txBody>
      </p:sp>
    </p:spTree>
    <p:extLst>
      <p:ext uri="{BB962C8B-B14F-4D97-AF65-F5344CB8AC3E}">
        <p14:creationId xmlns:p14="http://schemas.microsoft.com/office/powerpoint/2010/main" val="106691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Intuition for b</a:t>
            </a:r>
            <a:r>
              <a:rPr lang="en-US" baseline="-25000" dirty="0"/>
              <a:t>0</a:t>
            </a:r>
            <a:r>
              <a:rPr lang="en-US" dirty="0"/>
              <a:t> (continued)</a:t>
            </a:r>
          </a:p>
        </p:txBody>
      </p:sp>
      <p:sp>
        <p:nvSpPr>
          <p:cNvPr id="3" name="Content Placeholder 2"/>
          <p:cNvSpPr>
            <a:spLocks noGrp="1"/>
          </p:cNvSpPr>
          <p:nvPr>
            <p:ph idx="1"/>
          </p:nvPr>
        </p:nvSpPr>
        <p:spPr/>
        <p:txBody>
          <a:bodyPr/>
          <a:lstStyle/>
          <a:p>
            <a:pPr marL="0" indent="0">
              <a:buNone/>
            </a:pPr>
            <a:r>
              <a:rPr lang="en-US" dirty="0"/>
              <a:t>Given this, what does the coefficient b</a:t>
            </a:r>
            <a:r>
              <a:rPr lang="en-US" baseline="-25000" dirty="0"/>
              <a:t>0</a:t>
            </a:r>
            <a:r>
              <a:rPr lang="en-US" dirty="0"/>
              <a:t> represent?</a:t>
            </a:r>
          </a:p>
          <a:p>
            <a:pPr marL="0" indent="0">
              <a:buNone/>
            </a:pPr>
            <a:endParaRPr lang="en-US" dirty="0"/>
          </a:p>
          <a:p>
            <a:pPr marL="0" indent="0">
              <a:buNone/>
            </a:pPr>
            <a:endParaRPr lang="en-US" dirty="0"/>
          </a:p>
        </p:txBody>
      </p:sp>
      <p:sp>
        <p:nvSpPr>
          <p:cNvPr id="4" name="TextBox 3"/>
          <p:cNvSpPr txBox="1"/>
          <p:nvPr/>
        </p:nvSpPr>
        <p:spPr>
          <a:xfrm>
            <a:off x="464815" y="2708920"/>
            <a:ext cx="8153400" cy="2554545"/>
          </a:xfrm>
          <a:prstGeom prst="rect">
            <a:avLst/>
          </a:prstGeom>
          <a:noFill/>
        </p:spPr>
        <p:txBody>
          <a:bodyPr wrap="square" rtlCol="0">
            <a:spAutoFit/>
          </a:bodyPr>
          <a:lstStyle/>
          <a:p>
            <a:r>
              <a:rPr lang="en-US" sz="3200" dirty="0">
                <a:sym typeface="Wingdings" panose="05000000000000000000" pitchFamily="2" charset="2"/>
              </a:rPr>
              <a:t>In the same way that this coefficient represented the wages of “younger” workers in the wage regression case, it represents the average level of productivity in the pre-reorganization time period.</a:t>
            </a:r>
          </a:p>
        </p:txBody>
      </p:sp>
    </p:spTree>
    <p:extLst>
      <p:ext uri="{BB962C8B-B14F-4D97-AF65-F5344CB8AC3E}">
        <p14:creationId xmlns:p14="http://schemas.microsoft.com/office/powerpoint/2010/main" val="104526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Intuition for b</a:t>
            </a:r>
            <a:r>
              <a:rPr lang="en-US" baseline="-25000" dirty="0"/>
              <a:t>1</a:t>
            </a:r>
            <a:endParaRPr lang="en-US" dirty="0"/>
          </a:p>
        </p:txBody>
      </p:sp>
      <p:sp>
        <p:nvSpPr>
          <p:cNvPr id="3" name="Content Placeholder 2"/>
          <p:cNvSpPr>
            <a:spLocks noGrp="1"/>
          </p:cNvSpPr>
          <p:nvPr>
            <p:ph idx="1"/>
          </p:nvPr>
        </p:nvSpPr>
        <p:spPr/>
        <p:txBody>
          <a:bodyPr/>
          <a:lstStyle/>
          <a:p>
            <a:pPr marL="0" indent="0">
              <a:buNone/>
            </a:pPr>
            <a:r>
              <a:rPr lang="en-US" dirty="0"/>
              <a:t>What does b</a:t>
            </a:r>
            <a:r>
              <a:rPr lang="en-US" baseline="-25000" dirty="0"/>
              <a:t>1</a:t>
            </a:r>
            <a:r>
              <a:rPr lang="en-US" dirty="0"/>
              <a:t> represent?</a:t>
            </a:r>
          </a:p>
          <a:p>
            <a:pPr marL="0" indent="0">
              <a:buNone/>
            </a:pPr>
            <a:endParaRPr lang="en-US" dirty="0"/>
          </a:p>
        </p:txBody>
      </p:sp>
      <p:sp>
        <p:nvSpPr>
          <p:cNvPr id="4" name="TextBox 3"/>
          <p:cNvSpPr txBox="1"/>
          <p:nvPr/>
        </p:nvSpPr>
        <p:spPr>
          <a:xfrm>
            <a:off x="467544" y="2141637"/>
            <a:ext cx="8153400" cy="2554545"/>
          </a:xfrm>
          <a:prstGeom prst="rect">
            <a:avLst/>
          </a:prstGeom>
          <a:noFill/>
        </p:spPr>
        <p:txBody>
          <a:bodyPr wrap="square" rtlCol="0">
            <a:spAutoFit/>
          </a:bodyPr>
          <a:lstStyle/>
          <a:p>
            <a:r>
              <a:rPr lang="en-US" sz="3200" dirty="0">
                <a:sym typeface="Wingdings" panose="05000000000000000000" pitchFamily="2" charset="2"/>
              </a:rPr>
              <a:t>In the same way that this coefficient represented the </a:t>
            </a:r>
            <a:r>
              <a:rPr lang="en-US" sz="3200" i="1" dirty="0">
                <a:sym typeface="Wingdings" panose="05000000000000000000" pitchFamily="2" charset="2"/>
              </a:rPr>
              <a:t>relative</a:t>
            </a:r>
            <a:r>
              <a:rPr lang="en-US" sz="3200" dirty="0">
                <a:sym typeface="Wingdings" panose="05000000000000000000" pitchFamily="2" charset="2"/>
              </a:rPr>
              <a:t> wages of “older” workers in the wage regression case, it represents the </a:t>
            </a:r>
            <a:r>
              <a:rPr lang="en-US" sz="3200" i="1" dirty="0">
                <a:sym typeface="Wingdings" panose="05000000000000000000" pitchFamily="2" charset="2"/>
              </a:rPr>
              <a:t>relative</a:t>
            </a:r>
            <a:r>
              <a:rPr lang="en-US" sz="3200" dirty="0">
                <a:sym typeface="Wingdings" panose="05000000000000000000" pitchFamily="2" charset="2"/>
              </a:rPr>
              <a:t> productivity of the firm in the post-reorganization time period.</a:t>
            </a:r>
          </a:p>
        </p:txBody>
      </p:sp>
    </p:spTree>
    <p:extLst>
      <p:ext uri="{BB962C8B-B14F-4D97-AF65-F5344CB8AC3E}">
        <p14:creationId xmlns:p14="http://schemas.microsoft.com/office/powerpoint/2010/main" val="22469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try this</a:t>
            </a:r>
            <a:endParaRPr lang="en-CA" dirty="0"/>
          </a:p>
        </p:txBody>
      </p:sp>
      <p:sp>
        <p:nvSpPr>
          <p:cNvPr id="3" name="Content Placeholder 2"/>
          <p:cNvSpPr>
            <a:spLocks noGrp="1"/>
          </p:cNvSpPr>
          <p:nvPr>
            <p:ph idx="1"/>
          </p:nvPr>
        </p:nvSpPr>
        <p:spPr/>
        <p:txBody>
          <a:bodyPr/>
          <a:lstStyle/>
          <a:p>
            <a:pPr marL="0" indent="0">
              <a:buNone/>
            </a:pPr>
            <a:r>
              <a:rPr lang="en-US" dirty="0"/>
              <a:t>Load up “breaks.xls” in Excel and let’s see if there are “real” changes in examples 1, 2 or 3.  The data set contains three productivity trends (“productivity1”, “productivity2” and “productivity3”) which correspond to the prior three examples.  And the variable “</a:t>
            </a:r>
            <a:r>
              <a:rPr lang="en-US" dirty="0" err="1"/>
              <a:t>Postreorg</a:t>
            </a:r>
            <a:r>
              <a:rPr lang="en-US" dirty="0"/>
              <a:t>” is the dummy variable we discussed on the prior slide.</a:t>
            </a:r>
            <a:endParaRPr lang="en-CA" dirty="0"/>
          </a:p>
        </p:txBody>
      </p:sp>
    </p:spTree>
    <p:extLst>
      <p:ext uri="{BB962C8B-B14F-4D97-AF65-F5344CB8AC3E}">
        <p14:creationId xmlns:p14="http://schemas.microsoft.com/office/powerpoint/2010/main" val="10368845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try this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You’ll estimate three separate regressions: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 </m:t>
                      </m:r>
                      <m:r>
                        <a:rPr lang="en-US" b="0" i="1" smtClean="0">
                          <a:latin typeface="Cambria Math" panose="02040503050406030204" pitchFamily="18" charset="0"/>
                        </a:rPr>
                        <m:t>𝑝𝑟𝑜𝑑𝑢𝑐𝑡𝑖𝑣𝑖𝑡𝑦</m:t>
                      </m:r>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𝑎</m:t>
                              </m:r>
                            </m:e>
                          </m:acc>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𝑝𝑜𝑠𝑡𝑟𝑒𝑜𝑟𝑔</m:t>
                      </m:r>
                      <m:r>
                        <a:rPr lang="en-US" b="0" i="1" smtClean="0">
                          <a:latin typeface="Cambria Math" panose="02040503050406030204" pitchFamily="18" charset="0"/>
                        </a:rPr>
                        <m:t>)</m:t>
                      </m:r>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 </m:t>
                      </m:r>
                      <m:r>
                        <a:rPr lang="en-US" i="1">
                          <a:latin typeface="Cambria Math" panose="02040503050406030204" pitchFamily="18" charset="0"/>
                        </a:rPr>
                        <m:t>𝑝𝑟𝑜𝑑𝑢𝑐𝑡𝑖𝑣𝑖𝑡𝑦</m:t>
                      </m:r>
                      <m:r>
                        <a:rPr lang="en-US" b="0" i="1" smtClean="0">
                          <a:latin typeface="Cambria Math" panose="02040503050406030204" pitchFamily="18" charset="0"/>
                        </a:rPr>
                        <m:t>2</m:t>
                      </m:r>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𝑏</m:t>
                              </m:r>
                            </m:e>
                          </m:acc>
                        </m:e>
                        <m:sub>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𝑝𝑜𝑠𝑡𝑟𝑒𝑜𝑟𝑔</m:t>
                      </m:r>
                      <m:r>
                        <a:rPr lang="en-US" b="0" i="1" smtClean="0">
                          <a:latin typeface="Cambria Math" panose="02040503050406030204" pitchFamily="18" charset="0"/>
                        </a:rPr>
                        <m:t>)</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3</m:t>
                          </m:r>
                        </m:e>
                      </m:d>
                      <m:r>
                        <a:rPr lang="en-US" b="0" i="1" smtClean="0">
                          <a:latin typeface="Cambria Math" panose="02040503050406030204" pitchFamily="18" charset="0"/>
                        </a:rPr>
                        <m:t> </m:t>
                      </m:r>
                      <m:r>
                        <a:rPr lang="en-US" b="0" i="1" smtClean="0">
                          <a:latin typeface="Cambria Math" panose="02040503050406030204" pitchFamily="18" charset="0"/>
                        </a:rPr>
                        <m:t>𝑝𝑟𝑜𝑑𝑢𝑐𝑡𝑖𝑣𝑖𝑡𝑦</m:t>
                      </m:r>
                      <m:r>
                        <a:rPr lang="en-US" b="0" i="1" smtClean="0">
                          <a:latin typeface="Cambria Math" panose="02040503050406030204" pitchFamily="18" charset="0"/>
                        </a:rPr>
                        <m:t>3=</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𝑐</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𝑐</m:t>
                              </m:r>
                            </m:e>
                          </m:acc>
                        </m:e>
                        <m:sub>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𝑝𝑜𝑠𝑡𝑟𝑒𝑜𝑟𝑔</m:t>
                      </m:r>
                      <m:r>
                        <a:rPr lang="en-US" b="0" i="1" smtClean="0">
                          <a:latin typeface="Cambria Math" panose="02040503050406030204" pitchFamily="18" charset="0"/>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1292607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Productivity1</a:t>
            </a:r>
            <a:endParaRPr lang="en-CA" dirty="0"/>
          </a:p>
        </p:txBody>
      </p:sp>
      <p:graphicFrame>
        <p:nvGraphicFramePr>
          <p:cNvPr id="4" name="Content Placeholder 3"/>
          <p:cNvGraphicFramePr>
            <a:graphicFrameLocks noGrp="1"/>
          </p:cNvGraphicFramePr>
          <p:nvPr>
            <p:ph idx="1"/>
            <p:extLst/>
          </p:nvPr>
        </p:nvGraphicFramePr>
        <p:xfrm>
          <a:off x="457200" y="1600200"/>
          <a:ext cx="8229600" cy="4455795"/>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fontAlgn="b"/>
                      <a:r>
                        <a:rPr lang="en-CA" sz="2400" u="none" strike="noStrike" dirty="0">
                          <a:effectLst/>
                        </a:rPr>
                        <a:t>R Square</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0.000256</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fontAlgn="b"/>
                      <a:r>
                        <a:rPr lang="en-CA" sz="2400" u="none" strike="noStrike" dirty="0">
                          <a:effectLst/>
                        </a:rPr>
                        <a:t>Standard Error</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10.38677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fontAlgn="b"/>
                      <a:r>
                        <a:rPr lang="en-CA" sz="2400" u="none" strike="noStrike" dirty="0">
                          <a:effectLst/>
                        </a:rPr>
                        <a:t>Observations</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400</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fontAlgn="b"/>
                      <a:r>
                        <a:rPr lang="en-CA" sz="2400" u="none" strike="noStrike" dirty="0">
                          <a:effectLst/>
                        </a:rPr>
                        <a:t>ANOVA</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err="1">
                          <a:effectLst/>
                        </a:rPr>
                        <a:t>df</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SS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MS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fontAlgn="b"/>
                      <a:r>
                        <a:rPr lang="en-CA" sz="2400" u="none" strike="noStrike">
                          <a:effectLst/>
                        </a:rPr>
                        <a:t>Regression</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10.99872</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10.99872</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fontAlgn="b"/>
                      <a:r>
                        <a:rPr lang="en-CA" sz="2400" u="none" strike="noStrike">
                          <a:effectLst/>
                        </a:rPr>
                        <a:t>Residual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398</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42938.24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107.885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l" fontAlgn="b"/>
                      <a:r>
                        <a:rPr lang="en-CA" sz="2400" u="none" strike="noStrike">
                          <a:effectLst/>
                        </a:rPr>
                        <a:t>Total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42949.23</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CA" sz="2400" u="none" strike="noStrike" dirty="0">
                          <a:effectLst/>
                        </a:rPr>
                        <a:t> </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fontAlgn="b"/>
                      <a:r>
                        <a:rPr lang="en-CA" sz="2400" u="none" strike="noStrike" dirty="0">
                          <a:effectLst/>
                        </a:rPr>
                        <a:t> </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Coefficients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Standard Error</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t Stat</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l" fontAlgn="b"/>
                      <a:r>
                        <a:rPr lang="en-CA" sz="2400" u="none" strike="noStrike">
                          <a:effectLst/>
                        </a:rPr>
                        <a:t>Intercept</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10.27979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0.736299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13.96145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l" fontAlgn="b"/>
                      <a:r>
                        <a:rPr lang="en-CA" sz="2400" u="none" strike="noStrike" dirty="0" err="1">
                          <a:effectLst/>
                        </a:rPr>
                        <a:t>Postreorg</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0.331647</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1.03869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0.319294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0988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Productivity2</a:t>
            </a:r>
            <a:endParaRPr lang="en-CA" dirty="0"/>
          </a:p>
        </p:txBody>
      </p:sp>
      <p:graphicFrame>
        <p:nvGraphicFramePr>
          <p:cNvPr id="4" name="Content Placeholder 3"/>
          <p:cNvGraphicFramePr>
            <a:graphicFrameLocks noGrp="1"/>
          </p:cNvGraphicFramePr>
          <p:nvPr>
            <p:ph idx="1"/>
            <p:extLst/>
          </p:nvPr>
        </p:nvGraphicFramePr>
        <p:xfrm>
          <a:off x="457200" y="1600200"/>
          <a:ext cx="8229600" cy="4455795"/>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fontAlgn="b"/>
                      <a:r>
                        <a:rPr lang="en-CA" sz="2400" u="none" strike="noStrike" dirty="0">
                          <a:effectLst/>
                        </a:rPr>
                        <a:t>R Square</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0.525399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fontAlgn="b"/>
                      <a:r>
                        <a:rPr lang="en-CA" sz="2400" u="none" strike="noStrike" dirty="0">
                          <a:effectLst/>
                        </a:rPr>
                        <a:t>Standard Error</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4.984329</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fontAlgn="b"/>
                      <a:r>
                        <a:rPr lang="en-CA" sz="2400" u="none" strike="noStrike" dirty="0">
                          <a:effectLst/>
                        </a:rPr>
                        <a:t>Observations</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400</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fontAlgn="b"/>
                      <a:r>
                        <a:rPr lang="en-CA" sz="2400" u="none" strike="noStrike" dirty="0">
                          <a:effectLst/>
                        </a:rPr>
                        <a:t>ANOVA</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err="1">
                          <a:effectLst/>
                        </a:rPr>
                        <a:t>df</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SS</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MS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fontAlgn="b"/>
                      <a:r>
                        <a:rPr lang="en-CA" sz="2400" u="none" strike="noStrike">
                          <a:effectLst/>
                        </a:rPr>
                        <a:t>Regression</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10946.05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10946.05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fontAlgn="b"/>
                      <a:r>
                        <a:rPr lang="en-CA" sz="2400" u="none" strike="noStrike">
                          <a:effectLst/>
                        </a:rPr>
                        <a:t>Residual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398</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9887.729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24.84354</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l" fontAlgn="b"/>
                      <a:r>
                        <a:rPr lang="en-CA" sz="2400" u="none" strike="noStrike">
                          <a:effectLst/>
                        </a:rPr>
                        <a:t>Total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20833.78</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CA" sz="2400" u="none" strike="noStrike" dirty="0">
                          <a:effectLst/>
                        </a:rPr>
                        <a:t> </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fontAlgn="b"/>
                      <a:r>
                        <a:rPr lang="en-CA" sz="2400" u="none" strike="noStrike" dirty="0">
                          <a:effectLst/>
                        </a:rPr>
                        <a:t> </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Coefficients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Standard Error</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dirty="0">
                          <a:effectLst/>
                        </a:rPr>
                        <a:t>t Stat</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l" fontAlgn="b"/>
                      <a:r>
                        <a:rPr lang="en-CA" sz="2400" u="none" strike="noStrike">
                          <a:effectLst/>
                        </a:rPr>
                        <a:t>Intercept</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9.804779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0.35333</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27.74965</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l" fontAlgn="b"/>
                      <a:r>
                        <a:rPr lang="en-CA" sz="2400" u="none" strike="noStrike" dirty="0" err="1">
                          <a:effectLst/>
                        </a:rPr>
                        <a:t>Postreorg</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10.46247</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0.498439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20.99046</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4385655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Productivity3</a:t>
            </a:r>
            <a:endParaRPr lang="en-CA" dirty="0"/>
          </a:p>
        </p:txBody>
      </p:sp>
      <p:graphicFrame>
        <p:nvGraphicFramePr>
          <p:cNvPr id="4" name="Content Placeholder 3"/>
          <p:cNvGraphicFramePr>
            <a:graphicFrameLocks noGrp="1"/>
          </p:cNvGraphicFramePr>
          <p:nvPr>
            <p:ph idx="1"/>
            <p:extLst/>
          </p:nvPr>
        </p:nvGraphicFramePr>
        <p:xfrm>
          <a:off x="457200" y="1600200"/>
          <a:ext cx="8229600" cy="4455795"/>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fontAlgn="b"/>
                      <a:r>
                        <a:rPr lang="en-CA" sz="2400" u="none" strike="noStrike" dirty="0">
                          <a:effectLst/>
                        </a:rPr>
                        <a:t>R Square</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0.529378</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fontAlgn="b"/>
                      <a:r>
                        <a:rPr lang="en-CA" sz="2400" u="none" strike="noStrike" dirty="0">
                          <a:effectLst/>
                        </a:rPr>
                        <a:t>Standard Error</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3.993617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fontAlgn="b"/>
                      <a:r>
                        <a:rPr lang="en-CA" sz="2400" u="none" strike="noStrike" dirty="0">
                          <a:effectLst/>
                        </a:rPr>
                        <a:t>Observations</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400</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fontAlgn="b"/>
                      <a:r>
                        <a:rPr lang="en-CA" sz="2400" u="none" strike="noStrike" dirty="0">
                          <a:effectLst/>
                        </a:rPr>
                        <a:t>ANOVA</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df</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SS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MS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fontAlgn="b"/>
                      <a:r>
                        <a:rPr lang="en-CA" sz="2400" u="none" strike="noStrike">
                          <a:effectLst/>
                        </a:rPr>
                        <a:t>Regression</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7140.199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7140.199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fontAlgn="b"/>
                      <a:r>
                        <a:rPr lang="en-CA" sz="2400" u="none" strike="noStrike">
                          <a:effectLst/>
                        </a:rPr>
                        <a:t>Residual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398</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6347.693</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15.94898</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l" fontAlgn="b"/>
                      <a:r>
                        <a:rPr lang="en-CA" sz="2400" u="none" strike="noStrike">
                          <a:effectLst/>
                        </a:rPr>
                        <a:t>Total</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399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13487.89</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CA" sz="2400" u="none" strike="noStrike" dirty="0">
                          <a:effectLst/>
                        </a:rPr>
                        <a:t> </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fontAlgn="b"/>
                      <a:r>
                        <a:rPr lang="en-CA" sz="2400" u="none" strike="noStrike" dirty="0">
                          <a:effectLst/>
                        </a:rPr>
                        <a:t> </a:t>
                      </a:r>
                      <a:endParaRPr lang="en-CA" sz="2400" b="0" i="1"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Coefficients</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Standard Error</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CA" sz="2400" u="none" strike="noStrike">
                          <a:effectLst/>
                        </a:rPr>
                        <a:t>t Stat</a:t>
                      </a:r>
                      <a:endParaRPr lang="en-CA" sz="2400" b="0" i="1"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l" fontAlgn="b"/>
                      <a:r>
                        <a:rPr lang="en-CA" sz="2400" u="none" strike="noStrike">
                          <a:effectLst/>
                        </a:rPr>
                        <a:t>Intercept</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10.34493</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0.2831</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36.5416</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l" fontAlgn="b"/>
                      <a:r>
                        <a:rPr lang="en-CA" sz="2400" u="none" strike="noStrike" dirty="0" err="1">
                          <a:effectLst/>
                        </a:rPr>
                        <a:t>Postreorg</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-8.45008</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a:effectLst/>
                        </a:rPr>
                        <a:t>0.399367</a:t>
                      </a:r>
                      <a:endParaRPr lang="en-CA" sz="2400" b="0" i="0" u="none" strike="noStrike">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A" sz="2400" u="none" strike="noStrike" dirty="0">
                          <a:effectLst/>
                        </a:rPr>
                        <a:t>-21.1587</a:t>
                      </a:r>
                      <a:endParaRPr lang="en-CA" sz="2400" b="0" i="0" u="none" strike="noStrike" dirty="0">
                        <a:effectLst/>
                        <a:latin typeface="Arial"/>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2457980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8DC1-C18C-414C-9A9B-E033958D6C7E}"/>
              </a:ext>
            </a:extLst>
          </p:cNvPr>
          <p:cNvSpPr>
            <a:spLocks noGrp="1"/>
          </p:cNvSpPr>
          <p:nvPr>
            <p:ph type="title"/>
          </p:nvPr>
        </p:nvSpPr>
        <p:spPr/>
        <p:txBody>
          <a:bodyPr/>
          <a:lstStyle/>
          <a:p>
            <a:r>
              <a:rPr lang="en-US" dirty="0"/>
              <a:t>Hypothesis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55010A-772A-4607-BD15-4180CBD2A6ED}"/>
                  </a:ext>
                </a:extLst>
              </p:cNvPr>
              <p:cNvSpPr>
                <a:spLocks noGrp="1"/>
              </p:cNvSpPr>
              <p:nvPr>
                <p:ph idx="1"/>
              </p:nvPr>
            </p:nvSpPr>
            <p:spPr/>
            <p:txBody>
              <a:bodyPr/>
              <a:lstStyle/>
              <a:p>
                <a:pPr marL="0" indent="0">
                  <a:buNone/>
                </a:pPr>
                <a:r>
                  <a:rPr lang="en-US" dirty="0"/>
                  <a:t>Let’s consider only Case #3 for now.  And let’s perform the following hypothesis test: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oMath>
                  </m:oMathPara>
                </a14:m>
                <a:endParaRPr lang="en-US" dirty="0"/>
              </a:p>
              <a:p>
                <a:pPr marL="0" indent="0">
                  <a:buNone/>
                </a:pPr>
                <a:endParaRPr lang="en-US" b="0" dirty="0"/>
              </a:p>
              <a:p>
                <a:pPr marL="0" indent="0">
                  <a:buNone/>
                </a:pPr>
                <a:r>
                  <a:rPr lang="en-US" dirty="0"/>
                  <a:t>And let’s test the null hypothesis</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855010A-772A-4607-BD15-4180CBD2A6ED}"/>
                  </a:ext>
                </a:extLst>
              </p:cNvPr>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3879337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8DC1-C18C-414C-9A9B-E033958D6C7E}"/>
              </a:ext>
            </a:extLst>
          </p:cNvPr>
          <p:cNvSpPr>
            <a:spLocks noGrp="1"/>
          </p:cNvSpPr>
          <p:nvPr>
            <p:ph type="title"/>
          </p:nvPr>
        </p:nvSpPr>
        <p:spPr/>
        <p:txBody>
          <a:bodyPr/>
          <a:lstStyle/>
          <a:p>
            <a:r>
              <a:rPr lang="en-US" dirty="0"/>
              <a:t>Hypothesis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55010A-772A-4607-BD15-4180CBD2A6ED}"/>
                  </a:ext>
                </a:extLst>
              </p:cNvPr>
              <p:cNvSpPr>
                <a:spLocks noGrp="1"/>
              </p:cNvSpPr>
              <p:nvPr>
                <p:ph idx="1"/>
              </p:nvPr>
            </p:nvSpPr>
            <p:spPr/>
            <p:txBody>
              <a:bodyPr>
                <a:normAutofit/>
              </a:bodyPr>
              <a:lstStyle/>
              <a:p>
                <a:pPr marL="0" indent="0">
                  <a:buNone/>
                </a:pPr>
                <a:r>
                  <a:rPr lang="en-US" dirty="0"/>
                  <a:t>T-test: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−8.45−0</m:t>
                          </m:r>
                        </m:num>
                        <m:den>
                          <m:r>
                            <a:rPr lang="en-US" b="0" i="1" smtClean="0">
                              <a:latin typeface="Cambria Math" panose="02040503050406030204" pitchFamily="18" charset="0"/>
                            </a:rPr>
                            <m:t>0.399</m:t>
                          </m:r>
                        </m:den>
                      </m:f>
                      <m:r>
                        <a:rPr lang="en-US" b="0" i="1" smtClean="0">
                          <a:latin typeface="Cambria Math" panose="02040503050406030204" pitchFamily="18" charset="0"/>
                        </a:rPr>
                        <m:t>=−21.16</m:t>
                      </m:r>
                    </m:oMath>
                  </m:oMathPara>
                </a14:m>
                <a:endParaRPr lang="en-US" dirty="0"/>
              </a:p>
              <a:p>
                <a:pPr marL="0" indent="0">
                  <a:buNone/>
                </a:pPr>
                <a:endParaRPr lang="en-US" dirty="0"/>
              </a:p>
              <a:p>
                <a:pPr marL="0" indent="0">
                  <a:buNone/>
                </a:pPr>
                <a:r>
                  <a:rPr lang="en-US" dirty="0"/>
                  <a:t>Confidence interval:</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𝑐</m:t>
                              </m:r>
                            </m:e>
                          </m:acc>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𝑠𝑒</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𝑐</m:t>
                                  </m:r>
                                </m:e>
                              </m:acc>
                            </m:e>
                            <m:sub>
                              <m:r>
                                <a:rPr lang="en-US" i="1">
                                  <a:latin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=−9.25 </m:t>
                      </m:r>
                      <m:r>
                        <a:rPr lang="en-US" b="0" i="1" smtClean="0">
                          <a:latin typeface="Cambria Math" panose="02040503050406030204" pitchFamily="18" charset="0"/>
                          <a:ea typeface="Cambria Math" panose="02040503050406030204" pitchFamily="18" charset="0"/>
                        </a:rPr>
                        <m:t>𝑡𝑜</m:t>
                      </m:r>
                      <m:r>
                        <a:rPr lang="en-US" b="0" i="1" smtClean="0">
                          <a:latin typeface="Cambria Math" panose="02040503050406030204" pitchFamily="18" charset="0"/>
                          <a:ea typeface="Cambria Math" panose="02040503050406030204" pitchFamily="18" charset="0"/>
                        </a:rPr>
                        <m:t> −7.65</m:t>
                      </m:r>
                    </m:oMath>
                  </m:oMathPara>
                </a14:m>
                <a:endParaRPr lang="en-US" dirty="0"/>
              </a:p>
              <a:p>
                <a:pPr marL="0" indent="0">
                  <a:buNone/>
                </a:pPr>
                <a:endParaRPr lang="en-US" dirty="0"/>
              </a:p>
              <a:p>
                <a:pPr marL="0" indent="0">
                  <a:buNone/>
                </a:pPr>
                <a:r>
                  <a:rPr lang="en-US" dirty="0"/>
                  <a:t>We reject the null at the 5% level of significance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855010A-772A-4607-BD15-4180CBD2A6ED}"/>
                  </a:ext>
                </a:extLst>
              </p:cNvPr>
              <p:cNvSpPr>
                <a:spLocks noGrp="1" noRot="1" noChangeAspect="1" noMove="1" noResize="1" noEditPoints="1" noAdjustHandles="1" noChangeArrowheads="1" noChangeShapeType="1" noTextEdit="1"/>
              </p:cNvSpPr>
              <p:nvPr>
                <p:ph idx="1"/>
              </p:nvPr>
            </p:nvSpPr>
            <p:spPr>
              <a:blipFill>
                <a:blip r:embed="rId2"/>
                <a:stretch>
                  <a:fillRect l="-1852" t="-1752" b="-135"/>
                </a:stretch>
              </a:blipFill>
            </p:spPr>
            <p:txBody>
              <a:bodyPr/>
              <a:lstStyle/>
              <a:p>
                <a:r>
                  <a:rPr lang="en-US">
                    <a:noFill/>
                  </a:rPr>
                  <a:t> </a:t>
                </a:r>
              </a:p>
            </p:txBody>
          </p:sp>
        </mc:Fallback>
      </mc:AlternateContent>
    </p:spTree>
    <p:extLst>
      <p:ext uri="{BB962C8B-B14F-4D97-AF65-F5344CB8AC3E}">
        <p14:creationId xmlns:p14="http://schemas.microsoft.com/office/powerpoint/2010/main" val="37150087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intuition</a:t>
            </a:r>
            <a:endParaRPr lang="en-CA" dirty="0"/>
          </a:p>
        </p:txBody>
      </p:sp>
      <p:sp>
        <p:nvSpPr>
          <p:cNvPr id="3" name="Content Placeholder 2"/>
          <p:cNvSpPr>
            <a:spLocks noGrp="1"/>
          </p:cNvSpPr>
          <p:nvPr>
            <p:ph idx="1"/>
          </p:nvPr>
        </p:nvSpPr>
        <p:spPr/>
        <p:txBody>
          <a:bodyPr/>
          <a:lstStyle/>
          <a:p>
            <a:pPr marL="0" indent="0">
              <a:buNone/>
            </a:pPr>
            <a:r>
              <a:rPr lang="en-US" dirty="0"/>
              <a:t>So what did we just estimate, and what does our hypothesis test show?</a:t>
            </a:r>
          </a:p>
          <a:p>
            <a:pPr marL="0" indent="0">
              <a:buNone/>
            </a:pPr>
            <a:endParaRPr lang="en-US" dirty="0"/>
          </a:p>
          <a:p>
            <a:pPr marL="0" indent="0">
              <a:buNone/>
            </a:pPr>
            <a:r>
              <a:rPr lang="en-US" dirty="0"/>
              <a:t>In this case, a picture is worth a thousand words.  Let’s look at our data again.  Here’s example #3 (or “Productivity3”).</a:t>
            </a:r>
            <a:endParaRPr lang="en-CA" dirty="0"/>
          </a:p>
        </p:txBody>
      </p:sp>
    </p:spTree>
    <p:extLst>
      <p:ext uri="{BB962C8B-B14F-4D97-AF65-F5344CB8AC3E}">
        <p14:creationId xmlns:p14="http://schemas.microsoft.com/office/powerpoint/2010/main" val="29112185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lstStyle/>
          <a:p>
            <a:pPr marL="0" indent="0">
              <a:buNone/>
            </a:pPr>
            <a:r>
              <a:rPr lang="en-US" dirty="0"/>
              <a:t>It looked like this:</a:t>
            </a:r>
          </a:p>
          <a:p>
            <a:pPr marL="0" indent="0">
              <a:buNone/>
            </a:pPr>
            <a:endParaRPr lang="en-US" dirty="0"/>
          </a:p>
          <a:p>
            <a:pPr marL="0" indent="0">
              <a:buNone/>
            </a:pPr>
            <a:endParaRPr lang="en-US" dirty="0"/>
          </a:p>
          <a:p>
            <a:pPr marL="0" indent="0">
              <a:buNone/>
            </a:pPr>
            <a:endParaRPr lang="en-CA" dirty="0"/>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999" y="1295400"/>
            <a:ext cx="7124700" cy="5181600"/>
          </a:xfrm>
          <a:prstGeom prst="rect">
            <a:avLst/>
          </a:prstGeom>
        </p:spPr>
      </p:pic>
    </p:spTree>
    <p:extLst>
      <p:ext uri="{BB962C8B-B14F-4D97-AF65-F5344CB8AC3E}">
        <p14:creationId xmlns:p14="http://schemas.microsoft.com/office/powerpoint/2010/main" val="18444915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20688"/>
                <a:ext cx="8229600" cy="5505475"/>
              </a:xfrm>
            </p:spPr>
            <p:txBody>
              <a:bodyPr/>
              <a:lstStyle/>
              <a:p>
                <a:pPr marL="0" indent="0">
                  <a:buNone/>
                </a:pPr>
                <a:r>
                  <a:rPr lang="en-US" dirty="0"/>
                  <a:t>What is the regression doing when we estimate the following equation:</a:t>
                </a: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3</m:t>
                          </m:r>
                        </m:e>
                      </m:d>
                      <m:r>
                        <a:rPr lang="en-US" i="1">
                          <a:latin typeface="Cambria Math" panose="02040503050406030204" pitchFamily="18" charset="0"/>
                        </a:rPr>
                        <m:t> </m:t>
                      </m:r>
                      <m:r>
                        <a:rPr lang="en-US" i="1">
                          <a:latin typeface="Cambria Math" panose="02040503050406030204" pitchFamily="18" charset="0"/>
                        </a:rPr>
                        <m:t>𝑝𝑟𝑜𝑑𝑢𝑐𝑡𝑖𝑣𝑖𝑡𝑦</m:t>
                      </m:r>
                      <m:r>
                        <a:rPr lang="en-US" i="1">
                          <a:latin typeface="Cambria Math" panose="02040503050406030204" pitchFamily="18" charset="0"/>
                        </a:rPr>
                        <m:t>3=</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𝑐</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𝑐</m:t>
                              </m:r>
                            </m:e>
                          </m:acc>
                        </m:e>
                        <m:sub>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𝑝𝑜𝑠𝑡𝑟𝑒𝑜𝑟𝑔</m:t>
                      </m:r>
                      <m:r>
                        <a:rPr lang="en-US" b="0" i="1" smtClean="0">
                          <a:latin typeface="Cambria Math" panose="02040503050406030204" pitchFamily="18" charset="0"/>
                        </a:rPr>
                        <m:t>)</m:t>
                      </m:r>
                    </m:oMath>
                  </m:oMathPara>
                </a14:m>
                <a:endParaRPr lang="en-US" dirty="0"/>
              </a:p>
              <a:p>
                <a:pPr marL="0" indent="0">
                  <a:buNone/>
                </a:pPr>
                <a:endParaRPr lang="en-US" dirty="0"/>
              </a:p>
              <a:p>
                <a:pPr marL="0" indent="0">
                  <a:buNone/>
                </a:pPr>
                <a:r>
                  <a:rPr lang="en-US" dirty="0"/>
                  <a:t>What we’re intuitively doing is seeing how the intercept term is different for the line that passes through the pre-reorganization period and the post-reorganization period.  And the hypothesis test examines whether or not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𝑐</m:t>
                            </m:r>
                          </m:e>
                        </m:acc>
                      </m:e>
                      <m:sub>
                        <m:r>
                          <a:rPr lang="en-US" i="1">
                            <a:latin typeface="Cambria Math" panose="02040503050406030204" pitchFamily="18" charset="0"/>
                            <a:ea typeface="Cambria Math" panose="02040503050406030204" pitchFamily="18" charset="0"/>
                          </a:rPr>
                          <m:t>1</m:t>
                        </m:r>
                      </m:sub>
                    </m:sSub>
                  </m:oMath>
                </a14:m>
                <a:r>
                  <a:rPr lang="en-US" dirty="0"/>
                  <a:t> </a:t>
                </a:r>
                <a:r>
                  <a:rPr lang="en-US"/>
                  <a:t>is non-zero (or “meaningfully” large).</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20688"/>
                <a:ext cx="8229600" cy="5505475"/>
              </a:xfrm>
              <a:blipFill>
                <a:blip r:embed="rId2"/>
                <a:stretch>
                  <a:fillRect l="-1852" t="-1440" r="-370"/>
                </a:stretch>
              </a:blipFill>
            </p:spPr>
            <p:txBody>
              <a:bodyPr/>
              <a:lstStyle/>
              <a:p>
                <a:r>
                  <a:rPr lang="en-US">
                    <a:noFill/>
                  </a:rPr>
                  <a:t> </a:t>
                </a:r>
              </a:p>
            </p:txBody>
          </p:sp>
        </mc:Fallback>
      </mc:AlternateContent>
    </p:spTree>
    <p:extLst>
      <p:ext uri="{BB962C8B-B14F-4D97-AF65-F5344CB8AC3E}">
        <p14:creationId xmlns:p14="http://schemas.microsoft.com/office/powerpoint/2010/main" val="3422550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404664"/>
            <a:ext cx="8118902" cy="5904656"/>
          </a:xfrm>
          <a:prstGeom prst="rect">
            <a:avLst/>
          </a:prstGeom>
        </p:spPr>
      </p:pic>
      <p:cxnSp>
        <p:nvCxnSpPr>
          <p:cNvPr id="6" name="Straight Connector 5"/>
          <p:cNvCxnSpPr/>
          <p:nvPr/>
        </p:nvCxnSpPr>
        <p:spPr>
          <a:xfrm>
            <a:off x="1187624" y="2204864"/>
            <a:ext cx="4680520"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851920" y="3645024"/>
            <a:ext cx="4680520"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5292080" y="1340768"/>
            <a:ext cx="144016" cy="8640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48064" y="692696"/>
            <a:ext cx="720080" cy="646331"/>
          </a:xfrm>
          <a:prstGeom prst="rect">
            <a:avLst/>
          </a:prstGeom>
          <a:noFill/>
        </p:spPr>
        <p:txBody>
          <a:bodyPr wrap="square" rtlCol="0">
            <a:spAutoFit/>
          </a:bodyPr>
          <a:lstStyle/>
          <a:p>
            <a:r>
              <a:rPr lang="en-US" dirty="0"/>
              <a:t>“Pre” mean</a:t>
            </a:r>
            <a:endParaRPr lang="en-CA" dirty="0"/>
          </a:p>
        </p:txBody>
      </p:sp>
      <p:cxnSp>
        <p:nvCxnSpPr>
          <p:cNvPr id="12" name="Straight Arrow Connector 11"/>
          <p:cNvCxnSpPr/>
          <p:nvPr/>
        </p:nvCxnSpPr>
        <p:spPr>
          <a:xfrm>
            <a:off x="7740352" y="1925216"/>
            <a:ext cx="504056" cy="171980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164288" y="1339027"/>
            <a:ext cx="828092" cy="646331"/>
          </a:xfrm>
          <a:prstGeom prst="rect">
            <a:avLst/>
          </a:prstGeom>
          <a:noFill/>
        </p:spPr>
        <p:txBody>
          <a:bodyPr wrap="square" rtlCol="0">
            <a:spAutoFit/>
          </a:bodyPr>
          <a:lstStyle/>
          <a:p>
            <a:r>
              <a:rPr lang="en-US" dirty="0"/>
              <a:t>“Post” mean</a:t>
            </a:r>
            <a:endParaRPr lang="en-CA" dirty="0"/>
          </a:p>
        </p:txBody>
      </p:sp>
    </p:spTree>
    <p:extLst>
      <p:ext uri="{BB962C8B-B14F-4D97-AF65-F5344CB8AC3E}">
        <p14:creationId xmlns:p14="http://schemas.microsoft.com/office/powerpoint/2010/main" val="415212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lstStyle/>
          <a:p>
            <a:pPr marL="0" indent="0">
              <a:buNone/>
            </a:pPr>
            <a:endParaRPr lang="en-US" dirty="0"/>
          </a:p>
          <a:p>
            <a:pPr marL="0" indent="0">
              <a:buNone/>
            </a:pPr>
            <a:r>
              <a:rPr lang="en-US" dirty="0"/>
              <a:t>The coefficient on “</a:t>
            </a:r>
            <a:r>
              <a:rPr lang="en-US" dirty="0" err="1"/>
              <a:t>Postreorg</a:t>
            </a:r>
            <a:r>
              <a:rPr lang="en-US" dirty="0"/>
              <a:t>” is the vertical difference between the two horizontal lines.</a:t>
            </a:r>
          </a:p>
          <a:p>
            <a:pPr marL="0" indent="0">
              <a:buNone/>
            </a:pPr>
            <a:endParaRPr lang="en-US" dirty="0"/>
          </a:p>
          <a:p>
            <a:pPr marL="0" indent="0">
              <a:buNone/>
            </a:pPr>
            <a:r>
              <a:rPr lang="en-US" dirty="0"/>
              <a:t>This is good to know, since it’s the effect of the change in organizational policies.</a:t>
            </a:r>
            <a:endParaRPr lang="en-CA" dirty="0"/>
          </a:p>
        </p:txBody>
      </p:sp>
    </p:spTree>
    <p:extLst>
      <p:ext uri="{BB962C8B-B14F-4D97-AF65-F5344CB8AC3E}">
        <p14:creationId xmlns:p14="http://schemas.microsoft.com/office/powerpoint/2010/main" val="20610576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764704"/>
            <a:ext cx="7050530" cy="5127658"/>
          </a:xfrm>
          <a:prstGeom prst="rect">
            <a:avLst/>
          </a:prstGeom>
        </p:spPr>
      </p:pic>
      <p:cxnSp>
        <p:nvCxnSpPr>
          <p:cNvPr id="5" name="Straight Connector 4"/>
          <p:cNvCxnSpPr/>
          <p:nvPr/>
        </p:nvCxnSpPr>
        <p:spPr>
          <a:xfrm>
            <a:off x="1331640" y="2420888"/>
            <a:ext cx="302433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427984" y="3645024"/>
            <a:ext cx="352839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331640" y="3645024"/>
            <a:ext cx="3024336" cy="0"/>
          </a:xfrm>
          <a:prstGeom prst="line">
            <a:avLst/>
          </a:prstGeom>
          <a:ln w="571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499992" y="2420888"/>
            <a:ext cx="3528392" cy="0"/>
          </a:xfrm>
          <a:prstGeom prst="line">
            <a:avLst/>
          </a:prstGeom>
          <a:ln w="57150">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084168" y="1015861"/>
            <a:ext cx="720080" cy="646331"/>
          </a:xfrm>
          <a:prstGeom prst="rect">
            <a:avLst/>
          </a:prstGeom>
          <a:noFill/>
        </p:spPr>
        <p:txBody>
          <a:bodyPr wrap="square" rtlCol="0">
            <a:spAutoFit/>
          </a:bodyPr>
          <a:lstStyle/>
          <a:p>
            <a:r>
              <a:rPr lang="en-US" dirty="0"/>
              <a:t>“Pre” mean</a:t>
            </a:r>
            <a:endParaRPr lang="en-CA" dirty="0"/>
          </a:p>
        </p:txBody>
      </p:sp>
      <p:sp>
        <p:nvSpPr>
          <p:cNvPr id="15" name="TextBox 14"/>
          <p:cNvSpPr txBox="1"/>
          <p:nvPr/>
        </p:nvSpPr>
        <p:spPr>
          <a:xfrm>
            <a:off x="6660232" y="4653136"/>
            <a:ext cx="801985" cy="646331"/>
          </a:xfrm>
          <a:prstGeom prst="rect">
            <a:avLst/>
          </a:prstGeom>
          <a:noFill/>
        </p:spPr>
        <p:txBody>
          <a:bodyPr wrap="square" rtlCol="0">
            <a:spAutoFit/>
          </a:bodyPr>
          <a:lstStyle/>
          <a:p>
            <a:r>
              <a:rPr lang="en-US" dirty="0"/>
              <a:t>“Post” mean</a:t>
            </a:r>
            <a:endParaRPr lang="en-CA" dirty="0"/>
          </a:p>
        </p:txBody>
      </p:sp>
      <p:cxnSp>
        <p:nvCxnSpPr>
          <p:cNvPr id="16" name="Straight Arrow Connector 15"/>
          <p:cNvCxnSpPr/>
          <p:nvPr/>
        </p:nvCxnSpPr>
        <p:spPr>
          <a:xfrm>
            <a:off x="6660232" y="1662192"/>
            <a:ext cx="1080120" cy="7586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5" idx="3"/>
          </p:cNvCxnSpPr>
          <p:nvPr/>
        </p:nvCxnSpPr>
        <p:spPr>
          <a:xfrm flipV="1">
            <a:off x="7462217" y="3645024"/>
            <a:ext cx="422151" cy="133127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ight Brace 22"/>
          <p:cNvSpPr/>
          <p:nvPr/>
        </p:nvSpPr>
        <p:spPr>
          <a:xfrm>
            <a:off x="7884368" y="2420888"/>
            <a:ext cx="360040" cy="1224136"/>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4" name="TextBox 23"/>
          <p:cNvSpPr txBox="1"/>
          <p:nvPr/>
        </p:nvSpPr>
        <p:spPr>
          <a:xfrm>
            <a:off x="8248922" y="2848290"/>
            <a:ext cx="499542" cy="369332"/>
          </a:xfrm>
          <a:prstGeom prst="rect">
            <a:avLst/>
          </a:prstGeom>
          <a:noFill/>
        </p:spPr>
        <p:txBody>
          <a:bodyPr wrap="square" rtlCol="0">
            <a:spAutoFit/>
          </a:bodyPr>
          <a:lstStyle/>
          <a:p>
            <a:r>
              <a:rPr lang="en-CA"/>
              <a:t>c</a:t>
            </a:r>
            <a:r>
              <a:rPr lang="en-CA" baseline="-25000"/>
              <a:t>1</a:t>
            </a:r>
            <a:endParaRPr lang="en-CA" dirty="0"/>
          </a:p>
        </p:txBody>
      </p:sp>
    </p:spTree>
    <p:extLst>
      <p:ext uri="{BB962C8B-B14F-4D97-AF65-F5344CB8AC3E}">
        <p14:creationId xmlns:p14="http://schemas.microsoft.com/office/powerpoint/2010/main" val="340403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3" grpId="0" animBg="1"/>
      <p:bldP spid="2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bigger question</a:t>
            </a:r>
          </a:p>
        </p:txBody>
      </p:sp>
      <p:sp>
        <p:nvSpPr>
          <p:cNvPr id="3" name="Content Placeholder 2"/>
          <p:cNvSpPr>
            <a:spLocks noGrp="1"/>
          </p:cNvSpPr>
          <p:nvPr>
            <p:ph idx="1"/>
          </p:nvPr>
        </p:nvSpPr>
        <p:spPr/>
        <p:txBody>
          <a:bodyPr/>
          <a:lstStyle/>
          <a:p>
            <a:pPr marL="0" indent="0">
              <a:buNone/>
            </a:pPr>
            <a:r>
              <a:rPr lang="en-US" dirty="0"/>
              <a:t>This is great, because we’ve devised a way to measure changes in an outcome before and after some change.</a:t>
            </a:r>
          </a:p>
          <a:p>
            <a:pPr marL="0" indent="0">
              <a:buNone/>
            </a:pPr>
            <a:endParaRPr lang="en-US" dirty="0"/>
          </a:p>
          <a:p>
            <a:pPr marL="0" indent="0">
              <a:buNone/>
            </a:pPr>
            <a:r>
              <a:rPr lang="en-US" dirty="0"/>
              <a:t>But now we need to think about the notion of causality.  </a:t>
            </a:r>
            <a:r>
              <a:rPr lang="en-US" u="sng" dirty="0"/>
              <a:t>We need to consider whether or not we can attribute the change in the outcome to the change in some variable we can control.</a:t>
            </a:r>
          </a:p>
        </p:txBody>
      </p:sp>
    </p:spTree>
    <p:extLst>
      <p:ext uri="{BB962C8B-B14F-4D97-AF65-F5344CB8AC3E}">
        <p14:creationId xmlns:p14="http://schemas.microsoft.com/office/powerpoint/2010/main" val="39722159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8E3659896C5164B85D6EEE8CA74DFEA" ma:contentTypeVersion="11" ma:contentTypeDescription="Create a new document." ma:contentTypeScope="" ma:versionID="33f7ca8f44387fa8aaac84a5a1810fd6">
  <xsd:schema xmlns:xsd="http://www.w3.org/2001/XMLSchema" xmlns:xs="http://www.w3.org/2001/XMLSchema" xmlns:p="http://schemas.microsoft.com/office/2006/metadata/properties" xmlns:ns3="8dcc6482-83b0-4165-b123-94b7189eae53" targetNamespace="http://schemas.microsoft.com/office/2006/metadata/properties" ma:root="true" ma:fieldsID="e10d04518358f31e4eafd950489f8fbd" ns3:_="">
    <xsd:import namespace="8dcc6482-83b0-4165-b123-94b7189eae5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LengthInSeconds" minOccurs="0"/>
                <xsd:element ref="ns3:MediaServiceGenerationTime" minOccurs="0"/>
                <xsd:element ref="ns3:MediaServiceEventHashCode"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cc6482-83b0-4165-b123-94b7189eae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description=""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332865-98DE-47A2-AEE4-E75116D66956}">
  <ds:schemaRefs>
    <ds:schemaRef ds:uri="http://schemas.microsoft.com/sharepoint/v3/contenttype/forms"/>
  </ds:schemaRefs>
</ds:datastoreItem>
</file>

<file path=customXml/itemProps2.xml><?xml version="1.0" encoding="utf-8"?>
<ds:datastoreItem xmlns:ds="http://schemas.openxmlformats.org/officeDocument/2006/customXml" ds:itemID="{753333E2-78A1-429B-BC48-CF329B5F25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cc6482-83b0-4165-b123-94b7189eae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F02D6E-BDD9-421C-9C54-C8DB8667868B}">
  <ds:schemaRefs>
    <ds:schemaRef ds:uri="http://purl.org/dc/dcmitype/"/>
    <ds:schemaRef ds:uri="http://www.w3.org/XML/1998/namespace"/>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8dcc6482-83b0-4165-b123-94b7189eae53"/>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1427</TotalTime>
  <Words>3721</Words>
  <Application>Microsoft Office PowerPoint</Application>
  <PresentationFormat>On-screen Show (4:3)</PresentationFormat>
  <Paragraphs>566</Paragraphs>
  <Slides>77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Calibri</vt:lpstr>
      <vt:lpstr>Cambria Math</vt:lpstr>
      <vt:lpstr>Symbol</vt:lpstr>
      <vt:lpstr>Wingdings</vt:lpstr>
      <vt:lpstr>Office Theme</vt:lpstr>
      <vt:lpstr>Multiple Regression  and Dummy Variables</vt:lpstr>
      <vt:lpstr>Dummy Variables</vt:lpstr>
      <vt:lpstr>PowerPoint Presentation</vt:lpstr>
      <vt:lpstr>Example #1 of a Dummy Variable</vt:lpstr>
      <vt:lpstr>Example #2 of a Dummy Variable</vt:lpstr>
      <vt:lpstr>PowerPoint Presentation</vt:lpstr>
      <vt:lpstr>Dummy Variables and Conditional Means</vt:lpstr>
      <vt:lpstr>An old example</vt:lpstr>
      <vt:lpstr>An old example</vt:lpstr>
      <vt:lpstr>An old example</vt:lpstr>
      <vt:lpstr>An old example</vt:lpstr>
      <vt:lpstr>An old example</vt:lpstr>
      <vt:lpstr>Conditional Mean Example #1</vt:lpstr>
      <vt:lpstr>Conditional Mean Example #1</vt:lpstr>
      <vt:lpstr>Conditional Mean Example #1</vt:lpstr>
      <vt:lpstr>Conditional Mean Example #1</vt:lpstr>
      <vt:lpstr>Conditional Mean Example #1</vt:lpstr>
      <vt:lpstr>Conditional Mean Example #1</vt:lpstr>
      <vt:lpstr>Conditional Mean Example #1</vt:lpstr>
      <vt:lpstr>Conditional Mean Example #1</vt:lpstr>
      <vt:lpstr>Conditional Mean Example #1</vt:lpstr>
      <vt:lpstr>Conditional Mean Example #1</vt:lpstr>
      <vt:lpstr>Conditional Mean Example #1</vt:lpstr>
      <vt:lpstr>Conditional Mean Example #1</vt:lpstr>
      <vt:lpstr>One last thing about this example</vt:lpstr>
      <vt:lpstr>One last thing about this example</vt:lpstr>
      <vt:lpstr>Conditional Mean Example #2</vt:lpstr>
      <vt:lpstr>PowerPoint Presentation</vt:lpstr>
      <vt:lpstr>Conditional Mean Example #2</vt:lpstr>
      <vt:lpstr>Results</vt:lpstr>
      <vt:lpstr>Simplified Results</vt:lpstr>
      <vt:lpstr>Key question</vt:lpstr>
      <vt:lpstr>PowerPoint Presentation</vt:lpstr>
      <vt:lpstr>PowerPoint Presentation</vt:lpstr>
      <vt:lpstr>Application</vt:lpstr>
      <vt:lpstr>PowerPoint Presentation</vt:lpstr>
      <vt:lpstr>A related question</vt:lpstr>
      <vt:lpstr>PowerPoint Presentation</vt:lpstr>
      <vt:lpstr>A slightly more complicated question</vt:lpstr>
      <vt:lpstr>How would you proceed as an analyst?</vt:lpstr>
      <vt:lpstr>Key question #1</vt:lpstr>
      <vt:lpstr>PowerPoint Presentation</vt:lpstr>
      <vt:lpstr>PowerPoint Presentation</vt:lpstr>
      <vt:lpstr>PowerPoint Presentation</vt:lpstr>
      <vt:lpstr>Key question #2</vt:lpstr>
      <vt:lpstr>PowerPoint Presentation</vt:lpstr>
      <vt:lpstr>PowerPoint Presentation</vt:lpstr>
      <vt:lpstr>PowerPoint Presentation</vt:lpstr>
      <vt:lpstr>Recall out regression output</vt:lpstr>
      <vt:lpstr>PowerPoint Presentation</vt:lpstr>
      <vt:lpstr>PowerPoint Presentation</vt:lpstr>
      <vt:lpstr>Another Use of Dummy Variables</vt:lpstr>
      <vt:lpstr>PowerPoint Presentation</vt:lpstr>
      <vt:lpstr>But how could you do that?</vt:lpstr>
      <vt:lpstr>Example #1</vt:lpstr>
      <vt:lpstr>Example #2</vt:lpstr>
      <vt:lpstr>Example #3</vt:lpstr>
      <vt:lpstr>PowerPoint Presentation</vt:lpstr>
      <vt:lpstr>Recall: Wage example</vt:lpstr>
      <vt:lpstr>PowerPoint Presentation</vt:lpstr>
      <vt:lpstr>Intuition (remember the earlier wage regression) for b0</vt:lpstr>
      <vt:lpstr>Intuition for b0 (continued)</vt:lpstr>
      <vt:lpstr>Intuition for b1</vt:lpstr>
      <vt:lpstr>Let’s try this</vt:lpstr>
      <vt:lpstr>Let’s try this</vt:lpstr>
      <vt:lpstr>Results: Productivity1</vt:lpstr>
      <vt:lpstr>Results: Productivity2</vt:lpstr>
      <vt:lpstr>Results: Productivity3</vt:lpstr>
      <vt:lpstr>Hypothesis Test</vt:lpstr>
      <vt:lpstr>Hypothesis Test</vt:lpstr>
      <vt:lpstr>Graphical intuition</vt:lpstr>
      <vt:lpstr>PowerPoint Presentation</vt:lpstr>
      <vt:lpstr>PowerPoint Presentation</vt:lpstr>
      <vt:lpstr>PowerPoint Presentation</vt:lpstr>
      <vt:lpstr>PowerPoint Presentation</vt:lpstr>
      <vt:lpstr>PowerPoint Presentation</vt:lpstr>
      <vt:lpstr>A bigger question</vt:lpstr>
    </vt:vector>
  </TitlesOfParts>
  <Company>UTSC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Regression, Part 2</dc:title>
  <dc:creator>Harry Krashinsky</dc:creator>
  <cp:lastModifiedBy>Harry Krashinsky</cp:lastModifiedBy>
  <cp:revision>73</cp:revision>
  <dcterms:created xsi:type="dcterms:W3CDTF">2013-08-23T02:05:46Z</dcterms:created>
  <dcterms:modified xsi:type="dcterms:W3CDTF">2025-06-24T15:43:55Z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0x010100E8E3659896C5164B85D6EEE8CA74DFEA</vt:lpwstr>
  </property>
</Properties>
</file>