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3"/>
  </p:notesMasterIdLst>
  <p:handoutMasterIdLst>
    <p:handoutMasterId r:id="rId114"/>
  </p:handoutMasterIdLst>
  <p:sldIdLst>
    <p:sldId id="436" r:id="rId5"/>
    <p:sldId id="386" r:id="rId6"/>
    <p:sldId id="365" r:id="rId7"/>
    <p:sldId id="366" r:id="rId8"/>
    <p:sldId id="501" r:id="rId9"/>
    <p:sldId id="502" r:id="rId10"/>
    <p:sldId id="446" r:id="rId11"/>
    <p:sldId id="505" r:id="rId12"/>
    <p:sldId id="529" r:id="rId13"/>
    <p:sldId id="530" r:id="rId14"/>
    <p:sldId id="531" r:id="rId15"/>
    <p:sldId id="532" r:id="rId16"/>
    <p:sldId id="506" r:id="rId17"/>
    <p:sldId id="508" r:id="rId18"/>
    <p:sldId id="509" r:id="rId19"/>
    <p:sldId id="578" r:id="rId20"/>
    <p:sldId id="507" r:id="rId21"/>
    <p:sldId id="510" r:id="rId22"/>
    <p:sldId id="511" r:id="rId23"/>
    <p:sldId id="520" r:id="rId24"/>
    <p:sldId id="512" r:id="rId25"/>
    <p:sldId id="534" r:id="rId26"/>
    <p:sldId id="513" r:id="rId27"/>
    <p:sldId id="515" r:id="rId28"/>
    <p:sldId id="516" r:id="rId29"/>
    <p:sldId id="518" r:id="rId30"/>
    <p:sldId id="533" r:id="rId31"/>
    <p:sldId id="535" r:id="rId32"/>
    <p:sldId id="548" r:id="rId33"/>
    <p:sldId id="522" r:id="rId34"/>
    <p:sldId id="523" r:id="rId35"/>
    <p:sldId id="524" r:id="rId36"/>
    <p:sldId id="628" r:id="rId37"/>
    <p:sldId id="629" r:id="rId38"/>
    <p:sldId id="525" r:id="rId39"/>
    <p:sldId id="526" r:id="rId40"/>
    <p:sldId id="527" r:id="rId41"/>
    <p:sldId id="528" r:id="rId42"/>
    <p:sldId id="540" r:id="rId43"/>
    <p:sldId id="541" r:id="rId44"/>
    <p:sldId id="630" r:id="rId45"/>
    <p:sldId id="579" r:id="rId46"/>
    <p:sldId id="549" r:id="rId47"/>
    <p:sldId id="550" r:id="rId48"/>
    <p:sldId id="551" r:id="rId49"/>
    <p:sldId id="561" r:id="rId50"/>
    <p:sldId id="562" r:id="rId51"/>
    <p:sldId id="552" r:id="rId52"/>
    <p:sldId id="553" r:id="rId53"/>
    <p:sldId id="542" r:id="rId54"/>
    <p:sldId id="564" r:id="rId55"/>
    <p:sldId id="565" r:id="rId56"/>
    <p:sldId id="566" r:id="rId57"/>
    <p:sldId id="567" r:id="rId58"/>
    <p:sldId id="568" r:id="rId59"/>
    <p:sldId id="569" r:id="rId60"/>
    <p:sldId id="570" r:id="rId61"/>
    <p:sldId id="571" r:id="rId62"/>
    <p:sldId id="572" r:id="rId63"/>
    <p:sldId id="573" r:id="rId64"/>
    <p:sldId id="574" r:id="rId65"/>
    <p:sldId id="575" r:id="rId66"/>
    <p:sldId id="576" r:id="rId67"/>
    <p:sldId id="577" r:id="rId68"/>
    <p:sldId id="581" r:id="rId69"/>
    <p:sldId id="582" r:id="rId70"/>
    <p:sldId id="583" r:id="rId71"/>
    <p:sldId id="584" r:id="rId72"/>
    <p:sldId id="585" r:id="rId73"/>
    <p:sldId id="586" r:id="rId74"/>
    <p:sldId id="587" r:id="rId75"/>
    <p:sldId id="588" r:id="rId76"/>
    <p:sldId id="589" r:id="rId77"/>
    <p:sldId id="590" r:id="rId78"/>
    <p:sldId id="592" r:id="rId79"/>
    <p:sldId id="593" r:id="rId80"/>
    <p:sldId id="594" r:id="rId81"/>
    <p:sldId id="595" r:id="rId82"/>
    <p:sldId id="596" r:id="rId83"/>
    <p:sldId id="598" r:id="rId84"/>
    <p:sldId id="599" r:id="rId85"/>
    <p:sldId id="600" r:id="rId86"/>
    <p:sldId id="601" r:id="rId87"/>
    <p:sldId id="602" r:id="rId88"/>
    <p:sldId id="603" r:id="rId89"/>
    <p:sldId id="604" r:id="rId90"/>
    <p:sldId id="605" r:id="rId91"/>
    <p:sldId id="606" r:id="rId92"/>
    <p:sldId id="607" r:id="rId93"/>
    <p:sldId id="608" r:id="rId94"/>
    <p:sldId id="609" r:id="rId95"/>
    <p:sldId id="610" r:id="rId96"/>
    <p:sldId id="611" r:id="rId97"/>
    <p:sldId id="612" r:id="rId98"/>
    <p:sldId id="613" r:id="rId99"/>
    <p:sldId id="614" r:id="rId100"/>
    <p:sldId id="615" r:id="rId101"/>
    <p:sldId id="616" r:id="rId102"/>
    <p:sldId id="617" r:id="rId103"/>
    <p:sldId id="618" r:id="rId104"/>
    <p:sldId id="619" r:id="rId105"/>
    <p:sldId id="620" r:id="rId106"/>
    <p:sldId id="621" r:id="rId107"/>
    <p:sldId id="622" r:id="rId108"/>
    <p:sldId id="623" r:id="rId109"/>
    <p:sldId id="624" r:id="rId110"/>
    <p:sldId id="625" r:id="rId111"/>
    <p:sldId id="626" r:id="rId112"/>
  </p:sldIdLst>
  <p:sldSz cx="9144000" cy="6858000" type="screen4x3"/>
  <p:notesSz cx="6797675" cy="987425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111" autoAdjust="0"/>
    <p:restoredTop sz="86505" autoAdjust="0"/>
  </p:normalViewPr>
  <p:slideViewPr>
    <p:cSldViewPr>
      <p:cViewPr varScale="1">
        <p:scale>
          <a:sx n="107" d="100"/>
          <a:sy n="107" d="100"/>
        </p:scale>
        <p:origin x="490" y="77"/>
      </p:cViewPr>
      <p:guideLst>
        <p:guide orient="horz" pos="2160"/>
        <p:guide pos="2880"/>
      </p:guideLst>
    </p:cSldViewPr>
  </p:slideViewPr>
  <p:outlineViewPr>
    <p:cViewPr>
      <p:scale>
        <a:sx n="33" d="100"/>
        <a:sy n="33" d="100"/>
      </p:scale>
      <p:origin x="0" y="-405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theme" Target="theme/theme1.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notesMaster" Target="notesMasters/notesMaster1.xml"/><Relationship Id="rId118" Type="http://schemas.openxmlformats.org/officeDocument/2006/relationships/tableStyles" Target="tableStyle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handoutMaster" Target="handoutMasters/handoutMaster1.xml"/><Relationship Id="rId119"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y Krashinsky" userId="a123f403-c6e0-4a01-a4ce-0196b3397f33" providerId="ADAL" clId="{E5ED13D0-0F1C-4FB9-9434-AAD0D86DCB10}"/>
    <pc:docChg chg="delSld">
      <pc:chgData name="Harry Krashinsky" userId="a123f403-c6e0-4a01-a4ce-0196b3397f33" providerId="ADAL" clId="{E5ED13D0-0F1C-4FB9-9434-AAD0D86DCB10}" dt="2025-07-29T16:28:31.575" v="0" actId="2696"/>
      <pc:docMkLst>
        <pc:docMk/>
      </pc:docMkLst>
      <pc:sldChg chg="del">
        <pc:chgData name="Harry Krashinsky" userId="a123f403-c6e0-4a01-a4ce-0196b3397f33" providerId="ADAL" clId="{E5ED13D0-0F1C-4FB9-9434-AAD0D86DCB10}" dt="2025-07-29T16:28:31.575" v="0" actId="2696"/>
        <pc:sldMkLst>
          <pc:docMk/>
          <pc:sldMk cId="4147725959" sldId="627"/>
        </pc:sldMkLst>
      </pc:sldChg>
    </pc:docChg>
  </pc:docChgLst>
  <pc:docChgLst>
    <pc:chgData name="Harry Krashinsky" userId="a123f403-c6e0-4a01-a4ce-0196b3397f33" providerId="ADAL" clId="{F221BE94-3FFB-44DC-8269-BF801682361C}"/>
    <pc:docChg chg="modSld">
      <pc:chgData name="Harry Krashinsky" userId="a123f403-c6e0-4a01-a4ce-0196b3397f33" providerId="ADAL" clId="{F221BE94-3FFB-44DC-8269-BF801682361C}" dt="2025-06-24T15:07:12.439" v="1" actId="20577"/>
      <pc:docMkLst>
        <pc:docMk/>
      </pc:docMkLst>
      <pc:sldChg chg="modSp">
        <pc:chgData name="Harry Krashinsky" userId="a123f403-c6e0-4a01-a4ce-0196b3397f33" providerId="ADAL" clId="{F221BE94-3FFB-44DC-8269-BF801682361C}" dt="2025-06-24T15:07:12.439" v="1" actId="20577"/>
        <pc:sldMkLst>
          <pc:docMk/>
          <pc:sldMk cId="0" sldId="436"/>
        </pc:sldMkLst>
        <pc:spChg chg="mod">
          <ac:chgData name="Harry Krashinsky" userId="a123f403-c6e0-4a01-a4ce-0196b3397f33" providerId="ADAL" clId="{F221BE94-3FFB-44DC-8269-BF801682361C}" dt="2025-06-24T15:07:12.439" v="1" actId="20577"/>
          <ac:spMkLst>
            <pc:docMk/>
            <pc:sldMk cId="0" sldId="436"/>
            <ac:spMk id="205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25955" name="Rectangle 3"/>
          <p:cNvSpPr>
            <a:spLocks noGrp="1" noChangeArrowheads="1"/>
          </p:cNvSpPr>
          <p:nvPr>
            <p:ph type="dt" sz="quarter" idx="1"/>
          </p:nvPr>
        </p:nvSpPr>
        <p:spPr bwMode="auto">
          <a:xfrm>
            <a:off x="3849688"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25956" name="Rectangle 4"/>
          <p:cNvSpPr>
            <a:spLocks noGrp="1" noChangeArrowheads="1"/>
          </p:cNvSpPr>
          <p:nvPr>
            <p:ph type="ftr" sz="quarter" idx="2"/>
          </p:nvPr>
        </p:nvSpPr>
        <p:spPr bwMode="auto">
          <a:xfrm>
            <a:off x="0"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25957" name="Rectangle 5"/>
          <p:cNvSpPr>
            <a:spLocks noGrp="1" noChangeArrowheads="1"/>
          </p:cNvSpPr>
          <p:nvPr>
            <p:ph type="sldNum" sz="quarter" idx="3"/>
          </p:nvPr>
        </p:nvSpPr>
        <p:spPr bwMode="auto">
          <a:xfrm>
            <a:off x="3849688"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0012CEFC-E061-4BE6-80B3-B3509B6748DB}" type="slidenum">
              <a:rPr lang="en-US"/>
              <a:pPr>
                <a:defRPr/>
              </a:pPr>
              <a:t>‹#›</a:t>
            </a:fld>
            <a:endParaRPr lang="en-US"/>
          </a:p>
        </p:txBody>
      </p:sp>
    </p:spTree>
    <p:extLst>
      <p:ext uri="{BB962C8B-B14F-4D97-AF65-F5344CB8AC3E}">
        <p14:creationId xmlns:p14="http://schemas.microsoft.com/office/powerpoint/2010/main" val="59706887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T" type="integer" max="2.14748E9" units="dev"/>
        </inkml:traceFormat>
        <inkml:channelProperties>
          <inkml:channelProperty channel="X" name="resolution" value="369.51501" units="1/cm"/>
          <inkml:channelProperty channel="Y" name="resolution" value="415.70438" units="1/cm"/>
          <inkml:channelProperty channel="T" name="resolution" value="1" units="1/dev"/>
        </inkml:channelProperties>
      </inkml:inkSource>
      <inkml:timestamp xml:id="ts0" timeString="2017-11-19T23:58:24.892"/>
    </inkml:context>
    <inkml:brush xml:id="br0">
      <inkml:brushProperty name="width" value="0.05292" units="cm"/>
      <inkml:brushProperty name="height" value="0.05292" units="cm"/>
      <inkml:brushProperty name="color" value="#FF0000"/>
    </inkml:brush>
  </inkml:definitions>
  <inkml:trace contextRef="#ctx0" brushRef="#br0">23701 16645 0,'0'0'0,"0"0"15,0 0 1</inkml:trace>
</inkml:ink>
</file>

<file path=ppt/ink/ink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1024"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17-11-20T00:37:52.623"/>
    </inkml:context>
    <inkml:brush xml:id="br0">
      <inkml:brushProperty name="width" value="0.05292" units="cm"/>
      <inkml:brushProperty name="height" value="0.05292" units="cm"/>
      <inkml:brushProperty name="color" value="#FF0000"/>
    </inkml:brush>
  </inkml:definitions>
  <inkml:trace contextRef="#ctx0" brushRef="#br0">22472 18846 182 0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4339" name="Rectangle 3"/>
          <p:cNvSpPr>
            <a:spLocks noGrp="1" noChangeArrowheads="1"/>
          </p:cNvSpPr>
          <p:nvPr>
            <p:ph type="dt" idx="1"/>
          </p:nvPr>
        </p:nvSpPr>
        <p:spPr bwMode="auto">
          <a:xfrm>
            <a:off x="3849688"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6324" name="Rectangle 4"/>
          <p:cNvSpPr>
            <a:spLocks noGrp="1" noRot="1" noChangeAspect="1" noChangeArrowheads="1" noTextEdit="1"/>
          </p:cNvSpPr>
          <p:nvPr>
            <p:ph type="sldImg" idx="2"/>
          </p:nvPr>
        </p:nvSpPr>
        <p:spPr bwMode="auto">
          <a:xfrm>
            <a:off x="931863" y="741363"/>
            <a:ext cx="4933950"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p:cNvSpPr>
            <a:spLocks noGrp="1" noChangeArrowheads="1"/>
          </p:cNvSpPr>
          <p:nvPr>
            <p:ph type="body" sz="quarter" idx="3"/>
          </p:nvPr>
        </p:nvSpPr>
        <p:spPr bwMode="auto">
          <a:xfrm>
            <a:off x="679450" y="4691063"/>
            <a:ext cx="5438775" cy="44434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42" name="Rectangle 6"/>
          <p:cNvSpPr>
            <a:spLocks noGrp="1" noChangeArrowheads="1"/>
          </p:cNvSpPr>
          <p:nvPr>
            <p:ph type="ftr" sz="quarter" idx="4"/>
          </p:nvPr>
        </p:nvSpPr>
        <p:spPr bwMode="auto">
          <a:xfrm>
            <a:off x="0"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4343" name="Rectangle 7"/>
          <p:cNvSpPr>
            <a:spLocks noGrp="1" noChangeArrowheads="1"/>
          </p:cNvSpPr>
          <p:nvPr>
            <p:ph type="sldNum" sz="quarter" idx="5"/>
          </p:nvPr>
        </p:nvSpPr>
        <p:spPr bwMode="auto">
          <a:xfrm>
            <a:off x="3849688"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B4F66C5-CB27-482B-B8AB-1D14837ADA71}" type="slidenum">
              <a:rPr lang="en-US"/>
              <a:pPr>
                <a:defRPr/>
              </a:pPr>
              <a:t>‹#›</a:t>
            </a:fld>
            <a:endParaRPr lang="en-US"/>
          </a:p>
        </p:txBody>
      </p:sp>
    </p:spTree>
    <p:extLst>
      <p:ext uri="{BB962C8B-B14F-4D97-AF65-F5344CB8AC3E}">
        <p14:creationId xmlns:p14="http://schemas.microsoft.com/office/powerpoint/2010/main" val="7242470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EF173BFA-A9FF-4C17-956C-5496DEB677A7}" type="slidenum">
              <a:rPr lang="en-US" altLang="en-US" smtClean="0"/>
              <a:pPr eaLnBrk="1" hangingPunct="1">
                <a:spcBef>
                  <a:spcPct val="0"/>
                </a:spcBef>
              </a:pPr>
              <a:t>1</a:t>
            </a:fld>
            <a:endParaRPr lang="en-US" alt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012038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886077-7592-454C-BD91-392F5BCD17F3}" type="slidenum">
              <a:rPr lang="en-US"/>
              <a:pPr>
                <a:defRPr/>
              </a:pPr>
              <a:t>‹#›</a:t>
            </a:fld>
            <a:endParaRPr lang="en-US"/>
          </a:p>
        </p:txBody>
      </p:sp>
    </p:spTree>
    <p:extLst>
      <p:ext uri="{BB962C8B-B14F-4D97-AF65-F5344CB8AC3E}">
        <p14:creationId xmlns:p14="http://schemas.microsoft.com/office/powerpoint/2010/main" val="1260786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B03E209-4C24-4EF0-9862-BB90CAFD9327}" type="slidenum">
              <a:rPr lang="en-US"/>
              <a:pPr>
                <a:defRPr/>
              </a:pPr>
              <a:t>‹#›</a:t>
            </a:fld>
            <a:endParaRPr lang="en-US"/>
          </a:p>
        </p:txBody>
      </p:sp>
    </p:spTree>
    <p:extLst>
      <p:ext uri="{BB962C8B-B14F-4D97-AF65-F5344CB8AC3E}">
        <p14:creationId xmlns:p14="http://schemas.microsoft.com/office/powerpoint/2010/main" val="2453474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2D81D88-5459-4705-8812-48ACA14B89A9}" type="slidenum">
              <a:rPr lang="en-US"/>
              <a:pPr>
                <a:defRPr/>
              </a:pPr>
              <a:t>‹#›</a:t>
            </a:fld>
            <a:endParaRPr lang="en-US"/>
          </a:p>
        </p:txBody>
      </p:sp>
    </p:spTree>
    <p:extLst>
      <p:ext uri="{BB962C8B-B14F-4D97-AF65-F5344CB8AC3E}">
        <p14:creationId xmlns:p14="http://schemas.microsoft.com/office/powerpoint/2010/main" val="1836604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3EC591C-AA7A-44EE-8756-E7872F171CFE}" type="slidenum">
              <a:rPr lang="en-US"/>
              <a:pPr>
                <a:defRPr/>
              </a:pPr>
              <a:t>‹#›</a:t>
            </a:fld>
            <a:endParaRPr lang="en-US"/>
          </a:p>
        </p:txBody>
      </p:sp>
    </p:spTree>
    <p:extLst>
      <p:ext uri="{BB962C8B-B14F-4D97-AF65-F5344CB8AC3E}">
        <p14:creationId xmlns:p14="http://schemas.microsoft.com/office/powerpoint/2010/main" val="416156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3515003A-08C5-4DC2-BDA2-640FB0FA8EF5}" type="slidenum">
              <a:rPr lang="en-US"/>
              <a:pPr>
                <a:defRPr/>
              </a:pPr>
              <a:t>‹#›</a:t>
            </a:fld>
            <a:endParaRPr lang="en-US"/>
          </a:p>
        </p:txBody>
      </p:sp>
    </p:spTree>
    <p:extLst>
      <p:ext uri="{BB962C8B-B14F-4D97-AF65-F5344CB8AC3E}">
        <p14:creationId xmlns:p14="http://schemas.microsoft.com/office/powerpoint/2010/main" val="3718041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36F0D295-AEB2-4982-8D28-798BB5521C2F}" type="slidenum">
              <a:rPr lang="en-US"/>
              <a:pPr>
                <a:defRPr/>
              </a:pPr>
              <a:t>‹#›</a:t>
            </a:fld>
            <a:endParaRPr lang="en-US"/>
          </a:p>
        </p:txBody>
      </p:sp>
    </p:spTree>
    <p:extLst>
      <p:ext uri="{BB962C8B-B14F-4D97-AF65-F5344CB8AC3E}">
        <p14:creationId xmlns:p14="http://schemas.microsoft.com/office/powerpoint/2010/main" val="7470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B547760-EB38-45C1-B583-8E3A5AD16183}" type="slidenum">
              <a:rPr lang="en-US"/>
              <a:pPr>
                <a:defRPr/>
              </a:pPr>
              <a:t>‹#›</a:t>
            </a:fld>
            <a:endParaRPr lang="en-US"/>
          </a:p>
        </p:txBody>
      </p:sp>
    </p:spTree>
    <p:extLst>
      <p:ext uri="{BB962C8B-B14F-4D97-AF65-F5344CB8AC3E}">
        <p14:creationId xmlns:p14="http://schemas.microsoft.com/office/powerpoint/2010/main" val="2179682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2183B12-F6AE-44C4-89BB-B504C370CF76}" type="slidenum">
              <a:rPr lang="en-US"/>
              <a:pPr>
                <a:defRPr/>
              </a:pPr>
              <a:t>‹#›</a:t>
            </a:fld>
            <a:endParaRPr lang="en-US"/>
          </a:p>
        </p:txBody>
      </p:sp>
    </p:spTree>
    <p:extLst>
      <p:ext uri="{BB962C8B-B14F-4D97-AF65-F5344CB8AC3E}">
        <p14:creationId xmlns:p14="http://schemas.microsoft.com/office/powerpoint/2010/main" val="1521868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F12D7E0-D85B-46D9-A720-B29E8D2D5E36}" type="slidenum">
              <a:rPr lang="en-US"/>
              <a:pPr>
                <a:defRPr/>
              </a:pPr>
              <a:t>‹#›</a:t>
            </a:fld>
            <a:endParaRPr lang="en-US"/>
          </a:p>
        </p:txBody>
      </p:sp>
    </p:spTree>
    <p:extLst>
      <p:ext uri="{BB962C8B-B14F-4D97-AF65-F5344CB8AC3E}">
        <p14:creationId xmlns:p14="http://schemas.microsoft.com/office/powerpoint/2010/main" val="1980007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20F3BBB-16DB-494E-B8BB-BF09BE75EFBD}" type="slidenum">
              <a:rPr lang="en-US"/>
              <a:pPr>
                <a:defRPr/>
              </a:pPr>
              <a:t>‹#›</a:t>
            </a:fld>
            <a:endParaRPr lang="en-US"/>
          </a:p>
        </p:txBody>
      </p:sp>
    </p:spTree>
    <p:extLst>
      <p:ext uri="{BB962C8B-B14F-4D97-AF65-F5344CB8AC3E}">
        <p14:creationId xmlns:p14="http://schemas.microsoft.com/office/powerpoint/2010/main" val="2127111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D3A6CE3-3F6C-4A6B-B771-0CB984AF1CB5}" type="slidenum">
              <a:rPr lang="en-US"/>
              <a:pPr>
                <a:defRPr/>
              </a:pPr>
              <a:t>‹#›</a:t>
            </a:fld>
            <a:endParaRPr lang="en-US"/>
          </a:p>
        </p:txBody>
      </p:sp>
    </p:spTree>
    <p:extLst>
      <p:ext uri="{BB962C8B-B14F-4D97-AF65-F5344CB8AC3E}">
        <p14:creationId xmlns:p14="http://schemas.microsoft.com/office/powerpoint/2010/main" val="1295150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7BA3F417-8F5D-47A4-A22D-FECBDD524CB0}" type="slidenum">
              <a:rPr lang="en-US"/>
              <a:pPr>
                <a:defRPr/>
              </a:pPr>
              <a:t>‹#›</a:t>
            </a:fld>
            <a:endParaRPr lang="en-US"/>
          </a:p>
        </p:txBody>
      </p:sp>
    </p:spTree>
    <p:extLst>
      <p:ext uri="{BB962C8B-B14F-4D97-AF65-F5344CB8AC3E}">
        <p14:creationId xmlns:p14="http://schemas.microsoft.com/office/powerpoint/2010/main" val="2954328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D1B2911-7758-4EC2-9584-B535812EE308}" type="slidenum">
              <a:rPr lang="en-US"/>
              <a:pPr>
                <a:defRPr/>
              </a:pPr>
              <a:t>‹#›</a:t>
            </a:fld>
            <a:endParaRPr lang="en-US"/>
          </a:p>
        </p:txBody>
      </p:sp>
    </p:spTree>
    <p:extLst>
      <p:ext uri="{BB962C8B-B14F-4D97-AF65-F5344CB8AC3E}">
        <p14:creationId xmlns:p14="http://schemas.microsoft.com/office/powerpoint/2010/main" val="2394936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CA"/>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4069357-5009-4801-A361-DB9F44ACD7C0}" type="slidenum">
              <a:rPr lang="en-US"/>
              <a:pPr>
                <a:defRPr/>
              </a:pPr>
              <a:t>‹#›</a:t>
            </a:fld>
            <a:endParaRPr lang="en-US"/>
          </a:p>
        </p:txBody>
      </p:sp>
    </p:spTree>
    <p:extLst>
      <p:ext uri="{BB962C8B-B14F-4D97-AF65-F5344CB8AC3E}">
        <p14:creationId xmlns:p14="http://schemas.microsoft.com/office/powerpoint/2010/main" val="1022484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CA"/>
          </a:p>
        </p:txBody>
      </p:sp>
      <p:sp>
        <p:nvSpPr>
          <p:cNvPr id="3" name="Chart Placeholder 2"/>
          <p:cNvSpPr>
            <a:spLocks noGrp="1"/>
          </p:cNvSpPr>
          <p:nvPr>
            <p:ph type="chart" idx="1"/>
          </p:nvPr>
        </p:nvSpPr>
        <p:spPr>
          <a:xfrm>
            <a:off x="457200" y="1600200"/>
            <a:ext cx="8229600" cy="4525963"/>
          </a:xfrm>
        </p:spPr>
        <p:txBody>
          <a:bodyPr/>
          <a:lstStyle/>
          <a:p>
            <a:pPr lvl="0"/>
            <a:endParaRPr lang="en-CA"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194DC8A-65A0-444C-9E0D-A3EF274EEE3E}" type="slidenum">
              <a:rPr lang="en-US"/>
              <a:pPr>
                <a:defRPr/>
              </a:pPr>
              <a:t>‹#›</a:t>
            </a:fld>
            <a:endParaRPr lang="en-US"/>
          </a:p>
        </p:txBody>
      </p:sp>
    </p:spTree>
    <p:extLst>
      <p:ext uri="{BB962C8B-B14F-4D97-AF65-F5344CB8AC3E}">
        <p14:creationId xmlns:p14="http://schemas.microsoft.com/office/powerpoint/2010/main" val="2393091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7DF3B062-FCD5-41EE-A13B-A546A45BE66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1.jpeg"/><Relationship Id="rId7" Type="http://schemas.openxmlformats.org/officeDocument/2006/relationships/customXml" Target="../ink/ink2.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emf"/><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fld id="{5078F145-F6AF-4382-848C-E639B66308E0}" type="slidenum">
              <a:rPr lang="en-US" altLang="en-US" sz="1400" smtClean="0"/>
              <a:pPr eaLnBrk="1" hangingPunct="1">
                <a:spcBef>
                  <a:spcPct val="0"/>
                </a:spcBef>
                <a:buFontTx/>
                <a:buNone/>
              </a:pPr>
              <a:t>1</a:t>
            </a:fld>
            <a:endParaRPr lang="en-US" altLang="en-US" sz="1400"/>
          </a:p>
        </p:txBody>
      </p:sp>
      <p:sp>
        <p:nvSpPr>
          <p:cNvPr id="2051" name="Rectangle 4"/>
          <p:cNvSpPr>
            <a:spLocks noChangeArrowheads="1"/>
          </p:cNvSpPr>
          <p:nvPr/>
        </p:nvSpPr>
        <p:spPr bwMode="auto">
          <a:xfrm>
            <a:off x="228600" y="1557338"/>
            <a:ext cx="86106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br>
              <a:rPr lang="en-US" altLang="en-US" b="1" dirty="0"/>
            </a:br>
            <a:br>
              <a:rPr lang="en-US" altLang="en-US" b="1" dirty="0"/>
            </a:br>
            <a:br>
              <a:rPr lang="en-US" altLang="en-US" b="1" dirty="0"/>
            </a:br>
            <a:r>
              <a:rPr lang="en-US" altLang="en-US" b="1" dirty="0">
                <a:solidFill>
                  <a:schemeClr val="tx2"/>
                </a:solidFill>
              </a:rPr>
              <a:t>An Integrative Introduction </a:t>
            </a:r>
          </a:p>
          <a:p>
            <a:pPr algn="ctr" eaLnBrk="1" hangingPunct="1">
              <a:spcBef>
                <a:spcPct val="0"/>
              </a:spcBef>
              <a:buFontTx/>
              <a:buNone/>
            </a:pPr>
            <a:r>
              <a:rPr lang="en-US" altLang="en-US" b="1" dirty="0">
                <a:solidFill>
                  <a:schemeClr val="tx2"/>
                </a:solidFill>
              </a:rPr>
              <a:t>to Analyzing Data</a:t>
            </a:r>
          </a:p>
        </p:txBody>
      </p:sp>
      <p:sp>
        <p:nvSpPr>
          <p:cNvPr id="2052" name="Rectangle 5"/>
          <p:cNvSpPr>
            <a:spLocks noChangeArrowheads="1"/>
          </p:cNvSpPr>
          <p:nvPr/>
        </p:nvSpPr>
        <p:spPr bwMode="auto">
          <a:xfrm>
            <a:off x="1042988" y="4581525"/>
            <a:ext cx="71628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342900" indent="-342900"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buFontTx/>
              <a:buNone/>
            </a:pPr>
            <a:r>
              <a:rPr lang="en-US" altLang="en-US" dirty="0"/>
              <a:t>Professor Harry </a:t>
            </a:r>
            <a:r>
              <a:rPr lang="en-US" altLang="en-US" dirty="0" err="1"/>
              <a:t>Krashinsky</a:t>
            </a:r>
            <a:endParaRPr lang="en-US" altLang="en-US" dirty="0"/>
          </a:p>
          <a:p>
            <a:pPr algn="ctr" eaLnBrk="1" hangingPunct="1">
              <a:buFontTx/>
              <a:buNone/>
            </a:pPr>
            <a:r>
              <a:rPr lang="en-GB" altLang="en-US" dirty="0"/>
              <a:t>EMBA 46: QRM 2025</a:t>
            </a:r>
            <a:endParaRPr lang="en-US" altLang="en-US" dirty="0"/>
          </a:p>
        </p:txBody>
      </p:sp>
      <p:pic>
        <p:nvPicPr>
          <p:cNvPr id="2054" name="Picture 0" descr="Rotman Signature - blu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3338" y="404813"/>
            <a:ext cx="31305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8532360" y="5992200"/>
              <a:ext cx="360" cy="360"/>
            </p14:xfrm>
          </p:contentPart>
        </mc:Choice>
        <mc:Fallback xmlns="">
          <p:pic>
            <p:nvPicPr>
              <p:cNvPr id="2" name="Ink 1"/>
              <p:cNvPicPr/>
              <p:nvPr/>
            </p:nvPicPr>
            <p:blipFill>
              <a:blip r:embed="rId6"/>
              <a:stretch>
                <a:fillRect/>
              </a:stretch>
            </p:blipFill>
            <p:spPr>
              <a:xfrm>
                <a:off x="8523000" y="598284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p14:cNvContentPartPr/>
              <p14:nvPr/>
            </p14:nvContentPartPr>
            <p14:xfrm>
              <a:off x="8089920" y="6784560"/>
              <a:ext cx="360" cy="360"/>
            </p14:xfrm>
          </p:contentPart>
        </mc:Choice>
        <mc:Fallback xmlns="">
          <p:pic>
            <p:nvPicPr>
              <p:cNvPr id="3" name="Ink 2"/>
              <p:cNvPicPr/>
              <p:nvPr/>
            </p:nvPicPr>
            <p:blipFill>
              <a:blip r:embed="rId8"/>
              <a:stretch>
                <a:fillRect/>
              </a:stretch>
            </p:blipFill>
            <p:spPr>
              <a:xfrm>
                <a:off x="8084880" y="6779520"/>
                <a:ext cx="10440" cy="1044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4"/>
          <p:cNvSpPr>
            <a:spLocks noGrp="1"/>
          </p:cNvSpPr>
          <p:nvPr>
            <p:ph type="ctrTitle"/>
          </p:nvPr>
        </p:nvSpPr>
        <p:spPr/>
        <p:txBody>
          <a:bodyPr/>
          <a:lstStyle/>
          <a:p>
            <a:pPr eaLnBrk="1" hangingPunct="1"/>
            <a:r>
              <a:rPr lang="en-US" altLang="en-US" dirty="0"/>
              <a:t>Recall our central mission in this course</a:t>
            </a:r>
            <a:endParaRPr lang="en-CA" altLang="en-US" dirty="0"/>
          </a:p>
        </p:txBody>
      </p:sp>
      <p:sp>
        <p:nvSpPr>
          <p:cNvPr id="307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fld id="{7615B5DA-E90F-4393-B117-129A49F52509}" type="slidenum">
              <a:rPr lang="en-US" altLang="en-US" sz="1400" smtClean="0"/>
              <a:pPr eaLnBrk="1" hangingPunct="1">
                <a:spcBef>
                  <a:spcPct val="0"/>
                </a:spcBef>
                <a:buFontTx/>
                <a:buNone/>
              </a:pPr>
              <a:t>2</a:t>
            </a:fld>
            <a:endParaRPr lang="en-US"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fld id="{6B1A2BDA-7518-4E1E-B8FD-3915220B7FC4}" type="slidenum">
              <a:rPr lang="en-US" altLang="en-US" sz="1400" smtClean="0"/>
              <a:pPr eaLnBrk="1" hangingPunct="1">
                <a:spcBef>
                  <a:spcPct val="0"/>
                </a:spcBef>
                <a:buFontTx/>
                <a:buNone/>
              </a:pPr>
              <a:t>3</a:t>
            </a:fld>
            <a:endParaRPr lang="en-US" altLang="en-US" sz="1400"/>
          </a:p>
        </p:txBody>
      </p:sp>
      <p:sp>
        <p:nvSpPr>
          <p:cNvPr id="5123" name="Rectangle 2"/>
          <p:cNvSpPr>
            <a:spLocks noGrp="1" noChangeArrowheads="1"/>
          </p:cNvSpPr>
          <p:nvPr>
            <p:ph type="title"/>
          </p:nvPr>
        </p:nvSpPr>
        <p:spPr>
          <a:xfrm>
            <a:off x="381000" y="274638"/>
            <a:ext cx="8229600" cy="1143000"/>
          </a:xfrm>
        </p:spPr>
        <p:txBody>
          <a:bodyPr/>
          <a:lstStyle/>
          <a:p>
            <a:pPr eaLnBrk="1" hangingPunct="1"/>
            <a:r>
              <a:rPr lang="en-US" altLang="en-US" sz="3600"/>
              <a:t>Reinforcing Good, Penalizing Bad</a:t>
            </a:r>
          </a:p>
        </p:txBody>
      </p:sp>
      <p:sp>
        <p:nvSpPr>
          <p:cNvPr id="5124" name="Rectangle 3"/>
          <p:cNvSpPr>
            <a:spLocks noGrp="1" noChangeArrowheads="1"/>
          </p:cNvSpPr>
          <p:nvPr>
            <p:ph type="body" idx="1"/>
          </p:nvPr>
        </p:nvSpPr>
        <p:spPr>
          <a:xfrm>
            <a:off x="373063" y="1600200"/>
            <a:ext cx="4343400" cy="4525963"/>
          </a:xfrm>
        </p:spPr>
        <p:txBody>
          <a:bodyPr/>
          <a:lstStyle/>
          <a:p>
            <a:pPr eaLnBrk="1" hangingPunct="1"/>
            <a:r>
              <a:rPr lang="en-US" altLang="en-US"/>
              <a:t>Suppose</a:t>
            </a:r>
          </a:p>
          <a:p>
            <a:pPr lvl="1" eaLnBrk="1" hangingPunct="1"/>
            <a:r>
              <a:rPr lang="en-US" altLang="en-US"/>
              <a:t>Profits are up</a:t>
            </a:r>
          </a:p>
          <a:p>
            <a:pPr lvl="1" eaLnBrk="1" hangingPunct="1"/>
            <a:r>
              <a:rPr lang="en-US" altLang="en-US"/>
              <a:t>Productivity up</a:t>
            </a:r>
          </a:p>
          <a:p>
            <a:pPr lvl="1" eaLnBrk="1" hangingPunct="1"/>
            <a:r>
              <a:rPr lang="en-US" altLang="en-US"/>
              <a:t>defects down</a:t>
            </a:r>
          </a:p>
          <a:p>
            <a:pPr lvl="1" eaLnBrk="1" hangingPunct="1"/>
            <a:r>
              <a:rPr lang="en-US" altLang="en-US"/>
              <a:t>complaints are down</a:t>
            </a:r>
          </a:p>
          <a:p>
            <a:pPr eaLnBrk="1" hangingPunct="1"/>
            <a:endParaRPr lang="en-US" altLang="en-US"/>
          </a:p>
          <a:p>
            <a:pPr eaLnBrk="1" hangingPunct="1"/>
            <a:endParaRPr lang="en-US" altLang="en-US"/>
          </a:p>
        </p:txBody>
      </p:sp>
      <p:sp>
        <p:nvSpPr>
          <p:cNvPr id="5125" name="Rectangle 4"/>
          <p:cNvSpPr>
            <a:spLocks noChangeArrowheads="1"/>
          </p:cNvSpPr>
          <p:nvPr/>
        </p:nvSpPr>
        <p:spPr bwMode="auto">
          <a:xfrm>
            <a:off x="4648200" y="1570038"/>
            <a:ext cx="43434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a:t>Suppose</a:t>
            </a:r>
          </a:p>
          <a:p>
            <a:pPr lvl="1" eaLnBrk="1" hangingPunct="1"/>
            <a:r>
              <a:rPr lang="en-US" altLang="en-US"/>
              <a:t>Profits are down</a:t>
            </a:r>
          </a:p>
          <a:p>
            <a:pPr lvl="1" eaLnBrk="1" hangingPunct="1"/>
            <a:r>
              <a:rPr lang="en-US" altLang="en-US"/>
              <a:t>Productivity down</a:t>
            </a:r>
          </a:p>
          <a:p>
            <a:pPr lvl="1" eaLnBrk="1" hangingPunct="1"/>
            <a:r>
              <a:rPr lang="en-US" altLang="en-US"/>
              <a:t>defects up</a:t>
            </a:r>
          </a:p>
          <a:p>
            <a:pPr lvl="1" eaLnBrk="1" hangingPunct="1"/>
            <a:r>
              <a:rPr lang="en-US" altLang="en-US"/>
              <a:t>complaints are up</a:t>
            </a:r>
          </a:p>
          <a:p>
            <a:pPr eaLnBrk="1" hangingPunct="1"/>
            <a:endParaRPr lang="en-US" altLang="en-US"/>
          </a:p>
          <a:p>
            <a:pPr eaLnBrk="1" hangingPunct="1"/>
            <a:endParaRPr lang="en-US" altLang="en-US"/>
          </a:p>
          <a:p>
            <a:pPr eaLnBrk="1" hangingPunct="1"/>
            <a:endParaRPr lang="en-US" altLang="en-US"/>
          </a:p>
        </p:txBody>
      </p:sp>
      <p:sp>
        <p:nvSpPr>
          <p:cNvPr id="5126" name="Text Box 5"/>
          <p:cNvSpPr txBox="1">
            <a:spLocks noChangeArrowheads="1"/>
          </p:cNvSpPr>
          <p:nvPr/>
        </p:nvSpPr>
        <p:spPr bwMode="auto">
          <a:xfrm>
            <a:off x="365125" y="4918075"/>
            <a:ext cx="36798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2400" b="1">
                <a:solidFill>
                  <a:srgbClr val="FF3300"/>
                </a:solidFill>
                <a:latin typeface="Times New Roman" pitchFamily="18" charset="0"/>
              </a:rPr>
              <a:t>Reinforce Behaviour that </a:t>
            </a:r>
          </a:p>
          <a:p>
            <a:pPr eaLnBrk="1" hangingPunct="1">
              <a:spcBef>
                <a:spcPct val="0"/>
              </a:spcBef>
              <a:buFontTx/>
              <a:buNone/>
            </a:pPr>
            <a:r>
              <a:rPr lang="en-US" altLang="en-US" sz="2400" b="1">
                <a:solidFill>
                  <a:srgbClr val="FF3300"/>
                </a:solidFill>
                <a:latin typeface="Times New Roman" pitchFamily="18" charset="0"/>
              </a:rPr>
              <a:t>contribute to these positive</a:t>
            </a:r>
          </a:p>
          <a:p>
            <a:pPr eaLnBrk="1" hangingPunct="1">
              <a:spcBef>
                <a:spcPct val="0"/>
              </a:spcBef>
              <a:buFontTx/>
              <a:buNone/>
            </a:pPr>
            <a:r>
              <a:rPr lang="en-US" altLang="en-US" sz="2400" b="1">
                <a:solidFill>
                  <a:srgbClr val="FF3300"/>
                </a:solidFill>
                <a:latin typeface="Times New Roman" pitchFamily="18" charset="0"/>
              </a:rPr>
              <a:t>outcomes</a:t>
            </a:r>
          </a:p>
        </p:txBody>
      </p:sp>
      <p:sp>
        <p:nvSpPr>
          <p:cNvPr id="5127" name="Text Box 8"/>
          <p:cNvSpPr txBox="1">
            <a:spLocks noChangeArrowheads="1"/>
          </p:cNvSpPr>
          <p:nvPr/>
        </p:nvSpPr>
        <p:spPr bwMode="auto">
          <a:xfrm>
            <a:off x="4854575" y="4908550"/>
            <a:ext cx="376396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2400" b="1">
                <a:solidFill>
                  <a:srgbClr val="FF3300"/>
                </a:solidFill>
                <a:latin typeface="Times New Roman" pitchFamily="18" charset="0"/>
              </a:rPr>
              <a:t>Penalize Behaviour that </a:t>
            </a:r>
          </a:p>
          <a:p>
            <a:pPr eaLnBrk="1" hangingPunct="1">
              <a:spcBef>
                <a:spcPct val="0"/>
              </a:spcBef>
              <a:buFontTx/>
              <a:buNone/>
            </a:pPr>
            <a:r>
              <a:rPr lang="en-US" altLang="en-US" sz="2400" b="1">
                <a:solidFill>
                  <a:srgbClr val="FF3300"/>
                </a:solidFill>
                <a:latin typeface="Times New Roman" pitchFamily="18" charset="0"/>
              </a:rPr>
              <a:t>contribute to these negative</a:t>
            </a:r>
          </a:p>
          <a:p>
            <a:pPr eaLnBrk="1" hangingPunct="1">
              <a:spcBef>
                <a:spcPct val="0"/>
              </a:spcBef>
              <a:buFontTx/>
              <a:buNone/>
            </a:pPr>
            <a:r>
              <a:rPr lang="en-US" altLang="en-US" sz="2400" b="1">
                <a:solidFill>
                  <a:srgbClr val="FF3300"/>
                </a:solidFill>
                <a:latin typeface="Times New Roman" pitchFamily="18" charset="0"/>
              </a:rPr>
              <a:t>outcomes</a:t>
            </a:r>
          </a:p>
        </p:txBody>
      </p:sp>
      <p:sp>
        <p:nvSpPr>
          <p:cNvPr id="5128" name="Rectangle 9"/>
          <p:cNvSpPr>
            <a:spLocks noChangeArrowheads="1"/>
          </p:cNvSpPr>
          <p:nvPr/>
        </p:nvSpPr>
        <p:spPr bwMode="auto">
          <a:xfrm>
            <a:off x="304800" y="1600200"/>
            <a:ext cx="4267200" cy="4800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CA" altLang="en-US" sz="1800"/>
          </a:p>
        </p:txBody>
      </p:sp>
      <p:sp>
        <p:nvSpPr>
          <p:cNvPr id="5129" name="Rectangle 11"/>
          <p:cNvSpPr>
            <a:spLocks noChangeArrowheads="1"/>
          </p:cNvSpPr>
          <p:nvPr/>
        </p:nvSpPr>
        <p:spPr bwMode="auto">
          <a:xfrm>
            <a:off x="4572000" y="1600200"/>
            <a:ext cx="4267200" cy="4800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CA" alt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fld id="{3EAD41DC-670F-481B-BCB5-0F88F70932E7}" type="slidenum">
              <a:rPr lang="en-US" altLang="en-US" sz="1400" smtClean="0"/>
              <a:pPr eaLnBrk="1" hangingPunct="1">
                <a:spcBef>
                  <a:spcPct val="0"/>
                </a:spcBef>
                <a:buFontTx/>
                <a:buNone/>
              </a:pPr>
              <a:t>4</a:t>
            </a:fld>
            <a:endParaRPr lang="en-US" altLang="en-US" sz="1400"/>
          </a:p>
        </p:txBody>
      </p:sp>
      <p:sp>
        <p:nvSpPr>
          <p:cNvPr id="6147" name="Rectangle 2"/>
          <p:cNvSpPr>
            <a:spLocks noGrp="1" noChangeArrowheads="1"/>
          </p:cNvSpPr>
          <p:nvPr>
            <p:ph type="title"/>
          </p:nvPr>
        </p:nvSpPr>
        <p:spPr/>
        <p:txBody>
          <a:bodyPr/>
          <a:lstStyle/>
          <a:p>
            <a:pPr eaLnBrk="1" hangingPunct="1"/>
            <a:r>
              <a:rPr lang="en-US" altLang="en-US"/>
              <a:t>Identifying the Relevant Factors</a:t>
            </a:r>
          </a:p>
        </p:txBody>
      </p:sp>
      <p:sp>
        <p:nvSpPr>
          <p:cNvPr id="6148" name="Rectangle 3"/>
          <p:cNvSpPr>
            <a:spLocks noGrp="1" noChangeArrowheads="1"/>
          </p:cNvSpPr>
          <p:nvPr>
            <p:ph type="body" idx="1"/>
          </p:nvPr>
        </p:nvSpPr>
        <p:spPr/>
        <p:txBody>
          <a:bodyPr/>
          <a:lstStyle/>
          <a:p>
            <a:pPr eaLnBrk="1" hangingPunct="1"/>
            <a:r>
              <a:rPr lang="en-US" altLang="en-US" dirty="0"/>
              <a:t>How do you know which factors, or features of the production process, are contributing to the positive / negative outcomes?</a:t>
            </a:r>
          </a:p>
          <a:p>
            <a:pPr marL="0" indent="0" eaLnBrk="1" hangingPunct="1">
              <a:buNone/>
            </a:pPr>
            <a:endParaRPr lang="en-US" altLang="en-US" dirty="0"/>
          </a:p>
          <a:p>
            <a:pPr eaLnBrk="1" hangingPunct="1"/>
            <a:r>
              <a:rPr lang="en-US" altLang="en-US" dirty="0"/>
              <a:t>We will utilize statistical procedures we learn here</a:t>
            </a:r>
          </a:p>
          <a:p>
            <a:pPr eaLnBrk="1" hangingPunct="1"/>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en-US" dirty="0"/>
              <a:t>And the Safety Chute</a:t>
            </a:r>
          </a:p>
        </p:txBody>
      </p:sp>
      <p:sp>
        <p:nvSpPr>
          <p:cNvPr id="7171" name="Content Placeholder 2"/>
          <p:cNvSpPr>
            <a:spLocks noGrp="1"/>
          </p:cNvSpPr>
          <p:nvPr>
            <p:ph idx="1"/>
          </p:nvPr>
        </p:nvSpPr>
        <p:spPr/>
        <p:txBody>
          <a:bodyPr/>
          <a:lstStyle/>
          <a:p>
            <a:pPr marL="0" indent="0">
              <a:buFontTx/>
              <a:buNone/>
            </a:pPr>
            <a:r>
              <a:rPr lang="en-US" altLang="en-US" dirty="0"/>
              <a:t>Sometimes, we’ll get into more technical points, but they may be more interesting to some of you (and less so for others).  </a:t>
            </a:r>
          </a:p>
          <a:p>
            <a:pPr marL="0" indent="0">
              <a:buFontTx/>
              <a:buNone/>
            </a:pPr>
            <a:endParaRPr lang="en-US" altLang="en-US" dirty="0"/>
          </a:p>
          <a:p>
            <a:pPr marL="0" indent="0">
              <a:buFontTx/>
              <a:buNone/>
            </a:pPr>
            <a:r>
              <a:rPr lang="en-US" altLang="en-US" dirty="0"/>
              <a:t>At these points, I’ll continue to use our trusty picture:</a:t>
            </a:r>
          </a:p>
        </p:txBody>
      </p:sp>
      <p:sp>
        <p:nvSpPr>
          <p:cNvPr id="71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fld id="{89CF11DB-311E-4DC5-A825-8B597DCA4987}" type="slidenum">
              <a:rPr lang="en-US" altLang="en-US" sz="1400" smtClean="0"/>
              <a:pPr eaLnBrk="1" hangingPunct="1">
                <a:spcBef>
                  <a:spcPct val="0"/>
                </a:spcBef>
                <a:buFontTx/>
                <a:buNone/>
              </a:pPr>
              <a:t>5</a:t>
            </a:fld>
            <a:endParaRPr lang="en-US" alt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endParaRPr lang="en-US" altLang="en-US" dirty="0"/>
          </a:p>
        </p:txBody>
      </p:sp>
      <p:sp>
        <p:nvSpPr>
          <p:cNvPr id="819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fld id="{B696DCCF-EEE6-4521-A9A9-746CF9F581E0}" type="slidenum">
              <a:rPr lang="en-US" altLang="en-US" sz="1400" smtClean="0"/>
              <a:pPr eaLnBrk="1" hangingPunct="1">
                <a:spcBef>
                  <a:spcPct val="0"/>
                </a:spcBef>
                <a:buFontTx/>
                <a:buNone/>
              </a:pPr>
              <a:t>6</a:t>
            </a:fld>
            <a:endParaRPr lang="en-US" altLang="en-US" sz="1400"/>
          </a:p>
        </p:txBody>
      </p:sp>
      <p:pic>
        <p:nvPicPr>
          <p:cNvPr id="8196" name="Content Placeholder 3" descr="Homer simpson | Cold Dog Soup - Windows Internet Explorer"/>
          <p:cNvPicPr>
            <a:picLocks noGrp="1" noChangeAspect="1"/>
          </p:cNvPicPr>
          <p:nvPr>
            <p:ph idx="1"/>
          </p:nvPr>
        </p:nvPicPr>
        <p:blipFill>
          <a:blip r:embed="rId2">
            <a:extLst>
              <a:ext uri="{28A0092B-C50C-407E-A947-70E740481C1C}">
                <a14:useLocalDpi xmlns:a14="http://schemas.microsoft.com/office/drawing/2010/main" val="0"/>
              </a:ext>
            </a:extLst>
          </a:blip>
          <a:srcRect l="14629" t="54247" r="39835" b="6181"/>
          <a:stretch>
            <a:fillRect/>
          </a:stretch>
        </p:blipFill>
        <p:spPr>
          <a:xfrm>
            <a:off x="1116013" y="1412875"/>
            <a:ext cx="6789737" cy="474980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4"/>
          <p:cNvSpPr>
            <a:spLocks noGrp="1"/>
          </p:cNvSpPr>
          <p:nvPr>
            <p:ph type="ctrTitle"/>
          </p:nvPr>
        </p:nvSpPr>
        <p:spPr>
          <a:xfrm>
            <a:off x="684213" y="1125538"/>
            <a:ext cx="7772400" cy="3227387"/>
          </a:xfrm>
        </p:spPr>
        <p:txBody>
          <a:bodyPr/>
          <a:lstStyle/>
          <a:p>
            <a:r>
              <a:rPr lang="en-US" altLang="en-US" dirty="0"/>
              <a:t>The Importance and Usefulness of Averages</a:t>
            </a:r>
            <a:br>
              <a:rPr lang="en-US" altLang="en-US" dirty="0"/>
            </a:br>
            <a:endParaRPr lang="en-US" altLang="en-US" dirty="0"/>
          </a:p>
        </p:txBody>
      </p:sp>
      <p:sp>
        <p:nvSpPr>
          <p:cNvPr id="9219"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fld id="{82BA8319-5F96-4BB9-B2CB-69B2C68EFF25}" type="slidenum">
              <a:rPr lang="en-US" altLang="en-US" sz="1400" smtClean="0"/>
              <a:pPr eaLnBrk="1" hangingPunct="1">
                <a:spcBef>
                  <a:spcPct val="0"/>
                </a:spcBef>
                <a:buFontTx/>
                <a:buNone/>
              </a:pPr>
              <a:t>7</a:t>
            </a:fld>
            <a:endParaRPr lang="en-US" alt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Averages</a:t>
            </a:r>
          </a:p>
        </p:txBody>
      </p:sp>
      <p:sp>
        <p:nvSpPr>
          <p:cNvPr id="3" name="Content Placeholder 2"/>
          <p:cNvSpPr>
            <a:spLocks noGrp="1"/>
          </p:cNvSpPr>
          <p:nvPr>
            <p:ph idx="1"/>
          </p:nvPr>
        </p:nvSpPr>
        <p:spPr/>
        <p:txBody>
          <a:bodyPr/>
          <a:lstStyle/>
          <a:p>
            <a:pPr marL="0" indent="0">
              <a:buNone/>
            </a:pPr>
            <a:r>
              <a:rPr lang="en-US" dirty="0"/>
              <a:t>Up to this point, we’ve discussed averages in three different ways:</a:t>
            </a:r>
          </a:p>
          <a:p>
            <a:pPr marL="0" indent="0">
              <a:buNone/>
            </a:pPr>
            <a:endParaRPr lang="en-US" dirty="0"/>
          </a:p>
          <a:p>
            <a:pPr marL="571500" indent="-571500">
              <a:buAutoNum type="romanLcParenBoth"/>
            </a:pPr>
            <a:r>
              <a:rPr lang="en-US" dirty="0"/>
              <a:t>Simple averages</a:t>
            </a:r>
          </a:p>
          <a:p>
            <a:pPr marL="571500" indent="-571500">
              <a:buAutoNum type="romanLcParenBoth"/>
            </a:pPr>
            <a:r>
              <a:rPr lang="en-US" dirty="0"/>
              <a:t>Regression coefficients (which, you’ll see, are averages, too)</a:t>
            </a:r>
          </a:p>
          <a:p>
            <a:pPr marL="571500" indent="-571500">
              <a:buAutoNum type="romanLcParenBoth"/>
            </a:pPr>
            <a:r>
              <a:rPr lang="en-US" dirty="0"/>
              <a:t>Conditional means from regressions</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8</a:t>
            </a:fld>
            <a:endParaRPr lang="en-US"/>
          </a:p>
        </p:txBody>
      </p:sp>
    </p:spTree>
    <p:extLst>
      <p:ext uri="{BB962C8B-B14F-4D97-AF65-F5344CB8AC3E}">
        <p14:creationId xmlns:p14="http://schemas.microsoft.com/office/powerpoint/2010/main" val="1446539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(1) Simple Average</a:t>
            </a:r>
            <a:endParaRPr lang="en-US" dirty="0"/>
          </a:p>
        </p:txBody>
      </p:sp>
      <p:sp>
        <p:nvSpPr>
          <p:cNvPr id="3" name="Content Placeholder 2"/>
          <p:cNvSpPr>
            <a:spLocks noGrp="1"/>
          </p:cNvSpPr>
          <p:nvPr>
            <p:ph idx="1"/>
          </p:nvPr>
        </p:nvSpPr>
        <p:spPr/>
        <p:txBody>
          <a:bodyPr/>
          <a:lstStyle/>
          <a:p>
            <a:pPr marL="0" indent="0">
              <a:buNone/>
            </a:pPr>
            <a:r>
              <a:rPr lang="en-CA" dirty="0"/>
              <a:t>Calculating an average from a sample is about as direct a definition of “average” as we can get.</a:t>
            </a:r>
          </a:p>
          <a:p>
            <a:pPr marL="0" indent="0">
              <a:buNone/>
            </a:pPr>
            <a:endParaRPr lang="en-CA" dirty="0"/>
          </a:p>
          <a:p>
            <a:pPr marL="0" indent="0">
              <a:buNone/>
            </a:pPr>
            <a:r>
              <a:rPr lang="en-CA" dirty="0">
                <a:sym typeface="Wingdings" panose="05000000000000000000" pitchFamily="2" charset="2"/>
              </a:rPr>
              <a:t>A useful measure of “central tendency”</a:t>
            </a: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9</a:t>
            </a:fld>
            <a:endParaRPr lang="en-US"/>
          </a:p>
        </p:txBody>
      </p:sp>
    </p:spTree>
    <p:extLst>
      <p:ext uri="{BB962C8B-B14F-4D97-AF65-F5344CB8AC3E}">
        <p14:creationId xmlns:p14="http://schemas.microsoft.com/office/powerpoint/2010/main" val="603115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(2) Regression Coefficient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CA" dirty="0"/>
                  <a:t>Suppose we collect a sample and estimate the following regression:</a:t>
                </a:r>
              </a:p>
              <a:p>
                <a:pPr marL="0" indent="0">
                  <a:buNone/>
                </a:pPr>
                <a:endParaRPr lang="en-CA" dirty="0"/>
              </a:p>
              <a:p>
                <a:pPr marL="0" indent="0">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𝑃𝑟𝑜𝑓𝑖𝑡𝑠</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𝑏</m:t>
                              </m:r>
                            </m:e>
                          </m:acc>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acc>
                            <m:accPr>
                              <m:chr m:val="̂"/>
                              <m:ctrlPr>
                                <a:rPr lang="en-CA" i="1">
                                  <a:latin typeface="Cambria Math" panose="02040503050406030204" pitchFamily="18" charset="0"/>
                                </a:rPr>
                              </m:ctrlPr>
                            </m:accPr>
                            <m:e>
                              <m:r>
                                <a:rPr lang="en-CA" i="1">
                                  <a:latin typeface="Cambria Math" panose="02040503050406030204" pitchFamily="18" charset="0"/>
                                </a:rPr>
                                <m:t>𝑏</m:t>
                              </m:r>
                            </m:e>
                          </m:acc>
                        </m:e>
                        <m:sub>
                          <m:r>
                            <a:rPr lang="en-CA" b="0" i="1" smtClean="0">
                              <a:latin typeface="Cambria Math" panose="02040503050406030204" pitchFamily="18" charset="0"/>
                            </a:rPr>
                            <m:t>1</m:t>
                          </m:r>
                        </m:sub>
                      </m:sSub>
                      <m:r>
                        <a:rPr lang="en-CA" b="0" i="1" smtClean="0">
                          <a:latin typeface="Cambria Math" panose="02040503050406030204" pitchFamily="18" charset="0"/>
                        </a:rPr>
                        <m:t>(</m:t>
                      </m:r>
                      <m:r>
                        <a:rPr lang="en-CA" b="0" i="1" smtClean="0">
                          <a:latin typeface="Cambria Math" panose="02040503050406030204" pitchFamily="18" charset="0"/>
                        </a:rPr>
                        <m:t>𝐴𝑑𝑣𝑒𝑟𝑡𝑖𝑠𝑖𝑛𝑔</m:t>
                      </m:r>
                      <m:r>
                        <a:rPr lang="en-CA" b="0" i="1" smtClean="0">
                          <a:latin typeface="Cambria Math" panose="02040503050406030204" pitchFamily="18" charset="0"/>
                        </a:rPr>
                        <m:t>)</m:t>
                      </m:r>
                    </m:oMath>
                  </m:oMathPara>
                </a14:m>
                <a:endParaRPr lang="en-US" dirty="0"/>
              </a:p>
              <a:p>
                <a:pPr marL="0" indent="0">
                  <a:buNone/>
                </a:pPr>
                <a:endParaRPr lang="en-CA" dirty="0"/>
              </a:p>
              <a:p>
                <a:pPr marL="0" indent="0">
                  <a:buNone/>
                </a:pPr>
                <a:r>
                  <a:rPr lang="en-CA" dirty="0"/>
                  <a:t>What does </a:t>
                </a:r>
                <a14:m>
                  <m:oMath xmlns:m="http://schemas.openxmlformats.org/officeDocument/2006/math">
                    <m:sSub>
                      <m:sSubPr>
                        <m:ctrlPr>
                          <a:rPr lang="en-CA" i="1">
                            <a:latin typeface="Cambria Math" panose="02040503050406030204" pitchFamily="18" charset="0"/>
                          </a:rPr>
                        </m:ctrlPr>
                      </m:sSubPr>
                      <m:e>
                        <m:acc>
                          <m:accPr>
                            <m:chr m:val="̂"/>
                            <m:ctrlPr>
                              <a:rPr lang="en-CA" i="1">
                                <a:latin typeface="Cambria Math" panose="02040503050406030204" pitchFamily="18" charset="0"/>
                              </a:rPr>
                            </m:ctrlPr>
                          </m:accPr>
                          <m:e>
                            <m:r>
                              <a:rPr lang="en-CA" i="1">
                                <a:latin typeface="Cambria Math" panose="02040503050406030204" pitchFamily="18" charset="0"/>
                              </a:rPr>
                              <m:t>𝑏</m:t>
                            </m:r>
                          </m:e>
                        </m:acc>
                      </m:e>
                      <m:sub>
                        <m:r>
                          <a:rPr lang="en-CA" b="0" i="1" smtClean="0">
                            <a:latin typeface="Cambria Math" panose="02040503050406030204" pitchFamily="18" charset="0"/>
                          </a:rPr>
                          <m:t>1</m:t>
                        </m:r>
                      </m:sub>
                    </m:sSub>
                  </m:oMath>
                </a14:m>
                <a:r>
                  <a:rPr lang="en-US" dirty="0"/>
                  <a:t> represent?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852" t="-175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10</a:t>
            </a:fld>
            <a:endParaRPr lang="en-US"/>
          </a:p>
        </p:txBody>
      </p:sp>
    </p:spTree>
    <p:extLst>
      <p:ext uri="{BB962C8B-B14F-4D97-AF65-F5344CB8AC3E}">
        <p14:creationId xmlns:p14="http://schemas.microsoft.com/office/powerpoint/2010/main" val="1831419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(2) Regression Coefficient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 xmlns:m="http://schemas.openxmlformats.org/officeDocument/2006/math">
                    <m:sSub>
                      <m:sSubPr>
                        <m:ctrlPr>
                          <a:rPr lang="en-CA" i="1">
                            <a:latin typeface="Cambria Math" panose="02040503050406030204" pitchFamily="18" charset="0"/>
                          </a:rPr>
                        </m:ctrlPr>
                      </m:sSubPr>
                      <m:e>
                        <m:acc>
                          <m:accPr>
                            <m:chr m:val="̂"/>
                            <m:ctrlPr>
                              <a:rPr lang="en-CA" i="1">
                                <a:latin typeface="Cambria Math" panose="02040503050406030204" pitchFamily="18" charset="0"/>
                              </a:rPr>
                            </m:ctrlPr>
                          </m:accPr>
                          <m:e>
                            <m:r>
                              <a:rPr lang="en-CA" i="1">
                                <a:latin typeface="Cambria Math" panose="02040503050406030204" pitchFamily="18" charset="0"/>
                              </a:rPr>
                              <m:t>𝑏</m:t>
                            </m:r>
                          </m:e>
                        </m:acc>
                      </m:e>
                      <m:sub>
                        <m:r>
                          <a:rPr lang="en-CA" i="1">
                            <a:latin typeface="Cambria Math" panose="02040503050406030204" pitchFamily="18" charset="0"/>
                          </a:rPr>
                          <m:t>1</m:t>
                        </m:r>
                      </m:sub>
                    </m:sSub>
                  </m:oMath>
                </a14:m>
                <a:r>
                  <a:rPr lang="en-US" dirty="0"/>
                  <a:t> represents the </a:t>
                </a:r>
                <a:r>
                  <a:rPr lang="en-US" u="sng" dirty="0"/>
                  <a:t>average</a:t>
                </a:r>
                <a:r>
                  <a:rPr lang="en-US" dirty="0"/>
                  <a:t> change in profits when we increase advertising by $1.</a:t>
                </a:r>
              </a:p>
              <a:p>
                <a:pPr marL="0" indent="0">
                  <a:buNone/>
                </a:pPr>
                <a:endParaRPr lang="en-CA" dirty="0"/>
              </a:p>
              <a:p>
                <a:pPr marL="0" indent="0">
                  <a:buNone/>
                </a:pPr>
                <a:r>
                  <a:rPr lang="en-CA" dirty="0"/>
                  <a:t>In this way, regression coefficients are tied to </a:t>
                </a:r>
                <a:r>
                  <a:rPr lang="en-CA" u="sng" dirty="0"/>
                  <a:t>averages.</a:t>
                </a:r>
                <a:endParaRPr lang="en-US" u="sng"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852" t="-121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11</a:t>
            </a:fld>
            <a:endParaRPr lang="en-US"/>
          </a:p>
        </p:txBody>
      </p:sp>
    </p:spTree>
    <p:extLst>
      <p:ext uri="{BB962C8B-B14F-4D97-AF65-F5344CB8AC3E}">
        <p14:creationId xmlns:p14="http://schemas.microsoft.com/office/powerpoint/2010/main" val="2791033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(3) Conditional Mean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CA" dirty="0"/>
                  <a:t>Recall that a regression can be defined with a simple two-word phrase: conditional mean.</a:t>
                </a:r>
              </a:p>
              <a:p>
                <a:pPr marL="0" indent="0">
                  <a:buNone/>
                </a:pPr>
                <a:endParaRPr lang="en-CA" dirty="0"/>
              </a:p>
              <a:p>
                <a:pPr marL="0" indent="0">
                  <a:buNone/>
                </a:pPr>
                <a:r>
                  <a:rPr lang="en-CA" dirty="0"/>
                  <a:t>If advertising takes on a particular value, we can determine the predicted value for profits.  For instance, if advertising is 10, then the conditional average of profits would be:</a:t>
                </a:r>
              </a:p>
              <a:p>
                <a:pPr marL="0" indent="0">
                  <a:buNone/>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𝑃𝑟𝑜𝑓𝑖𝑡𝑠</m:t>
                      </m:r>
                      <m:r>
                        <a:rPr lang="en-CA" i="1">
                          <a:latin typeface="Cambria Math" panose="02040503050406030204" pitchFamily="18" charset="0"/>
                        </a:rPr>
                        <m:t>=</m:t>
                      </m:r>
                      <m:sSub>
                        <m:sSubPr>
                          <m:ctrlPr>
                            <a:rPr lang="en-CA" i="1">
                              <a:latin typeface="Cambria Math" panose="02040503050406030204" pitchFamily="18" charset="0"/>
                            </a:rPr>
                          </m:ctrlPr>
                        </m:sSubPr>
                        <m:e>
                          <m:acc>
                            <m:accPr>
                              <m:chr m:val="̂"/>
                              <m:ctrlPr>
                                <a:rPr lang="en-CA" i="1">
                                  <a:latin typeface="Cambria Math" panose="02040503050406030204" pitchFamily="18" charset="0"/>
                                </a:rPr>
                              </m:ctrlPr>
                            </m:accPr>
                            <m:e>
                              <m:r>
                                <a:rPr lang="en-CA" i="1">
                                  <a:latin typeface="Cambria Math" panose="02040503050406030204" pitchFamily="18" charset="0"/>
                                </a:rPr>
                                <m:t>𝑏</m:t>
                              </m:r>
                            </m:e>
                          </m:acc>
                        </m:e>
                        <m:sub>
                          <m:r>
                            <a:rPr lang="en-CA" i="1">
                              <a:latin typeface="Cambria Math" panose="02040503050406030204" pitchFamily="18" charset="0"/>
                            </a:rPr>
                            <m:t>0</m:t>
                          </m:r>
                        </m:sub>
                      </m:sSub>
                      <m:r>
                        <a:rPr lang="en-CA" i="1">
                          <a:latin typeface="Cambria Math" panose="02040503050406030204" pitchFamily="18" charset="0"/>
                        </a:rPr>
                        <m:t>+</m:t>
                      </m:r>
                      <m:sSub>
                        <m:sSubPr>
                          <m:ctrlPr>
                            <a:rPr lang="en-CA" i="1">
                              <a:latin typeface="Cambria Math" panose="02040503050406030204" pitchFamily="18" charset="0"/>
                            </a:rPr>
                          </m:ctrlPr>
                        </m:sSubPr>
                        <m:e>
                          <m:acc>
                            <m:accPr>
                              <m:chr m:val="̂"/>
                              <m:ctrlPr>
                                <a:rPr lang="en-CA" i="1">
                                  <a:latin typeface="Cambria Math" panose="02040503050406030204" pitchFamily="18" charset="0"/>
                                </a:rPr>
                              </m:ctrlPr>
                            </m:accPr>
                            <m:e>
                              <m:r>
                                <a:rPr lang="en-CA" i="1">
                                  <a:latin typeface="Cambria Math" panose="02040503050406030204" pitchFamily="18" charset="0"/>
                                </a:rPr>
                                <m:t>𝑏</m:t>
                              </m:r>
                            </m:e>
                          </m:acc>
                        </m:e>
                        <m:sub>
                          <m:r>
                            <a:rPr lang="en-CA" i="1">
                              <a:latin typeface="Cambria Math" panose="02040503050406030204" pitchFamily="18" charset="0"/>
                            </a:rPr>
                            <m:t>1</m:t>
                          </m:r>
                        </m:sub>
                      </m:sSub>
                      <m:r>
                        <a:rPr lang="en-CA" i="1">
                          <a:latin typeface="Cambria Math" panose="02040503050406030204" pitchFamily="18" charset="0"/>
                        </a:rPr>
                        <m:t>(</m:t>
                      </m:r>
                      <m:r>
                        <a:rPr lang="en-CA" b="0" i="1" smtClean="0">
                          <a:latin typeface="Cambria Math" panose="02040503050406030204" pitchFamily="18" charset="0"/>
                        </a:rPr>
                        <m:t>10</m:t>
                      </m:r>
                      <m:r>
                        <a:rPr lang="en-CA" i="1">
                          <a:latin typeface="Cambria Math" panose="02040503050406030204" pitchFamily="18" charset="0"/>
                        </a:rPr>
                        <m:t>)</m:t>
                      </m:r>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r="-4370"/>
                </a:stretch>
              </a:blipFill>
            </p:spPr>
            <p:txBody>
              <a:bodyPr/>
              <a:lstStyle/>
              <a:p>
                <a:r>
                  <a:rPr lang="en-CA">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12</a:t>
            </a:fld>
            <a:endParaRPr lang="en-US"/>
          </a:p>
        </p:txBody>
      </p:sp>
    </p:spTree>
    <p:extLst>
      <p:ext uri="{BB962C8B-B14F-4D97-AF65-F5344CB8AC3E}">
        <p14:creationId xmlns:p14="http://schemas.microsoft.com/office/powerpoint/2010/main" val="104912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notions for Averages</a:t>
            </a:r>
          </a:p>
        </p:txBody>
      </p:sp>
      <p:sp>
        <p:nvSpPr>
          <p:cNvPr id="3" name="Content Placeholder 2"/>
          <p:cNvSpPr>
            <a:spLocks noGrp="1"/>
          </p:cNvSpPr>
          <p:nvPr>
            <p:ph idx="1"/>
          </p:nvPr>
        </p:nvSpPr>
        <p:spPr/>
        <p:txBody>
          <a:bodyPr/>
          <a:lstStyle/>
          <a:p>
            <a:pPr marL="0" indent="0">
              <a:buNone/>
            </a:pPr>
            <a:r>
              <a:rPr lang="en-US" dirty="0"/>
              <a:t>Anytime we calculate an average, we’re making a guess about a characteristic of a population.  </a:t>
            </a:r>
          </a:p>
          <a:p>
            <a:pPr marL="0" indent="0">
              <a:buNone/>
            </a:pPr>
            <a:endParaRPr lang="en-US" dirty="0"/>
          </a:p>
          <a:p>
            <a:pPr marL="0" indent="0">
              <a:buNone/>
            </a:pPr>
            <a:r>
              <a:rPr lang="en-US" dirty="0"/>
              <a:t>Keep the following picture in your mind as we cover material throughout our time together:</a:t>
            </a:r>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13</a:t>
            </a:fld>
            <a:endParaRPr lang="en-US"/>
          </a:p>
        </p:txBody>
      </p:sp>
    </p:spTree>
    <p:extLst>
      <p:ext uri="{BB962C8B-B14F-4D97-AF65-F5344CB8AC3E}">
        <p14:creationId xmlns:p14="http://schemas.microsoft.com/office/powerpoint/2010/main" val="73096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lstStyle/>
          <a:p>
            <a:pPr marL="0" indent="0">
              <a:buNone/>
            </a:pP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14</a:t>
            </a:fld>
            <a:endParaRPr lang="en-US"/>
          </a:p>
        </p:txBody>
      </p:sp>
      <p:sp>
        <p:nvSpPr>
          <p:cNvPr id="5" name="Oval 4"/>
          <p:cNvSpPr/>
          <p:nvPr/>
        </p:nvSpPr>
        <p:spPr>
          <a:xfrm>
            <a:off x="467544" y="836712"/>
            <a:ext cx="6408712" cy="482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308304" y="1268760"/>
            <a:ext cx="1800558" cy="646331"/>
          </a:xfrm>
          <a:prstGeom prst="rect">
            <a:avLst/>
          </a:prstGeom>
          <a:noFill/>
        </p:spPr>
        <p:txBody>
          <a:bodyPr wrap="none" rtlCol="0">
            <a:spAutoFit/>
          </a:bodyPr>
          <a:lstStyle/>
          <a:p>
            <a:r>
              <a:rPr lang="en-US" dirty="0"/>
              <a:t>Population: </a:t>
            </a:r>
          </a:p>
          <a:p>
            <a:r>
              <a:rPr lang="en-US" dirty="0"/>
              <a:t>Too big to study</a:t>
            </a:r>
          </a:p>
        </p:txBody>
      </p:sp>
      <p:cxnSp>
        <p:nvCxnSpPr>
          <p:cNvPr id="8" name="Straight Arrow Connector 7"/>
          <p:cNvCxnSpPr>
            <a:stCxn id="6" idx="1"/>
          </p:cNvCxnSpPr>
          <p:nvPr/>
        </p:nvCxnSpPr>
        <p:spPr>
          <a:xfrm flipH="1">
            <a:off x="5868144" y="1591926"/>
            <a:ext cx="1440160" cy="54093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0" name="Oval 9"/>
          <p:cNvSpPr/>
          <p:nvPr/>
        </p:nvSpPr>
        <p:spPr>
          <a:xfrm>
            <a:off x="4932040" y="4509120"/>
            <a:ext cx="936104" cy="720080"/>
          </a:xfrm>
          <a:prstGeom prst="ellipse">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6876256" y="4545994"/>
            <a:ext cx="1518364" cy="923330"/>
          </a:xfrm>
          <a:prstGeom prst="rect">
            <a:avLst/>
          </a:prstGeom>
          <a:noFill/>
        </p:spPr>
        <p:txBody>
          <a:bodyPr wrap="none" rtlCol="0">
            <a:spAutoFit/>
          </a:bodyPr>
          <a:lstStyle/>
          <a:p>
            <a:r>
              <a:rPr lang="en-US" dirty="0"/>
              <a:t>Sample: </a:t>
            </a:r>
          </a:p>
          <a:p>
            <a:r>
              <a:rPr lang="en-US" dirty="0"/>
              <a:t>Manageable </a:t>
            </a:r>
          </a:p>
          <a:p>
            <a:r>
              <a:rPr lang="en-US" dirty="0"/>
              <a:t>to study</a:t>
            </a:r>
          </a:p>
        </p:txBody>
      </p:sp>
      <p:cxnSp>
        <p:nvCxnSpPr>
          <p:cNvPr id="15" name="Straight Arrow Connector 14"/>
          <p:cNvCxnSpPr/>
          <p:nvPr/>
        </p:nvCxnSpPr>
        <p:spPr>
          <a:xfrm flipH="1">
            <a:off x="5580112" y="4869160"/>
            <a:ext cx="1296144"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4733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0" grpId="0" animBg="1"/>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of using statistics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We use some statistic (like an average) to make an “inference” or a guess about a population.  Recall:</a:t>
                </a:r>
              </a:p>
              <a:p>
                <a:pPr marL="0" indent="0">
                  <a:buNone/>
                </a:pPr>
                <a:endParaRPr lang="en-US" dirty="0"/>
              </a:p>
              <a:p>
                <a:pPr marL="571500" indent="-571500">
                  <a:buAutoNum type="romanLcParenBoth"/>
                </a:pPr>
                <a:r>
                  <a:rPr lang="en-US" dirty="0"/>
                  <a:t>We use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dirty="0"/>
                  <a:t> to make inferences about </a:t>
                </a:r>
                <a:r>
                  <a:rPr lang="en-US" dirty="0">
                    <a:latin typeface="Symbol" panose="05050102010706020507" pitchFamily="18" charset="2"/>
                  </a:rPr>
                  <a:t>m</a:t>
                </a:r>
                <a:endParaRPr lang="en-US" dirty="0"/>
              </a:p>
              <a:p>
                <a:pPr marL="571500" indent="-571500">
                  <a:buAutoNum type="romanLcParenBoth"/>
                </a:pPr>
                <a:r>
                  <a:rPr lang="en-US" dirty="0"/>
                  <a:t>We use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𝑏</m:t>
                        </m:r>
                      </m:e>
                    </m:acc>
                  </m:oMath>
                </a14:m>
                <a:r>
                  <a:rPr lang="en-US" dirty="0"/>
                  <a:t> to make inferences about </a:t>
                </a:r>
                <a:r>
                  <a:rPr lang="en-US" dirty="0">
                    <a:latin typeface="Symbol" panose="05050102010706020507" pitchFamily="18" charset="2"/>
                  </a:rPr>
                  <a:t>b </a:t>
                </a:r>
                <a:endParaRPr lang="en-US" dirty="0"/>
              </a:p>
              <a:p>
                <a:pPr marL="571500" indent="-571500">
                  <a:buAutoNum type="romanLcParenBoth"/>
                </a:pPr>
                <a:r>
                  <a:rPr lang="en-US" dirty="0"/>
                  <a:t>We use sample conditional mean to make inferences about population conditional mean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b="-12668"/>
                </a:stretch>
              </a:blipFill>
            </p:spPr>
            <p:txBody>
              <a:bodyPr/>
              <a:lstStyle/>
              <a:p>
                <a:r>
                  <a:rPr lang="en-CA">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15</a:t>
            </a:fld>
            <a:endParaRPr lang="en-US"/>
          </a:p>
        </p:txBody>
      </p:sp>
    </p:spTree>
    <p:extLst>
      <p:ext uri="{BB962C8B-B14F-4D97-AF65-F5344CB8AC3E}">
        <p14:creationId xmlns:p14="http://schemas.microsoft.com/office/powerpoint/2010/main" val="119633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of using statistics</a:t>
            </a:r>
          </a:p>
        </p:txBody>
      </p:sp>
      <p:sp>
        <p:nvSpPr>
          <p:cNvPr id="3" name="Content Placeholder 2"/>
          <p:cNvSpPr>
            <a:spLocks noGrp="1"/>
          </p:cNvSpPr>
          <p:nvPr>
            <p:ph idx="1"/>
          </p:nvPr>
        </p:nvSpPr>
        <p:spPr/>
        <p:txBody>
          <a:bodyPr/>
          <a:lstStyle/>
          <a:p>
            <a:pPr marL="0" indent="0">
              <a:buNone/>
            </a:pPr>
            <a:r>
              <a:rPr lang="en-US" dirty="0"/>
              <a:t>But we have key concerns about our guess:</a:t>
            </a:r>
          </a:p>
          <a:p>
            <a:pPr marL="0" indent="0">
              <a:buNone/>
            </a:pPr>
            <a:r>
              <a:rPr lang="en-US" dirty="0"/>
              <a:t>(</a:t>
            </a:r>
            <a:r>
              <a:rPr lang="en-US" dirty="0" err="1"/>
              <a:t>i</a:t>
            </a:r>
            <a:r>
              <a:rPr lang="en-US" dirty="0"/>
              <a:t>) How good is our guess?</a:t>
            </a:r>
          </a:p>
          <a:p>
            <a:pPr marL="0" indent="0">
              <a:buNone/>
            </a:pPr>
            <a:r>
              <a:rPr lang="en-US" dirty="0"/>
              <a:t>(ii) And guesses are inherently uncertain, so how do we describe the uncertainty that underlies the guess?</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16</a:t>
            </a:fld>
            <a:endParaRPr lang="en-US"/>
          </a:p>
        </p:txBody>
      </p:sp>
    </p:spTree>
    <p:extLst>
      <p:ext uri="{BB962C8B-B14F-4D97-AF65-F5344CB8AC3E}">
        <p14:creationId xmlns:p14="http://schemas.microsoft.com/office/powerpoint/2010/main" val="2823871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3" name="Content Placeholder 2"/>
          <p:cNvSpPr>
            <a:spLocks noGrp="1"/>
          </p:cNvSpPr>
          <p:nvPr>
            <p:ph idx="1"/>
          </p:nvPr>
        </p:nvSpPr>
        <p:spPr/>
        <p:txBody>
          <a:bodyPr/>
          <a:lstStyle/>
          <a:p>
            <a:pPr marL="0" indent="0">
              <a:buNone/>
            </a:pPr>
            <a:r>
              <a:rPr lang="en-US" dirty="0"/>
              <a:t>Anytime we compute a sample mean, we can rely on two things:</a:t>
            </a:r>
          </a:p>
          <a:p>
            <a:pPr marL="0" indent="0">
              <a:buNone/>
            </a:pPr>
            <a:r>
              <a:rPr lang="en-US" dirty="0"/>
              <a:t>(1) The most likely value for our sample mean is the population mean</a:t>
            </a:r>
          </a:p>
          <a:p>
            <a:pPr marL="0" indent="0">
              <a:buNone/>
            </a:pPr>
            <a:r>
              <a:rPr lang="en-US" dirty="0"/>
              <a:t>(2) A </a:t>
            </a:r>
            <a:r>
              <a:rPr lang="en-US" b="1" u="sng" dirty="0"/>
              <a:t>normal distribution</a:t>
            </a:r>
            <a:r>
              <a:rPr lang="en-US" dirty="0"/>
              <a:t> underlies the way we use the sample mean to make a “guess” about the population mean.  </a:t>
            </a:r>
          </a:p>
          <a:p>
            <a:pPr marL="0" indent="0">
              <a:buNone/>
            </a:pPr>
            <a:r>
              <a:rPr lang="en-US" dirty="0"/>
              <a:t>This is due to a statistical notion called the “Central Limit Theorem”.</a:t>
            </a:r>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17</a:t>
            </a:fld>
            <a:endParaRPr lang="en-US"/>
          </a:p>
        </p:txBody>
      </p:sp>
    </p:spTree>
    <p:extLst>
      <p:ext uri="{BB962C8B-B14F-4D97-AF65-F5344CB8AC3E}">
        <p14:creationId xmlns:p14="http://schemas.microsoft.com/office/powerpoint/2010/main" val="865921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3" name="Content Placeholder 2"/>
          <p:cNvSpPr>
            <a:spLocks noGrp="1"/>
          </p:cNvSpPr>
          <p:nvPr>
            <p:ph idx="1"/>
          </p:nvPr>
        </p:nvSpPr>
        <p:spPr/>
        <p:txBody>
          <a:bodyPr/>
          <a:lstStyle/>
          <a:p>
            <a:pPr marL="0" indent="0">
              <a:buNone/>
            </a:pPr>
            <a:r>
              <a:rPr lang="en-US" dirty="0"/>
              <a:t>Key question: Why do sample averages follow a normal distribution?</a:t>
            </a:r>
          </a:p>
          <a:p>
            <a:pPr marL="0" indent="0">
              <a:buNone/>
            </a:pPr>
            <a:endParaRPr lang="en-US" dirty="0"/>
          </a:p>
          <a:p>
            <a:pPr marL="0" indent="0">
              <a:buNone/>
            </a:pPr>
            <a:r>
              <a:rPr lang="en-US" dirty="0"/>
              <a:t>Two ways to see this:</a:t>
            </a:r>
          </a:p>
          <a:p>
            <a:pPr marL="514350" indent="-514350">
              <a:buAutoNum type="arabicParenBoth"/>
            </a:pPr>
            <a:r>
              <a:rPr lang="en-US" dirty="0"/>
              <a:t>A mathematical proof.  But it’s a little too challenging for the scope of our course.</a:t>
            </a:r>
          </a:p>
          <a:p>
            <a:pPr marL="514350" indent="-514350">
              <a:buAutoNum type="arabicParenBoth"/>
            </a:pPr>
            <a:r>
              <a:rPr lang="en-US" dirty="0"/>
              <a:t>A practical exercise</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18</a:t>
            </a:fld>
            <a:endParaRPr lang="en-US"/>
          </a:p>
        </p:txBody>
      </p:sp>
    </p:spTree>
    <p:extLst>
      <p:ext uri="{BB962C8B-B14F-4D97-AF65-F5344CB8AC3E}">
        <p14:creationId xmlns:p14="http://schemas.microsoft.com/office/powerpoint/2010/main" val="407472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3" name="Content Placeholder 2"/>
          <p:cNvSpPr>
            <a:spLocks noGrp="1"/>
          </p:cNvSpPr>
          <p:nvPr>
            <p:ph idx="1"/>
          </p:nvPr>
        </p:nvSpPr>
        <p:spPr/>
        <p:txBody>
          <a:bodyPr/>
          <a:lstStyle/>
          <a:p>
            <a:pPr marL="0" indent="0">
              <a:buNone/>
            </a:pPr>
            <a:r>
              <a:rPr lang="en-US" dirty="0"/>
              <a:t>Let’s do an exercise that involves flipping coins:</a:t>
            </a:r>
          </a:p>
          <a:p>
            <a:pPr marL="514350" indent="-514350">
              <a:buAutoNum type="arabicParenBoth"/>
            </a:pPr>
            <a:r>
              <a:rPr lang="en-US" dirty="0"/>
              <a:t>Flip your coin 10 times </a:t>
            </a:r>
          </a:p>
          <a:p>
            <a:pPr marL="514350" indent="-514350">
              <a:buAutoNum type="arabicParenBoth"/>
            </a:pPr>
            <a:r>
              <a:rPr lang="en-US" dirty="0"/>
              <a:t>Count the number of times it comes up “heads”</a:t>
            </a:r>
          </a:p>
          <a:p>
            <a:pPr marL="514350" indent="-514350">
              <a:buAutoNum type="arabicParenBoth"/>
            </a:pPr>
            <a:r>
              <a:rPr lang="en-US" dirty="0"/>
              <a:t>Calculate the </a:t>
            </a:r>
            <a:r>
              <a:rPr lang="en-US" u="sng" dirty="0"/>
              <a:t>average</a:t>
            </a:r>
            <a:r>
              <a:rPr lang="en-US" dirty="0"/>
              <a:t> number of times you got “heads” = (Number of “heads”)/10</a:t>
            </a:r>
          </a:p>
          <a:p>
            <a:pPr marL="514350" indent="-514350">
              <a:buAutoNum type="arabicParenBoth"/>
            </a:pPr>
            <a:r>
              <a:rPr lang="en-US" dirty="0"/>
              <a:t>Repeat (1)-(3) four times.</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19</a:t>
            </a:fld>
            <a:endParaRPr lang="en-US"/>
          </a:p>
        </p:txBody>
      </p:sp>
    </p:spTree>
    <p:extLst>
      <p:ext uri="{BB962C8B-B14F-4D97-AF65-F5344CB8AC3E}">
        <p14:creationId xmlns:p14="http://schemas.microsoft.com/office/powerpoint/2010/main" val="719779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3" name="Content Placeholder 2"/>
          <p:cNvSpPr>
            <a:spLocks noGrp="1"/>
          </p:cNvSpPr>
          <p:nvPr>
            <p:ph idx="1"/>
          </p:nvPr>
        </p:nvSpPr>
        <p:spPr/>
        <p:txBody>
          <a:bodyPr/>
          <a:lstStyle/>
          <a:p>
            <a:pPr marL="0" indent="0">
              <a:buNone/>
            </a:pPr>
            <a:r>
              <a:rPr lang="en-US" dirty="0"/>
              <a:t>Quick questions:</a:t>
            </a:r>
          </a:p>
          <a:p>
            <a:pPr marL="0" indent="0">
              <a:buNone/>
            </a:pPr>
            <a:r>
              <a:rPr lang="en-US" dirty="0"/>
              <a:t>(1) How many heads would we expect to throw?</a:t>
            </a:r>
          </a:p>
          <a:p>
            <a:pPr marL="0" indent="0">
              <a:buNone/>
            </a:pPr>
            <a:r>
              <a:rPr lang="en-US" dirty="0">
                <a:sym typeface="Wingdings" panose="05000000000000000000" pitchFamily="2" charset="2"/>
              </a:rPr>
              <a:t>We’d expect 5 (if the coin is “fair”)</a:t>
            </a:r>
          </a:p>
          <a:p>
            <a:pPr marL="0" indent="0">
              <a:buNone/>
            </a:pPr>
            <a:r>
              <a:rPr lang="en-US" dirty="0">
                <a:sym typeface="Wingdings" panose="05000000000000000000" pitchFamily="2" charset="2"/>
              </a:rPr>
              <a:t>(2) What is the average we’d expect to compute?</a:t>
            </a:r>
          </a:p>
          <a:p>
            <a:pPr marL="0" indent="0">
              <a:buNone/>
            </a:pPr>
            <a:r>
              <a:rPr lang="en-US" dirty="0">
                <a:sym typeface="Wingdings" panose="05000000000000000000" pitchFamily="2" charset="2"/>
              </a:rPr>
              <a:t>0.5 or 50%</a:t>
            </a: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20</a:t>
            </a:fld>
            <a:endParaRPr lang="en-US"/>
          </a:p>
        </p:txBody>
      </p:sp>
    </p:spTree>
    <p:extLst>
      <p:ext uri="{BB962C8B-B14F-4D97-AF65-F5344CB8AC3E}">
        <p14:creationId xmlns:p14="http://schemas.microsoft.com/office/powerpoint/2010/main" val="306665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3" name="Content Placeholder 2"/>
          <p:cNvSpPr>
            <a:spLocks noGrp="1"/>
          </p:cNvSpPr>
          <p:nvPr>
            <p:ph idx="1"/>
          </p:nvPr>
        </p:nvSpPr>
        <p:spPr/>
        <p:txBody>
          <a:bodyPr/>
          <a:lstStyle/>
          <a:p>
            <a:pPr marL="0" indent="0">
              <a:buNone/>
            </a:pPr>
            <a:r>
              <a:rPr lang="en-US" dirty="0"/>
              <a:t>BIG POINT: the population mean is 50% or 0.5 in this case.</a:t>
            </a:r>
          </a:p>
          <a:p>
            <a:pPr marL="0" indent="0">
              <a:buNone/>
            </a:pPr>
            <a:endParaRPr lang="en-US" dirty="0"/>
          </a:p>
          <a:p>
            <a:pPr marL="0" indent="0">
              <a:buNone/>
            </a:pPr>
            <a:r>
              <a:rPr lang="en-US" dirty="0"/>
              <a:t>Let’s see how our sample means came out around the population mean</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21</a:t>
            </a:fld>
            <a:endParaRPr lang="en-US"/>
          </a:p>
        </p:txBody>
      </p:sp>
    </p:spTree>
    <p:extLst>
      <p:ext uri="{BB962C8B-B14F-4D97-AF65-F5344CB8AC3E}">
        <p14:creationId xmlns:p14="http://schemas.microsoft.com/office/powerpoint/2010/main" val="2941033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3" name="Content Placeholder 2"/>
          <p:cNvSpPr>
            <a:spLocks noGrp="1"/>
          </p:cNvSpPr>
          <p:nvPr>
            <p:ph idx="1"/>
          </p:nvPr>
        </p:nvSpPr>
        <p:spPr/>
        <p:txBody>
          <a:bodyPr/>
          <a:lstStyle/>
          <a:p>
            <a:pPr marL="0" indent="0">
              <a:buNone/>
            </a:pP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22</a:t>
            </a:fld>
            <a:endParaRPr lang="en-US"/>
          </a:p>
        </p:txBody>
      </p:sp>
    </p:spTree>
    <p:extLst>
      <p:ext uri="{BB962C8B-B14F-4D97-AF65-F5344CB8AC3E}">
        <p14:creationId xmlns:p14="http://schemas.microsoft.com/office/powerpoint/2010/main" val="2308707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3" name="Content Placeholder 2"/>
          <p:cNvSpPr>
            <a:spLocks noGrp="1"/>
          </p:cNvSpPr>
          <p:nvPr>
            <p:ph idx="1"/>
          </p:nvPr>
        </p:nvSpPr>
        <p:spPr/>
        <p:txBody>
          <a:bodyPr/>
          <a:lstStyle/>
          <a:p>
            <a:pPr marL="0" indent="0">
              <a:buNone/>
            </a:pPr>
            <a:r>
              <a:rPr lang="en-US" dirty="0"/>
              <a:t>Now let’s suppose we were able to do this exercise thousands of times without becoming horribly impatient and/or getting Carpal-Tunnel in our thumbs.</a:t>
            </a:r>
          </a:p>
          <a:p>
            <a:pPr marL="0" indent="0">
              <a:buNone/>
            </a:pPr>
            <a:endParaRPr lang="en-US" dirty="0"/>
          </a:p>
          <a:p>
            <a:pPr marL="0" indent="0">
              <a:buNone/>
            </a:pPr>
            <a:r>
              <a:rPr lang="en-US" dirty="0"/>
              <a:t>With the assistance of my computer, here’s a series of histograms to show you what happens with an increasing number of averages computed</a:t>
            </a:r>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23</a:t>
            </a:fld>
            <a:endParaRPr lang="en-US"/>
          </a:p>
        </p:txBody>
      </p:sp>
    </p:spTree>
    <p:extLst>
      <p:ext uri="{BB962C8B-B14F-4D97-AF65-F5344CB8AC3E}">
        <p14:creationId xmlns:p14="http://schemas.microsoft.com/office/powerpoint/2010/main" val="3056553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24</a:t>
            </a:fld>
            <a:endParaRPr lang="en-US"/>
          </a:p>
        </p:txBody>
      </p:sp>
      <p:pic>
        <p:nvPicPr>
          <p:cNvPr id="5017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1268760"/>
            <a:ext cx="6984776" cy="511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9821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25</a:t>
            </a:fld>
            <a:endParaRPr lang="en-US"/>
          </a:p>
        </p:txBody>
      </p:sp>
      <p:pic>
        <p:nvPicPr>
          <p:cNvPr id="5120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1332783"/>
            <a:ext cx="7200799" cy="527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017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26</a:t>
            </a:fld>
            <a:endParaRPr lang="en-US"/>
          </a:p>
        </p:txBody>
      </p:sp>
      <p:pic>
        <p:nvPicPr>
          <p:cNvPr id="5325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1268760"/>
            <a:ext cx="6928212" cy="507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3219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27</a:t>
            </a:fld>
            <a:endParaRPr lang="en-US"/>
          </a:p>
        </p:txBody>
      </p:sp>
      <p:pic>
        <p:nvPicPr>
          <p:cNvPr id="542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1340768"/>
            <a:ext cx="6912768" cy="5060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3069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OBSERVATION</a:t>
            </a:r>
          </a:p>
        </p:txBody>
      </p:sp>
      <p:sp>
        <p:nvSpPr>
          <p:cNvPr id="3" name="Content Placeholder 2"/>
          <p:cNvSpPr>
            <a:spLocks noGrp="1"/>
          </p:cNvSpPr>
          <p:nvPr>
            <p:ph idx="1"/>
          </p:nvPr>
        </p:nvSpPr>
        <p:spPr/>
        <p:txBody>
          <a:bodyPr/>
          <a:lstStyle/>
          <a:p>
            <a:pPr marL="0" indent="0">
              <a:buNone/>
            </a:pPr>
            <a:r>
              <a:rPr lang="en-US" dirty="0"/>
              <a:t>The distribution of the sample mean gets progressively close to the normal distribution as our sample size grows</a:t>
            </a:r>
          </a:p>
          <a:p>
            <a:pPr marL="0" indent="0">
              <a:buNone/>
            </a:pPr>
            <a:r>
              <a:rPr lang="en-US" dirty="0"/>
              <a:t>(Actually, it gets there very quickly)</a:t>
            </a:r>
          </a:p>
          <a:p>
            <a:pPr marL="0" indent="0">
              <a:buNone/>
            </a:pPr>
            <a:endParaRPr lang="en-US" dirty="0"/>
          </a:p>
          <a:p>
            <a:pPr marL="0" indent="0">
              <a:buNone/>
            </a:pPr>
            <a:r>
              <a:rPr lang="en-US" b="1" u="sng" dirty="0"/>
              <a:t>And it’s centered around the population mean.</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28</a:t>
            </a:fld>
            <a:endParaRPr lang="en-US"/>
          </a:p>
        </p:txBody>
      </p:sp>
    </p:spTree>
    <p:extLst>
      <p:ext uri="{BB962C8B-B14F-4D97-AF65-F5344CB8AC3E}">
        <p14:creationId xmlns:p14="http://schemas.microsoft.com/office/powerpoint/2010/main" val="1009678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OBSERVATION</a:t>
            </a:r>
          </a:p>
        </p:txBody>
      </p:sp>
      <p:sp>
        <p:nvSpPr>
          <p:cNvPr id="3" name="Content Placeholder 2"/>
          <p:cNvSpPr>
            <a:spLocks noGrp="1"/>
          </p:cNvSpPr>
          <p:nvPr>
            <p:ph idx="1"/>
          </p:nvPr>
        </p:nvSpPr>
        <p:spPr/>
        <p:txBody>
          <a:bodyPr/>
          <a:lstStyle/>
          <a:p>
            <a:pPr marL="0" indent="0">
              <a:buNone/>
            </a:pPr>
            <a:r>
              <a:rPr lang="en-US" dirty="0"/>
              <a:t>That is, given a particular population mean, </a:t>
            </a:r>
            <a:r>
              <a:rPr lang="en-US" u="sng" dirty="0"/>
              <a:t>prior to collecting our sample data</a:t>
            </a:r>
            <a:r>
              <a:rPr lang="en-US" dirty="0"/>
              <a:t>, we can never be sure exactly what our sample mean will be. </a:t>
            </a:r>
          </a:p>
          <a:p>
            <a:pPr marL="0" indent="0">
              <a:buNone/>
            </a:pPr>
            <a:endParaRPr lang="en-US" dirty="0"/>
          </a:p>
          <a:p>
            <a:pPr marL="0" indent="0">
              <a:buNone/>
            </a:pPr>
            <a:r>
              <a:rPr lang="en-US" dirty="0"/>
              <a:t>But we’ve got a really good chance of getting a sample mean that is either equal to or close to the population mean.</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29</a:t>
            </a:fld>
            <a:endParaRPr lang="en-US"/>
          </a:p>
        </p:txBody>
      </p:sp>
    </p:spTree>
    <p:extLst>
      <p:ext uri="{BB962C8B-B14F-4D97-AF65-F5344CB8AC3E}">
        <p14:creationId xmlns:p14="http://schemas.microsoft.com/office/powerpoint/2010/main" val="700085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3" name="Content Placeholder 2"/>
          <p:cNvSpPr>
            <a:spLocks noGrp="1"/>
          </p:cNvSpPr>
          <p:nvPr>
            <p:ph idx="1"/>
          </p:nvPr>
        </p:nvSpPr>
        <p:spPr/>
        <p:txBody>
          <a:bodyPr/>
          <a:lstStyle/>
          <a:p>
            <a:pPr marL="0" indent="0">
              <a:buNone/>
            </a:pPr>
            <a:r>
              <a:rPr lang="en-US" dirty="0"/>
              <a:t>In fact, a</a:t>
            </a:r>
            <a:r>
              <a:rPr lang="en-US" u="sng" dirty="0"/>
              <a:t>ssuming our sample is representative of the overall population</a:t>
            </a:r>
            <a:r>
              <a:rPr lang="en-US" dirty="0"/>
              <a:t>, we can talk probabilistically about UNOBSERVABLE population characteristics (like population averages) given our OBSERVABLE sample characteristics (like sample averages).</a:t>
            </a:r>
            <a:endParaRPr lang="en-US" u="sng"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30</a:t>
            </a:fld>
            <a:endParaRPr lang="en-US"/>
          </a:p>
        </p:txBody>
      </p:sp>
    </p:spTree>
    <p:extLst>
      <p:ext uri="{BB962C8B-B14F-4D97-AF65-F5344CB8AC3E}">
        <p14:creationId xmlns:p14="http://schemas.microsoft.com/office/powerpoint/2010/main" val="8207292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3" name="Content Placeholder 2"/>
          <p:cNvSpPr>
            <a:spLocks noGrp="1"/>
          </p:cNvSpPr>
          <p:nvPr>
            <p:ph idx="1"/>
          </p:nvPr>
        </p:nvSpPr>
        <p:spPr/>
        <p:txBody>
          <a:bodyPr/>
          <a:lstStyle/>
          <a:p>
            <a:pPr marL="0" indent="0">
              <a:buNone/>
            </a:pPr>
            <a:r>
              <a:rPr lang="en-US" dirty="0"/>
              <a:t>As an example, if we calculate a particular sample mean, this would imply a probability associated with a particular value for our unobservable population mean</a:t>
            </a:r>
          </a:p>
          <a:p>
            <a:pPr marL="0" indent="0">
              <a:buNone/>
            </a:pPr>
            <a:endParaRPr lang="en-US" dirty="0"/>
          </a:p>
          <a:p>
            <a:pPr marL="0" indent="0">
              <a:buNone/>
            </a:pPr>
            <a:r>
              <a:rPr lang="en-US" dirty="0">
                <a:sym typeface="Wingdings" panose="05000000000000000000" pitchFamily="2" charset="2"/>
              </a:rPr>
              <a:t>this underlies the approach we use in hypothesis testing (which we’ll talk about later on)</a:t>
            </a: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31</a:t>
            </a:fld>
            <a:endParaRPr lang="en-US"/>
          </a:p>
        </p:txBody>
      </p:sp>
    </p:spTree>
    <p:extLst>
      <p:ext uri="{BB962C8B-B14F-4D97-AF65-F5344CB8AC3E}">
        <p14:creationId xmlns:p14="http://schemas.microsoft.com/office/powerpoint/2010/main" val="36990020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3" name="Content Placeholder 2"/>
          <p:cNvSpPr>
            <a:spLocks noGrp="1"/>
          </p:cNvSpPr>
          <p:nvPr>
            <p:ph idx="1"/>
          </p:nvPr>
        </p:nvSpPr>
        <p:spPr>
          <a:xfrm>
            <a:off x="539552" y="1556792"/>
            <a:ext cx="8229600" cy="4525963"/>
          </a:xfrm>
        </p:spPr>
        <p:txBody>
          <a:bodyPr/>
          <a:lstStyle/>
          <a:p>
            <a:pPr marL="0" indent="0">
              <a:buNone/>
            </a:pPr>
            <a:endParaRPr lang="en-US" dirty="0"/>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32</a:t>
            </a:fld>
            <a:endParaRPr lang="en-US"/>
          </a:p>
        </p:txBody>
      </p:sp>
      <p:cxnSp>
        <p:nvCxnSpPr>
          <p:cNvPr id="6" name="Straight Arrow Connector 5"/>
          <p:cNvCxnSpPr/>
          <p:nvPr/>
        </p:nvCxnSpPr>
        <p:spPr>
          <a:xfrm>
            <a:off x="827584" y="4941168"/>
            <a:ext cx="7416824" cy="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flipV="1">
            <a:off x="4427984" y="1772816"/>
            <a:ext cx="0" cy="316835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1" name="Freeform 10"/>
          <p:cNvSpPr/>
          <p:nvPr/>
        </p:nvSpPr>
        <p:spPr>
          <a:xfrm>
            <a:off x="2123728" y="2094247"/>
            <a:ext cx="5412702" cy="2846921"/>
          </a:xfrm>
          <a:custGeom>
            <a:avLst/>
            <a:gdLst>
              <a:gd name="connsiteX0" fmla="*/ 0 w 5268686"/>
              <a:gd name="connsiteY0" fmla="*/ 2721452 h 2732338"/>
              <a:gd name="connsiteX1" fmla="*/ 1752600 w 5268686"/>
              <a:gd name="connsiteY1" fmla="*/ 1382509 h 2732338"/>
              <a:gd name="connsiteX2" fmla="*/ 2242457 w 5268686"/>
              <a:gd name="connsiteY2" fmla="*/ 23 h 2732338"/>
              <a:gd name="connsiteX3" fmla="*/ 2721428 w 5268686"/>
              <a:gd name="connsiteY3" fmla="*/ 1415166 h 2732338"/>
              <a:gd name="connsiteX4" fmla="*/ 5268686 w 5268686"/>
              <a:gd name="connsiteY4" fmla="*/ 2732338 h 2732338"/>
              <a:gd name="connsiteX0" fmla="*/ 0 w 5268686"/>
              <a:gd name="connsiteY0" fmla="*/ 2721567 h 2732453"/>
              <a:gd name="connsiteX1" fmla="*/ 1752600 w 5268686"/>
              <a:gd name="connsiteY1" fmla="*/ 1382624 h 2732453"/>
              <a:gd name="connsiteX2" fmla="*/ 2242457 w 5268686"/>
              <a:gd name="connsiteY2" fmla="*/ 138 h 2732453"/>
              <a:gd name="connsiteX3" fmla="*/ 3233057 w 5268686"/>
              <a:gd name="connsiteY3" fmla="*/ 1306424 h 2732453"/>
              <a:gd name="connsiteX4" fmla="*/ 5268686 w 5268686"/>
              <a:gd name="connsiteY4" fmla="*/ 2732453 h 2732453"/>
              <a:gd name="connsiteX0" fmla="*/ 0 w 5268686"/>
              <a:gd name="connsiteY0" fmla="*/ 2721523 h 2732409"/>
              <a:gd name="connsiteX1" fmla="*/ 1752600 w 5268686"/>
              <a:gd name="connsiteY1" fmla="*/ 1382580 h 2732409"/>
              <a:gd name="connsiteX2" fmla="*/ 2242457 w 5268686"/>
              <a:gd name="connsiteY2" fmla="*/ 94 h 2732409"/>
              <a:gd name="connsiteX3" fmla="*/ 3276600 w 5268686"/>
              <a:gd name="connsiteY3" fmla="*/ 1447894 h 2732409"/>
              <a:gd name="connsiteX4" fmla="*/ 5268686 w 5268686"/>
              <a:gd name="connsiteY4" fmla="*/ 2732409 h 2732409"/>
              <a:gd name="connsiteX0" fmla="*/ 0 w 5268686"/>
              <a:gd name="connsiteY0" fmla="*/ 2721491 h 2732377"/>
              <a:gd name="connsiteX1" fmla="*/ 1349829 w 5268686"/>
              <a:gd name="connsiteY1" fmla="*/ 1502291 h 2732377"/>
              <a:gd name="connsiteX2" fmla="*/ 2242457 w 5268686"/>
              <a:gd name="connsiteY2" fmla="*/ 62 h 2732377"/>
              <a:gd name="connsiteX3" fmla="*/ 3276600 w 5268686"/>
              <a:gd name="connsiteY3" fmla="*/ 1447862 h 2732377"/>
              <a:gd name="connsiteX4" fmla="*/ 5268686 w 5268686"/>
              <a:gd name="connsiteY4" fmla="*/ 2732377 h 2732377"/>
              <a:gd name="connsiteX0" fmla="*/ 0 w 5268686"/>
              <a:gd name="connsiteY0" fmla="*/ 2514674 h 2525560"/>
              <a:gd name="connsiteX1" fmla="*/ 1349829 w 5268686"/>
              <a:gd name="connsiteY1" fmla="*/ 1295474 h 2525560"/>
              <a:gd name="connsiteX2" fmla="*/ 2242457 w 5268686"/>
              <a:gd name="connsiteY2" fmla="*/ 74 h 2525560"/>
              <a:gd name="connsiteX3" fmla="*/ 3276600 w 5268686"/>
              <a:gd name="connsiteY3" fmla="*/ 1241045 h 2525560"/>
              <a:gd name="connsiteX4" fmla="*/ 5268686 w 5268686"/>
              <a:gd name="connsiteY4" fmla="*/ 2525560 h 2525560"/>
              <a:gd name="connsiteX0" fmla="*/ 0 w 5268686"/>
              <a:gd name="connsiteY0" fmla="*/ 2516062 h 2526948"/>
              <a:gd name="connsiteX1" fmla="*/ 1491343 w 5268686"/>
              <a:gd name="connsiteY1" fmla="*/ 1492805 h 2526948"/>
              <a:gd name="connsiteX2" fmla="*/ 2242457 w 5268686"/>
              <a:gd name="connsiteY2" fmla="*/ 1462 h 2526948"/>
              <a:gd name="connsiteX3" fmla="*/ 3276600 w 5268686"/>
              <a:gd name="connsiteY3" fmla="*/ 1242433 h 2526948"/>
              <a:gd name="connsiteX4" fmla="*/ 5268686 w 5268686"/>
              <a:gd name="connsiteY4" fmla="*/ 2526948 h 2526948"/>
              <a:gd name="connsiteX0" fmla="*/ 0 w 5268686"/>
              <a:gd name="connsiteY0" fmla="*/ 2514603 h 2525489"/>
              <a:gd name="connsiteX1" fmla="*/ 1491343 w 5268686"/>
              <a:gd name="connsiteY1" fmla="*/ 1491346 h 2525489"/>
              <a:gd name="connsiteX2" fmla="*/ 2242457 w 5268686"/>
              <a:gd name="connsiteY2" fmla="*/ 3 h 2525489"/>
              <a:gd name="connsiteX3" fmla="*/ 3091543 w 5268686"/>
              <a:gd name="connsiteY3" fmla="*/ 1502231 h 2525489"/>
              <a:gd name="connsiteX4" fmla="*/ 5268686 w 5268686"/>
              <a:gd name="connsiteY4" fmla="*/ 2525489 h 252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8686" h="2525489">
                <a:moveTo>
                  <a:pt x="0" y="2514603"/>
                </a:moveTo>
                <a:cubicBezTo>
                  <a:pt x="689428" y="2071917"/>
                  <a:pt x="1117600" y="1910446"/>
                  <a:pt x="1491343" y="1491346"/>
                </a:cubicBezTo>
                <a:cubicBezTo>
                  <a:pt x="1865086" y="1072246"/>
                  <a:pt x="1975757" y="-1811"/>
                  <a:pt x="2242457" y="3"/>
                </a:cubicBezTo>
                <a:cubicBezTo>
                  <a:pt x="2509157" y="1817"/>
                  <a:pt x="2587171" y="1081317"/>
                  <a:pt x="3091543" y="1502231"/>
                </a:cubicBezTo>
                <a:cubicBezTo>
                  <a:pt x="3595915" y="1923145"/>
                  <a:pt x="4247242" y="2094596"/>
                  <a:pt x="5268686" y="2525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793133" y="5013176"/>
            <a:ext cx="1485725" cy="646331"/>
          </a:xfrm>
          <a:prstGeom prst="rect">
            <a:avLst/>
          </a:prstGeom>
          <a:noFill/>
        </p:spPr>
        <p:txBody>
          <a:bodyPr wrap="square" rtlCol="0">
            <a:spAutoFit/>
          </a:bodyPr>
          <a:lstStyle/>
          <a:p>
            <a:r>
              <a:rPr lang="en-US" dirty="0"/>
              <a:t>Population</a:t>
            </a:r>
          </a:p>
          <a:p>
            <a:r>
              <a:rPr lang="en-US" dirty="0"/>
              <a:t>Average</a:t>
            </a:r>
          </a:p>
        </p:txBody>
      </p:sp>
      <p:sp>
        <p:nvSpPr>
          <p:cNvPr id="13" name="TextBox 12"/>
          <p:cNvSpPr txBox="1"/>
          <p:nvPr/>
        </p:nvSpPr>
        <p:spPr>
          <a:xfrm>
            <a:off x="6444208" y="3033826"/>
            <a:ext cx="2016224" cy="646331"/>
          </a:xfrm>
          <a:prstGeom prst="rect">
            <a:avLst/>
          </a:prstGeom>
          <a:noFill/>
        </p:spPr>
        <p:txBody>
          <a:bodyPr wrap="square" rtlCol="0">
            <a:spAutoFit/>
          </a:bodyPr>
          <a:lstStyle/>
          <a:p>
            <a:r>
              <a:rPr lang="en-US" dirty="0"/>
              <a:t>Highly plausible sample averages</a:t>
            </a:r>
          </a:p>
        </p:txBody>
      </p:sp>
      <p:cxnSp>
        <p:nvCxnSpPr>
          <p:cNvPr id="15" name="Straight Arrow Connector 14"/>
          <p:cNvCxnSpPr/>
          <p:nvPr/>
        </p:nvCxnSpPr>
        <p:spPr>
          <a:xfrm flipH="1">
            <a:off x="5076056" y="3680157"/>
            <a:ext cx="1368152" cy="126101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H="1">
            <a:off x="3419872" y="3680157"/>
            <a:ext cx="3024336" cy="126101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557334" y="1879956"/>
            <a:ext cx="2304256" cy="646331"/>
          </a:xfrm>
          <a:prstGeom prst="rect">
            <a:avLst/>
          </a:prstGeom>
          <a:noFill/>
        </p:spPr>
        <p:txBody>
          <a:bodyPr wrap="square" rtlCol="0">
            <a:spAutoFit/>
          </a:bodyPr>
          <a:lstStyle/>
          <a:p>
            <a:r>
              <a:rPr lang="en-US" dirty="0">
                <a:solidFill>
                  <a:srgbClr val="FF0000"/>
                </a:solidFill>
              </a:rPr>
              <a:t>Less plausible sample averages</a:t>
            </a:r>
          </a:p>
        </p:txBody>
      </p:sp>
      <p:cxnSp>
        <p:nvCxnSpPr>
          <p:cNvPr id="22" name="Straight Arrow Connector 21"/>
          <p:cNvCxnSpPr/>
          <p:nvPr/>
        </p:nvCxnSpPr>
        <p:spPr>
          <a:xfrm flipH="1">
            <a:off x="4389343" y="3680157"/>
            <a:ext cx="2054865" cy="126101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20" idx="2"/>
          </p:cNvCxnSpPr>
          <p:nvPr/>
        </p:nvCxnSpPr>
        <p:spPr>
          <a:xfrm>
            <a:off x="1709462" y="2526287"/>
            <a:ext cx="702298" cy="2414881"/>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7" name="Straight Arrow Connector 26"/>
          <p:cNvCxnSpPr>
            <a:stCxn id="20" idx="2"/>
          </p:cNvCxnSpPr>
          <p:nvPr/>
        </p:nvCxnSpPr>
        <p:spPr>
          <a:xfrm>
            <a:off x="1709462" y="2526287"/>
            <a:ext cx="5454826" cy="2414881"/>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191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3" name="Content Placeholder 2"/>
          <p:cNvSpPr>
            <a:spLocks noGrp="1"/>
          </p:cNvSpPr>
          <p:nvPr>
            <p:ph idx="1"/>
          </p:nvPr>
        </p:nvSpPr>
        <p:spPr/>
        <p:txBody>
          <a:bodyPr/>
          <a:lstStyle/>
          <a:p>
            <a:pPr marL="0" indent="0">
              <a:buNone/>
            </a:pPr>
            <a:r>
              <a:rPr lang="en-US" i="1" u="sng" dirty="0"/>
              <a:t>And the logic works in reverse, too</a:t>
            </a:r>
            <a:r>
              <a:rPr lang="en-US" dirty="0"/>
              <a:t>.  Given a certain sample average that we calculate, some potential population averages are more likely, while some are less likely</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33</a:t>
            </a:fld>
            <a:endParaRPr lang="en-US"/>
          </a:p>
        </p:txBody>
      </p:sp>
    </p:spTree>
    <p:extLst>
      <p:ext uri="{BB962C8B-B14F-4D97-AF65-F5344CB8AC3E}">
        <p14:creationId xmlns:p14="http://schemas.microsoft.com/office/powerpoint/2010/main" val="76128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34</a:t>
            </a:fld>
            <a:endParaRPr lang="en-US"/>
          </a:p>
        </p:txBody>
      </p:sp>
      <p:cxnSp>
        <p:nvCxnSpPr>
          <p:cNvPr id="6" name="Straight Arrow Connector 5"/>
          <p:cNvCxnSpPr/>
          <p:nvPr/>
        </p:nvCxnSpPr>
        <p:spPr>
          <a:xfrm>
            <a:off x="971600" y="5301208"/>
            <a:ext cx="72008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4067944" y="5539363"/>
            <a:ext cx="1152128" cy="646331"/>
          </a:xfrm>
          <a:prstGeom prst="rect">
            <a:avLst/>
          </a:prstGeom>
          <a:noFill/>
        </p:spPr>
        <p:txBody>
          <a:bodyPr wrap="square" rtlCol="0">
            <a:spAutoFit/>
          </a:bodyPr>
          <a:lstStyle/>
          <a:p>
            <a:r>
              <a:rPr lang="en-US" dirty="0"/>
              <a:t>Sample Average</a:t>
            </a:r>
          </a:p>
        </p:txBody>
      </p:sp>
      <p:cxnSp>
        <p:nvCxnSpPr>
          <p:cNvPr id="12" name="Straight Connector 11"/>
          <p:cNvCxnSpPr/>
          <p:nvPr/>
        </p:nvCxnSpPr>
        <p:spPr>
          <a:xfrm>
            <a:off x="4572000" y="4869160"/>
            <a:ext cx="0" cy="665376"/>
          </a:xfrm>
          <a:prstGeom prst="line">
            <a:avLst/>
          </a:prstGeom>
          <a:ln w="28575"/>
        </p:spPr>
        <p:style>
          <a:lnRef idx="1">
            <a:schemeClr val="dk1"/>
          </a:lnRef>
          <a:fillRef idx="0">
            <a:schemeClr val="dk1"/>
          </a:fillRef>
          <a:effectRef idx="0">
            <a:schemeClr val="dk1"/>
          </a:effectRef>
          <a:fontRef idx="minor">
            <a:schemeClr val="tx1"/>
          </a:fontRef>
        </p:style>
      </p:cxnSp>
      <p:sp>
        <p:nvSpPr>
          <p:cNvPr id="18" name="Content Placeholder 17"/>
          <p:cNvSpPr>
            <a:spLocks noGrp="1"/>
          </p:cNvSpPr>
          <p:nvPr>
            <p:ph idx="1"/>
          </p:nvPr>
        </p:nvSpPr>
        <p:spPr/>
        <p:txBody>
          <a:bodyPr/>
          <a:lstStyle/>
          <a:p>
            <a:endParaRPr lang="en-US" dirty="0"/>
          </a:p>
        </p:txBody>
      </p:sp>
      <p:sp>
        <p:nvSpPr>
          <p:cNvPr id="19" name="TextBox 18"/>
          <p:cNvSpPr txBox="1"/>
          <p:nvPr/>
        </p:nvSpPr>
        <p:spPr>
          <a:xfrm>
            <a:off x="6256278" y="3155466"/>
            <a:ext cx="1363722" cy="923330"/>
          </a:xfrm>
          <a:prstGeom prst="rect">
            <a:avLst/>
          </a:prstGeom>
          <a:noFill/>
        </p:spPr>
        <p:txBody>
          <a:bodyPr wrap="square" rtlCol="0">
            <a:spAutoFit/>
          </a:bodyPr>
          <a:lstStyle/>
          <a:p>
            <a:r>
              <a:rPr lang="en-US" dirty="0"/>
              <a:t>Plausible Population Means</a:t>
            </a:r>
          </a:p>
        </p:txBody>
      </p:sp>
      <p:cxnSp>
        <p:nvCxnSpPr>
          <p:cNvPr id="21" name="Straight Arrow Connector 20"/>
          <p:cNvCxnSpPr/>
          <p:nvPr/>
        </p:nvCxnSpPr>
        <p:spPr>
          <a:xfrm>
            <a:off x="2051720" y="3617131"/>
            <a:ext cx="648072" cy="16840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051719" y="3617130"/>
            <a:ext cx="4968553" cy="16792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691680" y="2403975"/>
            <a:ext cx="1368152" cy="1200329"/>
          </a:xfrm>
          <a:prstGeom prst="rect">
            <a:avLst/>
          </a:prstGeom>
          <a:noFill/>
        </p:spPr>
        <p:txBody>
          <a:bodyPr wrap="square" rtlCol="0">
            <a:spAutoFit/>
          </a:bodyPr>
          <a:lstStyle/>
          <a:p>
            <a:r>
              <a:rPr lang="en-US" dirty="0">
                <a:solidFill>
                  <a:srgbClr val="FF0000"/>
                </a:solidFill>
              </a:rPr>
              <a:t>Less plausible Population Means</a:t>
            </a:r>
          </a:p>
        </p:txBody>
      </p:sp>
      <p:cxnSp>
        <p:nvCxnSpPr>
          <p:cNvPr id="28" name="Straight Arrow Connector 27"/>
          <p:cNvCxnSpPr/>
          <p:nvPr/>
        </p:nvCxnSpPr>
        <p:spPr>
          <a:xfrm flipH="1">
            <a:off x="3491880" y="3863181"/>
            <a:ext cx="2764398" cy="1433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flipH="1">
            <a:off x="4616880" y="3858354"/>
            <a:ext cx="1639398" cy="14380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p:cNvCxnSpPr/>
          <p:nvPr/>
        </p:nvCxnSpPr>
        <p:spPr>
          <a:xfrm flipH="1">
            <a:off x="5552502" y="3858354"/>
            <a:ext cx="703776" cy="14380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91184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9" grpId="0"/>
      <p:bldP spid="2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Limit Theorem</a:t>
            </a:r>
          </a:p>
        </p:txBody>
      </p:sp>
      <p:sp>
        <p:nvSpPr>
          <p:cNvPr id="3" name="Content Placeholder 2"/>
          <p:cNvSpPr>
            <a:spLocks noGrp="1"/>
          </p:cNvSpPr>
          <p:nvPr>
            <p:ph idx="1"/>
          </p:nvPr>
        </p:nvSpPr>
        <p:spPr/>
        <p:txBody>
          <a:bodyPr/>
          <a:lstStyle/>
          <a:p>
            <a:pPr marL="0" indent="0">
              <a:buNone/>
            </a:pPr>
            <a:r>
              <a:rPr lang="en-CA" dirty="0"/>
              <a:t>This logic carries over into </a:t>
            </a:r>
            <a:r>
              <a:rPr lang="en-CA" u="sng" dirty="0"/>
              <a:t>ANY</a:t>
            </a:r>
            <a:r>
              <a:rPr lang="en-CA" dirty="0"/>
              <a:t> type of average we calculate:</a:t>
            </a:r>
          </a:p>
          <a:p>
            <a:pPr marL="571500" indent="-571500">
              <a:buAutoNum type="romanLcParenBoth"/>
            </a:pPr>
            <a:r>
              <a:rPr lang="en-CA" dirty="0"/>
              <a:t>A sample mean</a:t>
            </a:r>
          </a:p>
          <a:p>
            <a:pPr marL="571500" indent="-571500">
              <a:buAutoNum type="romanLcParenBoth"/>
            </a:pPr>
            <a:r>
              <a:rPr lang="en-CA" dirty="0"/>
              <a:t>A regression coefficient</a:t>
            </a:r>
          </a:p>
          <a:p>
            <a:pPr marL="571500" indent="-571500">
              <a:buAutoNum type="romanLcParenBoth"/>
            </a:pPr>
            <a:r>
              <a:rPr lang="en-CA" dirty="0"/>
              <a:t>A conditional mean calculated from a regression</a:t>
            </a: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35</a:t>
            </a:fld>
            <a:endParaRPr lang="en-US"/>
          </a:p>
        </p:txBody>
      </p:sp>
    </p:spTree>
    <p:extLst>
      <p:ext uri="{BB962C8B-B14F-4D97-AF65-F5344CB8AC3E}">
        <p14:creationId xmlns:p14="http://schemas.microsoft.com/office/powerpoint/2010/main" val="2129551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a:t>
            </a:r>
          </a:p>
        </p:txBody>
      </p:sp>
      <p:sp>
        <p:nvSpPr>
          <p:cNvPr id="3" name="Content Placeholder 2"/>
          <p:cNvSpPr>
            <a:spLocks noGrp="1"/>
          </p:cNvSpPr>
          <p:nvPr>
            <p:ph idx="1"/>
          </p:nvPr>
        </p:nvSpPr>
        <p:spPr/>
        <p:txBody>
          <a:bodyPr/>
          <a:lstStyle/>
          <a:p>
            <a:pPr marL="0" indent="0">
              <a:buNone/>
            </a:pPr>
            <a:r>
              <a:rPr lang="en-US" dirty="0"/>
              <a:t>Suppose that you are hired by UPS to analyze the productivity of its drivers.  In particular, the management is concerned about the impact of traffic on the number of deliveries that a driver can complete.</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36</a:t>
            </a:fld>
            <a:endParaRPr lang="en-US"/>
          </a:p>
        </p:txBody>
      </p:sp>
    </p:spTree>
    <p:extLst>
      <p:ext uri="{BB962C8B-B14F-4D97-AF65-F5344CB8AC3E}">
        <p14:creationId xmlns:p14="http://schemas.microsoft.com/office/powerpoint/2010/main" val="4148418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a:t>
            </a:r>
          </a:p>
        </p:txBody>
      </p:sp>
      <p:sp>
        <p:nvSpPr>
          <p:cNvPr id="3" name="Content Placeholder 2"/>
          <p:cNvSpPr>
            <a:spLocks noGrp="1"/>
          </p:cNvSpPr>
          <p:nvPr>
            <p:ph idx="1"/>
          </p:nvPr>
        </p:nvSpPr>
        <p:spPr/>
        <p:txBody>
          <a:bodyPr/>
          <a:lstStyle/>
          <a:p>
            <a:pPr marL="0" indent="0">
              <a:buNone/>
            </a:pPr>
            <a:r>
              <a:rPr lang="en-US" dirty="0"/>
              <a:t>You collect two pieces of data from various drivers employed by UPS:</a:t>
            </a:r>
            <a:br>
              <a:rPr lang="en-US" dirty="0"/>
            </a:br>
            <a:br>
              <a:rPr lang="en-US" dirty="0"/>
            </a:br>
            <a:r>
              <a:rPr lang="en-US" dirty="0"/>
              <a:t>(1) Number of deliveries completed in a given day</a:t>
            </a:r>
          </a:p>
          <a:p>
            <a:pPr marL="0" indent="0">
              <a:buNone/>
            </a:pPr>
            <a:endParaRPr lang="en-US" dirty="0"/>
          </a:p>
          <a:p>
            <a:pPr marL="0" indent="0">
              <a:buNone/>
            </a:pPr>
            <a:r>
              <a:rPr lang="en-US" dirty="0"/>
              <a:t>(2) Number of traffic delays (i.e. road closures, detours, jams, etc.) in a given day</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37</a:t>
            </a:fld>
            <a:endParaRPr lang="en-US"/>
          </a:p>
        </p:txBody>
      </p:sp>
    </p:spTree>
    <p:extLst>
      <p:ext uri="{BB962C8B-B14F-4D97-AF65-F5344CB8AC3E}">
        <p14:creationId xmlns:p14="http://schemas.microsoft.com/office/powerpoint/2010/main" val="20245178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a:t>
            </a:r>
          </a:p>
        </p:txBody>
      </p:sp>
      <p:sp>
        <p:nvSpPr>
          <p:cNvPr id="3" name="Content Placeholder 2"/>
          <p:cNvSpPr>
            <a:spLocks noGrp="1"/>
          </p:cNvSpPr>
          <p:nvPr>
            <p:ph idx="1"/>
          </p:nvPr>
        </p:nvSpPr>
        <p:spPr/>
        <p:txBody>
          <a:bodyPr/>
          <a:lstStyle/>
          <a:p>
            <a:pPr marL="0" indent="0">
              <a:buNone/>
            </a:pPr>
            <a:r>
              <a:rPr lang="en-US" u="sng" dirty="0"/>
              <a:t>Case #1</a:t>
            </a:r>
          </a:p>
          <a:p>
            <a:pPr marL="0" indent="0">
              <a:buNone/>
            </a:pPr>
            <a:r>
              <a:rPr lang="en-US" dirty="0"/>
              <a:t>Load the data UPS.xls</a:t>
            </a:r>
          </a:p>
          <a:p>
            <a:pPr marL="0" indent="0">
              <a:buNone/>
            </a:pPr>
            <a:endParaRPr lang="en-US" dirty="0"/>
          </a:p>
          <a:p>
            <a:pPr marL="0" indent="0">
              <a:buNone/>
            </a:pPr>
            <a:r>
              <a:rPr lang="en-US" dirty="0"/>
              <a:t>There are two variables in the spreadsheet:</a:t>
            </a:r>
          </a:p>
          <a:p>
            <a:pPr marL="571500" indent="-571500">
              <a:buAutoNum type="romanLcParenBoth"/>
            </a:pPr>
            <a:r>
              <a:rPr lang="en-US" dirty="0"/>
              <a:t>“Deliveries”: the number of deliveries completed in a given day</a:t>
            </a:r>
          </a:p>
          <a:p>
            <a:pPr marL="571500" indent="-571500">
              <a:buAutoNum type="romanLcParenBoth"/>
            </a:pPr>
            <a:r>
              <a:rPr lang="en-US" dirty="0"/>
              <a:t>“Delays”: the number of traffic delays in a given day</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38</a:t>
            </a:fld>
            <a:endParaRPr lang="en-US"/>
          </a:p>
        </p:txBody>
      </p:sp>
    </p:spTree>
    <p:extLst>
      <p:ext uri="{BB962C8B-B14F-4D97-AF65-F5344CB8AC3E}">
        <p14:creationId xmlns:p14="http://schemas.microsoft.com/office/powerpoint/2010/main" val="31235211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Now, let’s suppose that we wanted to examine the relationship between </a:t>
                </a:r>
                <a:r>
                  <a:rPr lang="en-US" b="1" u="sng" dirty="0"/>
                  <a:t>average</a:t>
                </a:r>
                <a:r>
                  <a:rPr lang="en-US" dirty="0"/>
                  <a:t> number of deliveries and delays.</a:t>
                </a:r>
              </a:p>
              <a:p>
                <a:pPr marL="0" indent="0">
                  <a:buNone/>
                </a:pPr>
                <a:r>
                  <a:rPr lang="en-US" dirty="0">
                    <a:sym typeface="Wingdings" panose="05000000000000000000" pitchFamily="2" charset="2"/>
                  </a:rPr>
                  <a:t>We want to know about the following population regression:</a:t>
                </a:r>
              </a:p>
              <a:p>
                <a:pPr marL="0" indent="0">
                  <a:buNone/>
                </a:pPr>
                <a:endParaRPr lang="en-US" dirty="0">
                  <a:sym typeface="Wingdings" panose="05000000000000000000" pitchFamily="2" charset="2"/>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𝐷𝑒𝑙𝑖𝑣𝑒𝑟𝑖𝑒𝑠</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ea typeface="Cambria Math"/>
                            </a:rPr>
                            <m:t>𝛽</m:t>
                          </m:r>
                        </m:e>
                        <m:sub>
                          <m:r>
                            <a:rPr lang="en-US" b="0" i="1" smtClean="0">
                              <a:latin typeface="Cambria Math"/>
                            </a:rPr>
                            <m:t>0</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b="0" i="1" smtClean="0">
                              <a:latin typeface="Cambria Math"/>
                              <a:ea typeface="Cambria Math"/>
                            </a:rPr>
                            <m:t>1</m:t>
                          </m:r>
                        </m:sub>
                      </m:sSub>
                      <m:r>
                        <a:rPr lang="en-US" b="0" i="1" smtClean="0">
                          <a:latin typeface="Cambria Math"/>
                        </a:rPr>
                        <m:t>(</m:t>
                      </m:r>
                      <m:r>
                        <a:rPr lang="en-US" b="0" i="1" smtClean="0">
                          <a:latin typeface="Cambria Math"/>
                        </a:rPr>
                        <m:t>𝑁𝑢𝑚𝑏𝑒𝑟</m:t>
                      </m:r>
                      <m:r>
                        <a:rPr lang="en-US" b="0" i="1" smtClean="0">
                          <a:latin typeface="Cambria Math"/>
                        </a:rPr>
                        <m:t> </m:t>
                      </m:r>
                      <m:r>
                        <a:rPr lang="en-US" b="0" i="1" smtClean="0">
                          <a:latin typeface="Cambria Math"/>
                        </a:rPr>
                        <m:t>𝑜𝑓</m:t>
                      </m:r>
                      <m:r>
                        <a:rPr lang="en-US" b="0" i="1" smtClean="0">
                          <a:latin typeface="Cambria Math"/>
                        </a:rPr>
                        <m:t> </m:t>
                      </m:r>
                      <m:r>
                        <a:rPr lang="en-US" b="0" i="1" smtClean="0">
                          <a:latin typeface="Cambria Math"/>
                        </a:rPr>
                        <m:t>𝑡𝑟𝑎𝑓𝑓𝑖𝑐</m:t>
                      </m:r>
                      <m:r>
                        <a:rPr lang="en-US" b="0" i="1" smtClean="0">
                          <a:latin typeface="Cambria Math"/>
                        </a:rPr>
                        <m:t> </m:t>
                      </m:r>
                      <m:r>
                        <a:rPr lang="en-US" b="0" i="1" smtClean="0">
                          <a:latin typeface="Cambria Math"/>
                        </a:rPr>
                        <m:t>𝑑𝑒𝑙𝑎𝑦𝑠</m:t>
                      </m:r>
                      <m:r>
                        <a:rPr lang="en-US" b="0" i="1" smtClean="0">
                          <a:latin typeface="Cambria Math"/>
                        </a:rPr>
                        <m:t>)</m:t>
                      </m:r>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CA">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39</a:t>
            </a:fld>
            <a:endParaRPr lang="en-US"/>
          </a:p>
        </p:txBody>
      </p:sp>
    </p:spTree>
    <p:extLst>
      <p:ext uri="{BB962C8B-B14F-4D97-AF65-F5344CB8AC3E}">
        <p14:creationId xmlns:p14="http://schemas.microsoft.com/office/powerpoint/2010/main" val="309627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How do we make inferences about population statistics?  With sample statistics.  </a:t>
                </a:r>
              </a:p>
              <a:p>
                <a:pPr marL="0" indent="0">
                  <a:buNone/>
                </a:pPr>
                <a:r>
                  <a:rPr lang="en-US" dirty="0">
                    <a:sym typeface="Wingdings" panose="05000000000000000000" pitchFamily="2" charset="2"/>
                  </a:rPr>
                  <a:t></a:t>
                </a:r>
                <a:r>
                  <a:rPr lang="en-US" dirty="0"/>
                  <a:t>So if we want to know about the population regression, we can use a sample regression (that is, we can estimate it with our sample data) and let’s estimate this:</a:t>
                </a:r>
              </a:p>
              <a:p>
                <a:pPr marL="0" indent="0">
                  <a:buNone/>
                </a:pPr>
                <a14:m>
                  <m:oMathPara xmlns:m="http://schemas.openxmlformats.org/officeDocument/2006/math">
                    <m:oMathParaPr>
                      <m:jc m:val="centerGroup"/>
                    </m:oMathParaPr>
                    <m:oMath xmlns:m="http://schemas.openxmlformats.org/officeDocument/2006/math">
                      <m:r>
                        <a:rPr lang="en-US" i="1">
                          <a:latin typeface="Cambria Math"/>
                        </a:rPr>
                        <m:t>𝐷𝑒𝑙𝑖𝑣𝑒𝑟𝑖𝑒𝑠</m:t>
                      </m:r>
                      <m:r>
                        <a:rPr lang="en-US" i="1">
                          <a:latin typeface="Cambria Math"/>
                        </a:rPr>
                        <m:t>=</m:t>
                      </m:r>
                      <m:sSub>
                        <m:sSubPr>
                          <m:ctrlPr>
                            <a:rPr lang="en-US" i="1">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a:rPr>
                            <m:t>0</m:t>
                          </m:r>
                        </m:sub>
                      </m:sSub>
                      <m:r>
                        <a:rPr lang="en-US" i="1">
                          <a:latin typeface="Cambria Math"/>
                        </a:rPr>
                        <m:t>+</m:t>
                      </m:r>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1</m:t>
                          </m:r>
                        </m:sub>
                      </m:sSub>
                      <m:r>
                        <a:rPr lang="en-US" i="1">
                          <a:latin typeface="Cambria Math"/>
                        </a:rPr>
                        <m:t>(</m:t>
                      </m:r>
                      <m:r>
                        <a:rPr lang="en-US" i="1">
                          <a:latin typeface="Cambria Math"/>
                        </a:rPr>
                        <m:t>𝑁𝑢𝑚𝑏𝑒𝑟</m:t>
                      </m:r>
                      <m:r>
                        <a:rPr lang="en-US" i="1">
                          <a:latin typeface="Cambria Math"/>
                        </a:rPr>
                        <m:t> </m:t>
                      </m:r>
                      <m:r>
                        <a:rPr lang="en-US" i="1">
                          <a:latin typeface="Cambria Math"/>
                        </a:rPr>
                        <m:t>𝑜𝑓</m:t>
                      </m:r>
                      <m:r>
                        <a:rPr lang="en-US" i="1">
                          <a:latin typeface="Cambria Math"/>
                        </a:rPr>
                        <m:t> </m:t>
                      </m:r>
                      <m:r>
                        <a:rPr lang="en-US" i="1">
                          <a:latin typeface="Cambria Math"/>
                        </a:rPr>
                        <m:t>𝑡𝑟𝑎𝑓𝑓𝑖𝑐</m:t>
                      </m:r>
                      <m:r>
                        <a:rPr lang="en-US" i="1">
                          <a:latin typeface="Cambria Math"/>
                        </a:rPr>
                        <m:t> </m:t>
                      </m:r>
                      <m:r>
                        <a:rPr lang="en-US" i="1">
                          <a:latin typeface="Cambria Math"/>
                        </a:rPr>
                        <m:t>𝑑𝑒𝑙𝑎𝑦𝑠</m:t>
                      </m:r>
                      <m:r>
                        <a:rPr lang="en-US" i="1">
                          <a:latin typeface="Cambria Math"/>
                        </a:rPr>
                        <m:t>)</m:t>
                      </m:r>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r="-4148"/>
                </a:stretch>
              </a:blipFill>
            </p:spPr>
            <p:txBody>
              <a:bodyPr/>
              <a:lstStyle/>
              <a:p>
                <a:r>
                  <a:rPr lang="en-CA">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40</a:t>
            </a:fld>
            <a:endParaRPr lang="en-US"/>
          </a:p>
        </p:txBody>
      </p:sp>
    </p:spTree>
    <p:extLst>
      <p:ext uri="{BB962C8B-B14F-4D97-AF65-F5344CB8AC3E}">
        <p14:creationId xmlns:p14="http://schemas.microsoft.com/office/powerpoint/2010/main" val="418138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Here’s our regression:</a:t>
                </a:r>
              </a:p>
              <a:p>
                <a:pPr marL="0" indent="0">
                  <a:buNone/>
                </a:pPr>
                <a14:m>
                  <m:oMathPara xmlns:m="http://schemas.openxmlformats.org/officeDocument/2006/math">
                    <m:oMathParaPr>
                      <m:jc m:val="centerGroup"/>
                    </m:oMathParaPr>
                    <m:oMath xmlns:m="http://schemas.openxmlformats.org/officeDocument/2006/math">
                      <m:r>
                        <a:rPr lang="en-US" i="1">
                          <a:latin typeface="Cambria Math"/>
                        </a:rPr>
                        <m:t>𝐷𝑒𝑙𝑖𝑣𝑒𝑟𝑖𝑒𝑠</m:t>
                      </m:r>
                      <m:r>
                        <a:rPr lang="en-US" i="1">
                          <a:latin typeface="Cambria Math"/>
                        </a:rPr>
                        <m:t>=</m:t>
                      </m:r>
                      <m:sSub>
                        <m:sSubPr>
                          <m:ctrlPr>
                            <a:rPr lang="en-US" i="1">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a:rPr>
                            <m:t>0</m:t>
                          </m:r>
                        </m:sub>
                      </m:sSub>
                      <m:r>
                        <a:rPr lang="en-US" i="1">
                          <a:latin typeface="Cambria Math"/>
                        </a:rPr>
                        <m:t>+</m:t>
                      </m:r>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b="0" i="1" smtClean="0">
                              <a:latin typeface="Cambria Math" panose="02040503050406030204" pitchFamily="18" charset="0"/>
                            </a:rPr>
                            <m:t>1</m:t>
                          </m:r>
                        </m:sub>
                      </m:sSub>
                      <m:r>
                        <a:rPr lang="en-US" i="1">
                          <a:latin typeface="Cambria Math"/>
                        </a:rPr>
                        <m:t>(</m:t>
                      </m:r>
                      <m:r>
                        <a:rPr lang="en-US" i="1">
                          <a:latin typeface="Cambria Math"/>
                        </a:rPr>
                        <m:t>𝑁𝑢𝑚𝑏𝑒𝑟</m:t>
                      </m:r>
                      <m:r>
                        <a:rPr lang="en-US" i="1">
                          <a:latin typeface="Cambria Math"/>
                        </a:rPr>
                        <m:t> </m:t>
                      </m:r>
                      <m:r>
                        <a:rPr lang="en-US" i="1">
                          <a:latin typeface="Cambria Math"/>
                        </a:rPr>
                        <m:t>𝑜𝑓</m:t>
                      </m:r>
                      <m:r>
                        <a:rPr lang="en-US" i="1">
                          <a:latin typeface="Cambria Math"/>
                        </a:rPr>
                        <m:t> </m:t>
                      </m:r>
                      <m:r>
                        <a:rPr lang="en-US" i="1">
                          <a:latin typeface="Cambria Math"/>
                        </a:rPr>
                        <m:t>𝑡𝑟𝑎𝑓𝑓𝑖𝑐</m:t>
                      </m:r>
                      <m:r>
                        <a:rPr lang="en-US" i="1">
                          <a:latin typeface="Cambria Math"/>
                        </a:rPr>
                        <m:t> </m:t>
                      </m:r>
                      <m:r>
                        <a:rPr lang="en-US" i="1">
                          <a:latin typeface="Cambria Math"/>
                        </a:rPr>
                        <m:t>𝑑𝑒𝑙𝑎𝑦𝑠</m:t>
                      </m:r>
                      <m:r>
                        <a:rPr lang="en-US" i="1">
                          <a:latin typeface="Cambria Math"/>
                        </a:rPr>
                        <m:t>)</m:t>
                      </m:r>
                    </m:oMath>
                  </m:oMathPara>
                </a14:m>
                <a:endParaRPr lang="en-US" dirty="0"/>
              </a:p>
              <a:p>
                <a:pPr marL="0" indent="0">
                  <a:buNone/>
                </a:pPr>
                <a:r>
                  <a:rPr lang="en-US" dirty="0"/>
                  <a:t>To do this in Excel, be sure to:</a:t>
                </a:r>
              </a:p>
              <a:p>
                <a:pPr marL="514350" indent="-514350">
                  <a:buAutoNum type="arabicParenBoth"/>
                </a:pPr>
                <a:r>
                  <a:rPr lang="en-US" dirty="0"/>
                  <a:t>Highlight the numerical values in the “Delays” column for the “Input X Range”</a:t>
                </a:r>
              </a:p>
              <a:p>
                <a:pPr marL="514350" indent="-514350">
                  <a:buFontTx/>
                  <a:buAutoNum type="arabicParenBoth"/>
                </a:pPr>
                <a:r>
                  <a:rPr lang="en-US" dirty="0"/>
                  <a:t>Highlight the numerical values in the “Deliveries” column for the “Input Y Range”</a:t>
                </a:r>
              </a:p>
              <a:p>
                <a:pPr marL="514350" indent="-514350">
                  <a:buAutoNum type="arabicParenBoth"/>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b="-1010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41</a:t>
            </a:fld>
            <a:endParaRPr lang="en-US"/>
          </a:p>
        </p:txBody>
      </p:sp>
    </p:spTree>
    <p:extLst>
      <p:ext uri="{BB962C8B-B14F-4D97-AF65-F5344CB8AC3E}">
        <p14:creationId xmlns:p14="http://schemas.microsoft.com/office/powerpoint/2010/main" val="28550229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What did we get?  (Again, doing some rounding to make life easy):</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a:rPr>
                        <m:t>𝐷𝑒𝑙𝑖𝑣𝑒𝑟𝑖𝑒𝑠</m:t>
                      </m:r>
                      <m:r>
                        <a:rPr lang="en-US" i="1">
                          <a:latin typeface="Cambria Math"/>
                        </a:rPr>
                        <m:t>=32−2(</m:t>
                      </m:r>
                      <m:r>
                        <a:rPr lang="en-US" i="1">
                          <a:latin typeface="Cambria Math"/>
                        </a:rPr>
                        <m:t>𝑁𝑢𝑚𝑏𝑒𝑟</m:t>
                      </m:r>
                      <m:r>
                        <a:rPr lang="en-US" i="1">
                          <a:latin typeface="Cambria Math"/>
                        </a:rPr>
                        <m:t> </m:t>
                      </m:r>
                      <m:r>
                        <a:rPr lang="en-US" i="1">
                          <a:latin typeface="Cambria Math"/>
                        </a:rPr>
                        <m:t>𝑜𝑓</m:t>
                      </m:r>
                      <m:r>
                        <a:rPr lang="en-US" i="1">
                          <a:latin typeface="Cambria Math"/>
                        </a:rPr>
                        <m:t> </m:t>
                      </m:r>
                      <m:r>
                        <a:rPr lang="en-US" i="1">
                          <a:latin typeface="Cambria Math"/>
                        </a:rPr>
                        <m:t>𝑡𝑟𝑎𝑓𝑓𝑖𝑐</m:t>
                      </m:r>
                      <m:r>
                        <a:rPr lang="en-US" i="1">
                          <a:latin typeface="Cambria Math"/>
                        </a:rPr>
                        <m:t> </m:t>
                      </m:r>
                      <m:r>
                        <a:rPr lang="en-US" i="1">
                          <a:latin typeface="Cambria Math"/>
                        </a:rPr>
                        <m:t>𝑑𝑒𝑙𝑎𝑦𝑠</m:t>
                      </m:r>
                      <m:r>
                        <a:rPr lang="en-US" i="1">
                          <a:latin typeface="Cambria Math"/>
                        </a:rPr>
                        <m:t>)</m:t>
                      </m:r>
                    </m:oMath>
                  </m:oMathPara>
                </a14:m>
                <a:endParaRPr lang="en-US" dirty="0"/>
              </a:p>
              <a:p>
                <a:pPr marL="0" indent="0">
                  <a:buNone/>
                </a:pPr>
                <a:endParaRPr lang="en-US" dirty="0"/>
              </a:p>
              <a:p>
                <a:pPr marL="0" indent="0">
                  <a:buNone/>
                </a:pPr>
                <a:r>
                  <a:rPr lang="en-US" dirty="0"/>
                  <a:t>What does this imply about the relationship between these two variables?</a:t>
                </a:r>
              </a:p>
              <a:p>
                <a:pPr marL="0" indent="0">
                  <a:buNone/>
                </a:pPr>
                <a:r>
                  <a:rPr lang="en-US" dirty="0">
                    <a:sym typeface="Wingdings" panose="05000000000000000000" pitchFamily="2" charset="2"/>
                  </a:rPr>
                  <a:t>It’s a negative relationship</a:t>
                </a:r>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b="-11725"/>
                </a:stretch>
              </a:blipFill>
            </p:spPr>
            <p:txBody>
              <a:bodyPr/>
              <a:lstStyle/>
              <a:p>
                <a:r>
                  <a:rPr lang="en-CA">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42</a:t>
            </a:fld>
            <a:endParaRPr lang="en-US"/>
          </a:p>
        </p:txBody>
      </p:sp>
    </p:spTree>
    <p:extLst>
      <p:ext uri="{BB962C8B-B14F-4D97-AF65-F5344CB8AC3E}">
        <p14:creationId xmlns:p14="http://schemas.microsoft.com/office/powerpoint/2010/main" val="1483819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#1</a:t>
            </a:r>
          </a:p>
        </p:txBody>
      </p:sp>
      <p:sp>
        <p:nvSpPr>
          <p:cNvPr id="3" name="Content Placeholder 2"/>
          <p:cNvSpPr>
            <a:spLocks noGrp="1"/>
          </p:cNvSpPr>
          <p:nvPr>
            <p:ph idx="1"/>
          </p:nvPr>
        </p:nvSpPr>
        <p:spPr/>
        <p:txBody>
          <a:bodyPr/>
          <a:lstStyle/>
          <a:p>
            <a:pPr marL="0" indent="0">
              <a:buNone/>
            </a:pPr>
            <a:r>
              <a:rPr lang="en-US" dirty="0"/>
              <a:t>A formal way to examine this would be to test a hypothesis about the population relationship between delays and deliveries.  How would we do this?</a:t>
            </a:r>
            <a:br>
              <a:rPr lang="en-US" dirty="0"/>
            </a:br>
            <a:br>
              <a:rPr lang="en-US" dirty="0"/>
            </a:br>
            <a:r>
              <a:rPr lang="en-US" dirty="0"/>
              <a:t>A popular approach focuses on the possibility of </a:t>
            </a:r>
            <a:r>
              <a:rPr lang="en-US" b="1" i="1" u="sng" dirty="0"/>
              <a:t>no</a:t>
            </a:r>
            <a:r>
              <a:rPr lang="en-US" dirty="0"/>
              <a:t> relationship between these two variables.</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43</a:t>
            </a:fld>
            <a:endParaRPr lang="en-US"/>
          </a:p>
        </p:txBody>
      </p:sp>
    </p:spTree>
    <p:extLst>
      <p:ext uri="{BB962C8B-B14F-4D97-AF65-F5344CB8AC3E}">
        <p14:creationId xmlns:p14="http://schemas.microsoft.com/office/powerpoint/2010/main" val="10075070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Formally, we’d do a hypothesis test on the regression coefficient: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ea typeface="Cambria Math"/>
                            </a:rPr>
                            <m:t>𝛽</m:t>
                          </m:r>
                        </m:e>
                        <m:sub>
                          <m:r>
                            <a:rPr lang="en-US" b="0" i="1" smtClean="0">
                              <a:latin typeface="Cambria Math"/>
                            </a:rPr>
                            <m:t>1</m:t>
                          </m:r>
                        </m:sub>
                      </m:sSub>
                      <m:r>
                        <a:rPr lang="en-US" b="0" i="1" smtClean="0">
                          <a:latin typeface="Cambria Math"/>
                        </a:rPr>
                        <m:t>=0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b="0" i="1" smtClean="0">
                              <a:latin typeface="Cambria Math"/>
                            </a:rPr>
                            <m:t>𝑎</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smtClean="0">
                          <a:latin typeface="Cambria Math"/>
                          <a:ea typeface="Cambria Math"/>
                        </a:rPr>
                        <m:t>≠</m:t>
                      </m:r>
                      <m:r>
                        <a:rPr lang="en-US" i="1">
                          <a:latin typeface="Cambria Math"/>
                        </a:rPr>
                        <m:t>0</m:t>
                      </m:r>
                    </m:oMath>
                  </m:oMathPara>
                </a14:m>
                <a:endParaRPr lang="en-US" dirty="0"/>
              </a:p>
              <a:p>
                <a:pPr marL="0" indent="0">
                  <a:buNone/>
                </a:pPr>
                <a:endParaRPr lang="en-US" dirty="0"/>
              </a:p>
              <a:p>
                <a:pPr marL="0" indent="0">
                  <a:buNone/>
                </a:pPr>
                <a:r>
                  <a:rPr lang="en-US" dirty="0"/>
                  <a:t>What’s our output here?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52" t="-175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44</a:t>
            </a:fld>
            <a:endParaRPr lang="en-US"/>
          </a:p>
        </p:txBody>
      </p:sp>
    </p:spTree>
    <p:extLst>
      <p:ext uri="{BB962C8B-B14F-4D97-AF65-F5344CB8AC3E}">
        <p14:creationId xmlns:p14="http://schemas.microsoft.com/office/powerpoint/2010/main" val="35050662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#1</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078659191"/>
              </p:ext>
            </p:extLst>
          </p:nvPr>
        </p:nvGraphicFramePr>
        <p:xfrm>
          <a:off x="457200" y="1600200"/>
          <a:ext cx="8229600" cy="4831080"/>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gridSpan="2">
                  <a:txBody>
                    <a:bodyPr/>
                    <a:lstStyle/>
                    <a:p>
                      <a:pPr algn="ctr" fontAlgn="b"/>
                      <a:r>
                        <a:rPr lang="en-US" sz="2400" u="none" strike="noStrike" dirty="0"/>
                        <a:t>Regression Statistics</a:t>
                      </a:r>
                      <a:endParaRPr lang="en-US" sz="2400" b="0" i="1" u="none" strike="noStrike" dirty="0">
                        <a:latin typeface="Arial"/>
                      </a:endParaRPr>
                    </a:p>
                  </a:txBody>
                  <a:tcPr marL="9525" marR="9525" marT="9525" marB="0" anchor="b"/>
                </a:tc>
                <a:tc hMerge="1">
                  <a:txBody>
                    <a:bodyPr/>
                    <a:lstStyle/>
                    <a:p>
                      <a:endParaRPr lang="en-US"/>
                    </a:p>
                  </a:txBody>
                  <a:tcPr/>
                </a:tc>
                <a:tc>
                  <a:txBody>
                    <a:bodyPr/>
                    <a:lstStyle/>
                    <a:p>
                      <a:endParaRPr lang="en-US" sz="2400"/>
                    </a:p>
                  </a:txBody>
                  <a:tcPr/>
                </a:tc>
                <a:tc>
                  <a:txBody>
                    <a:bodyPr/>
                    <a:lstStyle/>
                    <a:p>
                      <a:endParaRPr lang="en-US" sz="2400"/>
                    </a:p>
                  </a:txBody>
                  <a:tcPr/>
                </a:tc>
                <a:extLst>
                  <a:ext uri="{0D108BD9-81ED-4DB2-BD59-A6C34878D82A}">
                    <a16:rowId xmlns:a16="http://schemas.microsoft.com/office/drawing/2014/main" val="10000"/>
                  </a:ext>
                </a:extLst>
              </a:tr>
              <a:tr h="370840">
                <a:tc>
                  <a:txBody>
                    <a:bodyPr/>
                    <a:lstStyle/>
                    <a:p>
                      <a:pPr algn="l" fontAlgn="b"/>
                      <a:r>
                        <a:rPr lang="en-US" sz="2400" u="none" strike="noStrike" dirty="0"/>
                        <a:t>R Square</a:t>
                      </a:r>
                      <a:endParaRPr lang="en-US" sz="2400" b="0" i="0" u="none" strike="noStrike" dirty="0">
                        <a:latin typeface="Arial"/>
                      </a:endParaRPr>
                    </a:p>
                  </a:txBody>
                  <a:tcPr marL="9525" marR="9525" marT="9525" marB="0" anchor="b"/>
                </a:tc>
                <a:tc>
                  <a:txBody>
                    <a:bodyPr/>
                    <a:lstStyle/>
                    <a:p>
                      <a:pPr algn="r" fontAlgn="b"/>
                      <a:r>
                        <a:rPr lang="en-US" sz="2400" u="none" strike="noStrike" dirty="0"/>
                        <a:t>0.9675</a:t>
                      </a:r>
                      <a:endParaRPr lang="en-US" sz="2400" b="0" i="0" u="none" strike="noStrike" dirty="0">
                        <a:latin typeface="Arial"/>
                      </a:endParaRPr>
                    </a:p>
                  </a:txBody>
                  <a:tcPr marL="9525" marR="9525" marT="9525" marB="0" anchor="b"/>
                </a:tc>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0001"/>
                  </a:ext>
                </a:extLst>
              </a:tr>
              <a:tr h="370840">
                <a:tc>
                  <a:txBody>
                    <a:bodyPr/>
                    <a:lstStyle/>
                    <a:p>
                      <a:pPr algn="l" fontAlgn="b"/>
                      <a:r>
                        <a:rPr lang="en-US" sz="2400" b="0" i="0" u="none" strike="noStrike" dirty="0">
                          <a:latin typeface="Arial"/>
                        </a:rPr>
                        <a:t>Standard Error</a:t>
                      </a:r>
                    </a:p>
                  </a:txBody>
                  <a:tcPr marL="9525" marR="9525" marT="9525" marB="0" anchor="b"/>
                </a:tc>
                <a:tc>
                  <a:txBody>
                    <a:bodyPr/>
                    <a:lstStyle/>
                    <a:p>
                      <a:pPr algn="r" fontAlgn="b"/>
                      <a:r>
                        <a:rPr lang="en-US" sz="2400" b="0" i="0" u="none" strike="noStrike" dirty="0">
                          <a:latin typeface="Arial"/>
                        </a:rPr>
                        <a:t>0.7332</a:t>
                      </a:r>
                    </a:p>
                  </a:txBody>
                  <a:tcPr marL="9525" marR="9525" marT="9525" marB="0" anchor="b"/>
                </a:tc>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0002"/>
                  </a:ext>
                </a:extLst>
              </a:tr>
              <a:tr h="370840">
                <a:tc>
                  <a:txBody>
                    <a:bodyPr/>
                    <a:lstStyle/>
                    <a:p>
                      <a:pPr algn="l" fontAlgn="b"/>
                      <a:r>
                        <a:rPr lang="en-US" sz="2400" u="none" strike="noStrike" dirty="0"/>
                        <a:t>Observations</a:t>
                      </a:r>
                      <a:endParaRPr lang="en-US" sz="2400" b="0" i="0" u="none" strike="noStrike" dirty="0">
                        <a:latin typeface="Arial"/>
                      </a:endParaRPr>
                    </a:p>
                  </a:txBody>
                  <a:tcPr marL="9525" marR="9525" marT="9525" marB="0" anchor="b"/>
                </a:tc>
                <a:tc>
                  <a:txBody>
                    <a:bodyPr/>
                    <a:lstStyle/>
                    <a:p>
                      <a:pPr algn="r" fontAlgn="b"/>
                      <a:r>
                        <a:rPr lang="en-US" sz="2400" u="none" strike="noStrike" dirty="0"/>
                        <a:t>400</a:t>
                      </a:r>
                      <a:endParaRPr lang="en-US" sz="2400" b="0" i="0" u="none" strike="noStrike" dirty="0">
                        <a:latin typeface="Arial"/>
                      </a:endParaRPr>
                    </a:p>
                  </a:txBody>
                  <a:tcPr marL="9525" marR="9525" marT="9525" marB="0" anchor="b"/>
                </a:tc>
                <a:tc>
                  <a:txBody>
                    <a:bodyPr/>
                    <a:lstStyle/>
                    <a:p>
                      <a:endParaRPr lang="en-US" sz="2400"/>
                    </a:p>
                  </a:txBody>
                  <a:tcPr/>
                </a:tc>
                <a:tc>
                  <a:txBody>
                    <a:bodyPr/>
                    <a:lstStyle/>
                    <a:p>
                      <a:endParaRPr lang="en-US" sz="2400"/>
                    </a:p>
                  </a:txBody>
                  <a:tcPr/>
                </a:tc>
                <a:extLst>
                  <a:ext uri="{0D108BD9-81ED-4DB2-BD59-A6C34878D82A}">
                    <a16:rowId xmlns:a16="http://schemas.microsoft.com/office/drawing/2014/main" val="10003"/>
                  </a:ext>
                </a:extLst>
              </a:tr>
              <a:tr h="370840">
                <a:tc>
                  <a:txBody>
                    <a:bodyPr/>
                    <a:lstStyle/>
                    <a:p>
                      <a:pPr algn="l" fontAlgn="b"/>
                      <a:r>
                        <a:rPr lang="en-US" sz="2400" u="none" strike="noStrike" dirty="0"/>
                        <a:t>ANOVA</a:t>
                      </a:r>
                      <a:endParaRPr lang="en-US" sz="2400" b="0" i="0" u="none" strike="noStrike" dirty="0">
                        <a:latin typeface="Arial"/>
                      </a:endParaRPr>
                    </a:p>
                  </a:txBody>
                  <a:tcPr marL="9525" marR="9525" marT="9525" marB="0" anchor="b"/>
                </a:tc>
                <a:tc>
                  <a:txBody>
                    <a:bodyPr/>
                    <a:lstStyle/>
                    <a:p>
                      <a:pPr algn="ctr" fontAlgn="b"/>
                      <a:r>
                        <a:rPr lang="en-US" sz="2400" u="none" strike="noStrike" dirty="0" err="1"/>
                        <a:t>df</a:t>
                      </a:r>
                      <a:endParaRPr lang="en-US" sz="2400" b="0" i="1" u="none" strike="noStrike" dirty="0">
                        <a:latin typeface="Arial"/>
                      </a:endParaRPr>
                    </a:p>
                  </a:txBody>
                  <a:tcPr marL="9525" marR="9525" marT="9525" marB="0" anchor="b"/>
                </a:tc>
                <a:tc>
                  <a:txBody>
                    <a:bodyPr/>
                    <a:lstStyle/>
                    <a:p>
                      <a:pPr algn="ctr" fontAlgn="b"/>
                      <a:r>
                        <a:rPr lang="en-US" sz="2400" u="none" strike="noStrike"/>
                        <a:t>SS</a:t>
                      </a:r>
                      <a:endParaRPr lang="en-US" sz="2400" b="0" i="1" u="none" strike="noStrike">
                        <a:latin typeface="Arial"/>
                      </a:endParaRPr>
                    </a:p>
                  </a:txBody>
                  <a:tcPr marL="9525" marR="9525" marT="9525" marB="0" anchor="b"/>
                </a:tc>
                <a:tc>
                  <a:txBody>
                    <a:bodyPr/>
                    <a:lstStyle/>
                    <a:p>
                      <a:pPr algn="ctr" fontAlgn="b"/>
                      <a:endParaRPr lang="en-US" sz="2400" b="0" i="1" u="none" strike="noStrike" dirty="0">
                        <a:latin typeface="Arial"/>
                      </a:endParaRPr>
                    </a:p>
                  </a:txBody>
                  <a:tcPr marL="9525" marR="9525" marT="9525" marB="0" anchor="b"/>
                </a:tc>
                <a:extLst>
                  <a:ext uri="{0D108BD9-81ED-4DB2-BD59-A6C34878D82A}">
                    <a16:rowId xmlns:a16="http://schemas.microsoft.com/office/drawing/2014/main" val="10004"/>
                  </a:ext>
                </a:extLst>
              </a:tr>
              <a:tr h="370840">
                <a:tc>
                  <a:txBody>
                    <a:bodyPr/>
                    <a:lstStyle/>
                    <a:p>
                      <a:pPr algn="l" fontAlgn="b"/>
                      <a:r>
                        <a:rPr lang="en-US" sz="2400" u="none" strike="noStrike" dirty="0"/>
                        <a:t>Regression</a:t>
                      </a:r>
                      <a:endParaRPr lang="en-US" sz="2400" b="0" i="0" u="none" strike="noStrike" dirty="0">
                        <a:latin typeface="Arial"/>
                      </a:endParaRPr>
                    </a:p>
                  </a:txBody>
                  <a:tcPr marL="9525" marR="9525" marT="9525" marB="0" anchor="b"/>
                </a:tc>
                <a:tc>
                  <a:txBody>
                    <a:bodyPr/>
                    <a:lstStyle/>
                    <a:p>
                      <a:pPr algn="r" fontAlgn="b"/>
                      <a:r>
                        <a:rPr lang="en-US" sz="2400" b="0" i="0" u="none" strike="noStrike" dirty="0">
                          <a:effectLst/>
                          <a:latin typeface="Arial"/>
                        </a:rPr>
                        <a:t>1</a:t>
                      </a:r>
                    </a:p>
                  </a:txBody>
                  <a:tcPr marL="9525" marR="9525" marT="9525" marB="0" anchor="b"/>
                </a:tc>
                <a:tc>
                  <a:txBody>
                    <a:bodyPr/>
                    <a:lstStyle/>
                    <a:p>
                      <a:pPr algn="r" fontAlgn="b"/>
                      <a:r>
                        <a:rPr lang="en-US" sz="2400" b="0" i="0" u="none" strike="noStrike">
                          <a:effectLst/>
                          <a:latin typeface="Arial"/>
                        </a:rPr>
                        <a:t>6372.031</a:t>
                      </a:r>
                    </a:p>
                  </a:txBody>
                  <a:tcPr marL="9525" marR="9525" marT="9525" marB="0" anchor="b"/>
                </a:tc>
                <a:tc>
                  <a:txBody>
                    <a:bodyPr/>
                    <a:lstStyle/>
                    <a:p>
                      <a:pPr algn="r" fontAlgn="b"/>
                      <a:endParaRPr lang="en-US" sz="2400" b="0" i="0" u="none" strike="noStrike" dirty="0">
                        <a:latin typeface="Arial"/>
                      </a:endParaRPr>
                    </a:p>
                  </a:txBody>
                  <a:tcPr marL="9525" marR="9525" marT="9525" marB="0" anchor="b"/>
                </a:tc>
                <a:extLst>
                  <a:ext uri="{0D108BD9-81ED-4DB2-BD59-A6C34878D82A}">
                    <a16:rowId xmlns:a16="http://schemas.microsoft.com/office/drawing/2014/main" val="10005"/>
                  </a:ext>
                </a:extLst>
              </a:tr>
              <a:tr h="370840">
                <a:tc>
                  <a:txBody>
                    <a:bodyPr/>
                    <a:lstStyle/>
                    <a:p>
                      <a:pPr algn="l" fontAlgn="b"/>
                      <a:r>
                        <a:rPr lang="en-US" sz="2400" u="none" strike="noStrike" dirty="0"/>
                        <a:t>Residual</a:t>
                      </a:r>
                      <a:endParaRPr lang="en-US" sz="2400" b="0" i="0" u="none" strike="noStrike" dirty="0">
                        <a:latin typeface="Arial"/>
                      </a:endParaRPr>
                    </a:p>
                  </a:txBody>
                  <a:tcPr marL="9525" marR="9525" marT="9525" marB="0" anchor="b"/>
                </a:tc>
                <a:tc>
                  <a:txBody>
                    <a:bodyPr/>
                    <a:lstStyle/>
                    <a:p>
                      <a:pPr algn="r" fontAlgn="b"/>
                      <a:r>
                        <a:rPr lang="en-US" sz="2400" b="0" i="0" u="none" strike="noStrike" dirty="0">
                          <a:effectLst/>
                          <a:latin typeface="Arial"/>
                        </a:rPr>
                        <a:t>398</a:t>
                      </a:r>
                    </a:p>
                  </a:txBody>
                  <a:tcPr marL="9525" marR="9525" marT="9525" marB="0" anchor="b"/>
                </a:tc>
                <a:tc>
                  <a:txBody>
                    <a:bodyPr/>
                    <a:lstStyle/>
                    <a:p>
                      <a:pPr algn="r" fontAlgn="b"/>
                      <a:r>
                        <a:rPr lang="en-US" sz="2400" b="0" i="0" u="none" strike="noStrike">
                          <a:effectLst/>
                          <a:latin typeface="Arial"/>
                        </a:rPr>
                        <a:t>213.9594</a:t>
                      </a:r>
                    </a:p>
                  </a:txBody>
                  <a:tcPr marL="9525" marR="9525" marT="9525" marB="0" anchor="b"/>
                </a:tc>
                <a:tc>
                  <a:txBody>
                    <a:bodyPr/>
                    <a:lstStyle/>
                    <a:p>
                      <a:pPr algn="r" fontAlgn="b"/>
                      <a:endParaRPr lang="en-US" sz="2400" b="0" i="0" u="none" strike="noStrike" dirty="0">
                        <a:latin typeface="Arial"/>
                      </a:endParaRPr>
                    </a:p>
                  </a:txBody>
                  <a:tcPr marL="9525" marR="9525" marT="9525" marB="0" anchor="b"/>
                </a:tc>
                <a:extLst>
                  <a:ext uri="{0D108BD9-81ED-4DB2-BD59-A6C34878D82A}">
                    <a16:rowId xmlns:a16="http://schemas.microsoft.com/office/drawing/2014/main" val="10006"/>
                  </a:ext>
                </a:extLst>
              </a:tr>
              <a:tr h="370840">
                <a:tc>
                  <a:txBody>
                    <a:bodyPr/>
                    <a:lstStyle/>
                    <a:p>
                      <a:pPr algn="l" fontAlgn="b"/>
                      <a:r>
                        <a:rPr lang="en-US" sz="2400" u="none" strike="noStrike" dirty="0"/>
                        <a:t>Total</a:t>
                      </a:r>
                      <a:endParaRPr lang="en-US" sz="2400" b="0" i="0" u="none" strike="noStrike" dirty="0">
                        <a:latin typeface="Arial"/>
                      </a:endParaRPr>
                    </a:p>
                  </a:txBody>
                  <a:tcPr marL="9525" marR="9525" marT="9525" marB="0" anchor="b"/>
                </a:tc>
                <a:tc>
                  <a:txBody>
                    <a:bodyPr/>
                    <a:lstStyle/>
                    <a:p>
                      <a:pPr algn="r" fontAlgn="b"/>
                      <a:r>
                        <a:rPr lang="en-US" sz="2400" b="0" i="0" u="none" strike="noStrike" dirty="0">
                          <a:effectLst/>
                          <a:latin typeface="Arial"/>
                        </a:rPr>
                        <a:t>399</a:t>
                      </a:r>
                    </a:p>
                  </a:txBody>
                  <a:tcPr marL="9525" marR="9525" marT="9525" marB="0" anchor="b"/>
                </a:tc>
                <a:tc>
                  <a:txBody>
                    <a:bodyPr/>
                    <a:lstStyle/>
                    <a:p>
                      <a:pPr algn="r" fontAlgn="b"/>
                      <a:r>
                        <a:rPr lang="en-US" sz="2400" b="0" i="0" u="none" strike="noStrike" dirty="0">
                          <a:effectLst/>
                          <a:latin typeface="Arial"/>
                        </a:rPr>
                        <a:t>6585.99</a:t>
                      </a:r>
                    </a:p>
                  </a:txBody>
                  <a:tcPr marL="9525" marR="9525" marT="9525" marB="0" anchor="b"/>
                </a:tc>
                <a:tc>
                  <a:txBody>
                    <a:bodyPr/>
                    <a:lstStyle/>
                    <a:p>
                      <a:pPr algn="l" fontAlgn="b"/>
                      <a:r>
                        <a:rPr lang="en-US" sz="2400" u="none" strike="noStrike" dirty="0"/>
                        <a:t> </a:t>
                      </a:r>
                      <a:endParaRPr lang="en-US" sz="2400" b="0" i="0" u="none" strike="noStrike" dirty="0">
                        <a:latin typeface="Arial"/>
                      </a:endParaRPr>
                    </a:p>
                  </a:txBody>
                  <a:tcPr marL="9525" marR="9525" marT="9525" marB="0" anchor="b"/>
                </a:tc>
                <a:extLst>
                  <a:ext uri="{0D108BD9-81ED-4DB2-BD59-A6C34878D82A}">
                    <a16:rowId xmlns:a16="http://schemas.microsoft.com/office/drawing/2014/main" val="10007"/>
                  </a:ext>
                </a:extLst>
              </a:tr>
              <a:tr h="370840">
                <a:tc>
                  <a:txBody>
                    <a:bodyPr/>
                    <a:lstStyle/>
                    <a:p>
                      <a:pPr algn="l" fontAlgn="b"/>
                      <a:endParaRPr lang="en-US" sz="2400" b="0" i="0" u="none" strike="noStrike" dirty="0">
                        <a:latin typeface="Arial"/>
                      </a:endParaRPr>
                    </a:p>
                  </a:txBody>
                  <a:tcPr marL="9525" marR="9525" marT="9525" marB="0" anchor="b"/>
                </a:tc>
                <a:tc>
                  <a:txBody>
                    <a:bodyPr/>
                    <a:lstStyle/>
                    <a:p>
                      <a:pPr algn="l" fontAlgn="b"/>
                      <a:endParaRPr lang="en-US" sz="2400" b="0" i="0" u="none" strike="noStrike">
                        <a:latin typeface="Arial"/>
                      </a:endParaRPr>
                    </a:p>
                  </a:txBody>
                  <a:tcPr marL="9525" marR="9525" marT="9525" marB="0" anchor="b"/>
                </a:tc>
                <a:tc>
                  <a:txBody>
                    <a:bodyPr/>
                    <a:lstStyle/>
                    <a:p>
                      <a:pPr algn="l" fontAlgn="b"/>
                      <a:endParaRPr lang="en-US" sz="2400" b="0" i="0" u="none" strike="noStrike" dirty="0">
                        <a:latin typeface="Arial"/>
                      </a:endParaRPr>
                    </a:p>
                  </a:txBody>
                  <a:tcPr marL="9525" marR="9525" marT="9525" marB="0" anchor="b"/>
                </a:tc>
                <a:tc>
                  <a:txBody>
                    <a:bodyPr/>
                    <a:lstStyle/>
                    <a:p>
                      <a:pPr algn="l" fontAlgn="b"/>
                      <a:endParaRPr lang="en-US" sz="2400" b="0" i="0" u="none" strike="noStrike" dirty="0">
                        <a:latin typeface="Arial"/>
                      </a:endParaRPr>
                    </a:p>
                  </a:txBody>
                  <a:tcPr marL="9525" marR="9525" marT="9525" marB="0" anchor="b"/>
                </a:tc>
                <a:extLst>
                  <a:ext uri="{0D108BD9-81ED-4DB2-BD59-A6C34878D82A}">
                    <a16:rowId xmlns:a16="http://schemas.microsoft.com/office/drawing/2014/main" val="10008"/>
                  </a:ext>
                </a:extLst>
              </a:tr>
              <a:tr h="370840">
                <a:tc>
                  <a:txBody>
                    <a:bodyPr/>
                    <a:lstStyle/>
                    <a:p>
                      <a:pPr algn="ctr" fontAlgn="b"/>
                      <a:r>
                        <a:rPr lang="en-US" sz="2400" u="none" strike="noStrike" dirty="0"/>
                        <a:t> </a:t>
                      </a:r>
                      <a:endParaRPr lang="en-US" sz="2400" b="0" i="1" u="none" strike="noStrike" dirty="0">
                        <a:latin typeface="Arial"/>
                      </a:endParaRPr>
                    </a:p>
                  </a:txBody>
                  <a:tcPr marL="9525" marR="9525" marT="9525" marB="0" anchor="b"/>
                </a:tc>
                <a:tc>
                  <a:txBody>
                    <a:bodyPr/>
                    <a:lstStyle/>
                    <a:p>
                      <a:pPr algn="ctr" fontAlgn="b"/>
                      <a:r>
                        <a:rPr lang="en-US" sz="2400" u="none" strike="noStrike"/>
                        <a:t>Coefficients</a:t>
                      </a:r>
                      <a:endParaRPr lang="en-US" sz="2400" b="0" i="1" u="none" strike="noStrike">
                        <a:latin typeface="Arial"/>
                      </a:endParaRPr>
                    </a:p>
                  </a:txBody>
                  <a:tcPr marL="9525" marR="9525" marT="9525" marB="0" anchor="b"/>
                </a:tc>
                <a:tc>
                  <a:txBody>
                    <a:bodyPr/>
                    <a:lstStyle/>
                    <a:p>
                      <a:pPr algn="ctr" fontAlgn="b"/>
                      <a:r>
                        <a:rPr lang="en-US" sz="2400" u="none" strike="noStrike" dirty="0"/>
                        <a:t>Standard Error</a:t>
                      </a:r>
                      <a:endParaRPr lang="en-US" sz="2400" b="0" i="1" u="none" strike="noStrike" dirty="0">
                        <a:latin typeface="Arial"/>
                      </a:endParaRPr>
                    </a:p>
                  </a:txBody>
                  <a:tcPr marL="9525" marR="9525" marT="9525" marB="0" anchor="b"/>
                </a:tc>
                <a:tc>
                  <a:txBody>
                    <a:bodyPr/>
                    <a:lstStyle/>
                    <a:p>
                      <a:pPr algn="ctr" fontAlgn="b"/>
                      <a:r>
                        <a:rPr lang="en-US" sz="2400" u="none" strike="noStrike" dirty="0"/>
                        <a:t>t Stat</a:t>
                      </a:r>
                      <a:endParaRPr lang="en-US" sz="2400" b="0" i="1" u="none" strike="noStrike" dirty="0">
                        <a:latin typeface="Arial"/>
                      </a:endParaRPr>
                    </a:p>
                  </a:txBody>
                  <a:tcPr marL="9525" marR="9525" marT="9525" marB="0" anchor="b"/>
                </a:tc>
                <a:extLst>
                  <a:ext uri="{0D108BD9-81ED-4DB2-BD59-A6C34878D82A}">
                    <a16:rowId xmlns:a16="http://schemas.microsoft.com/office/drawing/2014/main" val="10009"/>
                  </a:ext>
                </a:extLst>
              </a:tr>
              <a:tr h="370840">
                <a:tc>
                  <a:txBody>
                    <a:bodyPr/>
                    <a:lstStyle/>
                    <a:p>
                      <a:pPr algn="l" fontAlgn="b"/>
                      <a:r>
                        <a:rPr lang="en-US" sz="2400" u="none" strike="noStrike" dirty="0"/>
                        <a:t>Intercept</a:t>
                      </a:r>
                      <a:endParaRPr lang="en-US" sz="2400" b="0" i="0" u="none" strike="noStrike" dirty="0">
                        <a:latin typeface="Arial"/>
                      </a:endParaRPr>
                    </a:p>
                  </a:txBody>
                  <a:tcPr marL="9525" marR="9525" marT="9525" marB="0" anchor="b"/>
                </a:tc>
                <a:tc>
                  <a:txBody>
                    <a:bodyPr/>
                    <a:lstStyle/>
                    <a:p>
                      <a:pPr algn="r" fontAlgn="b"/>
                      <a:r>
                        <a:rPr lang="en-US" sz="2400" b="0" i="0" u="none" strike="noStrike">
                          <a:effectLst/>
                          <a:latin typeface="Arial"/>
                        </a:rPr>
                        <a:t>31.97969</a:t>
                      </a:r>
                    </a:p>
                  </a:txBody>
                  <a:tcPr marL="9525" marR="9525" marT="9525" marB="0" anchor="b"/>
                </a:tc>
                <a:tc>
                  <a:txBody>
                    <a:bodyPr/>
                    <a:lstStyle/>
                    <a:p>
                      <a:pPr algn="r" fontAlgn="b"/>
                      <a:r>
                        <a:rPr lang="en-US" sz="2400" b="0" i="0" u="none" strike="noStrike">
                          <a:effectLst/>
                          <a:latin typeface="Arial"/>
                        </a:rPr>
                        <a:t>0.073891</a:t>
                      </a:r>
                    </a:p>
                  </a:txBody>
                  <a:tcPr marL="9525" marR="9525" marT="9525" marB="0" anchor="b"/>
                </a:tc>
                <a:tc>
                  <a:txBody>
                    <a:bodyPr/>
                    <a:lstStyle/>
                    <a:p>
                      <a:pPr algn="r" fontAlgn="b"/>
                      <a:r>
                        <a:rPr lang="en-US" sz="2400" b="0" i="0" u="none" strike="noStrike">
                          <a:effectLst/>
                          <a:latin typeface="Arial"/>
                        </a:rPr>
                        <a:t>432.7962</a:t>
                      </a:r>
                    </a:p>
                  </a:txBody>
                  <a:tcPr marL="9525" marR="9525" marT="9525" marB="0" anchor="b"/>
                </a:tc>
                <a:extLst>
                  <a:ext uri="{0D108BD9-81ED-4DB2-BD59-A6C34878D82A}">
                    <a16:rowId xmlns:a16="http://schemas.microsoft.com/office/drawing/2014/main" val="10010"/>
                  </a:ext>
                </a:extLst>
              </a:tr>
              <a:tr h="370840">
                <a:tc>
                  <a:txBody>
                    <a:bodyPr/>
                    <a:lstStyle/>
                    <a:p>
                      <a:pPr algn="l" fontAlgn="b"/>
                      <a:r>
                        <a:rPr lang="en-US" sz="2400" u="none" strike="noStrike" dirty="0"/>
                        <a:t>X Variable 1</a:t>
                      </a:r>
                      <a:endParaRPr lang="en-US" sz="2400" b="0" i="0" u="none" strike="noStrike" dirty="0">
                        <a:latin typeface="Arial"/>
                      </a:endParaRPr>
                    </a:p>
                  </a:txBody>
                  <a:tcPr marL="9525" marR="9525" marT="9525" marB="0" anchor="b"/>
                </a:tc>
                <a:tc>
                  <a:txBody>
                    <a:bodyPr/>
                    <a:lstStyle/>
                    <a:p>
                      <a:pPr algn="r" fontAlgn="b"/>
                      <a:r>
                        <a:rPr lang="en-US" sz="2400" b="0" i="0" u="none" strike="noStrike" dirty="0">
                          <a:effectLst/>
                          <a:latin typeface="Arial"/>
                        </a:rPr>
                        <a:t>-1.99563</a:t>
                      </a:r>
                    </a:p>
                  </a:txBody>
                  <a:tcPr marL="9525" marR="9525" marT="9525" marB="0" anchor="b"/>
                </a:tc>
                <a:tc>
                  <a:txBody>
                    <a:bodyPr/>
                    <a:lstStyle/>
                    <a:p>
                      <a:pPr algn="r" fontAlgn="b"/>
                      <a:r>
                        <a:rPr lang="en-US" sz="2400" b="0" i="0" u="none" strike="noStrike" dirty="0">
                          <a:effectLst/>
                          <a:latin typeface="Arial"/>
                        </a:rPr>
                        <a:t>0.01833</a:t>
                      </a:r>
                    </a:p>
                  </a:txBody>
                  <a:tcPr marL="9525" marR="9525" marT="9525" marB="0" anchor="b"/>
                </a:tc>
                <a:tc>
                  <a:txBody>
                    <a:bodyPr/>
                    <a:lstStyle/>
                    <a:p>
                      <a:pPr algn="r" fontAlgn="b"/>
                      <a:r>
                        <a:rPr lang="en-US" sz="2400" b="0" i="0" u="none" strike="noStrike" dirty="0">
                          <a:effectLst/>
                          <a:latin typeface="Arial"/>
                        </a:rPr>
                        <a:t>-108.872</a:t>
                      </a:r>
                    </a:p>
                  </a:txBody>
                  <a:tcPr marL="9525" marR="9525" marT="9525" marB="0" anchor="b"/>
                </a:tc>
                <a:extLst>
                  <a:ext uri="{0D108BD9-81ED-4DB2-BD59-A6C34878D82A}">
                    <a16:rowId xmlns:a16="http://schemas.microsoft.com/office/drawing/2014/main" val="10011"/>
                  </a:ext>
                </a:extLst>
              </a:tr>
            </a:tbl>
          </a:graphicData>
        </a:graphic>
      </p:graphicFrame>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45</a:t>
            </a:fld>
            <a:endParaRPr lang="en-US"/>
          </a:p>
        </p:txBody>
      </p:sp>
    </p:spTree>
    <p:extLst>
      <p:ext uri="{BB962C8B-B14F-4D97-AF65-F5344CB8AC3E}">
        <p14:creationId xmlns:p14="http://schemas.microsoft.com/office/powerpoint/2010/main" val="39146460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#1</a:t>
            </a:r>
          </a:p>
        </p:txBody>
      </p:sp>
      <p:sp>
        <p:nvSpPr>
          <p:cNvPr id="3" name="Content Placeholder 2"/>
          <p:cNvSpPr>
            <a:spLocks noGrp="1"/>
          </p:cNvSpPr>
          <p:nvPr>
            <p:ph idx="1"/>
          </p:nvPr>
        </p:nvSpPr>
        <p:spPr/>
        <p:txBody>
          <a:bodyPr/>
          <a:lstStyle/>
          <a:p>
            <a:pPr marL="0" indent="0">
              <a:buNone/>
            </a:pPr>
            <a:r>
              <a:rPr lang="en-US" dirty="0"/>
              <a:t>Now, let’s make life easier and do some rounding of the key statistics</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46</a:t>
            </a:fld>
            <a:endParaRPr lang="en-US"/>
          </a:p>
        </p:txBody>
      </p:sp>
    </p:spTree>
    <p:extLst>
      <p:ext uri="{BB962C8B-B14F-4D97-AF65-F5344CB8AC3E}">
        <p14:creationId xmlns:p14="http://schemas.microsoft.com/office/powerpoint/2010/main" val="39741687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#1</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96647756"/>
              </p:ext>
            </p:extLst>
          </p:nvPr>
        </p:nvGraphicFramePr>
        <p:xfrm>
          <a:off x="457200" y="1600200"/>
          <a:ext cx="8229600" cy="4831080"/>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gridSpan="2">
                  <a:txBody>
                    <a:bodyPr/>
                    <a:lstStyle/>
                    <a:p>
                      <a:pPr algn="ctr" fontAlgn="b"/>
                      <a:r>
                        <a:rPr lang="en-US" sz="2400" u="none" strike="noStrike" dirty="0"/>
                        <a:t>Regression Statistics</a:t>
                      </a:r>
                      <a:endParaRPr lang="en-US" sz="2400" b="0" i="1" u="none" strike="noStrike" dirty="0">
                        <a:latin typeface="Arial"/>
                      </a:endParaRPr>
                    </a:p>
                  </a:txBody>
                  <a:tcPr marL="9525" marR="9525" marT="9525" marB="0" anchor="b"/>
                </a:tc>
                <a:tc hMerge="1">
                  <a:txBody>
                    <a:bodyPr/>
                    <a:lstStyle/>
                    <a:p>
                      <a:endParaRPr lang="en-US"/>
                    </a:p>
                  </a:txBody>
                  <a:tcPr/>
                </a:tc>
                <a:tc>
                  <a:txBody>
                    <a:bodyPr/>
                    <a:lstStyle/>
                    <a:p>
                      <a:endParaRPr lang="en-US" sz="2400"/>
                    </a:p>
                  </a:txBody>
                  <a:tcPr/>
                </a:tc>
                <a:tc>
                  <a:txBody>
                    <a:bodyPr/>
                    <a:lstStyle/>
                    <a:p>
                      <a:endParaRPr lang="en-US" sz="2400"/>
                    </a:p>
                  </a:txBody>
                  <a:tcPr/>
                </a:tc>
                <a:extLst>
                  <a:ext uri="{0D108BD9-81ED-4DB2-BD59-A6C34878D82A}">
                    <a16:rowId xmlns:a16="http://schemas.microsoft.com/office/drawing/2014/main" val="10000"/>
                  </a:ext>
                </a:extLst>
              </a:tr>
              <a:tr h="370840">
                <a:tc>
                  <a:txBody>
                    <a:bodyPr/>
                    <a:lstStyle/>
                    <a:p>
                      <a:pPr algn="l" fontAlgn="b"/>
                      <a:r>
                        <a:rPr lang="en-US" sz="2400" u="none" strike="noStrike" dirty="0"/>
                        <a:t>R Square</a:t>
                      </a:r>
                      <a:endParaRPr lang="en-US" sz="2400" b="0" i="0" u="none" strike="noStrike" dirty="0">
                        <a:latin typeface="Arial"/>
                      </a:endParaRPr>
                    </a:p>
                  </a:txBody>
                  <a:tcPr marL="9525" marR="9525" marT="9525" marB="0" anchor="b"/>
                </a:tc>
                <a:tc>
                  <a:txBody>
                    <a:bodyPr/>
                    <a:lstStyle/>
                    <a:p>
                      <a:pPr algn="r" fontAlgn="b"/>
                      <a:r>
                        <a:rPr lang="en-US" sz="2400" u="none" strike="noStrike" dirty="0"/>
                        <a:t>0.9675</a:t>
                      </a:r>
                      <a:endParaRPr lang="en-US" sz="2400" b="0" i="0" u="none" strike="noStrike" dirty="0">
                        <a:latin typeface="Arial"/>
                      </a:endParaRPr>
                    </a:p>
                  </a:txBody>
                  <a:tcPr marL="9525" marR="9525" marT="9525" marB="0" anchor="b"/>
                </a:tc>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0001"/>
                  </a:ext>
                </a:extLst>
              </a:tr>
              <a:tr h="370840">
                <a:tc>
                  <a:txBody>
                    <a:bodyPr/>
                    <a:lstStyle/>
                    <a:p>
                      <a:pPr algn="l" fontAlgn="b"/>
                      <a:r>
                        <a:rPr lang="en-US" sz="2400" u="none" strike="noStrike" dirty="0"/>
                        <a:t>Standard Error</a:t>
                      </a:r>
                      <a:endParaRPr lang="en-US" sz="2400" b="0" i="0" u="none" strike="noStrike" dirty="0">
                        <a:latin typeface="Arial"/>
                      </a:endParaRPr>
                    </a:p>
                  </a:txBody>
                  <a:tcPr marL="9525" marR="9525" marT="9525" marB="0" anchor="b"/>
                </a:tc>
                <a:tc>
                  <a:txBody>
                    <a:bodyPr/>
                    <a:lstStyle/>
                    <a:p>
                      <a:pPr algn="r" fontAlgn="b"/>
                      <a:r>
                        <a:rPr lang="en-US" sz="2400" u="none" strike="noStrike" dirty="0">
                          <a:solidFill>
                            <a:srgbClr val="FF0000"/>
                          </a:solidFill>
                        </a:rPr>
                        <a:t>0.7</a:t>
                      </a:r>
                      <a:endParaRPr lang="en-US" sz="2400" b="0" i="0" u="none" strike="noStrike" dirty="0">
                        <a:solidFill>
                          <a:srgbClr val="FF0000"/>
                        </a:solidFill>
                        <a:latin typeface="Arial"/>
                      </a:endParaRPr>
                    </a:p>
                  </a:txBody>
                  <a:tcPr marL="9525" marR="9525" marT="9525" marB="0" anchor="b"/>
                </a:tc>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0002"/>
                  </a:ext>
                </a:extLst>
              </a:tr>
              <a:tr h="370840">
                <a:tc>
                  <a:txBody>
                    <a:bodyPr/>
                    <a:lstStyle/>
                    <a:p>
                      <a:pPr algn="l" fontAlgn="b"/>
                      <a:r>
                        <a:rPr lang="en-US" sz="2400" u="none" strike="noStrike" dirty="0"/>
                        <a:t>Observations</a:t>
                      </a:r>
                      <a:endParaRPr lang="en-US" sz="2400" b="0" i="0" u="none" strike="noStrike" dirty="0">
                        <a:latin typeface="Arial"/>
                      </a:endParaRPr>
                    </a:p>
                  </a:txBody>
                  <a:tcPr marL="9525" marR="9525" marT="9525" marB="0" anchor="b"/>
                </a:tc>
                <a:tc>
                  <a:txBody>
                    <a:bodyPr/>
                    <a:lstStyle/>
                    <a:p>
                      <a:pPr algn="r" fontAlgn="b"/>
                      <a:r>
                        <a:rPr lang="en-US" sz="2400" u="none" strike="noStrike" dirty="0"/>
                        <a:t>400</a:t>
                      </a:r>
                      <a:endParaRPr lang="en-US" sz="2400" b="0" i="0" u="none" strike="noStrike" dirty="0">
                        <a:latin typeface="Arial"/>
                      </a:endParaRPr>
                    </a:p>
                  </a:txBody>
                  <a:tcPr marL="9525" marR="9525" marT="9525" marB="0" anchor="b"/>
                </a:tc>
                <a:tc>
                  <a:txBody>
                    <a:bodyPr/>
                    <a:lstStyle/>
                    <a:p>
                      <a:endParaRPr lang="en-US" sz="2400"/>
                    </a:p>
                  </a:txBody>
                  <a:tcPr/>
                </a:tc>
                <a:tc>
                  <a:txBody>
                    <a:bodyPr/>
                    <a:lstStyle/>
                    <a:p>
                      <a:endParaRPr lang="en-US" sz="2400"/>
                    </a:p>
                  </a:txBody>
                  <a:tcPr/>
                </a:tc>
                <a:extLst>
                  <a:ext uri="{0D108BD9-81ED-4DB2-BD59-A6C34878D82A}">
                    <a16:rowId xmlns:a16="http://schemas.microsoft.com/office/drawing/2014/main" val="10003"/>
                  </a:ext>
                </a:extLst>
              </a:tr>
              <a:tr h="370840">
                <a:tc>
                  <a:txBody>
                    <a:bodyPr/>
                    <a:lstStyle/>
                    <a:p>
                      <a:pPr algn="l" fontAlgn="b"/>
                      <a:r>
                        <a:rPr lang="en-US" sz="2400" u="none" strike="noStrike" dirty="0"/>
                        <a:t>ANOVA</a:t>
                      </a:r>
                      <a:endParaRPr lang="en-US" sz="2400" b="0" i="0" u="none" strike="noStrike" dirty="0">
                        <a:latin typeface="Arial"/>
                      </a:endParaRPr>
                    </a:p>
                  </a:txBody>
                  <a:tcPr marL="9525" marR="9525" marT="9525" marB="0" anchor="b"/>
                </a:tc>
                <a:tc>
                  <a:txBody>
                    <a:bodyPr/>
                    <a:lstStyle/>
                    <a:p>
                      <a:pPr algn="ctr" fontAlgn="b"/>
                      <a:r>
                        <a:rPr lang="en-US" sz="2400" u="none" strike="noStrike" dirty="0" err="1"/>
                        <a:t>df</a:t>
                      </a:r>
                      <a:endParaRPr lang="en-US" sz="2400" b="0" i="1" u="none" strike="noStrike" dirty="0">
                        <a:latin typeface="Arial"/>
                      </a:endParaRPr>
                    </a:p>
                  </a:txBody>
                  <a:tcPr marL="9525" marR="9525" marT="9525" marB="0" anchor="b"/>
                </a:tc>
                <a:tc>
                  <a:txBody>
                    <a:bodyPr/>
                    <a:lstStyle/>
                    <a:p>
                      <a:pPr algn="ctr" fontAlgn="b"/>
                      <a:r>
                        <a:rPr lang="en-US" sz="2400" u="none" strike="noStrike"/>
                        <a:t>SS</a:t>
                      </a:r>
                      <a:endParaRPr lang="en-US" sz="2400" b="0" i="1" u="none" strike="noStrike">
                        <a:latin typeface="Arial"/>
                      </a:endParaRPr>
                    </a:p>
                  </a:txBody>
                  <a:tcPr marL="9525" marR="9525" marT="9525" marB="0" anchor="b"/>
                </a:tc>
                <a:tc>
                  <a:txBody>
                    <a:bodyPr/>
                    <a:lstStyle/>
                    <a:p>
                      <a:pPr algn="ctr" fontAlgn="b"/>
                      <a:endParaRPr lang="en-US" sz="2400" b="0" i="1" u="none" strike="noStrike" dirty="0">
                        <a:latin typeface="Arial"/>
                      </a:endParaRPr>
                    </a:p>
                  </a:txBody>
                  <a:tcPr marL="9525" marR="9525" marT="9525" marB="0" anchor="b"/>
                </a:tc>
                <a:extLst>
                  <a:ext uri="{0D108BD9-81ED-4DB2-BD59-A6C34878D82A}">
                    <a16:rowId xmlns:a16="http://schemas.microsoft.com/office/drawing/2014/main" val="10004"/>
                  </a:ext>
                </a:extLst>
              </a:tr>
              <a:tr h="370840">
                <a:tc>
                  <a:txBody>
                    <a:bodyPr/>
                    <a:lstStyle/>
                    <a:p>
                      <a:pPr algn="l" fontAlgn="b"/>
                      <a:r>
                        <a:rPr lang="en-US" sz="2400" u="none" strike="noStrike" dirty="0"/>
                        <a:t>Regression</a:t>
                      </a:r>
                      <a:endParaRPr lang="en-US" sz="2400" b="0" i="0" u="none" strike="noStrike" dirty="0">
                        <a:latin typeface="Arial"/>
                      </a:endParaRPr>
                    </a:p>
                  </a:txBody>
                  <a:tcPr marL="9525" marR="9525" marT="9525" marB="0" anchor="b"/>
                </a:tc>
                <a:tc>
                  <a:txBody>
                    <a:bodyPr/>
                    <a:lstStyle/>
                    <a:p>
                      <a:pPr algn="r" fontAlgn="b"/>
                      <a:r>
                        <a:rPr lang="en-US" sz="2400" u="none" strike="noStrike" dirty="0">
                          <a:effectLst/>
                        </a:rPr>
                        <a:t>1</a:t>
                      </a:r>
                      <a:endParaRPr lang="en-US" sz="2400" b="0" i="0" u="none" strike="noStrike" dirty="0">
                        <a:effectLst/>
                        <a:latin typeface="Arial"/>
                      </a:endParaRPr>
                    </a:p>
                  </a:txBody>
                  <a:tcPr marL="9525" marR="9525" marT="9525" marB="0" anchor="b"/>
                </a:tc>
                <a:tc>
                  <a:txBody>
                    <a:bodyPr/>
                    <a:lstStyle/>
                    <a:p>
                      <a:pPr algn="r" fontAlgn="b"/>
                      <a:r>
                        <a:rPr lang="en-US" sz="2400" u="none" strike="noStrike">
                          <a:effectLst/>
                        </a:rPr>
                        <a:t>6372.031</a:t>
                      </a:r>
                      <a:endParaRPr lang="en-US" sz="2400" b="0" i="0" u="none" strike="noStrike">
                        <a:effectLst/>
                        <a:latin typeface="Arial"/>
                      </a:endParaRPr>
                    </a:p>
                  </a:txBody>
                  <a:tcPr marL="9525" marR="9525" marT="9525" marB="0" anchor="b"/>
                </a:tc>
                <a:tc>
                  <a:txBody>
                    <a:bodyPr/>
                    <a:lstStyle/>
                    <a:p>
                      <a:pPr algn="r" fontAlgn="b"/>
                      <a:endParaRPr lang="en-US" sz="2400" b="0" i="0" u="none" strike="noStrike" dirty="0">
                        <a:latin typeface="Arial"/>
                      </a:endParaRPr>
                    </a:p>
                  </a:txBody>
                  <a:tcPr marL="9525" marR="9525" marT="9525" marB="0" anchor="b"/>
                </a:tc>
                <a:extLst>
                  <a:ext uri="{0D108BD9-81ED-4DB2-BD59-A6C34878D82A}">
                    <a16:rowId xmlns:a16="http://schemas.microsoft.com/office/drawing/2014/main" val="10005"/>
                  </a:ext>
                </a:extLst>
              </a:tr>
              <a:tr h="370840">
                <a:tc>
                  <a:txBody>
                    <a:bodyPr/>
                    <a:lstStyle/>
                    <a:p>
                      <a:pPr algn="l" fontAlgn="b"/>
                      <a:r>
                        <a:rPr lang="en-US" sz="2400" u="none" strike="noStrike" dirty="0"/>
                        <a:t>Residual</a:t>
                      </a:r>
                      <a:endParaRPr lang="en-US" sz="2400" b="0" i="0" u="none" strike="noStrike" dirty="0">
                        <a:latin typeface="Arial"/>
                      </a:endParaRPr>
                    </a:p>
                  </a:txBody>
                  <a:tcPr marL="9525" marR="9525" marT="9525" marB="0" anchor="b"/>
                </a:tc>
                <a:tc>
                  <a:txBody>
                    <a:bodyPr/>
                    <a:lstStyle/>
                    <a:p>
                      <a:pPr algn="r" fontAlgn="b"/>
                      <a:r>
                        <a:rPr lang="en-US" sz="2400" u="none" strike="noStrike" dirty="0">
                          <a:effectLst/>
                        </a:rPr>
                        <a:t>398</a:t>
                      </a:r>
                      <a:endParaRPr lang="en-US" sz="2400" b="0" i="0" u="none" strike="noStrike" dirty="0">
                        <a:effectLst/>
                        <a:latin typeface="Arial"/>
                      </a:endParaRPr>
                    </a:p>
                  </a:txBody>
                  <a:tcPr marL="9525" marR="9525" marT="9525" marB="0" anchor="b"/>
                </a:tc>
                <a:tc>
                  <a:txBody>
                    <a:bodyPr/>
                    <a:lstStyle/>
                    <a:p>
                      <a:pPr algn="r" fontAlgn="b"/>
                      <a:r>
                        <a:rPr lang="en-US" sz="2400" u="none" strike="noStrike">
                          <a:effectLst/>
                        </a:rPr>
                        <a:t>213.9594</a:t>
                      </a:r>
                      <a:endParaRPr lang="en-US" sz="2400" b="0" i="0" u="none" strike="noStrike">
                        <a:effectLst/>
                        <a:latin typeface="Arial"/>
                      </a:endParaRPr>
                    </a:p>
                  </a:txBody>
                  <a:tcPr marL="9525" marR="9525" marT="9525" marB="0" anchor="b"/>
                </a:tc>
                <a:tc>
                  <a:txBody>
                    <a:bodyPr/>
                    <a:lstStyle/>
                    <a:p>
                      <a:pPr algn="r" fontAlgn="b"/>
                      <a:endParaRPr lang="en-US" sz="2400" b="0" i="0" u="none" strike="noStrike" dirty="0">
                        <a:latin typeface="Arial"/>
                      </a:endParaRPr>
                    </a:p>
                  </a:txBody>
                  <a:tcPr marL="9525" marR="9525" marT="9525" marB="0" anchor="b"/>
                </a:tc>
                <a:extLst>
                  <a:ext uri="{0D108BD9-81ED-4DB2-BD59-A6C34878D82A}">
                    <a16:rowId xmlns:a16="http://schemas.microsoft.com/office/drawing/2014/main" val="10006"/>
                  </a:ext>
                </a:extLst>
              </a:tr>
              <a:tr h="370840">
                <a:tc>
                  <a:txBody>
                    <a:bodyPr/>
                    <a:lstStyle/>
                    <a:p>
                      <a:pPr algn="l" fontAlgn="b"/>
                      <a:r>
                        <a:rPr lang="en-US" sz="2400" u="none" strike="noStrike" dirty="0"/>
                        <a:t>Total</a:t>
                      </a:r>
                      <a:endParaRPr lang="en-US" sz="2400" b="0" i="0" u="none" strike="noStrike" dirty="0">
                        <a:latin typeface="Arial"/>
                      </a:endParaRPr>
                    </a:p>
                  </a:txBody>
                  <a:tcPr marL="9525" marR="9525" marT="9525" marB="0" anchor="b"/>
                </a:tc>
                <a:tc>
                  <a:txBody>
                    <a:bodyPr/>
                    <a:lstStyle/>
                    <a:p>
                      <a:pPr algn="r" fontAlgn="b"/>
                      <a:r>
                        <a:rPr lang="en-US" sz="2400" u="none" strike="noStrike" dirty="0">
                          <a:effectLst/>
                        </a:rPr>
                        <a:t>399</a:t>
                      </a:r>
                      <a:endParaRPr lang="en-US" sz="2400" b="0" i="0" u="none" strike="noStrike" dirty="0">
                        <a:effectLst/>
                        <a:latin typeface="Arial"/>
                      </a:endParaRPr>
                    </a:p>
                  </a:txBody>
                  <a:tcPr marL="9525" marR="9525" marT="9525" marB="0" anchor="b"/>
                </a:tc>
                <a:tc>
                  <a:txBody>
                    <a:bodyPr/>
                    <a:lstStyle/>
                    <a:p>
                      <a:pPr algn="r" fontAlgn="b"/>
                      <a:r>
                        <a:rPr lang="en-US" sz="2400" u="none" strike="noStrike" dirty="0">
                          <a:effectLst/>
                        </a:rPr>
                        <a:t>6585.99</a:t>
                      </a:r>
                      <a:endParaRPr lang="en-US" sz="2400" b="0" i="0" u="none" strike="noStrike" dirty="0">
                        <a:effectLst/>
                        <a:latin typeface="Arial"/>
                      </a:endParaRPr>
                    </a:p>
                  </a:txBody>
                  <a:tcPr marL="9525" marR="9525" marT="9525" marB="0" anchor="b"/>
                </a:tc>
                <a:tc>
                  <a:txBody>
                    <a:bodyPr/>
                    <a:lstStyle/>
                    <a:p>
                      <a:pPr algn="l" fontAlgn="b"/>
                      <a:r>
                        <a:rPr lang="en-US" sz="2400" u="none" strike="noStrike" dirty="0"/>
                        <a:t> </a:t>
                      </a:r>
                      <a:endParaRPr lang="en-US" sz="2400" b="0" i="0" u="none" strike="noStrike" dirty="0">
                        <a:latin typeface="Arial"/>
                      </a:endParaRPr>
                    </a:p>
                  </a:txBody>
                  <a:tcPr marL="9525" marR="9525" marT="9525" marB="0" anchor="b"/>
                </a:tc>
                <a:extLst>
                  <a:ext uri="{0D108BD9-81ED-4DB2-BD59-A6C34878D82A}">
                    <a16:rowId xmlns:a16="http://schemas.microsoft.com/office/drawing/2014/main" val="10007"/>
                  </a:ext>
                </a:extLst>
              </a:tr>
              <a:tr h="370840">
                <a:tc>
                  <a:txBody>
                    <a:bodyPr/>
                    <a:lstStyle/>
                    <a:p>
                      <a:pPr algn="l" fontAlgn="b"/>
                      <a:endParaRPr lang="en-US" sz="2400" b="0" i="0" u="none" strike="noStrike" dirty="0">
                        <a:latin typeface="Arial"/>
                      </a:endParaRPr>
                    </a:p>
                  </a:txBody>
                  <a:tcPr marL="9525" marR="9525" marT="9525" marB="0" anchor="b"/>
                </a:tc>
                <a:tc>
                  <a:txBody>
                    <a:bodyPr/>
                    <a:lstStyle/>
                    <a:p>
                      <a:pPr algn="l" fontAlgn="b"/>
                      <a:endParaRPr lang="en-US" sz="2400" b="0" i="0" u="none" strike="noStrike">
                        <a:latin typeface="Arial"/>
                      </a:endParaRPr>
                    </a:p>
                  </a:txBody>
                  <a:tcPr marL="9525" marR="9525" marT="9525" marB="0" anchor="b"/>
                </a:tc>
                <a:tc>
                  <a:txBody>
                    <a:bodyPr/>
                    <a:lstStyle/>
                    <a:p>
                      <a:pPr algn="l" fontAlgn="b"/>
                      <a:endParaRPr lang="en-US" sz="2400" b="0" i="0" u="none" strike="noStrike" dirty="0">
                        <a:latin typeface="Arial"/>
                      </a:endParaRPr>
                    </a:p>
                  </a:txBody>
                  <a:tcPr marL="9525" marR="9525" marT="9525" marB="0" anchor="b"/>
                </a:tc>
                <a:tc>
                  <a:txBody>
                    <a:bodyPr/>
                    <a:lstStyle/>
                    <a:p>
                      <a:pPr algn="l" fontAlgn="b"/>
                      <a:endParaRPr lang="en-US" sz="2400" b="0" i="0" u="none" strike="noStrike" dirty="0">
                        <a:latin typeface="Arial"/>
                      </a:endParaRPr>
                    </a:p>
                  </a:txBody>
                  <a:tcPr marL="9525" marR="9525" marT="9525" marB="0" anchor="b"/>
                </a:tc>
                <a:extLst>
                  <a:ext uri="{0D108BD9-81ED-4DB2-BD59-A6C34878D82A}">
                    <a16:rowId xmlns:a16="http://schemas.microsoft.com/office/drawing/2014/main" val="10008"/>
                  </a:ext>
                </a:extLst>
              </a:tr>
              <a:tr h="370840">
                <a:tc>
                  <a:txBody>
                    <a:bodyPr/>
                    <a:lstStyle/>
                    <a:p>
                      <a:pPr algn="ctr" fontAlgn="b"/>
                      <a:r>
                        <a:rPr lang="en-US" sz="2400" u="none" strike="noStrike" dirty="0"/>
                        <a:t> </a:t>
                      </a:r>
                      <a:endParaRPr lang="en-US" sz="2400" b="0" i="1" u="none" strike="noStrike" dirty="0">
                        <a:latin typeface="Arial"/>
                      </a:endParaRPr>
                    </a:p>
                  </a:txBody>
                  <a:tcPr marL="9525" marR="9525" marT="9525" marB="0" anchor="b"/>
                </a:tc>
                <a:tc>
                  <a:txBody>
                    <a:bodyPr/>
                    <a:lstStyle/>
                    <a:p>
                      <a:pPr algn="ctr" fontAlgn="b"/>
                      <a:r>
                        <a:rPr lang="en-US" sz="2400" u="none" strike="noStrike"/>
                        <a:t>Coefficients</a:t>
                      </a:r>
                      <a:endParaRPr lang="en-US" sz="2400" b="0" i="1" u="none" strike="noStrike">
                        <a:latin typeface="Arial"/>
                      </a:endParaRPr>
                    </a:p>
                  </a:txBody>
                  <a:tcPr marL="9525" marR="9525" marT="9525" marB="0" anchor="b"/>
                </a:tc>
                <a:tc>
                  <a:txBody>
                    <a:bodyPr/>
                    <a:lstStyle/>
                    <a:p>
                      <a:pPr algn="ctr" fontAlgn="b"/>
                      <a:r>
                        <a:rPr lang="en-US" sz="2400" u="none" strike="noStrike" dirty="0"/>
                        <a:t>Standard Error</a:t>
                      </a:r>
                      <a:endParaRPr lang="en-US" sz="2400" b="0" i="1" u="none" strike="noStrike" dirty="0">
                        <a:latin typeface="Arial"/>
                      </a:endParaRPr>
                    </a:p>
                  </a:txBody>
                  <a:tcPr marL="9525" marR="9525" marT="9525" marB="0" anchor="b"/>
                </a:tc>
                <a:tc>
                  <a:txBody>
                    <a:bodyPr/>
                    <a:lstStyle/>
                    <a:p>
                      <a:pPr algn="ctr" fontAlgn="b"/>
                      <a:r>
                        <a:rPr lang="en-US" sz="2400" u="none" strike="noStrike" dirty="0"/>
                        <a:t>t Stat</a:t>
                      </a:r>
                      <a:endParaRPr lang="en-US" sz="2400" b="0" i="1" u="none" strike="noStrike" dirty="0">
                        <a:latin typeface="Arial"/>
                      </a:endParaRPr>
                    </a:p>
                  </a:txBody>
                  <a:tcPr marL="9525" marR="9525" marT="9525" marB="0" anchor="b"/>
                </a:tc>
                <a:extLst>
                  <a:ext uri="{0D108BD9-81ED-4DB2-BD59-A6C34878D82A}">
                    <a16:rowId xmlns:a16="http://schemas.microsoft.com/office/drawing/2014/main" val="10009"/>
                  </a:ext>
                </a:extLst>
              </a:tr>
              <a:tr h="370840">
                <a:tc>
                  <a:txBody>
                    <a:bodyPr/>
                    <a:lstStyle/>
                    <a:p>
                      <a:pPr algn="l" fontAlgn="b"/>
                      <a:r>
                        <a:rPr lang="en-US" sz="2400" u="none" strike="noStrike" dirty="0"/>
                        <a:t>Intercept</a:t>
                      </a:r>
                      <a:endParaRPr lang="en-US" sz="2400" b="0" i="0" u="none" strike="noStrike" dirty="0">
                        <a:latin typeface="Arial"/>
                      </a:endParaRPr>
                    </a:p>
                  </a:txBody>
                  <a:tcPr marL="9525" marR="9525" marT="9525" marB="0" anchor="b"/>
                </a:tc>
                <a:tc>
                  <a:txBody>
                    <a:bodyPr/>
                    <a:lstStyle/>
                    <a:p>
                      <a:pPr algn="r" fontAlgn="b"/>
                      <a:r>
                        <a:rPr lang="en-US" sz="2400" u="none" strike="noStrike" dirty="0">
                          <a:solidFill>
                            <a:srgbClr val="FF0000"/>
                          </a:solidFill>
                          <a:effectLst/>
                        </a:rPr>
                        <a:t>32</a:t>
                      </a:r>
                      <a:endParaRPr lang="en-US" sz="2400" b="0" i="0" u="none" strike="noStrike" dirty="0">
                        <a:solidFill>
                          <a:srgbClr val="FF0000"/>
                        </a:solidFill>
                        <a:effectLst/>
                        <a:latin typeface="Arial"/>
                      </a:endParaRPr>
                    </a:p>
                  </a:txBody>
                  <a:tcPr marL="9525" marR="9525" marT="9525" marB="0" anchor="b"/>
                </a:tc>
                <a:tc>
                  <a:txBody>
                    <a:bodyPr/>
                    <a:lstStyle/>
                    <a:p>
                      <a:pPr algn="r" fontAlgn="b"/>
                      <a:r>
                        <a:rPr lang="en-US" sz="2400" u="none" strike="noStrike" dirty="0">
                          <a:solidFill>
                            <a:srgbClr val="FF0000"/>
                          </a:solidFill>
                          <a:effectLst/>
                        </a:rPr>
                        <a:t>0.075</a:t>
                      </a:r>
                      <a:endParaRPr lang="en-US" sz="2400" b="0" i="0" u="none" strike="noStrike" dirty="0">
                        <a:solidFill>
                          <a:srgbClr val="FF0000"/>
                        </a:solidFill>
                        <a:effectLst/>
                        <a:latin typeface="Arial"/>
                      </a:endParaRPr>
                    </a:p>
                  </a:txBody>
                  <a:tcPr marL="9525" marR="9525" marT="9525" marB="0" anchor="b"/>
                </a:tc>
                <a:tc>
                  <a:txBody>
                    <a:bodyPr/>
                    <a:lstStyle/>
                    <a:p>
                      <a:pPr algn="r" fontAlgn="b"/>
                      <a:r>
                        <a:rPr lang="en-US" sz="2400" u="none" strike="noStrike">
                          <a:solidFill>
                            <a:srgbClr val="FF0000"/>
                          </a:solidFill>
                          <a:effectLst/>
                        </a:rPr>
                        <a:t>427</a:t>
                      </a:r>
                      <a:endParaRPr lang="en-US" sz="2400" b="0" i="0" u="none" strike="noStrike" dirty="0">
                        <a:solidFill>
                          <a:srgbClr val="FF0000"/>
                        </a:solidFill>
                        <a:effectLst/>
                        <a:latin typeface="Arial"/>
                      </a:endParaRPr>
                    </a:p>
                  </a:txBody>
                  <a:tcPr marL="9525" marR="9525" marT="9525" marB="0" anchor="b"/>
                </a:tc>
                <a:extLst>
                  <a:ext uri="{0D108BD9-81ED-4DB2-BD59-A6C34878D82A}">
                    <a16:rowId xmlns:a16="http://schemas.microsoft.com/office/drawing/2014/main" val="10010"/>
                  </a:ext>
                </a:extLst>
              </a:tr>
              <a:tr h="370840">
                <a:tc>
                  <a:txBody>
                    <a:bodyPr/>
                    <a:lstStyle/>
                    <a:p>
                      <a:pPr algn="l" fontAlgn="b"/>
                      <a:r>
                        <a:rPr lang="en-US" sz="2400" u="none" strike="noStrike" dirty="0"/>
                        <a:t>X Variable 1</a:t>
                      </a:r>
                      <a:endParaRPr lang="en-US" sz="2400" b="0" i="0" u="none" strike="noStrike" dirty="0">
                        <a:latin typeface="Arial"/>
                      </a:endParaRPr>
                    </a:p>
                  </a:txBody>
                  <a:tcPr marL="9525" marR="9525" marT="9525" marB="0" anchor="b"/>
                </a:tc>
                <a:tc>
                  <a:txBody>
                    <a:bodyPr/>
                    <a:lstStyle/>
                    <a:p>
                      <a:pPr algn="r" fontAlgn="b"/>
                      <a:r>
                        <a:rPr lang="en-US" sz="2400" u="none" strike="noStrike" dirty="0">
                          <a:solidFill>
                            <a:srgbClr val="FF0000"/>
                          </a:solidFill>
                          <a:effectLst/>
                        </a:rPr>
                        <a:t>-2</a:t>
                      </a:r>
                      <a:endParaRPr lang="en-US" sz="2400" b="0" i="0" u="none" strike="noStrike" dirty="0">
                        <a:solidFill>
                          <a:srgbClr val="FF0000"/>
                        </a:solidFill>
                        <a:effectLst/>
                        <a:latin typeface="Arial"/>
                      </a:endParaRPr>
                    </a:p>
                  </a:txBody>
                  <a:tcPr marL="9525" marR="9525" marT="9525" marB="0" anchor="b"/>
                </a:tc>
                <a:tc>
                  <a:txBody>
                    <a:bodyPr/>
                    <a:lstStyle/>
                    <a:p>
                      <a:pPr algn="r" fontAlgn="b"/>
                      <a:r>
                        <a:rPr lang="en-US" sz="2400" u="none" strike="noStrike" dirty="0">
                          <a:solidFill>
                            <a:srgbClr val="FF0000"/>
                          </a:solidFill>
                          <a:effectLst/>
                        </a:rPr>
                        <a:t>0.02</a:t>
                      </a:r>
                      <a:endParaRPr lang="en-US" sz="2400" b="0" i="0" u="none" strike="noStrike" dirty="0">
                        <a:solidFill>
                          <a:srgbClr val="FF0000"/>
                        </a:solidFill>
                        <a:effectLst/>
                        <a:latin typeface="Arial"/>
                      </a:endParaRPr>
                    </a:p>
                  </a:txBody>
                  <a:tcPr marL="9525" marR="9525" marT="9525" marB="0" anchor="b"/>
                </a:tc>
                <a:tc>
                  <a:txBody>
                    <a:bodyPr/>
                    <a:lstStyle/>
                    <a:p>
                      <a:pPr algn="r" fontAlgn="b"/>
                      <a:r>
                        <a:rPr lang="en-US" sz="2400" u="none" strike="noStrike">
                          <a:solidFill>
                            <a:srgbClr val="FF0000"/>
                          </a:solidFill>
                          <a:effectLst/>
                        </a:rPr>
                        <a:t>-100</a:t>
                      </a:r>
                      <a:endParaRPr lang="en-US" sz="2400" b="0" i="0" u="none" strike="noStrike" dirty="0">
                        <a:solidFill>
                          <a:srgbClr val="FF0000"/>
                        </a:solidFill>
                        <a:effectLst/>
                        <a:latin typeface="Arial"/>
                      </a:endParaRPr>
                    </a:p>
                  </a:txBody>
                  <a:tcPr marL="9525" marR="9525" marT="9525" marB="0" anchor="b"/>
                </a:tc>
                <a:extLst>
                  <a:ext uri="{0D108BD9-81ED-4DB2-BD59-A6C34878D82A}">
                    <a16:rowId xmlns:a16="http://schemas.microsoft.com/office/drawing/2014/main" val="10011"/>
                  </a:ext>
                </a:extLst>
              </a:tr>
            </a:tbl>
          </a:graphicData>
        </a:graphic>
      </p:graphicFrame>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47</a:t>
            </a:fld>
            <a:endParaRPr lang="en-US"/>
          </a:p>
        </p:txBody>
      </p:sp>
    </p:spTree>
    <p:extLst>
      <p:ext uri="{BB962C8B-B14F-4D97-AF65-F5344CB8AC3E}">
        <p14:creationId xmlns:p14="http://schemas.microsoft.com/office/powerpoint/2010/main" val="419456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#1</a:t>
            </a:r>
          </a:p>
        </p:txBody>
      </p:sp>
      <p:sp>
        <p:nvSpPr>
          <p:cNvPr id="3" name="Content Placeholder 2"/>
          <p:cNvSpPr>
            <a:spLocks noGrp="1"/>
          </p:cNvSpPr>
          <p:nvPr>
            <p:ph idx="1"/>
          </p:nvPr>
        </p:nvSpPr>
        <p:spPr/>
        <p:txBody>
          <a:bodyPr/>
          <a:lstStyle/>
          <a:p>
            <a:pPr marL="0" indent="0">
              <a:buNone/>
            </a:pPr>
            <a:r>
              <a:rPr lang="en-US" dirty="0"/>
              <a:t>In this case, the absolute value of our test statistic is (much) larger than two, so we reject the null hypothesis that the coefficient is zero at the 5% level of significance.</a:t>
            </a:r>
          </a:p>
          <a:p>
            <a:pPr marL="0" indent="0">
              <a:buNone/>
            </a:pPr>
            <a:endParaRPr lang="en-US" dirty="0"/>
          </a:p>
          <a:p>
            <a:pPr marL="0" indent="0">
              <a:buNone/>
            </a:pPr>
            <a:r>
              <a:rPr lang="en-US" dirty="0"/>
              <a:t>What’s another way to say this?</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48</a:t>
            </a:fld>
            <a:endParaRPr lang="en-US"/>
          </a:p>
        </p:txBody>
      </p:sp>
    </p:spTree>
    <p:extLst>
      <p:ext uri="{BB962C8B-B14F-4D97-AF65-F5344CB8AC3E}">
        <p14:creationId xmlns:p14="http://schemas.microsoft.com/office/powerpoint/2010/main" val="1691974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#1</a:t>
            </a:r>
          </a:p>
        </p:txBody>
      </p:sp>
      <p:sp>
        <p:nvSpPr>
          <p:cNvPr id="3" name="Content Placeholder 2"/>
          <p:cNvSpPr>
            <a:spLocks noGrp="1"/>
          </p:cNvSpPr>
          <p:nvPr>
            <p:ph idx="1"/>
          </p:nvPr>
        </p:nvSpPr>
        <p:spPr/>
        <p:txBody>
          <a:bodyPr/>
          <a:lstStyle/>
          <a:p>
            <a:pPr marL="0" indent="0">
              <a:buNone/>
            </a:pPr>
            <a:r>
              <a:rPr lang="en-US" dirty="0"/>
              <a:t>If the actual (population) relationship between delays and deliveries is zero in the population, the likelihood that we would have a sample regression coefficient like this is less than 5% (in fact, much less than 5%)</a:t>
            </a:r>
          </a:p>
          <a:p>
            <a:pPr marL="0" indent="0">
              <a:buNone/>
            </a:pPr>
            <a:r>
              <a:rPr lang="en-US" dirty="0"/>
              <a:t>And let’s remind ourselves about the graphical representation of a regression line, too.</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49</a:t>
            </a:fld>
            <a:endParaRPr lang="en-US"/>
          </a:p>
        </p:txBody>
      </p:sp>
    </p:spTree>
    <p:extLst>
      <p:ext uri="{BB962C8B-B14F-4D97-AF65-F5344CB8AC3E}">
        <p14:creationId xmlns:p14="http://schemas.microsoft.com/office/powerpoint/2010/main" val="6014998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#1</a:t>
            </a:r>
          </a:p>
        </p:txBody>
      </p:sp>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50</a:t>
            </a:fld>
            <a:endParaRPr lang="en-US"/>
          </a:p>
        </p:txBody>
      </p:sp>
      <p:cxnSp>
        <p:nvCxnSpPr>
          <p:cNvPr id="6" name="Straight Arrow Connector 5"/>
          <p:cNvCxnSpPr/>
          <p:nvPr/>
        </p:nvCxnSpPr>
        <p:spPr>
          <a:xfrm>
            <a:off x="1187624" y="1916832"/>
            <a:ext cx="0" cy="3888432"/>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flipH="1">
            <a:off x="755576" y="5085184"/>
            <a:ext cx="4392488" cy="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191072" y="2195572"/>
            <a:ext cx="2660848" cy="2817604"/>
          </a:xfrm>
          <a:prstGeom prst="line">
            <a:avLst/>
          </a:prstGeom>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539552" y="1544212"/>
            <a:ext cx="1296144" cy="369332"/>
          </a:xfrm>
          <a:prstGeom prst="rect">
            <a:avLst/>
          </a:prstGeom>
          <a:noFill/>
        </p:spPr>
        <p:txBody>
          <a:bodyPr wrap="square" rtlCol="0">
            <a:spAutoFit/>
          </a:bodyPr>
          <a:lstStyle/>
          <a:p>
            <a:r>
              <a:rPr lang="en-US" dirty="0"/>
              <a:t>Deliveries</a:t>
            </a:r>
          </a:p>
        </p:txBody>
      </p:sp>
      <p:sp>
        <p:nvSpPr>
          <p:cNvPr id="13" name="TextBox 12"/>
          <p:cNvSpPr txBox="1"/>
          <p:nvPr/>
        </p:nvSpPr>
        <p:spPr>
          <a:xfrm>
            <a:off x="5364088" y="4900518"/>
            <a:ext cx="936104" cy="369332"/>
          </a:xfrm>
          <a:prstGeom prst="rect">
            <a:avLst/>
          </a:prstGeom>
          <a:noFill/>
        </p:spPr>
        <p:txBody>
          <a:bodyPr wrap="square" rtlCol="0">
            <a:spAutoFit/>
          </a:bodyPr>
          <a:lstStyle/>
          <a:p>
            <a:r>
              <a:rPr lang="en-US" dirty="0"/>
              <a:t>Delays</a:t>
            </a:r>
          </a:p>
        </p:txBody>
      </p:sp>
      <p:sp>
        <p:nvSpPr>
          <p:cNvPr id="14" name="TextBox 13"/>
          <p:cNvSpPr txBox="1"/>
          <p:nvPr/>
        </p:nvSpPr>
        <p:spPr>
          <a:xfrm>
            <a:off x="687016" y="2010906"/>
            <a:ext cx="504056" cy="369332"/>
          </a:xfrm>
          <a:prstGeom prst="rect">
            <a:avLst/>
          </a:prstGeom>
          <a:noFill/>
        </p:spPr>
        <p:txBody>
          <a:bodyPr wrap="square" rtlCol="0">
            <a:spAutoFit/>
          </a:bodyPr>
          <a:lstStyle/>
          <a:p>
            <a:r>
              <a:rPr lang="en-US" dirty="0"/>
              <a:t>32</a:t>
            </a:r>
          </a:p>
        </p:txBody>
      </p:sp>
      <p:sp>
        <p:nvSpPr>
          <p:cNvPr id="15" name="TextBox 14"/>
          <p:cNvSpPr txBox="1"/>
          <p:nvPr/>
        </p:nvSpPr>
        <p:spPr>
          <a:xfrm>
            <a:off x="2177211" y="3820398"/>
            <a:ext cx="360040" cy="369332"/>
          </a:xfrm>
          <a:prstGeom prst="rect">
            <a:avLst/>
          </a:prstGeom>
          <a:noFill/>
        </p:spPr>
        <p:txBody>
          <a:bodyPr wrap="square" rtlCol="0">
            <a:spAutoFit/>
          </a:bodyPr>
          <a:lstStyle/>
          <a:p>
            <a:r>
              <a:rPr lang="en-US" dirty="0"/>
              <a:t>1</a:t>
            </a:r>
          </a:p>
        </p:txBody>
      </p:sp>
      <p:sp>
        <p:nvSpPr>
          <p:cNvPr id="16" name="TextBox 15"/>
          <p:cNvSpPr txBox="1"/>
          <p:nvPr/>
        </p:nvSpPr>
        <p:spPr>
          <a:xfrm>
            <a:off x="1553715" y="3213271"/>
            <a:ext cx="504056" cy="369332"/>
          </a:xfrm>
          <a:prstGeom prst="rect">
            <a:avLst/>
          </a:prstGeom>
          <a:noFill/>
        </p:spPr>
        <p:txBody>
          <a:bodyPr wrap="square" rtlCol="0">
            <a:spAutoFit/>
          </a:bodyPr>
          <a:lstStyle/>
          <a:p>
            <a:r>
              <a:rPr lang="en-US" dirty="0"/>
              <a:t>–2</a:t>
            </a:r>
          </a:p>
        </p:txBody>
      </p:sp>
      <p:cxnSp>
        <p:nvCxnSpPr>
          <p:cNvPr id="17" name="Straight Connector 16"/>
          <p:cNvCxnSpPr/>
          <p:nvPr/>
        </p:nvCxnSpPr>
        <p:spPr>
          <a:xfrm>
            <a:off x="2087724" y="3213271"/>
            <a:ext cx="0" cy="493745"/>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flipH="1">
            <a:off x="2057771" y="3707016"/>
            <a:ext cx="536545" cy="0"/>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25" name="TextBox 24"/>
          <p:cNvSpPr txBox="1"/>
          <p:nvPr/>
        </p:nvSpPr>
        <p:spPr>
          <a:xfrm>
            <a:off x="3707904" y="1666909"/>
            <a:ext cx="3312368" cy="646331"/>
          </a:xfrm>
          <a:prstGeom prst="rect">
            <a:avLst/>
          </a:prstGeom>
          <a:noFill/>
        </p:spPr>
        <p:txBody>
          <a:bodyPr wrap="square" rtlCol="0">
            <a:spAutoFit/>
          </a:bodyPr>
          <a:lstStyle/>
          <a:p>
            <a:r>
              <a:rPr lang="en-US" dirty="0"/>
              <a:t>If there are no delays, we should expect 32 deliveries</a:t>
            </a:r>
          </a:p>
        </p:txBody>
      </p:sp>
      <p:cxnSp>
        <p:nvCxnSpPr>
          <p:cNvPr id="27" name="Straight Arrow Connector 26"/>
          <p:cNvCxnSpPr>
            <a:stCxn id="25" idx="1"/>
          </p:cNvCxnSpPr>
          <p:nvPr/>
        </p:nvCxnSpPr>
        <p:spPr>
          <a:xfrm flipH="1">
            <a:off x="1043608" y="1990075"/>
            <a:ext cx="2664296" cy="20549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4067944" y="2815207"/>
            <a:ext cx="3312368" cy="923330"/>
          </a:xfrm>
          <a:prstGeom prst="rect">
            <a:avLst/>
          </a:prstGeom>
          <a:noFill/>
        </p:spPr>
        <p:txBody>
          <a:bodyPr wrap="square" rtlCol="0">
            <a:spAutoFit/>
          </a:bodyPr>
          <a:lstStyle/>
          <a:p>
            <a:r>
              <a:rPr lang="en-US" dirty="0"/>
              <a:t>For every additional delay, we  should see two fewer deliveries</a:t>
            </a:r>
          </a:p>
        </p:txBody>
      </p:sp>
      <p:cxnSp>
        <p:nvCxnSpPr>
          <p:cNvPr id="31" name="Straight Arrow Connector 30"/>
          <p:cNvCxnSpPr>
            <a:endCxn id="16" idx="3"/>
          </p:cNvCxnSpPr>
          <p:nvPr/>
        </p:nvCxnSpPr>
        <p:spPr>
          <a:xfrm flipH="1">
            <a:off x="2057771" y="3007774"/>
            <a:ext cx="2027009" cy="39016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3926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5" grpId="0"/>
      <p:bldP spid="2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p:sp>
        <p:nvSpPr>
          <p:cNvPr id="3" name="Content Placeholder 2"/>
          <p:cNvSpPr>
            <a:spLocks noGrp="1"/>
          </p:cNvSpPr>
          <p:nvPr>
            <p:ph idx="1"/>
          </p:nvPr>
        </p:nvSpPr>
        <p:spPr/>
        <p:txBody>
          <a:bodyPr/>
          <a:lstStyle/>
          <a:p>
            <a:pPr marL="0" indent="0">
              <a:buNone/>
            </a:pPr>
            <a:r>
              <a:rPr lang="en-US" dirty="0"/>
              <a:t>Now, let’s suppose that UPS is considering the possibility of expanding into a new part of the city Toronto – a neighborhood called </a:t>
            </a:r>
            <a:r>
              <a:rPr lang="en-US" dirty="0" err="1"/>
              <a:t>Leslieville</a:t>
            </a:r>
            <a:r>
              <a:rPr lang="en-US" dirty="0"/>
              <a:t>.</a:t>
            </a:r>
          </a:p>
          <a:p>
            <a:pPr marL="0" indent="0">
              <a:buNone/>
            </a:pPr>
            <a:endParaRPr lang="en-US" dirty="0"/>
          </a:p>
          <a:p>
            <a:pPr marL="0" indent="0">
              <a:buNone/>
            </a:pPr>
            <a:r>
              <a:rPr lang="en-US" dirty="0"/>
              <a:t>And suppose that we know the following things about </a:t>
            </a:r>
            <a:r>
              <a:rPr lang="en-US" dirty="0" err="1"/>
              <a:t>Leslieville</a:t>
            </a:r>
            <a:r>
              <a:rPr lang="en-US" dirty="0"/>
              <a:t>:</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51</a:t>
            </a:fld>
            <a:endParaRPr lang="en-US"/>
          </a:p>
        </p:txBody>
      </p:sp>
    </p:spTree>
    <p:extLst>
      <p:ext uri="{BB962C8B-B14F-4D97-AF65-F5344CB8AC3E}">
        <p14:creationId xmlns:p14="http://schemas.microsoft.com/office/powerpoint/2010/main" val="22990460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p:sp>
        <p:nvSpPr>
          <p:cNvPr id="3" name="Content Placeholder 2"/>
          <p:cNvSpPr>
            <a:spLocks noGrp="1"/>
          </p:cNvSpPr>
          <p:nvPr>
            <p:ph idx="1"/>
          </p:nvPr>
        </p:nvSpPr>
        <p:spPr/>
        <p:txBody>
          <a:bodyPr/>
          <a:lstStyle/>
          <a:p>
            <a:pPr marL="0" indent="0">
              <a:buNone/>
            </a:pPr>
            <a:r>
              <a:rPr lang="en-US" dirty="0"/>
              <a:t>Specifically: </a:t>
            </a:r>
          </a:p>
          <a:p>
            <a:pPr marL="571500" indent="-571500">
              <a:buAutoNum type="romanLcParenBoth"/>
            </a:pPr>
            <a:r>
              <a:rPr lang="en-US" dirty="0"/>
              <a:t>Revenue per delivery is $5</a:t>
            </a:r>
          </a:p>
          <a:p>
            <a:pPr marL="571500" indent="-571500">
              <a:buAutoNum type="romanLcParenBoth"/>
            </a:pPr>
            <a:r>
              <a:rPr lang="en-US" dirty="0"/>
              <a:t>Traffic varies from day-to-day, but on average, there is one traffic delay each day in </a:t>
            </a:r>
            <a:r>
              <a:rPr lang="en-US" dirty="0" err="1"/>
              <a:t>Leslieville</a:t>
            </a:r>
            <a:r>
              <a:rPr lang="en-US" dirty="0"/>
              <a:t>.</a:t>
            </a:r>
          </a:p>
          <a:p>
            <a:pPr marL="571500" indent="-571500">
              <a:buAutoNum type="romanLcParenBoth"/>
            </a:pPr>
            <a:r>
              <a:rPr lang="en-US" dirty="0"/>
              <a:t>It costs $100 to have a driver operate in that part of the city</a:t>
            </a:r>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52</a:t>
            </a:fld>
            <a:endParaRPr lang="en-US"/>
          </a:p>
        </p:txBody>
      </p:sp>
    </p:spTree>
    <p:extLst>
      <p:ext uri="{BB962C8B-B14F-4D97-AF65-F5344CB8AC3E}">
        <p14:creationId xmlns:p14="http://schemas.microsoft.com/office/powerpoint/2010/main" val="16751505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p:sp>
        <p:nvSpPr>
          <p:cNvPr id="3" name="Content Placeholder 2"/>
          <p:cNvSpPr>
            <a:spLocks noGrp="1"/>
          </p:cNvSpPr>
          <p:nvPr>
            <p:ph idx="1"/>
          </p:nvPr>
        </p:nvSpPr>
        <p:spPr/>
        <p:txBody>
          <a:bodyPr/>
          <a:lstStyle/>
          <a:p>
            <a:pPr marL="0" indent="0">
              <a:buNone/>
            </a:pPr>
            <a:r>
              <a:rPr lang="en-US" dirty="0"/>
              <a:t>Now suppose that UPS management believes that such a driver would generate – </a:t>
            </a:r>
            <a:r>
              <a:rPr lang="en-US" b="1" u="sng" dirty="0"/>
              <a:t>on average</a:t>
            </a:r>
            <a:r>
              <a:rPr lang="en-US" dirty="0"/>
              <a:t> – no profits.  What is your response?</a:t>
            </a:r>
          </a:p>
          <a:p>
            <a:pPr marL="0" indent="0">
              <a:buNone/>
            </a:pPr>
            <a:endParaRPr lang="en-US" dirty="0"/>
          </a:p>
          <a:p>
            <a:pPr marL="0" indent="0">
              <a:buNone/>
            </a:pPr>
            <a:r>
              <a:rPr lang="en-US" dirty="0"/>
              <a:t>(And please don’t read ahead)</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53</a:t>
            </a:fld>
            <a:endParaRPr lang="en-US"/>
          </a:p>
        </p:txBody>
      </p:sp>
    </p:spTree>
    <p:extLst>
      <p:ext uri="{BB962C8B-B14F-4D97-AF65-F5344CB8AC3E}">
        <p14:creationId xmlns:p14="http://schemas.microsoft.com/office/powerpoint/2010/main" val="40756722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We’d begin by recognizing that profits are simply revenues minus costs: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𝑃𝑟𝑜𝑓𝑖𝑡𝑠</m:t>
                      </m:r>
                      <m:r>
                        <a:rPr lang="en-US" b="0" i="1" smtClean="0">
                          <a:latin typeface="Cambria Math"/>
                        </a:rPr>
                        <m:t>=</m:t>
                      </m:r>
                      <m:r>
                        <a:rPr lang="en-US" b="0" i="1" smtClean="0">
                          <a:latin typeface="Cambria Math"/>
                        </a:rPr>
                        <m:t>𝑅𝑒𝑣𝑒𝑛𝑢𝑒𝑠</m:t>
                      </m:r>
                      <m:r>
                        <a:rPr lang="en-US" b="0" i="1" smtClean="0">
                          <a:latin typeface="Cambria Math"/>
                        </a:rPr>
                        <m:t>−</m:t>
                      </m:r>
                      <m:r>
                        <a:rPr lang="en-US" b="0" i="1" smtClean="0">
                          <a:latin typeface="Cambria Math"/>
                        </a:rPr>
                        <m:t>𝐶𝑜𝑠𝑡𝑠</m:t>
                      </m:r>
                    </m:oMath>
                  </m:oMathPara>
                </a14:m>
                <a:endParaRPr lang="en-US" dirty="0"/>
              </a:p>
              <a:p>
                <a:pPr marL="0" indent="0">
                  <a:buNone/>
                </a:pPr>
                <a:endParaRPr lang="en-US" dirty="0"/>
              </a:p>
              <a:p>
                <a:pPr marL="0" indent="0">
                  <a:buNone/>
                </a:pPr>
                <a:r>
                  <a:rPr lang="en-US" dirty="0"/>
                  <a:t>In this case, costs are certain at $100 for a driver.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52" t="-175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54</a:t>
            </a:fld>
            <a:endParaRPr lang="en-US"/>
          </a:p>
        </p:txBody>
      </p:sp>
    </p:spTree>
    <p:extLst>
      <p:ext uri="{BB962C8B-B14F-4D97-AF65-F5344CB8AC3E}">
        <p14:creationId xmlns:p14="http://schemas.microsoft.com/office/powerpoint/2010/main" val="18728659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So we can re-write profits as: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a:rPr>
                        <m:t>𝑃𝑟𝑜𝑓𝑖𝑡𝑠</m:t>
                      </m:r>
                      <m:r>
                        <a:rPr lang="en-US" i="1">
                          <a:latin typeface="Cambria Math"/>
                        </a:rPr>
                        <m:t>=</m:t>
                      </m:r>
                      <m:r>
                        <a:rPr lang="en-US" i="1">
                          <a:latin typeface="Cambria Math"/>
                        </a:rPr>
                        <m:t>𝑅𝑒𝑣𝑒𝑛𝑢𝑒𝑠</m:t>
                      </m:r>
                      <m:r>
                        <a:rPr lang="en-US" i="1">
                          <a:latin typeface="Cambria Math"/>
                        </a:rPr>
                        <m:t>−100</m:t>
                      </m:r>
                    </m:oMath>
                  </m:oMathPara>
                </a14:m>
                <a:endParaRPr lang="en-US" dirty="0"/>
              </a:p>
              <a:p>
                <a:pPr marL="0" indent="0">
                  <a:buNone/>
                </a:pPr>
                <a:endParaRPr lang="en-US" dirty="0"/>
              </a:p>
              <a:p>
                <a:pPr marL="0" indent="0">
                  <a:buNone/>
                </a:pPr>
                <a:r>
                  <a:rPr lang="en-US" dirty="0"/>
                  <a:t>So what are revenues here?</a:t>
                </a:r>
              </a:p>
              <a:p>
                <a:pPr marL="0" indent="0">
                  <a:buNone/>
                </a:pPr>
                <a:endParaRPr lang="en-US" dirty="0"/>
              </a:p>
              <a:p>
                <a:pPr marL="0" indent="0">
                  <a:buNone/>
                </a:pPr>
                <a:r>
                  <a:rPr lang="en-US" dirty="0">
                    <a:sym typeface="Wingdings" panose="05000000000000000000" pitchFamily="2" charset="2"/>
                  </a:rPr>
                  <a:t>They are uncertain.  Why?  Let’s explore this.</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52" t="-1752" b="-336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55</a:t>
            </a:fld>
            <a:endParaRPr lang="en-US"/>
          </a:p>
        </p:txBody>
      </p:sp>
    </p:spTree>
    <p:extLst>
      <p:ext uri="{BB962C8B-B14F-4D97-AF65-F5344CB8AC3E}">
        <p14:creationId xmlns:p14="http://schemas.microsoft.com/office/powerpoint/2010/main" val="2403543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We need to think about revenues as: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𝑅𝑒𝑣𝑒𝑛𝑢𝑒𝑠</m:t>
                      </m:r>
                      <m:r>
                        <a:rPr lang="en-US" b="0" i="1" smtClean="0">
                          <a:latin typeface="Cambria Math"/>
                        </a:rPr>
                        <m:t>=</m:t>
                      </m:r>
                      <m:r>
                        <a:rPr lang="en-US" b="0" i="1" smtClean="0">
                          <a:latin typeface="Cambria Math"/>
                        </a:rPr>
                        <m:t>𝑃𝑟𝑖𝑐𝑒</m:t>
                      </m:r>
                      <m:r>
                        <a:rPr lang="en-US" b="0" i="1" smtClean="0">
                          <a:latin typeface="Cambria Math"/>
                        </a:rPr>
                        <m:t>∗</m:t>
                      </m:r>
                      <m:r>
                        <a:rPr lang="en-US" b="0" i="1" smtClean="0">
                          <a:latin typeface="Cambria Math"/>
                        </a:rPr>
                        <m:t>𝐷𝑒𝑙𝑖𝑣𝑒𝑟𝑖𝑒𝑠</m:t>
                      </m:r>
                    </m:oMath>
                  </m:oMathPara>
                </a14:m>
                <a:endParaRPr lang="en-US" b="0"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=5∗</m:t>
                      </m:r>
                      <m:r>
                        <a:rPr lang="en-US" b="0" i="1" smtClean="0">
                          <a:latin typeface="Cambria Math"/>
                        </a:rPr>
                        <m:t>𝐷𝑒𝑙𝑖𝑣𝑒𝑟𝑖𝑒𝑠</m:t>
                      </m:r>
                    </m:oMath>
                  </m:oMathPara>
                </a14:m>
                <a:endParaRPr lang="en-US" dirty="0"/>
              </a:p>
              <a:p>
                <a:pPr marL="0" indent="0">
                  <a:buNone/>
                </a:pPr>
                <a:endParaRPr lang="en-US" dirty="0"/>
              </a:p>
              <a:p>
                <a:pPr marL="0" indent="0">
                  <a:buNone/>
                </a:pPr>
                <a:r>
                  <a:rPr lang="en-US" dirty="0"/>
                  <a:t>How many deliveries will a driver make in </a:t>
                </a:r>
                <a:r>
                  <a:rPr lang="en-US" dirty="0" err="1"/>
                  <a:t>Leslieville</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CA">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56</a:t>
            </a:fld>
            <a:endParaRPr lang="en-US"/>
          </a:p>
        </p:txBody>
      </p:sp>
    </p:spTree>
    <p:extLst>
      <p:ext uri="{BB962C8B-B14F-4D97-AF65-F5344CB8AC3E}">
        <p14:creationId xmlns:p14="http://schemas.microsoft.com/office/powerpoint/2010/main" val="24417968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We can’t be certain, since traffic varies from day-to-day.  But on average, we can make statements about the revenue a driver will generate.  To do this, we use our regression:</a:t>
                </a:r>
              </a:p>
              <a:p>
                <a:pPr marL="0" indent="0">
                  <a:buNone/>
                </a:pPr>
                <a14:m>
                  <m:oMathPara xmlns:m="http://schemas.openxmlformats.org/officeDocument/2006/math">
                    <m:oMathParaPr>
                      <m:jc m:val="centerGroup"/>
                    </m:oMathParaPr>
                    <m:oMath xmlns:m="http://schemas.openxmlformats.org/officeDocument/2006/math">
                      <m:r>
                        <a:rPr lang="en-US" i="1">
                          <a:latin typeface="Cambria Math"/>
                        </a:rPr>
                        <m:t>𝐷𝑒𝑙𝑖𝑣𝑒𝑟𝑖𝑒𝑠</m:t>
                      </m:r>
                      <m:r>
                        <a:rPr lang="en-US" i="1">
                          <a:latin typeface="Cambria Math"/>
                        </a:rPr>
                        <m:t>=32−2</m:t>
                      </m:r>
                      <m:d>
                        <m:dPr>
                          <m:ctrlPr>
                            <a:rPr lang="en-US" i="1">
                              <a:latin typeface="Cambria Math" panose="02040503050406030204" pitchFamily="18" charset="0"/>
                            </a:rPr>
                          </m:ctrlPr>
                        </m:dPr>
                        <m:e>
                          <m:r>
                            <a:rPr lang="en-US" i="1">
                              <a:latin typeface="Cambria Math"/>
                            </a:rPr>
                            <m:t>𝑁𝑢𝑚𝑏𝑒𝑟</m:t>
                          </m:r>
                          <m:r>
                            <a:rPr lang="en-US" i="1">
                              <a:latin typeface="Cambria Math"/>
                            </a:rPr>
                            <m:t> </m:t>
                          </m:r>
                          <m:r>
                            <a:rPr lang="en-US" i="1">
                              <a:latin typeface="Cambria Math"/>
                            </a:rPr>
                            <m:t>𝑜𝑓</m:t>
                          </m:r>
                          <m:r>
                            <a:rPr lang="en-US" i="1">
                              <a:latin typeface="Cambria Math"/>
                            </a:rPr>
                            <m:t> </m:t>
                          </m:r>
                          <m:r>
                            <a:rPr lang="en-US" i="1">
                              <a:latin typeface="Cambria Math"/>
                            </a:rPr>
                            <m:t>𝑡𝑟𝑎𝑓𝑓𝑖𝑐</m:t>
                          </m:r>
                          <m:r>
                            <a:rPr lang="en-US" i="1">
                              <a:latin typeface="Cambria Math"/>
                            </a:rPr>
                            <m:t> </m:t>
                          </m:r>
                          <m:r>
                            <a:rPr lang="en-US" i="1">
                              <a:latin typeface="Cambria Math"/>
                            </a:rPr>
                            <m:t>𝑑𝑒𝑙𝑎𝑦𝑠</m:t>
                          </m:r>
                        </m:e>
                      </m:d>
                    </m:oMath>
                  </m:oMathPara>
                </a14:m>
                <a:endParaRPr lang="en-US"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a:rPr>
                        <m:t>→32−2</m:t>
                      </m:r>
                      <m:d>
                        <m:dPr>
                          <m:ctrlPr>
                            <a:rPr lang="en-US" i="1">
                              <a:latin typeface="Cambria Math" panose="02040503050406030204" pitchFamily="18" charset="0"/>
                            </a:rPr>
                          </m:ctrlPr>
                        </m:dPr>
                        <m:e>
                          <m:r>
                            <a:rPr lang="en-US" b="0" i="1" smtClean="0">
                              <a:latin typeface="Cambria Math"/>
                            </a:rPr>
                            <m:t>1</m:t>
                          </m:r>
                        </m:e>
                      </m:d>
                      <m:r>
                        <a:rPr lang="en-US" i="1">
                          <a:latin typeface="Cambria Math"/>
                        </a:rPr>
                        <m:t>=</m:t>
                      </m:r>
                      <m:r>
                        <a:rPr lang="en-US" b="0" i="1" smtClean="0">
                          <a:latin typeface="Cambria Math"/>
                        </a:rPr>
                        <m:t>30</m:t>
                      </m:r>
                    </m:oMath>
                  </m:oMathPara>
                </a14:m>
                <a:endParaRPr lang="en-US" dirty="0"/>
              </a:p>
              <a:p>
                <a:pPr marL="0" indent="0">
                  <a:buNone/>
                </a:pPr>
                <a:r>
                  <a:rPr lang="en-US" dirty="0"/>
                  <a:t>We predict 30 deliveries in this case.</a:t>
                </a:r>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52" t="-1752" r="-1111" b="-525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57</a:t>
            </a:fld>
            <a:endParaRPr lang="en-US"/>
          </a:p>
        </p:txBody>
      </p:sp>
    </p:spTree>
    <p:extLst>
      <p:ext uri="{BB962C8B-B14F-4D97-AF65-F5344CB8AC3E}">
        <p14:creationId xmlns:p14="http://schemas.microsoft.com/office/powerpoint/2010/main" val="26399377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p:sp>
        <p:nvSpPr>
          <p:cNvPr id="3" name="Content Placeholder 2"/>
          <p:cNvSpPr>
            <a:spLocks noGrp="1"/>
          </p:cNvSpPr>
          <p:nvPr>
            <p:ph idx="1"/>
          </p:nvPr>
        </p:nvSpPr>
        <p:spPr/>
        <p:txBody>
          <a:bodyPr/>
          <a:lstStyle/>
          <a:p>
            <a:pPr marL="0" indent="0">
              <a:buNone/>
            </a:pPr>
            <a:r>
              <a:rPr lang="en-US" dirty="0"/>
              <a:t>More technically, we’d say that our conditional mean for deliveries is 30 if there’s one traffic delay.</a:t>
            </a:r>
          </a:p>
          <a:p>
            <a:pPr marL="0" indent="0">
              <a:buNone/>
            </a:pPr>
            <a:endParaRPr lang="en-US" dirty="0"/>
          </a:p>
          <a:p>
            <a:pPr marL="0" indent="0">
              <a:buNone/>
            </a:pPr>
            <a:r>
              <a:rPr lang="en-US" dirty="0"/>
              <a:t>But this is a guess, so what’s our uncertainty around this guess?</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58</a:t>
            </a:fld>
            <a:endParaRPr lang="en-US"/>
          </a:p>
        </p:txBody>
      </p:sp>
    </p:spTree>
    <p:extLst>
      <p:ext uri="{BB962C8B-B14F-4D97-AF65-F5344CB8AC3E}">
        <p14:creationId xmlns:p14="http://schemas.microsoft.com/office/powerpoint/2010/main" val="165195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We need a confidence interval:</a:t>
                </a:r>
              </a:p>
              <a:p>
                <a:pPr marL="0" indent="0">
                  <a:buNone/>
                </a:pPr>
                <a14:m>
                  <m:oMathPara xmlns:m="http://schemas.openxmlformats.org/officeDocument/2006/math">
                    <m:oMathParaPr>
                      <m:jc m:val="centerGroup"/>
                    </m:oMathParaPr>
                    <m:oMath xmlns:m="http://schemas.openxmlformats.org/officeDocument/2006/math">
                      <m:r>
                        <a:rPr lang="en-US" i="1">
                          <a:latin typeface="Cambria Math"/>
                        </a:rPr>
                        <m:t>𝐶𝑜𝑛𝑑𝑖𝑡𝑖𝑜𝑛𝑎𝑙</m:t>
                      </m:r>
                      <m:r>
                        <a:rPr lang="en-US" i="1">
                          <a:latin typeface="Cambria Math"/>
                        </a:rPr>
                        <m:t> </m:t>
                      </m:r>
                      <m:r>
                        <a:rPr lang="en-US" i="1">
                          <a:latin typeface="Cambria Math"/>
                        </a:rPr>
                        <m:t>𝑀𝑒𝑎𝑛</m:t>
                      </m:r>
                      <m:r>
                        <a:rPr lang="en-US" i="1">
                          <a:latin typeface="Cambria Math"/>
                        </a:rPr>
                        <m:t> −2</m:t>
                      </m:r>
                      <m:d>
                        <m:dPr>
                          <m:ctrlPr>
                            <a:rPr lang="en-US" i="1">
                              <a:latin typeface="Cambria Math" panose="02040503050406030204" pitchFamily="18" charset="0"/>
                            </a:rPr>
                          </m:ctrlPr>
                        </m:dPr>
                        <m:e>
                          <m:r>
                            <a:rPr lang="en-US" i="1">
                              <a:latin typeface="Cambria Math"/>
                            </a:rPr>
                            <m:t>𝑆𝑡𝑎𝑛𝑑𝑎𝑟𝑑</m:t>
                          </m:r>
                          <m:r>
                            <a:rPr lang="en-US" i="1">
                              <a:latin typeface="Cambria Math"/>
                            </a:rPr>
                            <m:t> </m:t>
                          </m:r>
                          <m:r>
                            <a:rPr lang="en-US" i="1">
                              <a:latin typeface="Cambria Math"/>
                            </a:rPr>
                            <m:t>𝐸𝑟𝑟𝑜𝑟𝑠</m:t>
                          </m:r>
                          <m:r>
                            <a:rPr lang="en-US" i="1">
                              <a:latin typeface="Cambria Math"/>
                            </a:rPr>
                            <m:t> </m:t>
                          </m:r>
                          <m:r>
                            <a:rPr lang="en-US" i="1">
                              <a:latin typeface="Cambria Math"/>
                            </a:rPr>
                            <m:t>𝑜𝑓</m:t>
                          </m:r>
                          <m:r>
                            <a:rPr lang="en-US" i="1">
                              <a:latin typeface="Cambria Math"/>
                            </a:rPr>
                            <m:t> </m:t>
                          </m:r>
                          <m:r>
                            <a:rPr lang="en-US" i="1">
                              <a:latin typeface="Cambria Math"/>
                            </a:rPr>
                            <m:t>𝑡h𝑒</m:t>
                          </m:r>
                          <m:r>
                            <a:rPr lang="en-US" i="1">
                              <a:latin typeface="Cambria Math"/>
                            </a:rPr>
                            <m:t> </m:t>
                          </m:r>
                          <m:r>
                            <a:rPr lang="en-US" i="1">
                              <a:latin typeface="Cambria Math"/>
                            </a:rPr>
                            <m:t>𝑅𝑒𝑔𝑟𝑒𝑠𝑠𝑖𝑜𝑛</m:t>
                          </m:r>
                        </m:e>
                      </m:d>
                      <m:r>
                        <a:rPr lang="en-US" i="1">
                          <a:latin typeface="Cambria Math"/>
                        </a:rPr>
                        <m:t>=</m:t>
                      </m:r>
                      <m:r>
                        <a:rPr lang="en-US" b="0" i="1" smtClean="0">
                          <a:latin typeface="Cambria Math"/>
                        </a:rPr>
                        <m:t>30</m:t>
                      </m:r>
                      <m:r>
                        <a:rPr lang="en-US" i="1">
                          <a:latin typeface="Cambria Math"/>
                        </a:rPr>
                        <m:t>−2</m:t>
                      </m:r>
                      <m:d>
                        <m:dPr>
                          <m:ctrlPr>
                            <a:rPr lang="en-US" i="1">
                              <a:latin typeface="Cambria Math" panose="02040503050406030204" pitchFamily="18" charset="0"/>
                            </a:rPr>
                          </m:ctrlPr>
                        </m:dPr>
                        <m:e>
                          <m:r>
                            <a:rPr lang="en-US" i="1">
                              <a:latin typeface="Cambria Math"/>
                            </a:rPr>
                            <m:t>0.7</m:t>
                          </m:r>
                        </m:e>
                      </m:d>
                      <m:r>
                        <a:rPr lang="en-US" i="1">
                          <a:latin typeface="Cambria Math"/>
                        </a:rPr>
                        <m:t>=2</m:t>
                      </m:r>
                      <m:r>
                        <a:rPr lang="en-US" b="0" i="1" smtClean="0">
                          <a:latin typeface="Cambria Math"/>
                        </a:rPr>
                        <m:t>8</m:t>
                      </m:r>
                      <m:r>
                        <a:rPr lang="en-US" i="1">
                          <a:latin typeface="Cambria Math"/>
                        </a:rPr>
                        <m:t>.6</m:t>
                      </m:r>
                    </m:oMath>
                  </m:oMathPara>
                </a14:m>
                <a:endParaRPr lang="en-US" i="1" dirty="0">
                  <a:latin typeface="Cambria Math"/>
                </a:endParaRPr>
              </a:p>
              <a:p>
                <a:pPr marL="0" indent="0">
                  <a:buNone/>
                </a:pPr>
                <a:endParaRPr lang="en-US"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a:rPr>
                        <m:t>𝐶𝑜𝑛𝑑𝑖𝑡𝑖𝑜𝑛𝑎𝑙</m:t>
                      </m:r>
                      <m:r>
                        <a:rPr lang="en-US" i="1">
                          <a:latin typeface="Cambria Math"/>
                        </a:rPr>
                        <m:t> </m:t>
                      </m:r>
                      <m:r>
                        <a:rPr lang="en-US" i="1">
                          <a:latin typeface="Cambria Math"/>
                        </a:rPr>
                        <m:t>𝑀𝑒𝑎𝑛</m:t>
                      </m:r>
                      <m:r>
                        <a:rPr lang="en-US" i="1">
                          <a:latin typeface="Cambria Math"/>
                        </a:rPr>
                        <m:t>+2</m:t>
                      </m:r>
                      <m:d>
                        <m:dPr>
                          <m:ctrlPr>
                            <a:rPr lang="en-US" i="1">
                              <a:latin typeface="Cambria Math" panose="02040503050406030204" pitchFamily="18" charset="0"/>
                            </a:rPr>
                          </m:ctrlPr>
                        </m:dPr>
                        <m:e>
                          <m:r>
                            <a:rPr lang="en-US" i="1">
                              <a:latin typeface="Cambria Math"/>
                            </a:rPr>
                            <m:t>𝑆𝑡𝑎𝑛𝑑𝑎𝑟𝑑</m:t>
                          </m:r>
                          <m:r>
                            <a:rPr lang="en-US" i="1">
                              <a:latin typeface="Cambria Math"/>
                            </a:rPr>
                            <m:t> </m:t>
                          </m:r>
                          <m:r>
                            <a:rPr lang="en-US" i="1">
                              <a:latin typeface="Cambria Math"/>
                            </a:rPr>
                            <m:t>𝐸𝑟𝑟𝑜𝑟𝑠</m:t>
                          </m:r>
                          <m:r>
                            <a:rPr lang="en-US" i="1">
                              <a:latin typeface="Cambria Math"/>
                            </a:rPr>
                            <m:t> </m:t>
                          </m:r>
                          <m:r>
                            <a:rPr lang="en-US" i="1">
                              <a:latin typeface="Cambria Math"/>
                            </a:rPr>
                            <m:t>𝑜𝑓</m:t>
                          </m:r>
                          <m:r>
                            <a:rPr lang="en-US" i="1">
                              <a:latin typeface="Cambria Math"/>
                            </a:rPr>
                            <m:t> </m:t>
                          </m:r>
                          <m:r>
                            <a:rPr lang="en-US" i="1">
                              <a:latin typeface="Cambria Math"/>
                            </a:rPr>
                            <m:t>𝑡h𝑒</m:t>
                          </m:r>
                          <m:r>
                            <a:rPr lang="en-US" i="1">
                              <a:latin typeface="Cambria Math"/>
                            </a:rPr>
                            <m:t> </m:t>
                          </m:r>
                          <m:r>
                            <a:rPr lang="en-US" i="1">
                              <a:latin typeface="Cambria Math"/>
                            </a:rPr>
                            <m:t>𝑅𝑒𝑔𝑟𝑒𝑠𝑠𝑖𝑜𝑛</m:t>
                          </m:r>
                        </m:e>
                      </m:d>
                      <m:r>
                        <a:rPr lang="en-US" i="1">
                          <a:latin typeface="Cambria Math"/>
                        </a:rPr>
                        <m:t>=</m:t>
                      </m:r>
                      <m:r>
                        <a:rPr lang="en-US" b="0" i="1" smtClean="0">
                          <a:latin typeface="Cambria Math"/>
                        </a:rPr>
                        <m:t>30</m:t>
                      </m:r>
                      <m:r>
                        <a:rPr lang="en-US" i="1">
                          <a:latin typeface="Cambria Math"/>
                        </a:rPr>
                        <m:t>+2</m:t>
                      </m:r>
                      <m:d>
                        <m:dPr>
                          <m:ctrlPr>
                            <a:rPr lang="en-US" i="1">
                              <a:latin typeface="Cambria Math" panose="02040503050406030204" pitchFamily="18" charset="0"/>
                            </a:rPr>
                          </m:ctrlPr>
                        </m:dPr>
                        <m:e>
                          <m:r>
                            <a:rPr lang="en-US" i="1">
                              <a:latin typeface="Cambria Math"/>
                            </a:rPr>
                            <m:t>0.7</m:t>
                          </m:r>
                        </m:e>
                      </m:d>
                      <m:r>
                        <a:rPr lang="en-US" i="1">
                          <a:latin typeface="Cambria Math"/>
                        </a:rPr>
                        <m:t>=</m:t>
                      </m:r>
                      <m:r>
                        <a:rPr lang="en-US" b="0" i="1" smtClean="0">
                          <a:latin typeface="Cambria Math"/>
                        </a:rPr>
                        <m:t>31</m:t>
                      </m:r>
                      <m:r>
                        <a:rPr lang="en-US" i="1">
                          <a:latin typeface="Cambria Math"/>
                        </a:rPr>
                        <m:t>.4</m:t>
                      </m:r>
                    </m:oMath>
                  </m:oMathPara>
                </a14:m>
                <a:endParaRPr lang="en-US" i="1" dirty="0">
                  <a:latin typeface="Cambria Math"/>
                </a:endParaRP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52" t="-175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59</a:t>
            </a:fld>
            <a:endParaRPr lang="en-US"/>
          </a:p>
        </p:txBody>
      </p:sp>
    </p:spTree>
    <p:extLst>
      <p:ext uri="{BB962C8B-B14F-4D97-AF65-F5344CB8AC3E}">
        <p14:creationId xmlns:p14="http://schemas.microsoft.com/office/powerpoint/2010/main" val="3959543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p:sp>
        <p:nvSpPr>
          <p:cNvPr id="3" name="Content Placeholder 2"/>
          <p:cNvSpPr>
            <a:spLocks noGrp="1"/>
          </p:cNvSpPr>
          <p:nvPr>
            <p:ph idx="1"/>
          </p:nvPr>
        </p:nvSpPr>
        <p:spPr/>
        <p:txBody>
          <a:bodyPr/>
          <a:lstStyle/>
          <a:p>
            <a:pPr marL="0" indent="0">
              <a:buNone/>
            </a:pPr>
            <a:r>
              <a:rPr lang="en-US" dirty="0"/>
              <a:t>So we would expect that a </a:t>
            </a:r>
            <a:r>
              <a:rPr lang="en-US" dirty="0" err="1"/>
              <a:t>Leslieville</a:t>
            </a:r>
            <a:r>
              <a:rPr lang="en-US" dirty="0"/>
              <a:t> driver would have between 28.6 and 31.4 deliveries with 95% certainty.</a:t>
            </a:r>
          </a:p>
          <a:p>
            <a:pPr marL="0" indent="0">
              <a:buNone/>
            </a:pPr>
            <a:endParaRPr lang="en-US" dirty="0"/>
          </a:p>
          <a:p>
            <a:pPr marL="0" indent="0">
              <a:buNone/>
            </a:pPr>
            <a:r>
              <a:rPr lang="en-US" dirty="0"/>
              <a:t>And how much revenue would the driver create?</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60</a:t>
            </a:fld>
            <a:endParaRPr lang="en-US"/>
          </a:p>
        </p:txBody>
      </p:sp>
    </p:spTree>
    <p:extLst>
      <p:ext uri="{BB962C8B-B14F-4D97-AF65-F5344CB8AC3E}">
        <p14:creationId xmlns:p14="http://schemas.microsoft.com/office/powerpoint/2010/main" val="10059081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In the “worst case” from our confidence interval (with 28.6 deliveries):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𝑅𝑒𝑣𝑒𝑛𝑢𝑒</m:t>
                      </m:r>
                      <m:r>
                        <a:rPr lang="en-US" b="0" i="1" smtClean="0">
                          <a:latin typeface="Cambria Math"/>
                        </a:rPr>
                        <m:t>=$5∗28.6=$143</m:t>
                      </m:r>
                    </m:oMath>
                  </m:oMathPara>
                </a14:m>
                <a:endParaRPr lang="en-US" b="0" dirty="0"/>
              </a:p>
              <a:p>
                <a:pPr marL="0" indent="0">
                  <a:buNone/>
                </a:pPr>
                <a:endParaRPr lang="en-US" dirty="0"/>
              </a:p>
              <a:p>
                <a:pPr marL="0" indent="0">
                  <a:buNone/>
                </a:pPr>
                <a:r>
                  <a:rPr lang="en-US" dirty="0"/>
                  <a:t>In the “best case” from our confidence interval (with 31.4 deliveries):</a:t>
                </a:r>
              </a:p>
              <a:p>
                <a:pPr marL="0" indent="0">
                  <a:buNone/>
                </a:pPr>
                <a14:m>
                  <m:oMathPara xmlns:m="http://schemas.openxmlformats.org/officeDocument/2006/math">
                    <m:oMathParaPr>
                      <m:jc m:val="centerGroup"/>
                    </m:oMathParaPr>
                    <m:oMath xmlns:m="http://schemas.openxmlformats.org/officeDocument/2006/math">
                      <m:r>
                        <a:rPr lang="en-US" i="1">
                          <a:latin typeface="Cambria Math"/>
                        </a:rPr>
                        <m:t>𝑅𝑒𝑣𝑒𝑛𝑢𝑒</m:t>
                      </m:r>
                      <m:r>
                        <a:rPr lang="en-US" i="1">
                          <a:latin typeface="Cambria Math"/>
                        </a:rPr>
                        <m:t>=$5∗31.4=$157</m:t>
                      </m:r>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52" t="-175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61</a:t>
            </a:fld>
            <a:endParaRPr lang="en-US"/>
          </a:p>
        </p:txBody>
      </p:sp>
    </p:spTree>
    <p:extLst>
      <p:ext uri="{BB962C8B-B14F-4D97-AF65-F5344CB8AC3E}">
        <p14:creationId xmlns:p14="http://schemas.microsoft.com/office/powerpoint/2010/main" val="3168995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p:sp>
        <p:nvSpPr>
          <p:cNvPr id="3" name="Content Placeholder 2"/>
          <p:cNvSpPr>
            <a:spLocks noGrp="1"/>
          </p:cNvSpPr>
          <p:nvPr>
            <p:ph idx="1"/>
          </p:nvPr>
        </p:nvSpPr>
        <p:spPr/>
        <p:txBody>
          <a:bodyPr/>
          <a:lstStyle/>
          <a:p>
            <a:pPr marL="0" indent="0">
              <a:buNone/>
            </a:pPr>
            <a:r>
              <a:rPr lang="en-US" dirty="0"/>
              <a:t>And what would our 95% confidence interval for profits be in this case?</a:t>
            </a:r>
          </a:p>
          <a:p>
            <a:pPr marL="0" indent="0">
              <a:buNone/>
            </a:pPr>
            <a:endParaRPr lang="en-US" dirty="0"/>
          </a:p>
          <a:p>
            <a:pPr marL="0" indent="0">
              <a:buNone/>
            </a:pPr>
            <a:r>
              <a:rPr lang="en-US" dirty="0"/>
              <a:t>Between:</a:t>
            </a:r>
          </a:p>
          <a:p>
            <a:pPr marL="571500" indent="-571500">
              <a:buAutoNum type="romanLcParenBoth"/>
            </a:pPr>
            <a:r>
              <a:rPr lang="en-US" dirty="0"/>
              <a:t>$143 - $100 = $43</a:t>
            </a:r>
          </a:p>
          <a:p>
            <a:pPr marL="571500" indent="-571500">
              <a:buFontTx/>
              <a:buAutoNum type="romanLcParenBoth"/>
            </a:pPr>
            <a:r>
              <a:rPr lang="en-US" dirty="0"/>
              <a:t>$157 - $100 = $57</a:t>
            </a:r>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62</a:t>
            </a:fld>
            <a:endParaRPr lang="en-US"/>
          </a:p>
        </p:txBody>
      </p:sp>
    </p:spTree>
    <p:extLst>
      <p:ext uri="{BB962C8B-B14F-4D97-AF65-F5344CB8AC3E}">
        <p14:creationId xmlns:p14="http://schemas.microsoft.com/office/powerpoint/2010/main" val="17703209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p:sp>
        <p:nvSpPr>
          <p:cNvPr id="3" name="Content Placeholder 2"/>
          <p:cNvSpPr>
            <a:spLocks noGrp="1"/>
          </p:cNvSpPr>
          <p:nvPr>
            <p:ph idx="1"/>
          </p:nvPr>
        </p:nvSpPr>
        <p:spPr/>
        <p:txBody>
          <a:bodyPr/>
          <a:lstStyle/>
          <a:p>
            <a:pPr marL="0" indent="0">
              <a:buNone/>
            </a:pPr>
            <a:r>
              <a:rPr lang="en-US" dirty="0"/>
              <a:t>So what is our response to management about moving into </a:t>
            </a:r>
            <a:r>
              <a:rPr lang="en-US" dirty="0" err="1"/>
              <a:t>Leslieville</a:t>
            </a:r>
            <a:r>
              <a:rPr lang="en-US" dirty="0"/>
              <a:t>?</a:t>
            </a:r>
          </a:p>
          <a:p>
            <a:pPr marL="0" indent="0">
              <a:buNone/>
            </a:pPr>
            <a:endParaRPr lang="en-US" dirty="0"/>
          </a:p>
          <a:p>
            <a:pPr marL="0" indent="0">
              <a:buNone/>
            </a:pPr>
            <a:r>
              <a:rPr lang="en-US" dirty="0"/>
              <a:t>We’re 95% sure that </a:t>
            </a:r>
            <a:r>
              <a:rPr lang="en-US" b="1" u="sng" dirty="0"/>
              <a:t>average</a:t>
            </a:r>
            <a:r>
              <a:rPr lang="en-US" dirty="0"/>
              <a:t> profits there will be between $43 and $57 – and we would reject the idea that there would be zero average profits at the 5% level of significance.</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63</a:t>
            </a:fld>
            <a:endParaRPr lang="en-US"/>
          </a:p>
        </p:txBody>
      </p:sp>
    </p:spTree>
    <p:extLst>
      <p:ext uri="{BB962C8B-B14F-4D97-AF65-F5344CB8AC3E}">
        <p14:creationId xmlns:p14="http://schemas.microsoft.com/office/powerpoint/2010/main" val="5980231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#2</a:t>
            </a:r>
          </a:p>
        </p:txBody>
      </p:sp>
      <p:sp>
        <p:nvSpPr>
          <p:cNvPr id="3" name="Content Placeholder 2"/>
          <p:cNvSpPr>
            <a:spLocks noGrp="1"/>
          </p:cNvSpPr>
          <p:nvPr>
            <p:ph idx="1"/>
          </p:nvPr>
        </p:nvSpPr>
        <p:spPr/>
        <p:txBody>
          <a:bodyPr/>
          <a:lstStyle/>
          <a:p>
            <a:pPr marL="0" indent="0">
              <a:buNone/>
            </a:pPr>
            <a:r>
              <a:rPr lang="en-US" dirty="0"/>
              <a:t>Or, how would we tie this back in to the CLT?</a:t>
            </a:r>
          </a:p>
          <a:p>
            <a:pPr marL="0" indent="0">
              <a:buNone/>
            </a:pPr>
            <a:endParaRPr lang="en-US" dirty="0"/>
          </a:p>
          <a:p>
            <a:pPr marL="0" indent="0">
              <a:buNone/>
            </a:pPr>
            <a:r>
              <a:rPr lang="en-US" dirty="0"/>
              <a:t>We’d say that the only way that the true level of profits in </a:t>
            </a:r>
            <a:r>
              <a:rPr lang="en-US" dirty="0" err="1"/>
              <a:t>Leslieville</a:t>
            </a:r>
            <a:r>
              <a:rPr lang="en-US" dirty="0"/>
              <a:t> was zero was if we happened to draw a very odd sample, which should happen with much less than a 5% probability.</a:t>
            </a:r>
          </a:p>
        </p:txBody>
      </p:sp>
      <p:sp>
        <p:nvSpPr>
          <p:cNvPr id="4" name="Slide Number Placeholder 3"/>
          <p:cNvSpPr>
            <a:spLocks noGrp="1"/>
          </p:cNvSpPr>
          <p:nvPr>
            <p:ph type="sldNum" sz="quarter" idx="12"/>
          </p:nvPr>
        </p:nvSpPr>
        <p:spPr/>
        <p:txBody>
          <a:bodyPr/>
          <a:lstStyle/>
          <a:p>
            <a:pPr>
              <a:defRPr/>
            </a:pPr>
            <a:fld id="{0B03E209-4C24-4EF0-9862-BB90CAFD9327}" type="slidenum">
              <a:rPr lang="en-US" smtClean="0"/>
              <a:pPr>
                <a:defRPr/>
              </a:pPr>
              <a:t>64</a:t>
            </a:fld>
            <a:endParaRPr lang="en-US"/>
          </a:p>
        </p:txBody>
      </p:sp>
    </p:spTree>
    <p:extLst>
      <p:ext uri="{BB962C8B-B14F-4D97-AF65-F5344CB8AC3E}">
        <p14:creationId xmlns:p14="http://schemas.microsoft.com/office/powerpoint/2010/main" val="126118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 so far…</a:t>
            </a:r>
            <a:endParaRPr lang="en-CA" dirty="0"/>
          </a:p>
        </p:txBody>
      </p:sp>
      <p:sp>
        <p:nvSpPr>
          <p:cNvPr id="3" name="Content Placeholder 2"/>
          <p:cNvSpPr>
            <a:spLocks noGrp="1"/>
          </p:cNvSpPr>
          <p:nvPr>
            <p:ph idx="1"/>
          </p:nvPr>
        </p:nvSpPr>
        <p:spPr/>
        <p:txBody>
          <a:bodyPr/>
          <a:lstStyle/>
          <a:p>
            <a:pPr marL="0" indent="0">
              <a:buNone/>
            </a:pPr>
            <a:r>
              <a:rPr lang="en-US" dirty="0"/>
              <a:t>Up to this point, I have deliberately limited us to a discussion of “Bivariate Regressions”</a:t>
            </a:r>
          </a:p>
          <a:p>
            <a:pPr marL="0" indent="0">
              <a:buNone/>
            </a:pPr>
            <a:endParaRPr lang="en-US" dirty="0"/>
          </a:p>
          <a:p>
            <a:pPr marL="0" indent="0">
              <a:buNone/>
            </a:pPr>
            <a:r>
              <a:rPr lang="en-US" dirty="0">
                <a:sym typeface="Wingdings" pitchFamily="2" charset="2"/>
              </a:rPr>
              <a:t></a:t>
            </a:r>
            <a:r>
              <a:rPr lang="en-US" dirty="0"/>
              <a:t>This is a fancy way of saying that we have analyzed regressions with one variable (Y) on the left hand side (called a “dependent” variable) and one variable (X) on the right hand side (called an “independent” variable)</a:t>
            </a:r>
          </a:p>
        </p:txBody>
      </p:sp>
    </p:spTree>
    <p:extLst>
      <p:ext uri="{BB962C8B-B14F-4D97-AF65-F5344CB8AC3E}">
        <p14:creationId xmlns:p14="http://schemas.microsoft.com/office/powerpoint/2010/main" val="27867448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 so far…</a:t>
            </a:r>
            <a:endParaRPr lang="en-CA" dirty="0"/>
          </a:p>
        </p:txBody>
      </p:sp>
      <p:sp>
        <p:nvSpPr>
          <p:cNvPr id="3" name="Content Placeholder 2"/>
          <p:cNvSpPr>
            <a:spLocks noGrp="1"/>
          </p:cNvSpPr>
          <p:nvPr>
            <p:ph idx="1"/>
          </p:nvPr>
        </p:nvSpPr>
        <p:spPr/>
        <p:txBody>
          <a:bodyPr/>
          <a:lstStyle/>
          <a:p>
            <a:pPr marL="0" indent="0">
              <a:buNone/>
            </a:pPr>
            <a:r>
              <a:rPr lang="en-US" dirty="0"/>
              <a:t>But of course, this is a </a:t>
            </a:r>
            <a:r>
              <a:rPr lang="en-US" b="1" u="sng" dirty="0"/>
              <a:t>very</a:t>
            </a:r>
            <a:r>
              <a:rPr lang="en-US" dirty="0"/>
              <a:t> simplistic approach.</a:t>
            </a:r>
          </a:p>
          <a:p>
            <a:pPr marL="0" indent="0">
              <a:buNone/>
            </a:pPr>
            <a:endParaRPr lang="en-US" dirty="0"/>
          </a:p>
          <a:p>
            <a:pPr marL="0" indent="0">
              <a:buNone/>
            </a:pPr>
            <a:r>
              <a:rPr lang="en-US" dirty="0"/>
              <a:t>What we’d like to do is ask a more nuanced question: what is the effect of a given variable on some outcome, while controlling for other things?</a:t>
            </a:r>
            <a:endParaRPr lang="en-CA" dirty="0"/>
          </a:p>
        </p:txBody>
      </p:sp>
    </p:spTree>
    <p:extLst>
      <p:ext uri="{BB962C8B-B14F-4D97-AF65-F5344CB8AC3E}">
        <p14:creationId xmlns:p14="http://schemas.microsoft.com/office/powerpoint/2010/main" val="16574861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 to Multiple Regression (with some intuitive firepower)</a:t>
            </a:r>
          </a:p>
        </p:txBody>
      </p:sp>
      <p:sp>
        <p:nvSpPr>
          <p:cNvPr id="3" name="Content Placeholder 2"/>
          <p:cNvSpPr>
            <a:spLocks noGrp="1"/>
          </p:cNvSpPr>
          <p:nvPr>
            <p:ph idx="1"/>
          </p:nvPr>
        </p:nvSpPr>
        <p:spPr/>
        <p:txBody>
          <a:bodyPr/>
          <a:lstStyle/>
          <a:p>
            <a:pPr marL="0" indent="0">
              <a:buNone/>
            </a:pPr>
            <a:r>
              <a:rPr lang="en-US" dirty="0"/>
              <a:t>But what does this mean?</a:t>
            </a:r>
          </a:p>
          <a:p>
            <a:pPr marL="0" indent="0">
              <a:buNone/>
            </a:pPr>
            <a:endParaRPr lang="en-US" dirty="0"/>
          </a:p>
          <a:p>
            <a:pPr marL="0" indent="0">
              <a:buNone/>
            </a:pPr>
            <a:r>
              <a:rPr lang="en-US" dirty="0"/>
              <a:t>This is really a movement towards a more detailed version of regression: </a:t>
            </a:r>
            <a:r>
              <a:rPr lang="en-US" b="1" u="sng" dirty="0"/>
              <a:t>Multiple Regression </a:t>
            </a:r>
          </a:p>
          <a:p>
            <a:pPr marL="0" indent="0">
              <a:buNone/>
            </a:pPr>
            <a:endParaRPr lang="en-US" dirty="0"/>
          </a:p>
          <a:p>
            <a:pPr marL="0" indent="0">
              <a:buNone/>
            </a:pPr>
            <a:r>
              <a:rPr lang="en-US" dirty="0"/>
              <a:t>Consider a really simple intuitive example to give you some intuitive “firepower” to deal with the technical aspects of this problem</a:t>
            </a:r>
          </a:p>
        </p:txBody>
      </p:sp>
    </p:spTree>
    <p:extLst>
      <p:ext uri="{BB962C8B-B14F-4D97-AF65-F5344CB8AC3E}">
        <p14:creationId xmlns:p14="http://schemas.microsoft.com/office/powerpoint/2010/main" val="18019578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intuitive firepower</a:t>
            </a:r>
          </a:p>
        </p:txBody>
      </p:sp>
      <p:sp>
        <p:nvSpPr>
          <p:cNvPr id="3" name="Content Placeholder 2"/>
          <p:cNvSpPr>
            <a:spLocks noGrp="1"/>
          </p:cNvSpPr>
          <p:nvPr>
            <p:ph idx="1"/>
          </p:nvPr>
        </p:nvSpPr>
        <p:spPr/>
        <p:txBody>
          <a:bodyPr/>
          <a:lstStyle/>
          <a:p>
            <a:pPr marL="0" indent="0">
              <a:buNone/>
            </a:pPr>
            <a:r>
              <a:rPr lang="en-US" dirty="0"/>
              <a:t>Suppose that you were analyzing the prices of cakes, and you collected to following data:</a:t>
            </a:r>
          </a:p>
          <a:p>
            <a:pPr marL="0" indent="0">
              <a:buNone/>
            </a:pPr>
            <a:endParaRPr lang="en-US" dirty="0"/>
          </a:p>
          <a:p>
            <a:pPr marL="0" indent="0">
              <a:buNone/>
            </a:pPr>
            <a:endParaRPr lang="en-US" dirty="0"/>
          </a:p>
          <a:p>
            <a:pPr marL="0" indent="0">
              <a:buNone/>
            </a:pPr>
            <a:endParaRPr lang="en-US" dirty="0"/>
          </a:p>
          <a:p>
            <a:pPr marL="0" indent="0">
              <a:buNone/>
            </a:pPr>
            <a:r>
              <a:rPr lang="en-US" dirty="0"/>
              <a:t>What would we conclude about the relative prices of two-layer cakes relative to one-layer cakes?</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530016932"/>
              </p:ext>
            </p:extLst>
          </p:nvPr>
        </p:nvGraphicFramePr>
        <p:xfrm>
          <a:off x="683568" y="3356992"/>
          <a:ext cx="7344816" cy="1285240"/>
        </p:xfrm>
        <a:graphic>
          <a:graphicData uri="http://schemas.openxmlformats.org/drawingml/2006/table">
            <a:tbl>
              <a:tblPr firstRow="1" bandRow="1">
                <a:tableStyleId>{5940675A-B579-460E-94D1-54222C63F5DA}</a:tableStyleId>
              </a:tblPr>
              <a:tblGrid>
                <a:gridCol w="3672408">
                  <a:extLst>
                    <a:ext uri="{9D8B030D-6E8A-4147-A177-3AD203B41FA5}">
                      <a16:colId xmlns:a16="http://schemas.microsoft.com/office/drawing/2014/main" val="1556412763"/>
                    </a:ext>
                  </a:extLst>
                </a:gridCol>
                <a:gridCol w="3672408">
                  <a:extLst>
                    <a:ext uri="{9D8B030D-6E8A-4147-A177-3AD203B41FA5}">
                      <a16:colId xmlns:a16="http://schemas.microsoft.com/office/drawing/2014/main" val="1189877937"/>
                    </a:ext>
                  </a:extLst>
                </a:gridCol>
              </a:tblGrid>
              <a:tr h="370840">
                <a:tc>
                  <a:txBody>
                    <a:bodyPr/>
                    <a:lstStyle/>
                    <a:p>
                      <a:pPr algn="ctr"/>
                      <a:r>
                        <a:rPr lang="en-US" dirty="0"/>
                        <a:t>One-Layer</a:t>
                      </a:r>
                      <a:r>
                        <a:rPr lang="en-US" baseline="0" dirty="0"/>
                        <a:t> Cake</a:t>
                      </a:r>
                      <a:endParaRPr lang="en-US" dirty="0"/>
                    </a:p>
                  </a:txBody>
                  <a:tcPr/>
                </a:tc>
                <a:tc>
                  <a:txBody>
                    <a:bodyPr/>
                    <a:lstStyle/>
                    <a:p>
                      <a:pPr algn="ctr"/>
                      <a:r>
                        <a:rPr lang="en-US" dirty="0"/>
                        <a:t>Two-Layer Cake</a:t>
                      </a:r>
                    </a:p>
                  </a:txBody>
                  <a:tcPr/>
                </a:tc>
                <a:extLst>
                  <a:ext uri="{0D108BD9-81ED-4DB2-BD59-A6C34878D82A}">
                    <a16:rowId xmlns:a16="http://schemas.microsoft.com/office/drawing/2014/main" val="1990947173"/>
                  </a:ext>
                </a:extLst>
              </a:tr>
              <a:tr h="370840">
                <a:tc>
                  <a:txBody>
                    <a:bodyPr/>
                    <a:lstStyle/>
                    <a:p>
                      <a:pPr algn="ctr"/>
                      <a:r>
                        <a:rPr lang="en-US" dirty="0"/>
                        <a:t>$10, $10,</a:t>
                      </a:r>
                      <a:r>
                        <a:rPr lang="en-US" baseline="0" dirty="0"/>
                        <a:t> $10, $10, $10, $10</a:t>
                      </a:r>
                    </a:p>
                    <a:p>
                      <a:pPr algn="ctr"/>
                      <a:r>
                        <a:rPr lang="en-US" baseline="0" dirty="0"/>
                        <a:t>$16, $16</a:t>
                      </a:r>
                    </a:p>
                    <a:p>
                      <a:pPr algn="ctr"/>
                      <a:r>
                        <a:rPr lang="en-US" baseline="0" dirty="0"/>
                        <a:t>Average Price = $11.5</a:t>
                      </a:r>
                      <a:endParaRPr lang="en-US" dirty="0"/>
                    </a:p>
                  </a:txBody>
                  <a:tcPr/>
                </a:tc>
                <a:tc>
                  <a:txBody>
                    <a:bodyPr/>
                    <a:lstStyle/>
                    <a:p>
                      <a:pPr algn="ctr"/>
                      <a:r>
                        <a:rPr lang="en-US" dirty="0"/>
                        <a:t>$10, $10</a:t>
                      </a:r>
                      <a:endParaRPr lang="en-US" baseline="0" dirty="0"/>
                    </a:p>
                    <a:p>
                      <a:pPr algn="ctr"/>
                      <a:r>
                        <a:rPr lang="en-US" baseline="0" dirty="0"/>
                        <a:t>$16, $16, $16, $16, $16, $16</a:t>
                      </a:r>
                    </a:p>
                    <a:p>
                      <a:pPr algn="ctr"/>
                      <a:r>
                        <a:rPr lang="en-US" baseline="0" dirty="0"/>
                        <a:t>Average Price = $14.5</a:t>
                      </a:r>
                      <a:endParaRPr lang="en-US" dirty="0"/>
                    </a:p>
                  </a:txBody>
                  <a:tcPr/>
                </a:tc>
                <a:extLst>
                  <a:ext uri="{0D108BD9-81ED-4DB2-BD59-A6C34878D82A}">
                    <a16:rowId xmlns:a16="http://schemas.microsoft.com/office/drawing/2014/main" val="403361199"/>
                  </a:ext>
                </a:extLst>
              </a:tr>
            </a:tbl>
          </a:graphicData>
        </a:graphic>
      </p:graphicFrame>
    </p:spTree>
    <p:extLst>
      <p:ext uri="{BB962C8B-B14F-4D97-AF65-F5344CB8AC3E}">
        <p14:creationId xmlns:p14="http://schemas.microsoft.com/office/powerpoint/2010/main" val="339566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intuitive firepower</a:t>
            </a:r>
          </a:p>
        </p:txBody>
      </p:sp>
      <p:sp>
        <p:nvSpPr>
          <p:cNvPr id="3" name="Content Placeholder 2"/>
          <p:cNvSpPr>
            <a:spLocks noGrp="1"/>
          </p:cNvSpPr>
          <p:nvPr>
            <p:ph idx="1"/>
          </p:nvPr>
        </p:nvSpPr>
        <p:spPr/>
        <p:txBody>
          <a:bodyPr>
            <a:normAutofit/>
          </a:bodyPr>
          <a:lstStyle/>
          <a:p>
            <a:pPr marL="0" indent="0">
              <a:buNone/>
            </a:pPr>
            <a:r>
              <a:rPr lang="en-US" dirty="0"/>
              <a:t>We’d conclude that two-layer cakes can be sold for more, on average, than one-layer cakes (and this difference is about $3).</a:t>
            </a:r>
          </a:p>
          <a:p>
            <a:pPr marL="0" indent="0">
              <a:buNone/>
            </a:pPr>
            <a:endParaRPr lang="en-US" dirty="0"/>
          </a:p>
          <a:p>
            <a:pPr marL="0" indent="0">
              <a:buNone/>
            </a:pPr>
            <a:r>
              <a:rPr lang="en-US" dirty="0"/>
              <a:t>But now suppose that you not only got information about the number of layers on a cake, but also the amount of frosting on these cakes</a:t>
            </a:r>
          </a:p>
          <a:p>
            <a:pPr marL="0" indent="0">
              <a:buNone/>
            </a:pPr>
            <a:endParaRPr lang="en-US" dirty="0"/>
          </a:p>
        </p:txBody>
      </p:sp>
    </p:spTree>
    <p:extLst>
      <p:ext uri="{BB962C8B-B14F-4D97-AF65-F5344CB8AC3E}">
        <p14:creationId xmlns:p14="http://schemas.microsoft.com/office/powerpoint/2010/main" val="34125007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intuitive firepower</a:t>
            </a:r>
          </a:p>
        </p:txBody>
      </p:sp>
      <p:sp>
        <p:nvSpPr>
          <p:cNvPr id="3" name="Content Placeholder 2"/>
          <p:cNvSpPr>
            <a:spLocks noGrp="1"/>
          </p:cNvSpPr>
          <p:nvPr>
            <p:ph idx="1"/>
          </p:nvPr>
        </p:nvSpPr>
        <p:spPr/>
        <p:txBody>
          <a:bodyPr/>
          <a:lstStyle/>
          <a:p>
            <a:pPr marL="0" indent="0">
              <a:buNone/>
            </a:pPr>
            <a:r>
              <a:rPr lang="en-US" dirty="0"/>
              <a:t>Here’s the same data as before, but with the extra information about frosting:</a:t>
            </a:r>
          </a:p>
          <a:p>
            <a:pPr marL="0" indent="0">
              <a:buNone/>
            </a:pPr>
            <a:endParaRPr lang="en-US" dirty="0"/>
          </a:p>
          <a:p>
            <a:pPr marL="0" indent="0">
              <a:buNone/>
            </a:pPr>
            <a:endParaRPr lang="en-US" dirty="0"/>
          </a:p>
          <a:p>
            <a:pPr marL="0" indent="0">
              <a:buNone/>
            </a:pPr>
            <a:endParaRPr lang="en-US" dirty="0"/>
          </a:p>
          <a:p>
            <a:pPr marL="0" indent="0">
              <a:buNone/>
            </a:pPr>
            <a:r>
              <a:rPr lang="en-US" dirty="0"/>
              <a:t>Now, what would we conclude about the relative prices of one- and two-layer cakes?</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3163498"/>
              </p:ext>
            </p:extLst>
          </p:nvPr>
        </p:nvGraphicFramePr>
        <p:xfrm>
          <a:off x="457200" y="2924944"/>
          <a:ext cx="8111780" cy="1112520"/>
        </p:xfrm>
        <a:graphic>
          <a:graphicData uri="http://schemas.openxmlformats.org/drawingml/2006/table">
            <a:tbl>
              <a:tblPr firstRow="1" bandRow="1">
                <a:tableStyleId>{5940675A-B579-460E-94D1-54222C63F5DA}</a:tableStyleId>
              </a:tblPr>
              <a:tblGrid>
                <a:gridCol w="2098576">
                  <a:extLst>
                    <a:ext uri="{9D8B030D-6E8A-4147-A177-3AD203B41FA5}">
                      <a16:colId xmlns:a16="http://schemas.microsoft.com/office/drawing/2014/main" val="2886952151"/>
                    </a:ext>
                  </a:extLst>
                </a:gridCol>
                <a:gridCol w="3027470">
                  <a:extLst>
                    <a:ext uri="{9D8B030D-6E8A-4147-A177-3AD203B41FA5}">
                      <a16:colId xmlns:a16="http://schemas.microsoft.com/office/drawing/2014/main" val="710410339"/>
                    </a:ext>
                  </a:extLst>
                </a:gridCol>
                <a:gridCol w="2985734">
                  <a:extLst>
                    <a:ext uri="{9D8B030D-6E8A-4147-A177-3AD203B41FA5}">
                      <a16:colId xmlns:a16="http://schemas.microsoft.com/office/drawing/2014/main" val="3385693879"/>
                    </a:ext>
                  </a:extLst>
                </a:gridCol>
              </a:tblGrid>
              <a:tr h="370840">
                <a:tc>
                  <a:txBody>
                    <a:bodyPr/>
                    <a:lstStyle/>
                    <a:p>
                      <a:endParaRPr lang="en-US" dirty="0">
                        <a:latin typeface="Calibri" panose="020F0502020204030204" pitchFamily="34" charset="0"/>
                      </a:endParaRPr>
                    </a:p>
                  </a:txBody>
                  <a:tcPr/>
                </a:tc>
                <a:tc>
                  <a:txBody>
                    <a:bodyPr/>
                    <a:lstStyle/>
                    <a:p>
                      <a:pPr algn="ctr"/>
                      <a:r>
                        <a:rPr lang="en-US" dirty="0">
                          <a:latin typeface="Calibri" panose="020F0502020204030204" pitchFamily="34" charset="0"/>
                        </a:rPr>
                        <a:t>One-Layer</a:t>
                      </a:r>
                      <a:r>
                        <a:rPr lang="en-US" baseline="0" dirty="0">
                          <a:latin typeface="Calibri" panose="020F0502020204030204" pitchFamily="34" charset="0"/>
                        </a:rPr>
                        <a:t> Cake</a:t>
                      </a:r>
                      <a:endParaRPr lang="en-US" dirty="0">
                        <a:latin typeface="Calibri" panose="020F0502020204030204" pitchFamily="34" charset="0"/>
                      </a:endParaRPr>
                    </a:p>
                  </a:txBody>
                  <a:tcPr/>
                </a:tc>
                <a:tc>
                  <a:txBody>
                    <a:bodyPr/>
                    <a:lstStyle/>
                    <a:p>
                      <a:pPr algn="ctr"/>
                      <a:r>
                        <a:rPr lang="en-US" dirty="0">
                          <a:latin typeface="Calibri" panose="020F0502020204030204" pitchFamily="34" charset="0"/>
                        </a:rPr>
                        <a:t>Two-Layer Cake</a:t>
                      </a:r>
                    </a:p>
                  </a:txBody>
                  <a:tcPr/>
                </a:tc>
                <a:extLst>
                  <a:ext uri="{0D108BD9-81ED-4DB2-BD59-A6C34878D82A}">
                    <a16:rowId xmlns:a16="http://schemas.microsoft.com/office/drawing/2014/main" val="3937980469"/>
                  </a:ext>
                </a:extLst>
              </a:tr>
              <a:tr h="370840">
                <a:tc>
                  <a:txBody>
                    <a:bodyPr/>
                    <a:lstStyle/>
                    <a:p>
                      <a:r>
                        <a:rPr lang="en-US" dirty="0">
                          <a:latin typeface="Calibri" panose="020F0502020204030204" pitchFamily="34" charset="0"/>
                        </a:rPr>
                        <a:t>Two</a:t>
                      </a:r>
                      <a:r>
                        <a:rPr lang="en-US" baseline="0" dirty="0">
                          <a:latin typeface="Calibri" panose="020F0502020204030204" pitchFamily="34" charset="0"/>
                        </a:rPr>
                        <a:t> Cups of</a:t>
                      </a:r>
                      <a:r>
                        <a:rPr lang="en-US" dirty="0">
                          <a:latin typeface="Calibri" panose="020F0502020204030204" pitchFamily="34" charset="0"/>
                        </a:rPr>
                        <a:t> frosting</a:t>
                      </a:r>
                    </a:p>
                  </a:txBody>
                  <a:tcPr/>
                </a:tc>
                <a:tc>
                  <a:txBody>
                    <a:bodyPr/>
                    <a:lstStyle/>
                    <a:p>
                      <a:pPr algn="ctr"/>
                      <a:r>
                        <a:rPr lang="en-US" baseline="0" dirty="0">
                          <a:latin typeface="Calibri" panose="020F0502020204030204" pitchFamily="34" charset="0"/>
                        </a:rPr>
                        <a:t>$16, $16</a:t>
                      </a:r>
                    </a:p>
                  </a:txBody>
                  <a:tcPr/>
                </a:tc>
                <a:tc>
                  <a:txBody>
                    <a:bodyPr/>
                    <a:lstStyle/>
                    <a:p>
                      <a:pPr algn="ctr"/>
                      <a:r>
                        <a:rPr lang="en-US" baseline="0" dirty="0">
                          <a:latin typeface="Calibri" panose="020F0502020204030204" pitchFamily="34" charset="0"/>
                        </a:rPr>
                        <a:t>$16, $16, $16, $16, $16, $16</a:t>
                      </a:r>
                    </a:p>
                  </a:txBody>
                  <a:tcPr/>
                </a:tc>
                <a:extLst>
                  <a:ext uri="{0D108BD9-81ED-4DB2-BD59-A6C34878D82A}">
                    <a16:rowId xmlns:a16="http://schemas.microsoft.com/office/drawing/2014/main" val="4277163038"/>
                  </a:ext>
                </a:extLst>
              </a:tr>
              <a:tr h="370840">
                <a:tc>
                  <a:txBody>
                    <a:bodyPr/>
                    <a:lstStyle/>
                    <a:p>
                      <a:r>
                        <a:rPr lang="en-US" dirty="0">
                          <a:latin typeface="Calibri" panose="020F0502020204030204" pitchFamily="34" charset="0"/>
                        </a:rPr>
                        <a:t>One Cup of frosting</a:t>
                      </a:r>
                    </a:p>
                  </a:txBody>
                  <a:tcPr/>
                </a:tc>
                <a:tc>
                  <a:txBody>
                    <a:bodyPr/>
                    <a:lstStyle/>
                    <a:p>
                      <a:pPr algn="ctr"/>
                      <a:r>
                        <a:rPr lang="en-US" dirty="0">
                          <a:latin typeface="Calibri" panose="020F0502020204030204" pitchFamily="34" charset="0"/>
                        </a:rPr>
                        <a:t>$10, $10,</a:t>
                      </a:r>
                      <a:r>
                        <a:rPr lang="en-US" baseline="0" dirty="0">
                          <a:latin typeface="Calibri" panose="020F0502020204030204" pitchFamily="34" charset="0"/>
                        </a:rPr>
                        <a:t> $10, $10, $10, $10</a:t>
                      </a:r>
                      <a:endParaRPr lang="en-US" dirty="0">
                        <a:latin typeface="Calibri" panose="020F05020202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rPr>
                        <a:t>$10, $10</a:t>
                      </a:r>
                      <a:endParaRPr lang="en-US" baseline="0" dirty="0">
                        <a:latin typeface="Calibri" panose="020F0502020204030204" pitchFamily="34" charset="0"/>
                      </a:endParaRPr>
                    </a:p>
                  </a:txBody>
                  <a:tcPr/>
                </a:tc>
                <a:extLst>
                  <a:ext uri="{0D108BD9-81ED-4DB2-BD59-A6C34878D82A}">
                    <a16:rowId xmlns:a16="http://schemas.microsoft.com/office/drawing/2014/main" val="1556955249"/>
                  </a:ext>
                </a:extLst>
              </a:tr>
            </a:tbl>
          </a:graphicData>
        </a:graphic>
      </p:graphicFrame>
    </p:spTree>
    <p:extLst>
      <p:ext uri="{BB962C8B-B14F-4D97-AF65-F5344CB8AC3E}">
        <p14:creationId xmlns:p14="http://schemas.microsoft.com/office/powerpoint/2010/main" val="24793001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intuitive firepower</a:t>
            </a:r>
          </a:p>
        </p:txBody>
      </p:sp>
      <p:sp>
        <p:nvSpPr>
          <p:cNvPr id="3" name="Content Placeholder 2"/>
          <p:cNvSpPr>
            <a:spLocks noGrp="1"/>
          </p:cNvSpPr>
          <p:nvPr>
            <p:ph idx="1"/>
          </p:nvPr>
        </p:nvSpPr>
        <p:spPr/>
        <p:txBody>
          <a:bodyPr/>
          <a:lstStyle/>
          <a:p>
            <a:pPr marL="0" indent="0">
              <a:buNone/>
            </a:pPr>
            <a:r>
              <a:rPr lang="en-US" dirty="0"/>
              <a:t>We’d conclude that customers were equally willing to buy one- or two-layer cakes.</a:t>
            </a:r>
          </a:p>
          <a:p>
            <a:pPr marL="0" indent="0">
              <a:buNone/>
            </a:pPr>
            <a:endParaRPr lang="en-US" dirty="0"/>
          </a:p>
          <a:p>
            <a:pPr marL="0" indent="0">
              <a:buNone/>
            </a:pPr>
            <a:r>
              <a:rPr lang="en-US" dirty="0">
                <a:sym typeface="Wingdings" panose="05000000000000000000" pitchFamily="2" charset="2"/>
              </a:rPr>
              <a:t>But the key thing that changed prices was the amount of frosting!  In fact, looking only at each type of batter, we see that using two cups of frosting raises prices by $6 compared to cakes that use only one cup of frosting!</a:t>
            </a:r>
            <a:endParaRPr lang="en-US" dirty="0"/>
          </a:p>
        </p:txBody>
      </p:sp>
    </p:spTree>
    <p:extLst>
      <p:ext uri="{BB962C8B-B14F-4D97-AF65-F5344CB8AC3E}">
        <p14:creationId xmlns:p14="http://schemas.microsoft.com/office/powerpoint/2010/main" val="423846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intuitive firepower</a:t>
            </a:r>
          </a:p>
        </p:txBody>
      </p:sp>
      <p:sp>
        <p:nvSpPr>
          <p:cNvPr id="3" name="Content Placeholder 2"/>
          <p:cNvSpPr>
            <a:spLocks noGrp="1"/>
          </p:cNvSpPr>
          <p:nvPr>
            <p:ph idx="1"/>
          </p:nvPr>
        </p:nvSpPr>
        <p:spPr/>
        <p:txBody>
          <a:bodyPr>
            <a:normAutofit/>
          </a:bodyPr>
          <a:lstStyle/>
          <a:p>
            <a:pPr marL="0" indent="0">
              <a:buNone/>
            </a:pPr>
            <a:r>
              <a:rPr lang="en-US" dirty="0"/>
              <a:t>More formally, we’d say:</a:t>
            </a:r>
          </a:p>
          <a:p>
            <a:pPr marL="514350" indent="-514350">
              <a:buAutoNum type="arabicParenBoth"/>
            </a:pPr>
            <a:r>
              <a:rPr lang="en-US" dirty="0"/>
              <a:t>Conditional on (or “holding constant”) the number of layers, we see cakes with two cups of frosting have higher prices than cakes with one cup of frosting</a:t>
            </a:r>
          </a:p>
          <a:p>
            <a:pPr marL="514350" indent="-514350">
              <a:buAutoNum type="arabicParenBoth"/>
            </a:pPr>
            <a:r>
              <a:rPr lang="en-US" dirty="0"/>
              <a:t>Conditional on (or “holding constant”) the amount of frosting, we see that one- and two-layer cakes have the same price</a:t>
            </a:r>
          </a:p>
        </p:txBody>
      </p:sp>
    </p:spTree>
    <p:extLst>
      <p:ext uri="{BB962C8B-B14F-4D97-AF65-F5344CB8AC3E}">
        <p14:creationId xmlns:p14="http://schemas.microsoft.com/office/powerpoint/2010/main" val="2363321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intuitive firepower</a:t>
            </a:r>
          </a:p>
        </p:txBody>
      </p:sp>
      <p:sp>
        <p:nvSpPr>
          <p:cNvPr id="3" name="Content Placeholder 2"/>
          <p:cNvSpPr>
            <a:spLocks noGrp="1"/>
          </p:cNvSpPr>
          <p:nvPr>
            <p:ph idx="1"/>
          </p:nvPr>
        </p:nvSpPr>
        <p:spPr/>
        <p:txBody>
          <a:bodyPr>
            <a:normAutofit lnSpcReduction="10000"/>
          </a:bodyPr>
          <a:lstStyle/>
          <a:p>
            <a:pPr marL="0" indent="0">
              <a:buNone/>
            </a:pPr>
            <a:r>
              <a:rPr lang="en-US" u="sng" dirty="0"/>
              <a:t>This</a:t>
            </a:r>
            <a:r>
              <a:rPr lang="en-US" dirty="0"/>
              <a:t> is the intuitive idea behind our upcoming discussion.  If we’re concerned about more than one factor being relevant to our analysis, then:</a:t>
            </a:r>
          </a:p>
          <a:p>
            <a:pPr marL="514350" indent="-514350">
              <a:buAutoNum type="arabicParenBoth"/>
            </a:pPr>
            <a:r>
              <a:rPr lang="en-US" dirty="0"/>
              <a:t>We may make inaccurate inferences from simple bivariate regressions, and</a:t>
            </a:r>
          </a:p>
          <a:p>
            <a:pPr marL="514350" indent="-514350">
              <a:buAutoNum type="arabicParenBoth"/>
            </a:pPr>
            <a:r>
              <a:rPr lang="en-US" dirty="0"/>
              <a:t>We need to ask what the impact of each factor is, while looking within (or holding constant) the other factor(s).</a:t>
            </a:r>
          </a:p>
        </p:txBody>
      </p:sp>
    </p:spTree>
    <p:extLst>
      <p:ext uri="{BB962C8B-B14F-4D97-AF65-F5344CB8AC3E}">
        <p14:creationId xmlns:p14="http://schemas.microsoft.com/office/powerpoint/2010/main" val="21955770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p:sp>
        <p:nvSpPr>
          <p:cNvPr id="3" name="Content Placeholder 2"/>
          <p:cNvSpPr>
            <a:spLocks noGrp="1"/>
          </p:cNvSpPr>
          <p:nvPr>
            <p:ph idx="1"/>
          </p:nvPr>
        </p:nvSpPr>
        <p:spPr/>
        <p:txBody>
          <a:bodyPr/>
          <a:lstStyle/>
          <a:p>
            <a:pPr marL="0" indent="0">
              <a:buNone/>
            </a:pPr>
            <a:r>
              <a:rPr lang="en-US" dirty="0"/>
              <a:t>Let’s try this out for ourselves.  Load cakes.xls onto your machines, and let’s do a few exercises.  First, let’s be aware of the average prices in our data:</a:t>
            </a:r>
          </a:p>
          <a:p>
            <a:pPr marL="0" indent="0">
              <a:buNone/>
            </a:pPr>
            <a:endParaRPr lang="en-US" dirty="0"/>
          </a:p>
          <a:p>
            <a:pPr marL="0" indent="0">
              <a:buNone/>
            </a:pPr>
            <a:endParaRPr lang="en-US" dirty="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926043338"/>
              </p:ext>
            </p:extLst>
          </p:nvPr>
        </p:nvGraphicFramePr>
        <p:xfrm>
          <a:off x="1524000" y="4293096"/>
          <a:ext cx="6096000" cy="74168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53079837"/>
                    </a:ext>
                  </a:extLst>
                </a:gridCol>
                <a:gridCol w="3048000">
                  <a:extLst>
                    <a:ext uri="{9D8B030D-6E8A-4147-A177-3AD203B41FA5}">
                      <a16:colId xmlns:a16="http://schemas.microsoft.com/office/drawing/2014/main" val="2171992216"/>
                    </a:ext>
                  </a:extLst>
                </a:gridCol>
              </a:tblGrid>
              <a:tr h="370840">
                <a:tc>
                  <a:txBody>
                    <a:bodyPr/>
                    <a:lstStyle/>
                    <a:p>
                      <a:pPr algn="ctr"/>
                      <a:r>
                        <a:rPr lang="en-US" dirty="0"/>
                        <a:t>One-Layer</a:t>
                      </a:r>
                      <a:r>
                        <a:rPr lang="en-US" baseline="0" dirty="0"/>
                        <a:t> Cake</a:t>
                      </a:r>
                      <a:endParaRPr lang="en-US" dirty="0"/>
                    </a:p>
                  </a:txBody>
                  <a:tcPr/>
                </a:tc>
                <a:tc>
                  <a:txBody>
                    <a:bodyPr/>
                    <a:lstStyle/>
                    <a:p>
                      <a:pPr algn="ctr"/>
                      <a:r>
                        <a:rPr lang="en-US" dirty="0"/>
                        <a:t>Two-Layer Cake</a:t>
                      </a:r>
                    </a:p>
                  </a:txBody>
                  <a:tcPr/>
                </a:tc>
                <a:extLst>
                  <a:ext uri="{0D108BD9-81ED-4DB2-BD59-A6C34878D82A}">
                    <a16:rowId xmlns:a16="http://schemas.microsoft.com/office/drawing/2014/main" val="850489461"/>
                  </a:ext>
                </a:extLst>
              </a:tr>
              <a:tr h="370840">
                <a:tc>
                  <a:txBody>
                    <a:bodyPr/>
                    <a:lstStyle/>
                    <a:p>
                      <a:pPr algn="ctr"/>
                      <a:r>
                        <a:rPr lang="en-US" dirty="0"/>
                        <a:t>Average Price = $11.4</a:t>
                      </a:r>
                    </a:p>
                  </a:txBody>
                  <a:tcPr/>
                </a:tc>
                <a:tc>
                  <a:txBody>
                    <a:bodyPr/>
                    <a:lstStyle/>
                    <a:p>
                      <a:pPr algn="ctr"/>
                      <a:r>
                        <a:rPr lang="en-US" dirty="0"/>
                        <a:t>Average Price = $14.5</a:t>
                      </a:r>
                    </a:p>
                  </a:txBody>
                  <a:tcPr/>
                </a:tc>
                <a:extLst>
                  <a:ext uri="{0D108BD9-81ED-4DB2-BD59-A6C34878D82A}">
                    <a16:rowId xmlns:a16="http://schemas.microsoft.com/office/drawing/2014/main" val="3042477834"/>
                  </a:ext>
                </a:extLst>
              </a:tr>
            </a:tbl>
          </a:graphicData>
        </a:graphic>
      </p:graphicFrame>
    </p:spTree>
    <p:extLst>
      <p:ext uri="{BB962C8B-B14F-4D97-AF65-F5344CB8AC3E}">
        <p14:creationId xmlns:p14="http://schemas.microsoft.com/office/powerpoint/2010/main" val="40973976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u="sng" dirty="0"/>
                  <a:t>Exercise #1:</a:t>
                </a:r>
                <a:r>
                  <a:rPr lang="en-US" dirty="0"/>
                  <a:t> So, let’s run a simple bivariate regression of cake prices on the number of layers in a cake.  This will involve estimating the following equation: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𝑃𝑟𝑖𝑐𝑒</m:t>
                      </m:r>
                      <m:r>
                        <a:rPr lang="en-US" i="1">
                          <a:latin typeface="Cambria Math" panose="02040503050406030204" pitchFamily="18" charset="0"/>
                        </a:rPr>
                        <m:t>=</m:t>
                      </m:r>
                      <m:sSub>
                        <m:sSubPr>
                          <m:ctrlPr>
                            <a:rPr lang="en-US" i="1">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𝑙𝑎𝑦𝑒𝑟𝑠</m:t>
                      </m:r>
                      <m:r>
                        <a:rPr lang="en-US" i="1">
                          <a:latin typeface="Cambria Math" panose="02040503050406030204" pitchFamily="18" charset="0"/>
                        </a:rPr>
                        <m:t>)</m:t>
                      </m:r>
                    </m:oMath>
                  </m:oMathPara>
                </a14:m>
                <a:endParaRPr lang="en-US" u="sng"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r="-1926"/>
                </a:stretch>
              </a:blipFill>
            </p:spPr>
            <p:txBody>
              <a:bodyPr/>
              <a:lstStyle/>
              <a:p>
                <a:r>
                  <a:rPr lang="en-CA">
                    <a:noFill/>
                  </a:rPr>
                  <a:t> </a:t>
                </a:r>
              </a:p>
            </p:txBody>
          </p:sp>
        </mc:Fallback>
      </mc:AlternateContent>
    </p:spTree>
    <p:extLst>
      <p:ext uri="{BB962C8B-B14F-4D97-AF65-F5344CB8AC3E}">
        <p14:creationId xmlns:p14="http://schemas.microsoft.com/office/powerpoint/2010/main" val="4952272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p:sp>
        <p:nvSpPr>
          <p:cNvPr id="3" name="Content Placeholder 2"/>
          <p:cNvSpPr>
            <a:spLocks noGrp="1"/>
          </p:cNvSpPr>
          <p:nvPr>
            <p:ph idx="1"/>
          </p:nvPr>
        </p:nvSpPr>
        <p:spPr/>
        <p:txBody>
          <a:bodyPr/>
          <a:lstStyle/>
          <a:p>
            <a:pPr marL="0" indent="0">
              <a:buNone/>
            </a:pPr>
            <a:r>
              <a:rPr lang="en-US" dirty="0"/>
              <a:t>Here’s what I found with my output:</a:t>
            </a:r>
          </a:p>
          <a:p>
            <a:pPr marL="0" indent="0">
              <a:buNone/>
            </a:pPr>
            <a:endParaRPr lang="en-US" dirty="0"/>
          </a:p>
          <a:p>
            <a:pPr marL="0" indent="0">
              <a:buNone/>
            </a:pPr>
            <a:endParaRPr lang="en-US" dirty="0"/>
          </a:p>
          <a:p>
            <a:pPr marL="0" indent="0">
              <a:buNone/>
            </a:pPr>
            <a:endParaRPr lang="en-US" dirty="0"/>
          </a:p>
          <a:p>
            <a:pPr marL="0" indent="0">
              <a:buNone/>
            </a:pPr>
            <a:r>
              <a:rPr lang="en-US" dirty="0"/>
              <a:t>Note: this is about what we’d expect – adding a layer increases the price by $3 (which explains the coefficient on “Layers”)</a:t>
            </a:r>
          </a:p>
          <a:p>
            <a:pPr marL="0" indent="0">
              <a:buNone/>
            </a:pPr>
            <a:endParaRPr lang="en-US" dirty="0"/>
          </a:p>
        </p:txBody>
      </p:sp>
      <p:graphicFrame>
        <p:nvGraphicFramePr>
          <p:cNvPr id="4" name="Table 3"/>
          <p:cNvGraphicFramePr>
            <a:graphicFrameLocks noGrp="1"/>
          </p:cNvGraphicFramePr>
          <p:nvPr>
            <p:extLst/>
          </p:nvPr>
        </p:nvGraphicFramePr>
        <p:xfrm>
          <a:off x="1475656" y="2564904"/>
          <a:ext cx="6096000" cy="111252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3438070407"/>
                    </a:ext>
                  </a:extLst>
                </a:gridCol>
                <a:gridCol w="1524000">
                  <a:extLst>
                    <a:ext uri="{9D8B030D-6E8A-4147-A177-3AD203B41FA5}">
                      <a16:colId xmlns:a16="http://schemas.microsoft.com/office/drawing/2014/main" val="178754167"/>
                    </a:ext>
                  </a:extLst>
                </a:gridCol>
                <a:gridCol w="1524000">
                  <a:extLst>
                    <a:ext uri="{9D8B030D-6E8A-4147-A177-3AD203B41FA5}">
                      <a16:colId xmlns:a16="http://schemas.microsoft.com/office/drawing/2014/main" val="3334179201"/>
                    </a:ext>
                  </a:extLst>
                </a:gridCol>
                <a:gridCol w="1524000">
                  <a:extLst>
                    <a:ext uri="{9D8B030D-6E8A-4147-A177-3AD203B41FA5}">
                      <a16:colId xmlns:a16="http://schemas.microsoft.com/office/drawing/2014/main" val="1169216515"/>
                    </a:ext>
                  </a:extLst>
                </a:gridCol>
              </a:tblGrid>
              <a:tr h="370840">
                <a:tc>
                  <a:txBody>
                    <a:bodyPr/>
                    <a:lstStyle/>
                    <a:p>
                      <a:endParaRPr lang="en-US" dirty="0"/>
                    </a:p>
                  </a:txBody>
                  <a:tcPr/>
                </a:tc>
                <a:tc>
                  <a:txBody>
                    <a:bodyPr/>
                    <a:lstStyle/>
                    <a:p>
                      <a:r>
                        <a:rPr lang="en-US" dirty="0"/>
                        <a:t>Coefficient</a:t>
                      </a:r>
                    </a:p>
                  </a:txBody>
                  <a:tcPr/>
                </a:tc>
                <a:tc>
                  <a:txBody>
                    <a:bodyPr/>
                    <a:lstStyle/>
                    <a:p>
                      <a:r>
                        <a:rPr lang="en-US" dirty="0" err="1"/>
                        <a:t>Std</a:t>
                      </a:r>
                      <a:r>
                        <a:rPr lang="en-US" dirty="0"/>
                        <a:t> Error</a:t>
                      </a:r>
                    </a:p>
                  </a:txBody>
                  <a:tcPr/>
                </a:tc>
                <a:tc>
                  <a:txBody>
                    <a:bodyPr/>
                    <a:lstStyle/>
                    <a:p>
                      <a:r>
                        <a:rPr lang="en-US" dirty="0"/>
                        <a:t>T-stat</a:t>
                      </a:r>
                    </a:p>
                  </a:txBody>
                  <a:tcPr/>
                </a:tc>
                <a:extLst>
                  <a:ext uri="{0D108BD9-81ED-4DB2-BD59-A6C34878D82A}">
                    <a16:rowId xmlns:a16="http://schemas.microsoft.com/office/drawing/2014/main" val="220242338"/>
                  </a:ext>
                </a:extLst>
              </a:tr>
              <a:tr h="370840">
                <a:tc>
                  <a:txBody>
                    <a:bodyPr/>
                    <a:lstStyle/>
                    <a:p>
                      <a:r>
                        <a:rPr lang="en-US" dirty="0"/>
                        <a:t>Intercept</a:t>
                      </a:r>
                    </a:p>
                  </a:txBody>
                  <a:tcPr/>
                </a:tc>
                <a:tc>
                  <a:txBody>
                    <a:bodyPr/>
                    <a:lstStyle/>
                    <a:p>
                      <a:r>
                        <a:rPr lang="en-US" dirty="0"/>
                        <a:t>8.25</a:t>
                      </a:r>
                    </a:p>
                  </a:txBody>
                  <a:tcPr/>
                </a:tc>
                <a:tc>
                  <a:txBody>
                    <a:bodyPr/>
                    <a:lstStyle/>
                    <a:p>
                      <a:r>
                        <a:rPr lang="en-US" dirty="0"/>
                        <a:t>1.32</a:t>
                      </a:r>
                    </a:p>
                  </a:txBody>
                  <a:tcPr/>
                </a:tc>
                <a:tc>
                  <a:txBody>
                    <a:bodyPr/>
                    <a:lstStyle/>
                    <a:p>
                      <a:r>
                        <a:rPr lang="en-US" dirty="0"/>
                        <a:t>6.25</a:t>
                      </a:r>
                    </a:p>
                  </a:txBody>
                  <a:tcPr/>
                </a:tc>
                <a:extLst>
                  <a:ext uri="{0D108BD9-81ED-4DB2-BD59-A6C34878D82A}">
                    <a16:rowId xmlns:a16="http://schemas.microsoft.com/office/drawing/2014/main" val="3873846477"/>
                  </a:ext>
                </a:extLst>
              </a:tr>
              <a:tr h="370840">
                <a:tc>
                  <a:txBody>
                    <a:bodyPr/>
                    <a:lstStyle/>
                    <a:p>
                      <a:r>
                        <a:rPr lang="en-US" dirty="0"/>
                        <a:t>Layers</a:t>
                      </a:r>
                    </a:p>
                  </a:txBody>
                  <a:tcPr/>
                </a:tc>
                <a:tc>
                  <a:txBody>
                    <a:bodyPr/>
                    <a:lstStyle/>
                    <a:p>
                      <a:r>
                        <a:rPr lang="en-US" dirty="0"/>
                        <a:t>3.11</a:t>
                      </a:r>
                    </a:p>
                  </a:txBody>
                  <a:tcPr/>
                </a:tc>
                <a:tc>
                  <a:txBody>
                    <a:bodyPr/>
                    <a:lstStyle/>
                    <a:p>
                      <a:r>
                        <a:rPr lang="en-US" dirty="0"/>
                        <a:t>0.84</a:t>
                      </a:r>
                    </a:p>
                  </a:txBody>
                  <a:tcPr/>
                </a:tc>
                <a:tc>
                  <a:txBody>
                    <a:bodyPr/>
                    <a:lstStyle/>
                    <a:p>
                      <a:r>
                        <a:rPr lang="en-US" dirty="0"/>
                        <a:t>3.72</a:t>
                      </a:r>
                    </a:p>
                  </a:txBody>
                  <a:tcPr/>
                </a:tc>
                <a:extLst>
                  <a:ext uri="{0D108BD9-81ED-4DB2-BD59-A6C34878D82A}">
                    <a16:rowId xmlns:a16="http://schemas.microsoft.com/office/drawing/2014/main" val="1027797681"/>
                  </a:ext>
                </a:extLst>
              </a:tr>
            </a:tbl>
          </a:graphicData>
        </a:graphic>
      </p:graphicFrame>
    </p:spTree>
    <p:extLst>
      <p:ext uri="{BB962C8B-B14F-4D97-AF65-F5344CB8AC3E}">
        <p14:creationId xmlns:p14="http://schemas.microsoft.com/office/powerpoint/2010/main" val="1063679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So let’s do a little hypothesis testing.  Specifically, suppose you wanted to test the hypothesis that the number of layers on any cakes sold would have no effect on the cake’s price.  We’d test:</a:t>
                </a:r>
              </a:p>
              <a:p>
                <a:pPr marL="0" indent="0">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=0 </m:t>
                      </m:r>
                    </m:oMath>
                  </m:oMathPara>
                </a14:m>
                <a:endParaRPr lang="en-US"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0</m:t>
                      </m:r>
                    </m:oMath>
                  </m:oMathPara>
                </a14:m>
                <a:endParaRPr lang="en-US" b="0" dirty="0"/>
              </a:p>
              <a:p>
                <a:pPr marL="0" indent="0" algn="ctr">
                  <a:buNone/>
                </a:pPr>
                <a:endParaRPr lang="en-US" b="0" dirty="0"/>
              </a:p>
              <a:p>
                <a:pPr marL="0" indent="0" algn="ct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r="-1111"/>
                </a:stretch>
              </a:blipFill>
            </p:spPr>
            <p:txBody>
              <a:bodyPr/>
              <a:lstStyle/>
              <a:p>
                <a:r>
                  <a:rPr lang="en-CA">
                    <a:noFill/>
                  </a:rPr>
                  <a:t> </a:t>
                </a:r>
              </a:p>
            </p:txBody>
          </p:sp>
        </mc:Fallback>
      </mc:AlternateContent>
    </p:spTree>
    <p:extLst>
      <p:ext uri="{BB962C8B-B14F-4D97-AF65-F5344CB8AC3E}">
        <p14:creationId xmlns:p14="http://schemas.microsoft.com/office/powerpoint/2010/main" val="16824679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p:sp>
        <p:nvSpPr>
          <p:cNvPr id="3" name="Content Placeholder 2"/>
          <p:cNvSpPr>
            <a:spLocks noGrp="1"/>
          </p:cNvSpPr>
          <p:nvPr>
            <p:ph idx="1"/>
          </p:nvPr>
        </p:nvSpPr>
        <p:spPr/>
        <p:txBody>
          <a:bodyPr/>
          <a:lstStyle/>
          <a:p>
            <a:pPr marL="0" indent="0">
              <a:buNone/>
            </a:pPr>
            <a:r>
              <a:rPr lang="en-US" dirty="0"/>
              <a:t>What do we find?</a:t>
            </a:r>
          </a:p>
          <a:p>
            <a:pPr marL="0" indent="0">
              <a:buNone/>
            </a:pPr>
            <a:r>
              <a:rPr lang="en-US" u="sng" dirty="0"/>
              <a:t>Using a t-test approach (but we could have also done this with confidence intervals):</a:t>
            </a:r>
            <a:r>
              <a:rPr lang="en-US" dirty="0"/>
              <a:t> Note that the absolute value of the t-statistic on this coefficient is greater than 2.  So we say “We reject the null hypothesis at the 5% level of significance”.  What does this mean? </a:t>
            </a:r>
          </a:p>
        </p:txBody>
      </p:sp>
    </p:spTree>
    <p:extLst>
      <p:ext uri="{BB962C8B-B14F-4D97-AF65-F5344CB8AC3E}">
        <p14:creationId xmlns:p14="http://schemas.microsoft.com/office/powerpoint/2010/main" val="31806232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p:sp>
        <p:nvSpPr>
          <p:cNvPr id="3" name="Content Placeholder 2"/>
          <p:cNvSpPr>
            <a:spLocks noGrp="1"/>
          </p:cNvSpPr>
          <p:nvPr>
            <p:ph idx="1"/>
          </p:nvPr>
        </p:nvSpPr>
        <p:spPr/>
        <p:txBody>
          <a:bodyPr/>
          <a:lstStyle/>
          <a:p>
            <a:pPr marL="0" indent="0">
              <a:buNone/>
            </a:pPr>
            <a:r>
              <a:rPr lang="en-US" dirty="0"/>
              <a:t>It means that, based on our sample evidence, we dismiss the idea that the number of layers on a cake has no impact on its price.  (Or in plain English, it appears that layers are positively related to cake prices).</a:t>
            </a:r>
          </a:p>
        </p:txBody>
      </p:sp>
    </p:spTree>
    <p:extLst>
      <p:ext uri="{BB962C8B-B14F-4D97-AF65-F5344CB8AC3E}">
        <p14:creationId xmlns:p14="http://schemas.microsoft.com/office/powerpoint/2010/main" val="40294484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p:sp>
        <p:nvSpPr>
          <p:cNvPr id="3" name="Content Placeholder 2"/>
          <p:cNvSpPr>
            <a:spLocks noGrp="1"/>
          </p:cNvSpPr>
          <p:nvPr>
            <p:ph idx="1"/>
          </p:nvPr>
        </p:nvSpPr>
        <p:spPr/>
        <p:txBody>
          <a:bodyPr/>
          <a:lstStyle/>
          <a:p>
            <a:pPr marL="0" indent="0">
              <a:buNone/>
            </a:pPr>
            <a:r>
              <a:rPr lang="en-US" u="sng" dirty="0"/>
              <a:t>Exercise #2:</a:t>
            </a:r>
            <a:r>
              <a:rPr lang="en-US" dirty="0"/>
              <a:t> Now, for comparison, let’s start to examine how the average prices of the cakes in our data depend </a:t>
            </a:r>
            <a:r>
              <a:rPr lang="en-US" b="1" u="sng" dirty="0"/>
              <a:t>both</a:t>
            </a:r>
            <a:r>
              <a:rPr lang="en-US" dirty="0"/>
              <a:t> on their number of layers and their amount of frosting</a:t>
            </a:r>
          </a:p>
          <a:p>
            <a:pPr marL="0" indent="0">
              <a:buNone/>
            </a:pPr>
            <a:endParaRPr lang="en-US" dirty="0"/>
          </a:p>
        </p:txBody>
      </p:sp>
    </p:spTree>
    <p:extLst>
      <p:ext uri="{BB962C8B-B14F-4D97-AF65-F5344CB8AC3E}">
        <p14:creationId xmlns:p14="http://schemas.microsoft.com/office/powerpoint/2010/main" val="29816025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p:sp>
        <p:nvSpPr>
          <p:cNvPr id="3" name="Content Placeholder 2"/>
          <p:cNvSpPr>
            <a:spLocks noGrp="1"/>
          </p:cNvSpPr>
          <p:nvPr>
            <p:ph idx="1"/>
          </p:nvPr>
        </p:nvSpPr>
        <p:spPr/>
        <p:txBody>
          <a:bodyPr/>
          <a:lstStyle/>
          <a:p>
            <a:pPr marL="0" indent="0">
              <a:buNone/>
            </a:pPr>
            <a:r>
              <a:rPr lang="en-US" u="sng" dirty="0"/>
              <a:t>Exercise #2:</a:t>
            </a:r>
          </a:p>
          <a:p>
            <a:pPr marL="0" indent="0">
              <a:buNone/>
            </a:pPr>
            <a:r>
              <a:rPr lang="en-US" dirty="0"/>
              <a:t>Here’s a quick description of the key averages that we need to know:</a:t>
            </a:r>
          </a:p>
          <a:p>
            <a:pPr marL="0" indent="0">
              <a:buNone/>
            </a:pPr>
            <a:endParaRPr lang="en-US" dirty="0"/>
          </a:p>
          <a:p>
            <a:pPr marL="0" indent="0">
              <a:buNone/>
            </a:pPr>
            <a:endParaRPr lang="en-US" dirty="0"/>
          </a:p>
          <a:p>
            <a:pPr marL="0" indent="0">
              <a:buNone/>
            </a:pPr>
            <a:endParaRPr lang="en-US" dirty="0"/>
          </a:p>
          <a:p>
            <a:pPr marL="0" indent="0">
              <a:buNone/>
            </a:pPr>
            <a:r>
              <a:rPr lang="en-US" dirty="0"/>
              <a:t>So this looks a lot like our earlier table</a:t>
            </a:r>
          </a:p>
        </p:txBody>
      </p:sp>
      <p:graphicFrame>
        <p:nvGraphicFramePr>
          <p:cNvPr id="4" name="Table 3"/>
          <p:cNvGraphicFramePr>
            <a:graphicFrameLocks noGrp="1"/>
          </p:cNvGraphicFramePr>
          <p:nvPr>
            <p:extLst>
              <p:ext uri="{D42A27DB-BD31-4B8C-83A1-F6EECF244321}">
                <p14:modId xmlns:p14="http://schemas.microsoft.com/office/powerpoint/2010/main" val="1749238654"/>
              </p:ext>
            </p:extLst>
          </p:nvPr>
        </p:nvGraphicFramePr>
        <p:xfrm>
          <a:off x="539552" y="3501008"/>
          <a:ext cx="7477739" cy="1112520"/>
        </p:xfrm>
        <a:graphic>
          <a:graphicData uri="http://schemas.openxmlformats.org/drawingml/2006/table">
            <a:tbl>
              <a:tblPr firstRow="1" bandRow="1">
                <a:tableStyleId>{5940675A-B579-460E-94D1-54222C63F5DA}</a:tableStyleId>
              </a:tblPr>
              <a:tblGrid>
                <a:gridCol w="2291763">
                  <a:extLst>
                    <a:ext uri="{9D8B030D-6E8A-4147-A177-3AD203B41FA5}">
                      <a16:colId xmlns:a16="http://schemas.microsoft.com/office/drawing/2014/main" val="2096898381"/>
                    </a:ext>
                  </a:extLst>
                </a:gridCol>
                <a:gridCol w="2592988">
                  <a:extLst>
                    <a:ext uri="{9D8B030D-6E8A-4147-A177-3AD203B41FA5}">
                      <a16:colId xmlns:a16="http://schemas.microsoft.com/office/drawing/2014/main" val="1477659685"/>
                    </a:ext>
                  </a:extLst>
                </a:gridCol>
                <a:gridCol w="2592988">
                  <a:extLst>
                    <a:ext uri="{9D8B030D-6E8A-4147-A177-3AD203B41FA5}">
                      <a16:colId xmlns:a16="http://schemas.microsoft.com/office/drawing/2014/main" val="2673344791"/>
                    </a:ext>
                  </a:extLst>
                </a:gridCol>
              </a:tblGrid>
              <a:tr h="370840">
                <a:tc>
                  <a:txBody>
                    <a:bodyPr/>
                    <a:lstStyle/>
                    <a:p>
                      <a:endParaRPr lang="en-US" dirty="0"/>
                    </a:p>
                  </a:txBody>
                  <a:tcPr/>
                </a:tc>
                <a:tc>
                  <a:txBody>
                    <a:bodyPr/>
                    <a:lstStyle/>
                    <a:p>
                      <a:pPr algn="ctr"/>
                      <a:r>
                        <a:rPr lang="en-US" dirty="0"/>
                        <a:t>One-Layer</a:t>
                      </a:r>
                      <a:r>
                        <a:rPr lang="en-US" baseline="0" dirty="0"/>
                        <a:t> Cake</a:t>
                      </a:r>
                      <a:endParaRPr lang="en-US" dirty="0"/>
                    </a:p>
                  </a:txBody>
                  <a:tcPr/>
                </a:tc>
                <a:tc>
                  <a:txBody>
                    <a:bodyPr/>
                    <a:lstStyle/>
                    <a:p>
                      <a:pPr algn="ctr"/>
                      <a:r>
                        <a:rPr lang="en-US" dirty="0"/>
                        <a:t>Two-Layer Cake</a:t>
                      </a:r>
                    </a:p>
                  </a:txBody>
                  <a:tcPr/>
                </a:tc>
                <a:extLst>
                  <a:ext uri="{0D108BD9-81ED-4DB2-BD59-A6C34878D82A}">
                    <a16:rowId xmlns:a16="http://schemas.microsoft.com/office/drawing/2014/main" val="2914983526"/>
                  </a:ext>
                </a:extLst>
              </a:tr>
              <a:tr h="370840">
                <a:tc>
                  <a:txBody>
                    <a:bodyPr/>
                    <a:lstStyle/>
                    <a:p>
                      <a:r>
                        <a:rPr lang="en-US" dirty="0"/>
                        <a:t>Two</a:t>
                      </a:r>
                      <a:r>
                        <a:rPr lang="en-US" baseline="0" dirty="0"/>
                        <a:t> Cups of</a:t>
                      </a:r>
                      <a:r>
                        <a:rPr lang="en-US" dirty="0"/>
                        <a:t> frosting</a:t>
                      </a:r>
                    </a:p>
                  </a:txBody>
                  <a:tcPr/>
                </a:tc>
                <a:tc>
                  <a:txBody>
                    <a:bodyPr/>
                    <a:lstStyle/>
                    <a:p>
                      <a:pPr algn="ctr"/>
                      <a:r>
                        <a:rPr lang="en-US" dirty="0"/>
                        <a:t>Average price = $15.7</a:t>
                      </a:r>
                    </a:p>
                  </a:txBody>
                  <a:tcPr/>
                </a:tc>
                <a:tc>
                  <a:txBody>
                    <a:bodyPr/>
                    <a:lstStyle/>
                    <a:p>
                      <a:pPr algn="ctr"/>
                      <a:r>
                        <a:rPr lang="en-US" dirty="0"/>
                        <a:t>Average price = $16</a:t>
                      </a:r>
                    </a:p>
                  </a:txBody>
                  <a:tcPr/>
                </a:tc>
                <a:extLst>
                  <a:ext uri="{0D108BD9-81ED-4DB2-BD59-A6C34878D82A}">
                    <a16:rowId xmlns:a16="http://schemas.microsoft.com/office/drawing/2014/main" val="2012417058"/>
                  </a:ext>
                </a:extLst>
              </a:tr>
              <a:tr h="370840">
                <a:tc>
                  <a:txBody>
                    <a:bodyPr/>
                    <a:lstStyle/>
                    <a:p>
                      <a:r>
                        <a:rPr lang="en-US" dirty="0"/>
                        <a:t>One Cup of frosting</a:t>
                      </a:r>
                    </a:p>
                  </a:txBody>
                  <a:tcPr/>
                </a:tc>
                <a:tc>
                  <a:txBody>
                    <a:bodyPr/>
                    <a:lstStyle/>
                    <a:p>
                      <a:pPr algn="ctr"/>
                      <a:r>
                        <a:rPr lang="en-US" dirty="0"/>
                        <a:t>Average price = $9.9</a:t>
                      </a:r>
                    </a:p>
                  </a:txBody>
                  <a:tcPr/>
                </a:tc>
                <a:tc>
                  <a:txBody>
                    <a:bodyPr/>
                    <a:lstStyle/>
                    <a:p>
                      <a:pPr algn="ctr"/>
                      <a:r>
                        <a:rPr lang="en-US" dirty="0"/>
                        <a:t>Average price = $10</a:t>
                      </a:r>
                    </a:p>
                  </a:txBody>
                  <a:tcPr/>
                </a:tc>
                <a:extLst>
                  <a:ext uri="{0D108BD9-81ED-4DB2-BD59-A6C34878D82A}">
                    <a16:rowId xmlns:a16="http://schemas.microsoft.com/office/drawing/2014/main" val="3367545948"/>
                  </a:ext>
                </a:extLst>
              </a:tr>
            </a:tbl>
          </a:graphicData>
        </a:graphic>
      </p:graphicFrame>
    </p:spTree>
    <p:extLst>
      <p:ext uri="{BB962C8B-B14F-4D97-AF65-F5344CB8AC3E}">
        <p14:creationId xmlns:p14="http://schemas.microsoft.com/office/powerpoint/2010/main" val="419002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p:sp>
        <p:nvSpPr>
          <p:cNvPr id="3" name="Content Placeholder 2"/>
          <p:cNvSpPr>
            <a:spLocks noGrp="1"/>
          </p:cNvSpPr>
          <p:nvPr>
            <p:ph idx="1"/>
          </p:nvPr>
        </p:nvSpPr>
        <p:spPr/>
        <p:txBody>
          <a:bodyPr>
            <a:normAutofit lnSpcReduction="10000"/>
          </a:bodyPr>
          <a:lstStyle/>
          <a:p>
            <a:pPr marL="0" indent="0">
              <a:buNone/>
            </a:pPr>
            <a:r>
              <a:rPr lang="en-US" dirty="0"/>
              <a:t>Given what we’ve found, we’d like to determine the way in which cake prices change because of changes in BOTH layers and frosting.  But how do we do this?</a:t>
            </a:r>
          </a:p>
          <a:p>
            <a:pPr marL="0" indent="0">
              <a:buNone/>
            </a:pPr>
            <a:endParaRPr lang="en-US" dirty="0"/>
          </a:p>
          <a:p>
            <a:pPr marL="0" indent="0">
              <a:buNone/>
            </a:pPr>
            <a:r>
              <a:rPr lang="en-US" dirty="0"/>
              <a:t>We use what’s called a “Multiple Regression” (which is just a fancy term for using more than just one variable on the right-hand side of the regression)</a:t>
            </a:r>
          </a:p>
        </p:txBody>
      </p:sp>
    </p:spTree>
    <p:extLst>
      <p:ext uri="{BB962C8B-B14F-4D97-AF65-F5344CB8AC3E}">
        <p14:creationId xmlns:p14="http://schemas.microsoft.com/office/powerpoint/2010/main" val="3586259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But what </a:t>
                </a:r>
                <a:r>
                  <a:rPr lang="en-US" i="1" u="sng" dirty="0"/>
                  <a:t>is</a:t>
                </a:r>
                <a:r>
                  <a:rPr lang="en-US" dirty="0"/>
                  <a:t> a “multiple regression”?  Consider that this is a “bivariate regression”:</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𝑃𝑟𝑖𝑐𝑒</m:t>
                      </m:r>
                      <m:r>
                        <a:rPr lang="en-US" i="1">
                          <a:latin typeface="Cambria Math" panose="02040503050406030204" pitchFamily="18" charset="0"/>
                        </a:rPr>
                        <m:t>=</m:t>
                      </m:r>
                      <m:sSub>
                        <m:sSubPr>
                          <m:ctrlPr>
                            <a:rPr lang="en-US" i="1">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𝑙𝑎𝑦𝑒𝑟𝑠</m:t>
                      </m:r>
                      <m:r>
                        <a:rPr lang="en-US" i="1">
                          <a:latin typeface="Cambria Math" panose="02040503050406030204" pitchFamily="18" charset="0"/>
                        </a:rPr>
                        <m:t>)</m:t>
                      </m:r>
                    </m:oMath>
                  </m:oMathPara>
                </a14:m>
                <a:endParaRPr lang="en-US" u="sng" dirty="0"/>
              </a:p>
              <a:p>
                <a:pPr marL="0" indent="0">
                  <a:buNone/>
                </a:pPr>
                <a:endParaRPr lang="en-US" dirty="0"/>
              </a:p>
              <a:p>
                <a:pPr marL="0" indent="0">
                  <a:buNone/>
                </a:pPr>
                <a:r>
                  <a:rPr lang="en-US" dirty="0"/>
                  <a:t>And this is a “multiple regression”:</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𝑃𝑟𝑖𝑐</m:t>
                      </m:r>
                      <m:r>
                        <a:rPr lang="en-US" i="1" smtClean="0">
                          <a:latin typeface="Cambria Math" panose="02040503050406030204" pitchFamily="18" charset="0"/>
                        </a:rPr>
                        <m:t>𝑒</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𝑙𝑎𝑦𝑒𝑟𝑠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𝐴𝑚𝑜𝑢𝑛𝑡</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𝑓𝑟𝑜𝑠𝑡𝑖𝑛𝑔</m:t>
                      </m:r>
                      <m:r>
                        <a:rPr lang="en-US" i="1">
                          <a:latin typeface="Cambria Math" panose="02040503050406030204" pitchFamily="18" charset="0"/>
                        </a:rPr>
                        <m:t>)</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CA">
                    <a:noFill/>
                  </a:rPr>
                  <a:t> </a:t>
                </a:r>
              </a:p>
            </p:txBody>
          </p:sp>
        </mc:Fallback>
      </mc:AlternateContent>
    </p:spTree>
    <p:extLst>
      <p:ext uri="{BB962C8B-B14F-4D97-AF65-F5344CB8AC3E}">
        <p14:creationId xmlns:p14="http://schemas.microsoft.com/office/powerpoint/2010/main" val="115211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Intuitive problem</a:t>
            </a:r>
            <a:endParaRPr lang="en-CA" dirty="0"/>
          </a:p>
        </p:txBody>
      </p:sp>
      <p:sp>
        <p:nvSpPr>
          <p:cNvPr id="3" name="Content Placeholder 2"/>
          <p:cNvSpPr>
            <a:spLocks noGrp="1"/>
          </p:cNvSpPr>
          <p:nvPr>
            <p:ph idx="1"/>
          </p:nvPr>
        </p:nvSpPr>
        <p:spPr/>
        <p:txBody>
          <a:bodyPr/>
          <a:lstStyle/>
          <a:p>
            <a:pPr marL="0" indent="0">
              <a:buNone/>
            </a:pPr>
            <a:r>
              <a:rPr lang="en-US" dirty="0"/>
              <a:t>OK, but when we include more than one independent variable in our regression, what do the coefficients </a:t>
            </a:r>
            <a:r>
              <a:rPr lang="en-US" u="sng" dirty="0"/>
              <a:t>mean</a:t>
            </a:r>
            <a:r>
              <a:rPr lang="en-US" dirty="0"/>
              <a:t>?</a:t>
            </a:r>
          </a:p>
          <a:p>
            <a:pPr marL="0" indent="0">
              <a:buNone/>
            </a:pPr>
            <a:endParaRPr lang="en-US" u="sng" dirty="0"/>
          </a:p>
          <a:p>
            <a:pPr marL="0" indent="0">
              <a:buNone/>
            </a:pPr>
            <a:r>
              <a:rPr lang="en-US" dirty="0"/>
              <a:t>Before, when we just included one independent variable, it was clear how to intuitively interpret the estimated value of the coefficient.</a:t>
            </a:r>
          </a:p>
        </p:txBody>
      </p:sp>
    </p:spTree>
    <p:extLst>
      <p:ext uri="{BB962C8B-B14F-4D97-AF65-F5344CB8AC3E}">
        <p14:creationId xmlns:p14="http://schemas.microsoft.com/office/powerpoint/2010/main" val="3055822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Reminder</a:t>
            </a:r>
            <a:endParaRPr lang="en-CA" dirty="0"/>
          </a:p>
        </p:txBody>
      </p:sp>
      <p:sp>
        <p:nvSpPr>
          <p:cNvPr id="3" name="Content Placeholder 2"/>
          <p:cNvSpPr>
            <a:spLocks noGrp="1"/>
          </p:cNvSpPr>
          <p:nvPr>
            <p:ph idx="1"/>
          </p:nvPr>
        </p:nvSpPr>
        <p:spPr/>
        <p:txBody>
          <a:bodyPr/>
          <a:lstStyle/>
          <a:p>
            <a:pPr>
              <a:buFontTx/>
              <a:buNone/>
              <a:defRPr/>
            </a:pPr>
            <a:r>
              <a:rPr lang="en-US" dirty="0"/>
              <a:t>Any straight line can be described with an equation: Y = </a:t>
            </a:r>
            <a:r>
              <a:rPr lang="en-US" dirty="0" err="1"/>
              <a:t>mX</a:t>
            </a:r>
            <a:r>
              <a:rPr lang="en-US" dirty="0"/>
              <a:t> + b</a:t>
            </a:r>
          </a:p>
          <a:p>
            <a:pPr>
              <a:buFontTx/>
              <a:buNone/>
              <a:defRPr/>
            </a:pPr>
            <a:endParaRPr lang="en-US" dirty="0"/>
          </a:p>
          <a:p>
            <a:pPr>
              <a:buFontTx/>
              <a:buNone/>
              <a:defRPr/>
            </a:pPr>
            <a:r>
              <a:rPr lang="en-US" dirty="0"/>
              <a:t>Key concepts:</a:t>
            </a:r>
          </a:p>
          <a:p>
            <a:pPr marL="571500" indent="-571500">
              <a:buFontTx/>
              <a:buAutoNum type="romanLcParenBoth"/>
              <a:defRPr/>
            </a:pPr>
            <a:r>
              <a:rPr lang="en-US" dirty="0"/>
              <a:t>“b” is the intercept</a:t>
            </a:r>
          </a:p>
          <a:p>
            <a:pPr marL="571500" indent="-571500">
              <a:buFontTx/>
              <a:buAutoNum type="romanLcParenBoth"/>
              <a:defRPr/>
            </a:pPr>
            <a:r>
              <a:rPr lang="en-US" dirty="0"/>
              <a:t>“m” is the slope of the line, where</a:t>
            </a:r>
          </a:p>
          <a:p>
            <a:pPr marL="571500" indent="-571500" algn="ctr">
              <a:buFontTx/>
              <a:buNone/>
              <a:defRPr/>
            </a:pPr>
            <a:r>
              <a:rPr lang="en-US" dirty="0"/>
              <a:t>m = slope = </a:t>
            </a:r>
            <a:r>
              <a:rPr lang="en-US" dirty="0">
                <a:latin typeface="Symbol" pitchFamily="18" charset="2"/>
              </a:rPr>
              <a:t>D</a:t>
            </a:r>
            <a:r>
              <a:rPr lang="en-US" dirty="0"/>
              <a:t>Y/</a:t>
            </a:r>
            <a:r>
              <a:rPr lang="en-US" dirty="0">
                <a:latin typeface="Symbol" pitchFamily="18" charset="2"/>
              </a:rPr>
              <a:t>D</a:t>
            </a:r>
            <a:r>
              <a:rPr lang="en-US" dirty="0"/>
              <a:t>X = “rise”/“run”</a:t>
            </a:r>
          </a:p>
          <a:p>
            <a:pPr marL="0" indent="0">
              <a:buNone/>
            </a:pPr>
            <a:endParaRPr lang="en-CA" dirty="0"/>
          </a:p>
        </p:txBody>
      </p:sp>
    </p:spTree>
    <p:extLst>
      <p:ext uri="{BB962C8B-B14F-4D97-AF65-F5344CB8AC3E}">
        <p14:creationId xmlns:p14="http://schemas.microsoft.com/office/powerpoint/2010/main" val="3249776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0" y="476250"/>
            <a:ext cx="8229600" cy="5649913"/>
          </a:xfrm>
        </p:spPr>
        <p:txBody>
          <a:bodyPr/>
          <a:lstStyle/>
          <a:p>
            <a:pPr>
              <a:buFontTx/>
              <a:buNone/>
            </a:pPr>
            <a:r>
              <a:rPr lang="en-US"/>
              <a:t>  </a:t>
            </a:r>
          </a:p>
          <a:p>
            <a:pPr>
              <a:buFontTx/>
              <a:buNone/>
            </a:pPr>
            <a:endParaRPr lang="en-US"/>
          </a:p>
          <a:p>
            <a:pPr>
              <a:buFontTx/>
              <a:buNone/>
            </a:pPr>
            <a:endParaRPr lang="en-US"/>
          </a:p>
          <a:p>
            <a:pPr>
              <a:buFontTx/>
              <a:buNone/>
            </a:pPr>
            <a:endParaRPr lang="en-US"/>
          </a:p>
          <a:p>
            <a:pPr>
              <a:buFontTx/>
              <a:buNone/>
            </a:pPr>
            <a:endParaRPr lang="en-US"/>
          </a:p>
          <a:p>
            <a:pPr>
              <a:buFontTx/>
              <a:buNone/>
            </a:pPr>
            <a:endParaRPr lang="en-US"/>
          </a:p>
          <a:p>
            <a:pPr>
              <a:buFontTx/>
              <a:buNone/>
            </a:pPr>
            <a:endParaRPr lang="en-US"/>
          </a:p>
          <a:p>
            <a:pPr>
              <a:buFontTx/>
              <a:buNone/>
            </a:pPr>
            <a:endParaRPr lang="en-US"/>
          </a:p>
          <a:p>
            <a:pPr>
              <a:buFontTx/>
              <a:buNone/>
            </a:pPr>
            <a:endParaRPr lang="en-US"/>
          </a:p>
        </p:txBody>
      </p:sp>
      <p:cxnSp>
        <p:nvCxnSpPr>
          <p:cNvPr id="7" name="Straight Arrow Connector 6"/>
          <p:cNvCxnSpPr/>
          <p:nvPr/>
        </p:nvCxnSpPr>
        <p:spPr>
          <a:xfrm>
            <a:off x="1676400" y="990600"/>
            <a:ext cx="0" cy="449580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a:off x="990600" y="4876800"/>
            <a:ext cx="6248400" cy="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3124200" y="2971800"/>
            <a:ext cx="0" cy="1905000"/>
          </a:xfrm>
          <a:prstGeom prst="line">
            <a:avLst/>
          </a:prstGeom>
          <a:ln w="28575">
            <a:prstDash val="lgDash"/>
          </a:ln>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4191000" y="2971800"/>
            <a:ext cx="0" cy="1905000"/>
          </a:xfrm>
          <a:prstGeom prst="line">
            <a:avLst/>
          </a:prstGeom>
          <a:ln w="28575">
            <a:prstDash val="lgDash"/>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flipV="1">
            <a:off x="1143000" y="1295400"/>
            <a:ext cx="5562600" cy="259080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1066800" y="2438400"/>
            <a:ext cx="533400" cy="1066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3" name="TextBox 23"/>
          <p:cNvSpPr txBox="1">
            <a:spLocks noChangeArrowheads="1"/>
          </p:cNvSpPr>
          <p:nvPr/>
        </p:nvSpPr>
        <p:spPr bwMode="auto">
          <a:xfrm>
            <a:off x="838200" y="2057400"/>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t>b</a:t>
            </a:r>
          </a:p>
        </p:txBody>
      </p:sp>
      <p:cxnSp>
        <p:nvCxnSpPr>
          <p:cNvPr id="14" name="Straight Connector 13"/>
          <p:cNvCxnSpPr/>
          <p:nvPr/>
        </p:nvCxnSpPr>
        <p:spPr>
          <a:xfrm>
            <a:off x="3124200" y="2971800"/>
            <a:ext cx="1066800" cy="0"/>
          </a:xfrm>
          <a:prstGeom prst="line">
            <a:avLst/>
          </a:prstGeom>
          <a:ln w="28575">
            <a:prstDash val="lgDash"/>
          </a:ln>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4191000" y="2438400"/>
            <a:ext cx="0" cy="533400"/>
          </a:xfrm>
          <a:prstGeom prst="line">
            <a:avLst/>
          </a:prstGeom>
          <a:ln w="28575">
            <a:prstDash val="lgDash"/>
          </a:ln>
        </p:spPr>
        <p:style>
          <a:lnRef idx="1">
            <a:schemeClr val="dk1"/>
          </a:lnRef>
          <a:fillRef idx="0">
            <a:schemeClr val="dk1"/>
          </a:fillRef>
          <a:effectRef idx="0">
            <a:schemeClr val="dk1"/>
          </a:effectRef>
          <a:fontRef idx="minor">
            <a:schemeClr val="tx1"/>
          </a:fontRef>
        </p:style>
      </p:cxnSp>
      <p:sp>
        <p:nvSpPr>
          <p:cNvPr id="16" name="TextBox 22"/>
          <p:cNvSpPr txBox="1">
            <a:spLocks noChangeArrowheads="1"/>
          </p:cNvSpPr>
          <p:nvPr/>
        </p:nvSpPr>
        <p:spPr bwMode="auto">
          <a:xfrm>
            <a:off x="4267201" y="2520156"/>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latin typeface="Symbol" pitchFamily="18" charset="2"/>
              </a:rPr>
              <a:t>D</a:t>
            </a:r>
            <a:r>
              <a:rPr lang="en-US" dirty="0"/>
              <a:t>Y=m</a:t>
            </a:r>
            <a:endParaRPr lang="en-US" dirty="0">
              <a:latin typeface="Symbol" pitchFamily="18" charset="2"/>
            </a:endParaRPr>
          </a:p>
        </p:txBody>
      </p:sp>
      <p:sp>
        <p:nvSpPr>
          <p:cNvPr id="17" name="TextBox 20"/>
          <p:cNvSpPr txBox="1">
            <a:spLocks noChangeArrowheads="1"/>
          </p:cNvSpPr>
          <p:nvPr/>
        </p:nvSpPr>
        <p:spPr bwMode="auto">
          <a:xfrm>
            <a:off x="3276600" y="3200400"/>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latin typeface="Symbol" pitchFamily="18" charset="2"/>
              </a:rPr>
              <a:t>D</a:t>
            </a:r>
            <a:r>
              <a:rPr lang="en-US" dirty="0"/>
              <a:t>X=1</a:t>
            </a:r>
            <a:endParaRPr lang="en-US" dirty="0">
              <a:latin typeface="Symbol" pitchFamily="18" charset="2"/>
            </a:endParaRPr>
          </a:p>
        </p:txBody>
      </p:sp>
      <p:sp>
        <p:nvSpPr>
          <p:cNvPr id="18" name="TextBox 27"/>
          <p:cNvSpPr txBox="1">
            <a:spLocks noChangeArrowheads="1"/>
          </p:cNvSpPr>
          <p:nvPr/>
        </p:nvSpPr>
        <p:spPr bwMode="auto">
          <a:xfrm>
            <a:off x="1524000" y="685800"/>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t>Y</a:t>
            </a:r>
          </a:p>
        </p:txBody>
      </p:sp>
      <p:sp>
        <p:nvSpPr>
          <p:cNvPr id="19" name="TextBox 28"/>
          <p:cNvSpPr txBox="1">
            <a:spLocks noChangeArrowheads="1"/>
          </p:cNvSpPr>
          <p:nvPr/>
        </p:nvSpPr>
        <p:spPr bwMode="auto">
          <a:xfrm>
            <a:off x="7239000" y="4724400"/>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X</a:t>
            </a:r>
          </a:p>
        </p:txBody>
      </p:sp>
      <p:sp>
        <p:nvSpPr>
          <p:cNvPr id="2" name="Right Brace 1">
            <a:extLst>
              <a:ext uri="{FF2B5EF4-FFF2-40B4-BE49-F238E27FC236}">
                <a16:creationId xmlns:a16="http://schemas.microsoft.com/office/drawing/2014/main" id="{8FAA19B7-834C-4145-B2C3-ABE9D0056304}"/>
              </a:ext>
            </a:extLst>
          </p:cNvPr>
          <p:cNvSpPr/>
          <p:nvPr/>
        </p:nvSpPr>
        <p:spPr>
          <a:xfrm rot="5400000">
            <a:off x="3547519" y="2568068"/>
            <a:ext cx="220128" cy="1066765"/>
          </a:xfrm>
          <a:prstGeom prst="righ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 name="Right Brace 2">
            <a:extLst>
              <a:ext uri="{FF2B5EF4-FFF2-40B4-BE49-F238E27FC236}">
                <a16:creationId xmlns:a16="http://schemas.microsoft.com/office/drawing/2014/main" id="{80BAC8A0-DFE4-4F7B-B41C-6A33A65BB9AC}"/>
              </a:ext>
            </a:extLst>
          </p:cNvPr>
          <p:cNvSpPr/>
          <p:nvPr/>
        </p:nvSpPr>
        <p:spPr>
          <a:xfrm>
            <a:off x="4190966" y="2469486"/>
            <a:ext cx="164984" cy="471228"/>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8872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2" grpId="0" animBg="1"/>
      <p:bldP spid="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lstStyle/>
          <a:p>
            <a:pPr marL="0" indent="0">
              <a:buNone/>
            </a:pPr>
            <a:r>
              <a:rPr lang="en-US" dirty="0"/>
              <a:t>But what’s going on when we have two independent variables?</a:t>
            </a:r>
          </a:p>
          <a:p>
            <a:pPr marL="0" indent="0">
              <a:buNone/>
            </a:pPr>
            <a:endParaRPr lang="en-US" dirty="0"/>
          </a:p>
          <a:p>
            <a:pPr marL="0" indent="0">
              <a:buNone/>
            </a:pPr>
            <a:r>
              <a:rPr lang="en-US" dirty="0"/>
              <a:t>We’re not estimating a line anymore, but there is still an intuitive interpretation for a multiple regression coefficient</a:t>
            </a:r>
            <a:endParaRPr lang="en-CA" dirty="0"/>
          </a:p>
        </p:txBody>
      </p:sp>
    </p:spTree>
    <p:extLst>
      <p:ext uri="{BB962C8B-B14F-4D97-AF65-F5344CB8AC3E}">
        <p14:creationId xmlns:p14="http://schemas.microsoft.com/office/powerpoint/2010/main" val="36665057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620688"/>
                <a:ext cx="8229600" cy="5505475"/>
              </a:xfrm>
            </p:spPr>
            <p:txBody>
              <a:bodyPr/>
              <a:lstStyle/>
              <a:p>
                <a:pPr marL="0" indent="0">
                  <a:buNone/>
                </a:pPr>
                <a:r>
                  <a:rPr lang="en-US" dirty="0"/>
                  <a:t>Consider our multiple regression: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𝑃𝑟𝑖𝑐𝑒</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𝑙𝑎𝑦𝑒𝑟𝑠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𝐴𝑚𝑜𝑢𝑛𝑡</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𝑓𝑟𝑜𝑠𝑡𝑖𝑛𝑔</m:t>
                      </m:r>
                      <m:r>
                        <a:rPr lang="en-US" i="1">
                          <a:latin typeface="Cambria Math" panose="02040503050406030204" pitchFamily="18" charset="0"/>
                        </a:rPr>
                        <m:t>)</m:t>
                      </m:r>
                    </m:oMath>
                  </m:oMathPara>
                </a14:m>
                <a:endParaRPr lang="en-US" dirty="0"/>
              </a:p>
              <a:p>
                <a:pPr marL="0" indent="0">
                  <a:buNone/>
                </a:pPr>
                <a:endParaRPr lang="en-US" dirty="0"/>
              </a:p>
              <a:p>
                <a:pPr marL="0" indent="0">
                  <a:buNone/>
                </a:pPr>
                <a:r>
                  <a:rPr lang="en-US" dirty="0"/>
                  <a:t>In this case, the coefficient </a:t>
                </a:r>
                <a:r>
                  <a:rPr lang="en-US" dirty="0">
                    <a:latin typeface="Symbol" panose="05050102010706020507" pitchFamily="18" charset="2"/>
                  </a:rPr>
                  <a:t>b</a:t>
                </a:r>
                <a:r>
                  <a:rPr lang="en-US" baseline="-25000" dirty="0"/>
                  <a:t>1</a:t>
                </a:r>
                <a:r>
                  <a:rPr lang="en-US" dirty="0"/>
                  <a:t> represents the effect of the number of cake layers on its price </a:t>
                </a:r>
                <a:r>
                  <a:rPr lang="en-US" b="1" u="sng" dirty="0"/>
                  <a:t>while holding constant the amount of frosting on the cake.</a:t>
                </a:r>
                <a:endParaRPr lang="en-CA" b="1" u="sng"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620688"/>
                <a:ext cx="8229600" cy="5505475"/>
              </a:xfrm>
              <a:blipFill>
                <a:blip r:embed="rId2"/>
                <a:stretch>
                  <a:fillRect l="-1852" t="-1440" r="-2370"/>
                </a:stretch>
              </a:blipFill>
            </p:spPr>
            <p:txBody>
              <a:bodyPr/>
              <a:lstStyle/>
              <a:p>
                <a:r>
                  <a:rPr lang="en-US">
                    <a:noFill/>
                  </a:rPr>
                  <a:t> </a:t>
                </a:r>
              </a:p>
            </p:txBody>
          </p:sp>
        </mc:Fallback>
      </mc:AlternateContent>
    </p:spTree>
    <p:extLst>
      <p:ext uri="{BB962C8B-B14F-4D97-AF65-F5344CB8AC3E}">
        <p14:creationId xmlns:p14="http://schemas.microsoft.com/office/powerpoint/2010/main" val="296327272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lstStyle/>
          <a:p>
            <a:pPr marL="0" indent="0">
              <a:buNone/>
            </a:pPr>
            <a:r>
              <a:rPr lang="en-US" dirty="0"/>
              <a:t>So you can still have the picture of the line in your head when you think about a multiple regression coefficient.</a:t>
            </a:r>
          </a:p>
          <a:p>
            <a:pPr marL="0" indent="0">
              <a:buNone/>
            </a:pPr>
            <a:endParaRPr lang="en-US" dirty="0"/>
          </a:p>
          <a:p>
            <a:pPr marL="0" indent="0">
              <a:buNone/>
            </a:pPr>
            <a:r>
              <a:rPr lang="en-US" dirty="0"/>
              <a:t>Only now, you need to remember that the slope of the line represents the effect of the particular variable on Y </a:t>
            </a:r>
            <a:r>
              <a:rPr lang="en-US" b="1" i="1" u="sng" dirty="0"/>
              <a:t>while holding constant all the other “X” variables in our regression.</a:t>
            </a:r>
            <a:endParaRPr lang="en-CA" b="1" i="1" u="sng" dirty="0"/>
          </a:p>
        </p:txBody>
      </p:sp>
    </p:spTree>
    <p:extLst>
      <p:ext uri="{BB962C8B-B14F-4D97-AF65-F5344CB8AC3E}">
        <p14:creationId xmlns:p14="http://schemas.microsoft.com/office/powerpoint/2010/main" val="411530840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There’s also another way to think about this, but it’s technical, so…</a:t>
            </a:r>
          </a:p>
        </p:txBody>
      </p:sp>
      <p:pic>
        <p:nvPicPr>
          <p:cNvPr id="4" name="Content Placeholder 3" descr="Homer simpson | Cold Dog Soup - Windows Internet Explorer"/>
          <p:cNvPicPr>
            <a:picLocks noGrp="1" noChangeAspect="1"/>
          </p:cNvPicPr>
          <p:nvPr>
            <p:ph idx="1"/>
          </p:nvPr>
        </p:nvPicPr>
        <p:blipFill>
          <a:blip r:embed="rId2">
            <a:extLst>
              <a:ext uri="{28A0092B-C50C-407E-A947-70E740481C1C}">
                <a14:useLocalDpi xmlns:a14="http://schemas.microsoft.com/office/drawing/2010/main" val="0"/>
              </a:ext>
            </a:extLst>
          </a:blip>
          <a:srcRect l="14629" t="54247" r="39835" b="6181"/>
          <a:stretch>
            <a:fillRect/>
          </a:stretch>
        </p:blipFill>
        <p:spPr>
          <a:xfrm>
            <a:off x="1259632" y="1556792"/>
            <a:ext cx="7205578" cy="5040560"/>
          </a:xfrm>
        </p:spPr>
      </p:pic>
    </p:spTree>
    <p:extLst>
      <p:ext uri="{BB962C8B-B14F-4D97-AF65-F5344CB8AC3E}">
        <p14:creationId xmlns:p14="http://schemas.microsoft.com/office/powerpoint/2010/main" val="21399531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548680"/>
                <a:ext cx="8229600" cy="5577483"/>
              </a:xfrm>
            </p:spPr>
            <p:txBody>
              <a:bodyPr>
                <a:normAutofit lnSpcReduction="10000"/>
              </a:bodyPr>
              <a:lstStyle/>
              <a:p>
                <a:pPr marL="0" indent="0">
                  <a:buNone/>
                </a:pPr>
                <a:r>
                  <a:rPr lang="en-US" dirty="0"/>
                  <a:t>If our model is </a:t>
                </a:r>
                <a14:m>
                  <m:oMath xmlns:m="http://schemas.openxmlformats.org/officeDocument/2006/math">
                    <m:r>
                      <a:rPr lang="en-US" b="0" i="1" smtClean="0">
                        <a:latin typeface="Cambria Math"/>
                      </a:rPr>
                      <m:t>𝑦</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0</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𝑏</m:t>
                        </m:r>
                      </m:e>
                      <m:sub>
                        <m:r>
                          <a:rPr lang="en-US" b="0" i="1" smtClean="0">
                            <a:latin typeface="Cambria Math"/>
                          </a:rPr>
                          <m:t>1</m:t>
                        </m:r>
                      </m:sub>
                    </m:sSub>
                    <m:r>
                      <a:rPr lang="en-US" b="0" i="1" smtClean="0">
                        <a:latin typeface="Cambria Math"/>
                      </a:rPr>
                      <m:t>𝑋</m:t>
                    </m:r>
                  </m:oMath>
                </a14:m>
                <a:r>
                  <a:rPr lang="en-US" dirty="0"/>
                  <a:t>, then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a:rPr>
                            <m:t>𝑑𝑦</m:t>
                          </m:r>
                        </m:num>
                        <m:den>
                          <m:r>
                            <a:rPr lang="en-US" i="1" smtClean="0">
                              <a:latin typeface="Cambria Math"/>
                            </a:rPr>
                            <m:t>𝑑𝑥</m:t>
                          </m:r>
                        </m:den>
                      </m:f>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1</m:t>
                          </m:r>
                        </m:sub>
                      </m:sSub>
                    </m:oMath>
                  </m:oMathPara>
                </a14:m>
                <a:endParaRPr lang="en-US" dirty="0"/>
              </a:p>
              <a:p>
                <a:pPr marL="0" indent="0">
                  <a:buNone/>
                </a:pPr>
                <a:br>
                  <a:rPr lang="en-US" dirty="0"/>
                </a:br>
                <a:r>
                  <a:rPr lang="en-US" dirty="0"/>
                  <a:t>If our model is </a:t>
                </a:r>
                <a14:m>
                  <m:oMath xmlns:m="http://schemas.openxmlformats.org/officeDocument/2006/math">
                    <m:r>
                      <a:rPr lang="en-US" i="1">
                        <a:latin typeface="Cambria Math"/>
                      </a:rPr>
                      <m:t>𝑦</m:t>
                    </m:r>
                    <m:r>
                      <a:rPr lang="en-US" i="1">
                        <a:latin typeface="Cambria Math"/>
                      </a:rPr>
                      <m:t>=</m:t>
                    </m:r>
                    <m:sSub>
                      <m:sSubPr>
                        <m:ctrlPr>
                          <a:rPr lang="en-US" i="1">
                            <a:latin typeface="Cambria Math" panose="02040503050406030204" pitchFamily="18" charset="0"/>
                          </a:rPr>
                        </m:ctrlPr>
                      </m:sSubPr>
                      <m:e>
                        <m:r>
                          <a:rPr lang="en-US" i="1">
                            <a:latin typeface="Cambria Math"/>
                          </a:rPr>
                          <m:t>𝑏</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rPr>
                          <m:t>𝑏</m:t>
                        </m:r>
                      </m:e>
                      <m:sub>
                        <m:r>
                          <a:rPr lang="en-US" i="1">
                            <a:latin typeface="Cambria Math"/>
                          </a:rPr>
                          <m:t>1</m:t>
                        </m:r>
                      </m:sub>
                    </m:sSub>
                    <m:sSub>
                      <m:sSubPr>
                        <m:ctrlPr>
                          <a:rPr lang="en-US" i="1" smtClean="0">
                            <a:latin typeface="Cambria Math" panose="02040503050406030204" pitchFamily="18" charset="0"/>
                          </a:rPr>
                        </m:ctrlPr>
                      </m:sSubPr>
                      <m:e>
                        <m:r>
                          <a:rPr lang="en-US" b="0" i="1" smtClean="0">
                            <a:latin typeface="Cambria Math"/>
                          </a:rPr>
                          <m:t>𝑋</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2</m:t>
                        </m:r>
                      </m:sub>
                    </m:sSub>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2</m:t>
                        </m:r>
                      </m:sub>
                    </m:sSub>
                  </m:oMath>
                </a14:m>
                <a:r>
                  <a:rPr lang="en-US" dirty="0"/>
                  <a:t>, then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a:ea typeface="Cambria Math"/>
                            </a:rPr>
                            <m:t>𝜕</m:t>
                          </m:r>
                          <m:r>
                            <a:rPr lang="en-US" b="0" i="1" smtClean="0">
                              <a:latin typeface="Cambria Math"/>
                              <a:ea typeface="Cambria Math"/>
                            </a:rPr>
                            <m:t>𝑦</m:t>
                          </m:r>
                        </m:num>
                        <m:den>
                          <m:r>
                            <a:rPr lang="en-US" i="1" smtClean="0">
                              <a:latin typeface="Cambria Math"/>
                              <a:ea typeface="Cambria Math"/>
                            </a:rPr>
                            <m:t>𝜕</m:t>
                          </m:r>
                          <m:sSub>
                            <m:sSubPr>
                              <m:ctrlPr>
                                <a:rPr lang="en-US" i="1" smtClean="0">
                                  <a:latin typeface="Cambria Math" panose="02040503050406030204" pitchFamily="18" charset="0"/>
                                  <a:ea typeface="Cambria Math"/>
                                </a:rPr>
                              </m:ctrlPr>
                            </m:sSubPr>
                            <m:e>
                              <m:r>
                                <a:rPr lang="en-US" b="0" i="1" smtClean="0">
                                  <a:latin typeface="Cambria Math"/>
                                  <a:ea typeface="Cambria Math"/>
                                </a:rPr>
                                <m:t>𝑥</m:t>
                              </m:r>
                            </m:e>
                            <m:sub>
                              <m:r>
                                <a:rPr lang="en-US" b="0" i="1" smtClean="0">
                                  <a:latin typeface="Cambria Math"/>
                                  <a:ea typeface="Cambria Math"/>
                                </a:rPr>
                                <m:t>1</m:t>
                              </m:r>
                            </m:sub>
                          </m:sSub>
                        </m:den>
                      </m:f>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1</m:t>
                          </m:r>
                        </m:sub>
                      </m:sSub>
                    </m:oMath>
                  </m:oMathPara>
                </a14:m>
                <a:endParaRPr lang="en-US" dirty="0"/>
              </a:p>
              <a:p>
                <a:pPr marL="0" indent="0">
                  <a:buNone/>
                </a:pPr>
                <a:r>
                  <a:rPr lang="en-US" dirty="0"/>
                  <a:t>This is the difference between a </a:t>
                </a:r>
                <a:r>
                  <a:rPr lang="en-US" i="1" u="sng" dirty="0"/>
                  <a:t>derivative</a:t>
                </a:r>
                <a:r>
                  <a:rPr lang="en-US" dirty="0"/>
                  <a:t> and a </a:t>
                </a:r>
                <a:r>
                  <a:rPr lang="en-US" i="1" u="sng" dirty="0"/>
                  <a:t>partial derivative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548680"/>
                <a:ext cx="8229600" cy="5577483"/>
              </a:xfrm>
              <a:blipFill rotWithShape="1">
                <a:blip r:embed="rId2"/>
                <a:stretch>
                  <a:fillRect l="-1852" t="-2186" r="-2074" b="-2077"/>
                </a:stretch>
              </a:blipFill>
            </p:spPr>
            <p:txBody>
              <a:bodyPr/>
              <a:lstStyle/>
              <a:p>
                <a:r>
                  <a:rPr lang="en-US">
                    <a:noFill/>
                  </a:rPr>
                  <a:t> </a:t>
                </a:r>
              </a:p>
            </p:txBody>
          </p:sp>
        </mc:Fallback>
      </mc:AlternateContent>
    </p:spTree>
    <p:extLst>
      <p:ext uri="{BB962C8B-B14F-4D97-AF65-F5344CB8AC3E}">
        <p14:creationId xmlns:p14="http://schemas.microsoft.com/office/powerpoint/2010/main" val="65028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pPr marL="0" indent="0">
                  <a:buNone/>
                </a:pPr>
                <a:r>
                  <a:rPr lang="en-US" u="sng" dirty="0"/>
                  <a:t>Exercise #2:</a:t>
                </a:r>
                <a:r>
                  <a:rPr lang="en-US" dirty="0"/>
                  <a:t> Now, let’s run a multiple regression.  You’ll estimate the following regression in Excel:</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𝑃𝑟𝑖𝑐𝑒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𝑙𝑎𝑦𝑒𝑟𝑠</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𝐴𝑚𝑜𝑢𝑛𝑡</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𝑓𝑟𝑜𝑠𝑡𝑖𝑛𝑔</m:t>
                      </m:r>
                      <m:r>
                        <a:rPr lang="en-US" i="1">
                          <a:latin typeface="Cambria Math" panose="02040503050406030204" pitchFamily="18" charset="0"/>
                        </a:rPr>
                        <m:t>)</m:t>
                      </m:r>
                    </m:oMath>
                  </m:oMathPara>
                </a14:m>
                <a:endParaRPr lang="en-US" dirty="0"/>
              </a:p>
              <a:p>
                <a:pPr marL="0" indent="0">
                  <a:buNone/>
                </a:pPr>
                <a:r>
                  <a:rPr lang="en-US" dirty="0"/>
                  <a:t> </a:t>
                </a:r>
              </a:p>
              <a:p>
                <a:pPr marL="0" indent="0">
                  <a:buNone/>
                </a:pPr>
                <a:r>
                  <a:rPr lang="en-US" dirty="0"/>
                  <a:t>(Be sure to highlight both the “Layers” and “Frosting” columns for your “Input X Range” in the Excel regression, and “Price” for your “Input Y Range”)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407" t="-2156" r="-1556"/>
                </a:stretch>
              </a:blipFill>
            </p:spPr>
            <p:txBody>
              <a:bodyPr/>
              <a:lstStyle/>
              <a:p>
                <a:r>
                  <a:rPr lang="en-US">
                    <a:noFill/>
                  </a:rPr>
                  <a:t> </a:t>
                </a:r>
              </a:p>
            </p:txBody>
          </p:sp>
        </mc:Fallback>
      </mc:AlternateContent>
    </p:spTree>
    <p:extLst>
      <p:ext uri="{BB962C8B-B14F-4D97-AF65-F5344CB8AC3E}">
        <p14:creationId xmlns:p14="http://schemas.microsoft.com/office/powerpoint/2010/main" val="397632629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p:sp>
        <p:nvSpPr>
          <p:cNvPr id="3" name="Content Placeholder 2"/>
          <p:cNvSpPr>
            <a:spLocks noGrp="1"/>
          </p:cNvSpPr>
          <p:nvPr>
            <p:ph idx="1"/>
          </p:nvPr>
        </p:nvSpPr>
        <p:spPr/>
        <p:txBody>
          <a:bodyPr/>
          <a:lstStyle/>
          <a:p>
            <a:pPr marL="0" indent="0">
              <a:buNone/>
            </a:pPr>
            <a:r>
              <a:rPr lang="en-US" dirty="0"/>
              <a:t>Here’s what I got: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So what does this tell us?</a:t>
            </a:r>
          </a:p>
          <a:p>
            <a:pPr marL="0" indent="0">
              <a:buNone/>
            </a:pPr>
            <a:endParaRPr lang="en-US" dirty="0"/>
          </a:p>
        </p:txBody>
      </p:sp>
      <p:graphicFrame>
        <p:nvGraphicFramePr>
          <p:cNvPr id="4" name="Table 3"/>
          <p:cNvGraphicFramePr>
            <a:graphicFrameLocks noGrp="1"/>
          </p:cNvGraphicFramePr>
          <p:nvPr>
            <p:extLst/>
          </p:nvPr>
        </p:nvGraphicFramePr>
        <p:xfrm>
          <a:off x="1524000" y="2379821"/>
          <a:ext cx="6096000" cy="148336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177102580"/>
                    </a:ext>
                  </a:extLst>
                </a:gridCol>
                <a:gridCol w="1524000">
                  <a:extLst>
                    <a:ext uri="{9D8B030D-6E8A-4147-A177-3AD203B41FA5}">
                      <a16:colId xmlns:a16="http://schemas.microsoft.com/office/drawing/2014/main" val="1861451232"/>
                    </a:ext>
                  </a:extLst>
                </a:gridCol>
                <a:gridCol w="1524000">
                  <a:extLst>
                    <a:ext uri="{9D8B030D-6E8A-4147-A177-3AD203B41FA5}">
                      <a16:colId xmlns:a16="http://schemas.microsoft.com/office/drawing/2014/main" val="4213138547"/>
                    </a:ext>
                  </a:extLst>
                </a:gridCol>
                <a:gridCol w="1524000">
                  <a:extLst>
                    <a:ext uri="{9D8B030D-6E8A-4147-A177-3AD203B41FA5}">
                      <a16:colId xmlns:a16="http://schemas.microsoft.com/office/drawing/2014/main" val="1553882785"/>
                    </a:ext>
                  </a:extLst>
                </a:gridCol>
              </a:tblGrid>
              <a:tr h="370840">
                <a:tc>
                  <a:txBody>
                    <a:bodyPr/>
                    <a:lstStyle/>
                    <a:p>
                      <a:endParaRPr lang="en-US" dirty="0"/>
                    </a:p>
                  </a:txBody>
                  <a:tcPr/>
                </a:tc>
                <a:tc>
                  <a:txBody>
                    <a:bodyPr/>
                    <a:lstStyle/>
                    <a:p>
                      <a:r>
                        <a:rPr lang="en-US" dirty="0"/>
                        <a:t>Coefficient</a:t>
                      </a:r>
                    </a:p>
                  </a:txBody>
                  <a:tcPr/>
                </a:tc>
                <a:tc>
                  <a:txBody>
                    <a:bodyPr/>
                    <a:lstStyle/>
                    <a:p>
                      <a:r>
                        <a:rPr lang="en-US" dirty="0" err="1"/>
                        <a:t>Std</a:t>
                      </a:r>
                      <a:r>
                        <a:rPr lang="en-US" dirty="0"/>
                        <a:t> Error</a:t>
                      </a:r>
                    </a:p>
                  </a:txBody>
                  <a:tcPr/>
                </a:tc>
                <a:tc>
                  <a:txBody>
                    <a:bodyPr/>
                    <a:lstStyle/>
                    <a:p>
                      <a:r>
                        <a:rPr lang="en-US" dirty="0"/>
                        <a:t>T-stat</a:t>
                      </a:r>
                    </a:p>
                  </a:txBody>
                  <a:tcPr/>
                </a:tc>
                <a:extLst>
                  <a:ext uri="{0D108BD9-81ED-4DB2-BD59-A6C34878D82A}">
                    <a16:rowId xmlns:a16="http://schemas.microsoft.com/office/drawing/2014/main" val="4046264860"/>
                  </a:ext>
                </a:extLst>
              </a:tr>
              <a:tr h="370840">
                <a:tc>
                  <a:txBody>
                    <a:bodyPr/>
                    <a:lstStyle/>
                    <a:p>
                      <a:r>
                        <a:rPr lang="en-US" dirty="0"/>
                        <a:t>Intercept</a:t>
                      </a:r>
                    </a:p>
                  </a:txBody>
                  <a:tcPr/>
                </a:tc>
                <a:tc>
                  <a:txBody>
                    <a:bodyPr/>
                    <a:lstStyle/>
                    <a:p>
                      <a:r>
                        <a:rPr lang="en-US" dirty="0"/>
                        <a:t>3.84</a:t>
                      </a:r>
                    </a:p>
                  </a:txBody>
                  <a:tcPr/>
                </a:tc>
                <a:tc>
                  <a:txBody>
                    <a:bodyPr/>
                    <a:lstStyle/>
                    <a:p>
                      <a:r>
                        <a:rPr lang="en-US" dirty="0"/>
                        <a:t>0.84</a:t>
                      </a:r>
                    </a:p>
                  </a:txBody>
                  <a:tcPr/>
                </a:tc>
                <a:tc>
                  <a:txBody>
                    <a:bodyPr/>
                    <a:lstStyle/>
                    <a:p>
                      <a:r>
                        <a:rPr lang="en-US" dirty="0"/>
                        <a:t>4.5</a:t>
                      </a:r>
                    </a:p>
                  </a:txBody>
                  <a:tcPr/>
                </a:tc>
                <a:extLst>
                  <a:ext uri="{0D108BD9-81ED-4DB2-BD59-A6C34878D82A}">
                    <a16:rowId xmlns:a16="http://schemas.microsoft.com/office/drawing/2014/main" val="271112948"/>
                  </a:ext>
                </a:extLst>
              </a:tr>
              <a:tr h="370840">
                <a:tc>
                  <a:txBody>
                    <a:bodyPr/>
                    <a:lstStyle/>
                    <a:p>
                      <a:r>
                        <a:rPr lang="en-US" dirty="0"/>
                        <a:t>Layers</a:t>
                      </a:r>
                    </a:p>
                  </a:txBody>
                  <a:tcPr/>
                </a:tc>
                <a:tc>
                  <a:txBody>
                    <a:bodyPr/>
                    <a:lstStyle/>
                    <a:p>
                      <a:r>
                        <a:rPr lang="en-US" dirty="0"/>
                        <a:t>0.17</a:t>
                      </a:r>
                    </a:p>
                  </a:txBody>
                  <a:tcPr/>
                </a:tc>
                <a:tc>
                  <a:txBody>
                    <a:bodyPr/>
                    <a:lstStyle/>
                    <a:p>
                      <a:r>
                        <a:rPr lang="en-US" dirty="0"/>
                        <a:t>0.54</a:t>
                      </a:r>
                    </a:p>
                  </a:txBody>
                  <a:tcPr/>
                </a:tc>
                <a:tc>
                  <a:txBody>
                    <a:bodyPr/>
                    <a:lstStyle/>
                    <a:p>
                      <a:r>
                        <a:rPr lang="en-US" dirty="0"/>
                        <a:t>0.3</a:t>
                      </a:r>
                    </a:p>
                  </a:txBody>
                  <a:tcPr/>
                </a:tc>
                <a:extLst>
                  <a:ext uri="{0D108BD9-81ED-4DB2-BD59-A6C34878D82A}">
                    <a16:rowId xmlns:a16="http://schemas.microsoft.com/office/drawing/2014/main" val="3621655481"/>
                  </a:ext>
                </a:extLst>
              </a:tr>
              <a:tr h="370840">
                <a:tc>
                  <a:txBody>
                    <a:bodyPr/>
                    <a:lstStyle/>
                    <a:p>
                      <a:r>
                        <a:rPr lang="en-US" dirty="0"/>
                        <a:t>Frosting</a:t>
                      </a:r>
                    </a:p>
                  </a:txBody>
                  <a:tcPr/>
                </a:tc>
                <a:tc>
                  <a:txBody>
                    <a:bodyPr/>
                    <a:lstStyle/>
                    <a:p>
                      <a:r>
                        <a:rPr lang="en-US" dirty="0"/>
                        <a:t>5.88</a:t>
                      </a:r>
                    </a:p>
                  </a:txBody>
                  <a:tcPr/>
                </a:tc>
                <a:tc>
                  <a:txBody>
                    <a:bodyPr/>
                    <a:lstStyle/>
                    <a:p>
                      <a:r>
                        <a:rPr lang="en-US" dirty="0"/>
                        <a:t>0.54</a:t>
                      </a:r>
                    </a:p>
                  </a:txBody>
                  <a:tcPr/>
                </a:tc>
                <a:tc>
                  <a:txBody>
                    <a:bodyPr/>
                    <a:lstStyle/>
                    <a:p>
                      <a:r>
                        <a:rPr lang="en-US" dirty="0"/>
                        <a:t>10.8</a:t>
                      </a:r>
                    </a:p>
                  </a:txBody>
                  <a:tcPr/>
                </a:tc>
                <a:extLst>
                  <a:ext uri="{0D108BD9-81ED-4DB2-BD59-A6C34878D82A}">
                    <a16:rowId xmlns:a16="http://schemas.microsoft.com/office/drawing/2014/main" val="2857742885"/>
                  </a:ext>
                </a:extLst>
              </a:tr>
            </a:tbl>
          </a:graphicData>
        </a:graphic>
      </p:graphicFrame>
    </p:spTree>
    <p:extLst>
      <p:ext uri="{BB962C8B-B14F-4D97-AF65-F5344CB8AC3E}">
        <p14:creationId xmlns:p14="http://schemas.microsoft.com/office/powerpoint/2010/main" val="39508129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It’s probably easiest to explore the meaning of the results by doing some hypothesis tests.  Again, let’s test the coefficient on layers:</a:t>
                </a:r>
              </a:p>
              <a:p>
                <a:pPr marL="0" indent="0">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=0 </m:t>
                      </m:r>
                    </m:oMath>
                  </m:oMathPara>
                </a14:m>
                <a:endParaRPr lang="en-US"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0</m:t>
                      </m:r>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US">
                    <a:noFill/>
                  </a:rPr>
                  <a:t> </a:t>
                </a:r>
              </a:p>
            </p:txBody>
          </p:sp>
        </mc:Fallback>
      </mc:AlternateContent>
    </p:spTree>
    <p:extLst>
      <p:ext uri="{BB962C8B-B14F-4D97-AF65-F5344CB8AC3E}">
        <p14:creationId xmlns:p14="http://schemas.microsoft.com/office/powerpoint/2010/main" val="80767784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p:sp>
        <p:nvSpPr>
          <p:cNvPr id="3" name="Content Placeholder 2"/>
          <p:cNvSpPr>
            <a:spLocks noGrp="1"/>
          </p:cNvSpPr>
          <p:nvPr>
            <p:ph idx="1"/>
          </p:nvPr>
        </p:nvSpPr>
        <p:spPr/>
        <p:txBody>
          <a:bodyPr/>
          <a:lstStyle/>
          <a:p>
            <a:pPr marL="0" indent="0">
              <a:buNone/>
            </a:pPr>
            <a:r>
              <a:rPr lang="en-US" dirty="0"/>
              <a:t>What’s the result of our hypothesis test?</a:t>
            </a:r>
          </a:p>
          <a:p>
            <a:pPr marL="0" indent="0">
              <a:buNone/>
            </a:pPr>
            <a:endParaRPr lang="en-US" dirty="0"/>
          </a:p>
          <a:p>
            <a:pPr marL="0" indent="0">
              <a:buNone/>
            </a:pPr>
            <a:r>
              <a:rPr lang="en-US" dirty="0"/>
              <a:t>Here, note that the t-statistic is less than two in absolute value, so we </a:t>
            </a:r>
            <a:r>
              <a:rPr lang="en-US" i="1" u="sng" dirty="0"/>
              <a:t>fail</a:t>
            </a:r>
            <a:r>
              <a:rPr lang="en-US" dirty="0"/>
              <a:t> to reject the null at the 5% level of significance.  What does this mean?</a:t>
            </a:r>
          </a:p>
        </p:txBody>
      </p:sp>
    </p:spTree>
    <p:extLst>
      <p:ext uri="{BB962C8B-B14F-4D97-AF65-F5344CB8AC3E}">
        <p14:creationId xmlns:p14="http://schemas.microsoft.com/office/powerpoint/2010/main" val="418555335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p:sp>
        <p:nvSpPr>
          <p:cNvPr id="3" name="Content Placeholder 2"/>
          <p:cNvSpPr>
            <a:spLocks noGrp="1"/>
          </p:cNvSpPr>
          <p:nvPr>
            <p:ph idx="1"/>
          </p:nvPr>
        </p:nvSpPr>
        <p:spPr/>
        <p:txBody>
          <a:bodyPr/>
          <a:lstStyle/>
          <a:p>
            <a:pPr marL="0" indent="0">
              <a:buNone/>
            </a:pPr>
            <a:r>
              <a:rPr lang="en-US" dirty="0"/>
              <a:t>It means that – holding constant the amount of frosting on a cake – we can’t reject the idea that the number of layers on a cake has no effect on its price.</a:t>
            </a:r>
          </a:p>
        </p:txBody>
      </p:sp>
    </p:spTree>
    <p:extLst>
      <p:ext uri="{BB962C8B-B14F-4D97-AF65-F5344CB8AC3E}">
        <p14:creationId xmlns:p14="http://schemas.microsoft.com/office/powerpoint/2010/main" val="24511632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Now, let’s test the coefficient on frosting:</a:t>
                </a:r>
              </a:p>
              <a:p>
                <a:pPr marL="0" indent="0">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2</m:t>
                          </m:r>
                        </m:sub>
                      </m:sSub>
                      <m:r>
                        <a:rPr lang="en-US" i="1">
                          <a:latin typeface="Cambria Math" panose="02040503050406030204" pitchFamily="18" charset="0"/>
                        </a:rPr>
                        <m:t>=0 </m:t>
                      </m:r>
                    </m:oMath>
                  </m:oMathPara>
                </a14:m>
                <a:endParaRPr lang="en-US"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0</m:t>
                      </m:r>
                    </m:oMath>
                  </m:oMathPara>
                </a14:m>
                <a:endParaRPr lang="en-US" dirty="0"/>
              </a:p>
              <a:p>
                <a:pPr marL="0" indent="0">
                  <a:buNone/>
                </a:pPr>
                <a:endParaRPr lang="en-US" dirty="0"/>
              </a:p>
              <a:p>
                <a:pPr marL="0" indent="0">
                  <a:buNone/>
                </a:pPr>
                <a:r>
                  <a:rPr lang="en-US" dirty="0"/>
                  <a:t>What do we see?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US">
                    <a:noFill/>
                  </a:rPr>
                  <a:t> </a:t>
                </a:r>
              </a:p>
            </p:txBody>
          </p:sp>
        </mc:Fallback>
      </mc:AlternateContent>
    </p:spTree>
    <p:extLst>
      <p:ext uri="{BB962C8B-B14F-4D97-AF65-F5344CB8AC3E}">
        <p14:creationId xmlns:p14="http://schemas.microsoft.com/office/powerpoint/2010/main" val="199891166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time</a:t>
            </a:r>
          </a:p>
        </p:txBody>
      </p:sp>
      <p:sp>
        <p:nvSpPr>
          <p:cNvPr id="3" name="Content Placeholder 2"/>
          <p:cNvSpPr>
            <a:spLocks noGrp="1"/>
          </p:cNvSpPr>
          <p:nvPr>
            <p:ph idx="1"/>
          </p:nvPr>
        </p:nvSpPr>
        <p:spPr/>
        <p:txBody>
          <a:bodyPr/>
          <a:lstStyle/>
          <a:p>
            <a:pPr marL="0" indent="0">
              <a:buNone/>
            </a:pPr>
            <a:r>
              <a:rPr lang="en-US" dirty="0"/>
              <a:t>We note that here, the t-statistic is 10.8, so we can reject (at the 5% level of significance) the hypothesis that frosting has no effect on a cake’s price.</a:t>
            </a:r>
          </a:p>
        </p:txBody>
      </p:sp>
    </p:spTree>
    <p:extLst>
      <p:ext uri="{BB962C8B-B14F-4D97-AF65-F5344CB8AC3E}">
        <p14:creationId xmlns:p14="http://schemas.microsoft.com/office/powerpoint/2010/main" val="338630671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last thing…</a:t>
            </a:r>
          </a:p>
        </p:txBody>
      </p:sp>
      <p:sp>
        <p:nvSpPr>
          <p:cNvPr id="3" name="Content Placeholder 2"/>
          <p:cNvSpPr>
            <a:spLocks noGrp="1"/>
          </p:cNvSpPr>
          <p:nvPr>
            <p:ph idx="1"/>
          </p:nvPr>
        </p:nvSpPr>
        <p:spPr/>
        <p:txBody>
          <a:bodyPr/>
          <a:lstStyle/>
          <a:p>
            <a:pPr marL="0" indent="0">
              <a:buNone/>
            </a:pPr>
            <a:r>
              <a:rPr lang="en-US" dirty="0"/>
              <a:t>Intuitively, why did the coefficient on layers change once we included the variable capturing the amount of frosting?  (That is, once we moved from a bivariate to a multivariate regression)</a:t>
            </a:r>
          </a:p>
          <a:p>
            <a:pPr marL="0" indent="0">
              <a:buNone/>
            </a:pPr>
            <a:endParaRPr lang="en-US" dirty="0"/>
          </a:p>
          <a:p>
            <a:pPr marL="0" indent="0">
              <a:buNone/>
            </a:pPr>
            <a:r>
              <a:rPr lang="en-US" dirty="0">
                <a:sym typeface="Wingdings" panose="05000000000000000000" pitchFamily="2" charset="2"/>
              </a:rPr>
              <a:t>Remember what regression does: it tells you when two variables are correlated.  Here, in the bivariate case, prices were correlated with layers.</a:t>
            </a:r>
            <a:endParaRPr lang="en-US" dirty="0"/>
          </a:p>
        </p:txBody>
      </p:sp>
    </p:spTree>
    <p:extLst>
      <p:ext uri="{BB962C8B-B14F-4D97-AF65-F5344CB8AC3E}">
        <p14:creationId xmlns:p14="http://schemas.microsoft.com/office/powerpoint/2010/main" val="226938242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last thing…</a:t>
            </a:r>
          </a:p>
        </p:txBody>
      </p:sp>
      <p:sp>
        <p:nvSpPr>
          <p:cNvPr id="3" name="Content Placeholder 2"/>
          <p:cNvSpPr>
            <a:spLocks noGrp="1"/>
          </p:cNvSpPr>
          <p:nvPr>
            <p:ph idx="1"/>
          </p:nvPr>
        </p:nvSpPr>
        <p:spPr/>
        <p:txBody>
          <a:bodyPr/>
          <a:lstStyle/>
          <a:p>
            <a:pPr marL="0" indent="0">
              <a:buNone/>
            </a:pPr>
            <a:r>
              <a:rPr lang="en-US" dirty="0"/>
              <a:t>But </a:t>
            </a:r>
            <a:r>
              <a:rPr lang="en-US" i="1" u="sng" dirty="0"/>
              <a:t>why</a:t>
            </a:r>
            <a:r>
              <a:rPr lang="en-US" dirty="0"/>
              <a:t> were these two variables correlated?  Because cakes with two layers were more likely to have two cups of frosting than cakes with only one layer.</a:t>
            </a:r>
          </a:p>
          <a:p>
            <a:pPr marL="0" indent="0">
              <a:buNone/>
            </a:pPr>
            <a:endParaRPr lang="en-US" dirty="0"/>
          </a:p>
          <a:p>
            <a:pPr marL="0" indent="0">
              <a:buNone/>
            </a:pPr>
            <a:r>
              <a:rPr lang="en-US" dirty="0"/>
              <a:t>Further, because frosting increases cake prices, the number of cake layers captured this effect when we omitted frosting from the regression.</a:t>
            </a:r>
          </a:p>
        </p:txBody>
      </p:sp>
    </p:spTree>
    <p:extLst>
      <p:ext uri="{BB962C8B-B14F-4D97-AF65-F5344CB8AC3E}">
        <p14:creationId xmlns:p14="http://schemas.microsoft.com/office/powerpoint/2010/main" val="4228339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Altering the example</a:t>
            </a:r>
          </a:p>
        </p:txBody>
      </p:sp>
      <p:sp>
        <p:nvSpPr>
          <p:cNvPr id="3" name="Content Placeholder 2"/>
          <p:cNvSpPr>
            <a:spLocks noGrp="1"/>
          </p:cNvSpPr>
          <p:nvPr>
            <p:ph idx="1"/>
          </p:nvPr>
        </p:nvSpPr>
        <p:spPr/>
        <p:txBody>
          <a:bodyPr/>
          <a:lstStyle/>
          <a:p>
            <a:pPr marL="0" indent="0">
              <a:buNone/>
            </a:pPr>
            <a:r>
              <a:rPr lang="en-US" dirty="0"/>
              <a:t>Okay, but could we conceive of a different case where BOTH frosting AND layers had an effect on prices?</a:t>
            </a:r>
          </a:p>
          <a:p>
            <a:pPr marL="0" indent="0">
              <a:buNone/>
            </a:pPr>
            <a:endParaRPr lang="en-US" dirty="0"/>
          </a:p>
          <a:p>
            <a:pPr marL="0" indent="0">
              <a:buNone/>
            </a:pPr>
            <a:r>
              <a:rPr lang="en-US" dirty="0"/>
              <a:t>Sure – it would look like this:</a:t>
            </a:r>
          </a:p>
        </p:txBody>
      </p:sp>
    </p:spTree>
    <p:extLst>
      <p:ext uri="{BB962C8B-B14F-4D97-AF65-F5344CB8AC3E}">
        <p14:creationId xmlns:p14="http://schemas.microsoft.com/office/powerpoint/2010/main" val="379840388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Altering the example</a:t>
            </a:r>
          </a:p>
        </p:txBody>
      </p:sp>
      <p:sp>
        <p:nvSpPr>
          <p:cNvPr id="3" name="Content Placeholder 2"/>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r>
              <a:rPr lang="en-US" dirty="0"/>
              <a:t>Note that, CONDITIONAL ON HOLDING THE OTHER VARIABLE CONSTANT, both factors increase the price of the cake.  </a:t>
            </a:r>
            <a:endParaRPr lang="en-US" i="1" dirty="0"/>
          </a:p>
        </p:txBody>
      </p:sp>
      <p:graphicFrame>
        <p:nvGraphicFramePr>
          <p:cNvPr id="4" name="Table 3"/>
          <p:cNvGraphicFramePr>
            <a:graphicFrameLocks noGrp="1"/>
          </p:cNvGraphicFramePr>
          <p:nvPr>
            <p:extLst>
              <p:ext uri="{D42A27DB-BD31-4B8C-83A1-F6EECF244321}">
                <p14:modId xmlns:p14="http://schemas.microsoft.com/office/powerpoint/2010/main" val="2767366421"/>
              </p:ext>
            </p:extLst>
          </p:nvPr>
        </p:nvGraphicFramePr>
        <p:xfrm>
          <a:off x="959767" y="1772816"/>
          <a:ext cx="7224465" cy="1112520"/>
        </p:xfrm>
        <a:graphic>
          <a:graphicData uri="http://schemas.openxmlformats.org/drawingml/2006/table">
            <a:tbl>
              <a:tblPr firstRow="1" bandRow="1">
                <a:tableStyleId>{5940675A-B579-460E-94D1-54222C63F5DA}</a:tableStyleId>
              </a:tblPr>
              <a:tblGrid>
                <a:gridCol w="2471937">
                  <a:extLst>
                    <a:ext uri="{9D8B030D-6E8A-4147-A177-3AD203B41FA5}">
                      <a16:colId xmlns:a16="http://schemas.microsoft.com/office/drawing/2014/main" val="3947318819"/>
                    </a:ext>
                  </a:extLst>
                </a:gridCol>
                <a:gridCol w="2448272">
                  <a:extLst>
                    <a:ext uri="{9D8B030D-6E8A-4147-A177-3AD203B41FA5}">
                      <a16:colId xmlns:a16="http://schemas.microsoft.com/office/drawing/2014/main" val="1683247363"/>
                    </a:ext>
                  </a:extLst>
                </a:gridCol>
                <a:gridCol w="2304256">
                  <a:extLst>
                    <a:ext uri="{9D8B030D-6E8A-4147-A177-3AD203B41FA5}">
                      <a16:colId xmlns:a16="http://schemas.microsoft.com/office/drawing/2014/main" val="2614167590"/>
                    </a:ext>
                  </a:extLst>
                </a:gridCol>
              </a:tblGrid>
              <a:tr h="370840">
                <a:tc>
                  <a:txBody>
                    <a:bodyPr/>
                    <a:lstStyle/>
                    <a:p>
                      <a:endParaRPr lang="en-US" dirty="0"/>
                    </a:p>
                  </a:txBody>
                  <a:tcPr/>
                </a:tc>
                <a:tc>
                  <a:txBody>
                    <a:bodyPr/>
                    <a:lstStyle/>
                    <a:p>
                      <a:pPr algn="ctr"/>
                      <a:r>
                        <a:rPr lang="en-US" dirty="0"/>
                        <a:t>One-Layer</a:t>
                      </a:r>
                      <a:r>
                        <a:rPr lang="en-US" baseline="0" dirty="0"/>
                        <a:t> Cake</a:t>
                      </a:r>
                      <a:endParaRPr lang="en-US" dirty="0"/>
                    </a:p>
                  </a:txBody>
                  <a:tcPr/>
                </a:tc>
                <a:tc>
                  <a:txBody>
                    <a:bodyPr/>
                    <a:lstStyle/>
                    <a:p>
                      <a:pPr algn="ctr"/>
                      <a:r>
                        <a:rPr lang="en-US" dirty="0"/>
                        <a:t>Two-Layer Cake</a:t>
                      </a:r>
                    </a:p>
                  </a:txBody>
                  <a:tcPr/>
                </a:tc>
                <a:extLst>
                  <a:ext uri="{0D108BD9-81ED-4DB2-BD59-A6C34878D82A}">
                    <a16:rowId xmlns:a16="http://schemas.microsoft.com/office/drawing/2014/main" val="2969364340"/>
                  </a:ext>
                </a:extLst>
              </a:tr>
              <a:tr h="370840">
                <a:tc>
                  <a:txBody>
                    <a:bodyPr/>
                    <a:lstStyle/>
                    <a:p>
                      <a:r>
                        <a:rPr lang="en-US" dirty="0"/>
                        <a:t>Two</a:t>
                      </a:r>
                      <a:r>
                        <a:rPr lang="en-US" baseline="0" dirty="0"/>
                        <a:t> Cups of</a:t>
                      </a:r>
                      <a:r>
                        <a:rPr lang="en-US" dirty="0"/>
                        <a:t> frosting</a:t>
                      </a:r>
                    </a:p>
                  </a:txBody>
                  <a:tcPr/>
                </a:tc>
                <a:tc>
                  <a:txBody>
                    <a:bodyPr/>
                    <a:lstStyle/>
                    <a:p>
                      <a:pPr algn="ctr"/>
                      <a:r>
                        <a:rPr lang="en-US" baseline="0" dirty="0"/>
                        <a:t>Average price = $16</a:t>
                      </a:r>
                    </a:p>
                  </a:txBody>
                  <a:tcPr/>
                </a:tc>
                <a:tc>
                  <a:txBody>
                    <a:bodyPr/>
                    <a:lstStyle/>
                    <a:p>
                      <a:pPr algn="ctr"/>
                      <a:r>
                        <a:rPr lang="en-US" dirty="0"/>
                        <a:t>Average price = $20</a:t>
                      </a:r>
                      <a:endParaRPr lang="en-US" baseline="0" dirty="0"/>
                    </a:p>
                  </a:txBody>
                  <a:tcPr/>
                </a:tc>
                <a:extLst>
                  <a:ext uri="{0D108BD9-81ED-4DB2-BD59-A6C34878D82A}">
                    <a16:rowId xmlns:a16="http://schemas.microsoft.com/office/drawing/2014/main" val="2022137131"/>
                  </a:ext>
                </a:extLst>
              </a:tr>
              <a:tr h="370840">
                <a:tc>
                  <a:txBody>
                    <a:bodyPr/>
                    <a:lstStyle/>
                    <a:p>
                      <a:r>
                        <a:rPr lang="en-US" dirty="0"/>
                        <a:t>One Cup of frosting</a:t>
                      </a:r>
                    </a:p>
                  </a:txBody>
                  <a:tcPr/>
                </a:tc>
                <a:tc>
                  <a:txBody>
                    <a:bodyPr/>
                    <a:lstStyle/>
                    <a:p>
                      <a:pPr algn="ctr"/>
                      <a:r>
                        <a:rPr lang="en-US" dirty="0"/>
                        <a:t>Average price = $10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Average price = $14</a:t>
                      </a:r>
                      <a:endParaRPr lang="en-US" baseline="0" dirty="0"/>
                    </a:p>
                  </a:txBody>
                  <a:tcPr/>
                </a:tc>
                <a:extLst>
                  <a:ext uri="{0D108BD9-81ED-4DB2-BD59-A6C34878D82A}">
                    <a16:rowId xmlns:a16="http://schemas.microsoft.com/office/drawing/2014/main" val="4152340109"/>
                  </a:ext>
                </a:extLst>
              </a:tr>
            </a:tbl>
          </a:graphicData>
        </a:graphic>
      </p:graphicFrame>
    </p:spTree>
    <p:extLst>
      <p:ext uri="{BB962C8B-B14F-4D97-AF65-F5344CB8AC3E}">
        <p14:creationId xmlns:p14="http://schemas.microsoft.com/office/powerpoint/2010/main" val="69851640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Altering the example</a:t>
            </a:r>
          </a:p>
        </p:txBody>
      </p:sp>
      <p:sp>
        <p:nvSpPr>
          <p:cNvPr id="5" name="Content Placeholder 4"/>
          <p:cNvSpPr>
            <a:spLocks noGrp="1"/>
          </p:cNvSpPr>
          <p:nvPr>
            <p:ph idx="1"/>
          </p:nvPr>
        </p:nvSpPr>
        <p:spPr/>
        <p:txBody>
          <a:bodyPr/>
          <a:lstStyle/>
          <a:p>
            <a:pPr marL="0" indent="0">
              <a:buNone/>
            </a:pPr>
            <a:r>
              <a:rPr lang="en-US" dirty="0"/>
              <a:t>Note that:</a:t>
            </a:r>
          </a:p>
          <a:p>
            <a:pPr marL="514350" indent="-514350">
              <a:buAutoNum type="arabicParenBoth"/>
            </a:pPr>
            <a:r>
              <a:rPr lang="en-US" dirty="0"/>
              <a:t>An extra cup of frosting increases the price by $6 </a:t>
            </a:r>
            <a:r>
              <a:rPr lang="en-US" i="1" dirty="0"/>
              <a:t>while holding constant the number of layers</a:t>
            </a:r>
            <a:r>
              <a:rPr lang="en-US" dirty="0"/>
              <a:t>.  </a:t>
            </a:r>
          </a:p>
          <a:p>
            <a:pPr marL="514350" indent="-514350">
              <a:buAutoNum type="arabicParenBoth"/>
            </a:pPr>
            <a:r>
              <a:rPr lang="en-US" dirty="0"/>
              <a:t>And an extra layer of cake increases the price by $4 </a:t>
            </a:r>
            <a:r>
              <a:rPr lang="en-US" i="1" dirty="0"/>
              <a:t>while holding constant the amount of frosting</a:t>
            </a:r>
            <a:r>
              <a:rPr lang="en-US" dirty="0"/>
              <a:t>.</a:t>
            </a:r>
          </a:p>
        </p:txBody>
      </p:sp>
    </p:spTree>
    <p:extLst>
      <p:ext uri="{BB962C8B-B14F-4D97-AF65-F5344CB8AC3E}">
        <p14:creationId xmlns:p14="http://schemas.microsoft.com/office/powerpoint/2010/main" val="259906895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Altering the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And suppose we obtained estimates from the following sample regression we ran from the version of the data discussed on the prior two slides: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𝑃𝑟𝑖𝑐𝑒</m:t>
                      </m:r>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𝑙𝑎𝑦𝑒𝑟𝑠</m:t>
                      </m:r>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𝐴𝑚𝑜𝑢𝑛𝑡</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𝑓𝑟𝑜𝑠𝑡𝑖𝑛𝑔</m:t>
                      </m:r>
                      <m:r>
                        <a:rPr lang="en-US" i="1">
                          <a:latin typeface="Cambria Math" panose="02040503050406030204" pitchFamily="18" charset="0"/>
                        </a:rPr>
                        <m:t>)</m:t>
                      </m:r>
                    </m:oMath>
                  </m:oMathPara>
                </a14:m>
                <a:endParaRPr lang="en-US" dirty="0"/>
              </a:p>
              <a:p>
                <a:pPr marL="0" indent="0">
                  <a:buNone/>
                </a:pPr>
                <a:r>
                  <a:rPr lang="en-US" dirty="0"/>
                  <a:t>What would the values of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2</m:t>
                        </m:r>
                      </m:sub>
                    </m:sSub>
                  </m:oMath>
                </a14:m>
                <a:r>
                  <a:rPr lang="en-US" dirty="0"/>
                  <a:t> be?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r="-1926"/>
                </a:stretch>
              </a:blipFill>
            </p:spPr>
            <p:txBody>
              <a:bodyPr/>
              <a:lstStyle/>
              <a:p>
                <a:r>
                  <a:rPr lang="en-US">
                    <a:noFill/>
                  </a:rPr>
                  <a:t> </a:t>
                </a:r>
              </a:p>
            </p:txBody>
          </p:sp>
        </mc:Fallback>
      </mc:AlternateContent>
    </p:spTree>
    <p:extLst>
      <p:ext uri="{BB962C8B-B14F-4D97-AF65-F5344CB8AC3E}">
        <p14:creationId xmlns:p14="http://schemas.microsoft.com/office/powerpoint/2010/main" val="326739073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Altering the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They would represent the conditional effects we discussed.</a:t>
                </a:r>
              </a:p>
              <a:p>
                <a:pPr marL="0" indent="0">
                  <a:buNone/>
                </a:pPr>
                <a:endParaRPr lang="en-US" dirty="0"/>
              </a:p>
              <a:p>
                <a:pPr marL="0" indent="0">
                  <a:buNone/>
                </a:pPr>
                <a:r>
                  <a:rPr lang="en-US" dirty="0"/>
                  <a:t>Our estimate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1</m:t>
                        </m:r>
                      </m:sub>
                    </m:sSub>
                  </m:oMath>
                </a14:m>
                <a:r>
                  <a:rPr lang="en-US" dirty="0"/>
                  <a:t> would be: </a:t>
                </a:r>
              </a:p>
              <a:p>
                <a:pPr marL="0" indent="0">
                  <a:buNone/>
                </a:pPr>
                <a:endParaRPr lang="en-US" dirty="0"/>
              </a:p>
              <a:p>
                <a:pPr marL="0" indent="0">
                  <a:buNone/>
                </a:pPr>
                <a:r>
                  <a:rPr lang="en-US" dirty="0"/>
                  <a:t>Our estimate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2</m:t>
                        </m:r>
                      </m:sub>
                    </m:sSub>
                  </m:oMath>
                </a14:m>
                <a:r>
                  <a:rPr lang="en-US" dirty="0"/>
                  <a:t> would be: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r="-1926"/>
                </a:stretch>
              </a:blipFill>
            </p:spPr>
            <p:txBody>
              <a:bodyPr/>
              <a:lstStyle/>
              <a:p>
                <a:r>
                  <a:rPr lang="en-CA">
                    <a:noFill/>
                  </a:rPr>
                  <a:t> </a:t>
                </a:r>
              </a:p>
            </p:txBody>
          </p:sp>
        </mc:Fallback>
      </mc:AlternateContent>
      <p:sp>
        <p:nvSpPr>
          <p:cNvPr id="4" name="TextBox 3">
            <a:extLst>
              <a:ext uri="{FF2B5EF4-FFF2-40B4-BE49-F238E27FC236}">
                <a16:creationId xmlns:a16="http://schemas.microsoft.com/office/drawing/2014/main" id="{E876F8D8-69E4-424F-B148-0B87E957609F}"/>
              </a:ext>
            </a:extLst>
          </p:cNvPr>
          <p:cNvSpPr txBox="1"/>
          <p:nvPr/>
        </p:nvSpPr>
        <p:spPr>
          <a:xfrm>
            <a:off x="5292080" y="3284984"/>
            <a:ext cx="412292" cy="584775"/>
          </a:xfrm>
          <a:prstGeom prst="rect">
            <a:avLst/>
          </a:prstGeom>
          <a:noFill/>
        </p:spPr>
        <p:txBody>
          <a:bodyPr wrap="none" rtlCol="0">
            <a:spAutoFit/>
          </a:bodyPr>
          <a:lstStyle/>
          <a:p>
            <a:r>
              <a:rPr lang="en-US" sz="3200" dirty="0"/>
              <a:t>4</a:t>
            </a:r>
          </a:p>
        </p:txBody>
      </p:sp>
      <p:sp>
        <p:nvSpPr>
          <p:cNvPr id="5" name="TextBox 4">
            <a:extLst>
              <a:ext uri="{FF2B5EF4-FFF2-40B4-BE49-F238E27FC236}">
                <a16:creationId xmlns:a16="http://schemas.microsoft.com/office/drawing/2014/main" id="{FF0E6724-DCB1-45DE-B8FB-C5D0A95A078B}"/>
              </a:ext>
            </a:extLst>
          </p:cNvPr>
          <p:cNvSpPr txBox="1"/>
          <p:nvPr/>
        </p:nvSpPr>
        <p:spPr>
          <a:xfrm>
            <a:off x="5314109" y="4509120"/>
            <a:ext cx="412292" cy="584775"/>
          </a:xfrm>
          <a:prstGeom prst="rect">
            <a:avLst/>
          </a:prstGeom>
          <a:noFill/>
        </p:spPr>
        <p:txBody>
          <a:bodyPr wrap="none" rtlCol="0">
            <a:spAutoFit/>
          </a:bodyPr>
          <a:lstStyle/>
          <a:p>
            <a:r>
              <a:rPr lang="en-US" sz="3200" dirty="0"/>
              <a:t>6</a:t>
            </a:r>
          </a:p>
        </p:txBody>
      </p:sp>
    </p:spTree>
    <p:extLst>
      <p:ext uri="{BB962C8B-B14F-4D97-AF65-F5344CB8AC3E}">
        <p14:creationId xmlns:p14="http://schemas.microsoft.com/office/powerpoint/2010/main" val="1589270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larger point</a:t>
            </a:r>
          </a:p>
        </p:txBody>
      </p:sp>
      <p:sp>
        <p:nvSpPr>
          <p:cNvPr id="3" name="Content Placeholder 2"/>
          <p:cNvSpPr>
            <a:spLocks noGrp="1"/>
          </p:cNvSpPr>
          <p:nvPr>
            <p:ph idx="1"/>
          </p:nvPr>
        </p:nvSpPr>
        <p:spPr/>
        <p:txBody>
          <a:bodyPr/>
          <a:lstStyle/>
          <a:p>
            <a:pPr>
              <a:buNone/>
            </a:pPr>
            <a:r>
              <a:rPr lang="en-US" dirty="0"/>
              <a:t>This is why we often say that correlation does not imply causation: it’s because we worry about regressions </a:t>
            </a:r>
            <a:r>
              <a:rPr lang="en-US" b="1" u="sng" dirty="0"/>
              <a:t>omitting variables</a:t>
            </a:r>
            <a:r>
              <a:rPr lang="en-US" dirty="0"/>
              <a:t>.  Sometimes we </a:t>
            </a:r>
            <a:r>
              <a:rPr lang="en-US" b="1" u="sng" dirty="0"/>
              <a:t>omit variables</a:t>
            </a:r>
            <a:r>
              <a:rPr lang="en-US" dirty="0"/>
              <a:t> by accident, and sometimes we </a:t>
            </a:r>
            <a:r>
              <a:rPr lang="en-US" b="1" u="sng" dirty="0"/>
              <a:t>omit variables</a:t>
            </a:r>
            <a:r>
              <a:rPr lang="en-US" dirty="0"/>
              <a:t> because we can’t get information on relevant issues.  And if that’s the case, then we worry about getting the coefficient wrong (as we did in this case).</a:t>
            </a:r>
          </a:p>
        </p:txBody>
      </p:sp>
    </p:spTree>
    <p:extLst>
      <p:ext uri="{BB962C8B-B14F-4D97-AF65-F5344CB8AC3E}">
        <p14:creationId xmlns:p14="http://schemas.microsoft.com/office/powerpoint/2010/main" val="312514768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larger point</a:t>
            </a:r>
          </a:p>
        </p:txBody>
      </p:sp>
      <p:sp>
        <p:nvSpPr>
          <p:cNvPr id="3" name="Content Placeholder 2"/>
          <p:cNvSpPr>
            <a:spLocks noGrp="1"/>
          </p:cNvSpPr>
          <p:nvPr>
            <p:ph idx="1"/>
          </p:nvPr>
        </p:nvSpPr>
        <p:spPr/>
        <p:txBody>
          <a:bodyPr/>
          <a:lstStyle/>
          <a:p>
            <a:pPr marL="0" indent="0">
              <a:buNone/>
            </a:pPr>
            <a:r>
              <a:rPr lang="en-US" dirty="0"/>
              <a:t>And when we get an inappropriate estimate for a coefficient, we say that it’s “</a:t>
            </a:r>
            <a:r>
              <a:rPr lang="en-US" b="1" dirty="0"/>
              <a:t>biased</a:t>
            </a:r>
            <a:r>
              <a:rPr lang="en-US" dirty="0"/>
              <a:t>”.  And when this bias occurs because we’ve </a:t>
            </a:r>
            <a:r>
              <a:rPr lang="en-US" b="1" dirty="0"/>
              <a:t>omitted</a:t>
            </a:r>
            <a:r>
              <a:rPr lang="en-US" dirty="0"/>
              <a:t> a </a:t>
            </a:r>
            <a:r>
              <a:rPr lang="en-US" b="1" dirty="0"/>
              <a:t>variable</a:t>
            </a:r>
            <a:r>
              <a:rPr lang="en-US" dirty="0"/>
              <a:t>, we have a particular name for it:</a:t>
            </a:r>
          </a:p>
          <a:p>
            <a:pPr marL="0" indent="0">
              <a:buNone/>
            </a:pPr>
            <a:endParaRPr lang="en-US" dirty="0"/>
          </a:p>
          <a:p>
            <a:pPr marL="0" indent="0" algn="ctr">
              <a:buNone/>
            </a:pPr>
            <a:r>
              <a:rPr lang="en-US" b="1" dirty="0"/>
              <a:t>Omitted Variable Bias</a:t>
            </a:r>
            <a:r>
              <a:rPr lang="en-US" dirty="0"/>
              <a:t> (or </a:t>
            </a:r>
            <a:r>
              <a:rPr lang="en-US" b="1" dirty="0"/>
              <a:t>OVB</a:t>
            </a:r>
            <a:r>
              <a:rPr lang="en-US" dirty="0"/>
              <a:t>, for short)</a:t>
            </a:r>
          </a:p>
          <a:p>
            <a:pPr marL="0" indent="0" algn="ctr">
              <a:buNone/>
            </a:pPr>
            <a:endParaRPr lang="en-US" dirty="0"/>
          </a:p>
          <a:p>
            <a:pPr marL="0" indent="0">
              <a:buNone/>
            </a:pPr>
            <a:endParaRPr lang="en-US" dirty="0"/>
          </a:p>
        </p:txBody>
      </p:sp>
    </p:spTree>
    <p:extLst>
      <p:ext uri="{BB962C8B-B14F-4D97-AF65-F5344CB8AC3E}">
        <p14:creationId xmlns:p14="http://schemas.microsoft.com/office/powerpoint/2010/main" val="194484767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larger point</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OVB is the bane of all statistical work, and we want to be critically aware of this as we move through the course.  </a:t>
            </a:r>
          </a:p>
          <a:p>
            <a:pPr marL="0" indent="0">
              <a:buNone/>
            </a:pPr>
            <a:endParaRPr lang="en-US" dirty="0"/>
          </a:p>
          <a:p>
            <a:pPr marL="0" indent="0">
              <a:buNone/>
            </a:pPr>
            <a:r>
              <a:rPr lang="en-US" dirty="0"/>
              <a:t>Why?</a:t>
            </a:r>
          </a:p>
          <a:p>
            <a:pPr marL="0" indent="0">
              <a:buNone/>
            </a:pPr>
            <a:endParaRPr lang="en-US" dirty="0"/>
          </a:p>
          <a:p>
            <a:pPr marL="0" indent="0">
              <a:buNone/>
            </a:pPr>
            <a:r>
              <a:rPr lang="en-US" dirty="0"/>
              <a:t>Because I want you to become critical consumers of statistics provided to you, and OVB should always be foremost in your mind.</a:t>
            </a:r>
          </a:p>
        </p:txBody>
      </p:sp>
    </p:spTree>
    <p:extLst>
      <p:ext uri="{BB962C8B-B14F-4D97-AF65-F5344CB8AC3E}">
        <p14:creationId xmlns:p14="http://schemas.microsoft.com/office/powerpoint/2010/main" val="423361701"/>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8E3659896C5164B85D6EEE8CA74DFEA" ma:contentTypeVersion="12" ma:contentTypeDescription="Create a new document." ma:contentTypeScope="" ma:versionID="7100adfe24929030881b5c50abd530a6">
  <xsd:schema xmlns:xsd="http://www.w3.org/2001/XMLSchema" xmlns:xs="http://www.w3.org/2001/XMLSchema" xmlns:p="http://schemas.microsoft.com/office/2006/metadata/properties" xmlns:ns3="8dcc6482-83b0-4165-b123-94b7189eae53" targetNamespace="http://schemas.microsoft.com/office/2006/metadata/properties" ma:root="true" ma:fieldsID="e4789314f4d7952fb0ab8f00b1da4b0d" ns3:_="">
    <xsd:import namespace="8dcc6482-83b0-4165-b123-94b7189eae53"/>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LengthInSeconds" minOccurs="0"/>
                <xsd:element ref="ns3:MediaServiceGenerationTime" minOccurs="0"/>
                <xsd:element ref="ns3:MediaServiceEventHashCode"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cc6482-83b0-4165-b123-94b7189eae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description=""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Location" ma:index="19" nillable="true" ma:displayName="Location" ma:descrip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1C0A57-35A9-4153-9794-762CA465E6A8}">
  <ds:schemaRefs>
    <ds:schemaRef ds:uri="http://schemas.microsoft.com/sharepoint/v3/contenttype/forms"/>
  </ds:schemaRefs>
</ds:datastoreItem>
</file>

<file path=customXml/itemProps2.xml><?xml version="1.0" encoding="utf-8"?>
<ds:datastoreItem xmlns:ds="http://schemas.openxmlformats.org/officeDocument/2006/customXml" ds:itemID="{A87968B5-C6C4-41C1-ABE1-9A523B5DE3CC}">
  <ds:schemaRefs>
    <ds:schemaRef ds:uri="http://purl.org/dc/elements/1.1/"/>
    <ds:schemaRef ds:uri="8dcc6482-83b0-4165-b123-94b7189eae53"/>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FA1CDC2C-6C79-49C5-9CA9-44324916CB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cc6482-83b0-4165-b123-94b7189eae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6395</TotalTime>
  <Words>4595</Words>
  <Application>Microsoft Office PowerPoint</Application>
  <PresentationFormat>On-screen Show (4:3)</PresentationFormat>
  <Paragraphs>681</Paragraphs>
  <Slides>108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108</vt:i4>
      </vt:variant>
    </vt:vector>
  </HeadingPairs>
  <TitlesOfParts>
    <vt:vector size="115" baseType="lpstr">
      <vt:lpstr>Arial</vt:lpstr>
      <vt:lpstr>Calibri</vt:lpstr>
      <vt:lpstr>Cambria Math</vt:lpstr>
      <vt:lpstr>Symbol</vt:lpstr>
      <vt:lpstr>Times New Roman</vt:lpstr>
      <vt:lpstr>Wingdings</vt:lpstr>
      <vt:lpstr>Default Design</vt:lpstr>
      <vt:lpstr>PowerPoint Presentation</vt:lpstr>
      <vt:lpstr>Recall our central mission in this course</vt:lpstr>
      <vt:lpstr>Reinforcing Good, Penalizing Bad</vt:lpstr>
      <vt:lpstr>Identifying the Relevant Factors</vt:lpstr>
      <vt:lpstr>And the Safety Chute</vt:lpstr>
      <vt:lpstr>PowerPoint Presentation</vt:lpstr>
      <vt:lpstr>The Importance and Usefulness of Averages </vt:lpstr>
      <vt:lpstr>Averages</vt:lpstr>
      <vt:lpstr>(1) Simple Average</vt:lpstr>
      <vt:lpstr>(2) Regression Coefficient</vt:lpstr>
      <vt:lpstr>(2) Regression Coefficient</vt:lpstr>
      <vt:lpstr>(3) Conditional Mean</vt:lpstr>
      <vt:lpstr>Key notions for Averages</vt:lpstr>
      <vt:lpstr>PowerPoint Presentation</vt:lpstr>
      <vt:lpstr>Purpose of using statistics</vt:lpstr>
      <vt:lpstr>Purpose of using statistics</vt:lpstr>
      <vt:lpstr>Central Limit Theorem</vt:lpstr>
      <vt:lpstr>Central Limit Theorem</vt:lpstr>
      <vt:lpstr>Central Limit Theorem</vt:lpstr>
      <vt:lpstr>Central Limit Theorem</vt:lpstr>
      <vt:lpstr>Central Limit Theorem</vt:lpstr>
      <vt:lpstr>Results</vt:lpstr>
      <vt:lpstr>Central Limit Theorem</vt:lpstr>
      <vt:lpstr>Central Limit Theorem</vt:lpstr>
      <vt:lpstr>Central Limit Theorem</vt:lpstr>
      <vt:lpstr>Central Limit Theorem</vt:lpstr>
      <vt:lpstr>Central Limit Theorem</vt:lpstr>
      <vt:lpstr>KEY OBSERVATION</vt:lpstr>
      <vt:lpstr>KEY OBSERVATION</vt:lpstr>
      <vt:lpstr>Central Limit Theorem</vt:lpstr>
      <vt:lpstr>Central Limit Theorem</vt:lpstr>
      <vt:lpstr>Central Limit Theorem</vt:lpstr>
      <vt:lpstr>Central Limit Theorem</vt:lpstr>
      <vt:lpstr>Central Limit Theorem</vt:lpstr>
      <vt:lpstr>Central Limit Theorem</vt:lpstr>
      <vt:lpstr>Applications</vt:lpstr>
      <vt:lpstr>Applications</vt:lpstr>
      <vt:lpstr>Applications</vt:lpstr>
      <vt:lpstr>Case #1</vt:lpstr>
      <vt:lpstr>Case #1</vt:lpstr>
      <vt:lpstr>Case #1</vt:lpstr>
      <vt:lpstr>Case #1</vt:lpstr>
      <vt:lpstr>Case #1</vt:lpstr>
      <vt:lpstr>Case #1</vt:lpstr>
      <vt:lpstr>Case #1</vt:lpstr>
      <vt:lpstr>Case #1</vt:lpstr>
      <vt:lpstr>Case #1</vt:lpstr>
      <vt:lpstr>Case #1</vt:lpstr>
      <vt:lpstr>Case #1</vt:lpstr>
      <vt:lpstr>Case #1</vt:lpstr>
      <vt:lpstr>Case #2</vt:lpstr>
      <vt:lpstr>Case #2</vt:lpstr>
      <vt:lpstr>Case #2</vt:lpstr>
      <vt:lpstr>Case #2</vt:lpstr>
      <vt:lpstr>Case #2</vt:lpstr>
      <vt:lpstr>Case #2</vt:lpstr>
      <vt:lpstr>Case #2</vt:lpstr>
      <vt:lpstr>Case #2</vt:lpstr>
      <vt:lpstr>Case #2</vt:lpstr>
      <vt:lpstr>Case #2</vt:lpstr>
      <vt:lpstr>Case #2</vt:lpstr>
      <vt:lpstr>Case #2</vt:lpstr>
      <vt:lpstr>Case #2</vt:lpstr>
      <vt:lpstr>Case #2</vt:lpstr>
      <vt:lpstr>Regression so far…</vt:lpstr>
      <vt:lpstr>Regression so far…</vt:lpstr>
      <vt:lpstr>…on to Multiple Regression (with some intuitive firepower)</vt:lpstr>
      <vt:lpstr>Some intuitive firepower</vt:lpstr>
      <vt:lpstr>Some intuitive firepower</vt:lpstr>
      <vt:lpstr>Some intuitive firepower</vt:lpstr>
      <vt:lpstr>Some intuitive firepower</vt:lpstr>
      <vt:lpstr>Some intuitive firepower</vt:lpstr>
      <vt:lpstr>Some intuitive firepower</vt:lpstr>
      <vt:lpstr>Data time</vt:lpstr>
      <vt:lpstr>Data time</vt:lpstr>
      <vt:lpstr>Data time</vt:lpstr>
      <vt:lpstr>Data time</vt:lpstr>
      <vt:lpstr>Data time</vt:lpstr>
      <vt:lpstr>Data time</vt:lpstr>
      <vt:lpstr>Data time</vt:lpstr>
      <vt:lpstr>Data time</vt:lpstr>
      <vt:lpstr>Data time</vt:lpstr>
      <vt:lpstr>Data time</vt:lpstr>
      <vt:lpstr>Intuitive problem</vt:lpstr>
      <vt:lpstr>Reminder</vt:lpstr>
      <vt:lpstr>PowerPoint Presentation</vt:lpstr>
      <vt:lpstr>PowerPoint Presentation</vt:lpstr>
      <vt:lpstr>PowerPoint Presentation</vt:lpstr>
      <vt:lpstr>PowerPoint Presentation</vt:lpstr>
      <vt:lpstr>There’s also another way to think about this, but it’s technical, so…</vt:lpstr>
      <vt:lpstr>PowerPoint Presentation</vt:lpstr>
      <vt:lpstr>Data time</vt:lpstr>
      <vt:lpstr>Data time</vt:lpstr>
      <vt:lpstr>Data time</vt:lpstr>
      <vt:lpstr>Data time</vt:lpstr>
      <vt:lpstr>Data time</vt:lpstr>
      <vt:lpstr>Data time</vt:lpstr>
      <vt:lpstr>Data time</vt:lpstr>
      <vt:lpstr>One last thing…</vt:lpstr>
      <vt:lpstr>One last thing…</vt:lpstr>
      <vt:lpstr>Altering the example</vt:lpstr>
      <vt:lpstr>Altering the example</vt:lpstr>
      <vt:lpstr>Altering the example</vt:lpstr>
      <vt:lpstr>Altering the example</vt:lpstr>
      <vt:lpstr>Altering the example</vt:lpstr>
      <vt:lpstr>The larger point</vt:lpstr>
      <vt:lpstr>The larger point</vt:lpstr>
      <vt:lpstr>The larger point</vt:lpstr>
    </vt:vector>
  </TitlesOfParts>
  <Company>Joseph L. 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Walid Hejazi</dc:creator>
  <cp:lastModifiedBy>Harry Krashinsky</cp:lastModifiedBy>
  <cp:revision>436</cp:revision>
  <dcterms:created xsi:type="dcterms:W3CDTF">2005-01-18T13:30:16Z</dcterms:created>
  <dcterms:modified xsi:type="dcterms:W3CDTF">2025-07-29T16:31:48Z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0x010100E8E3659896C5164B85D6EEE8CA74DFEA</vt:lpwstr>
  </property>
</Properties>
</file>