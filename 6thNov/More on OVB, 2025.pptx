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  <p:sldId id="268" r:id="rId9"/>
    <p:sldId id="269" r:id="rId10"/>
    <p:sldId id="270" r:id="rId11"/>
    <p:sldId id="260" r:id="rId12"/>
    <p:sldId id="261" r:id="rId13"/>
    <p:sldId id="262" r:id="rId14"/>
    <p:sldId id="263" r:id="rId15"/>
    <p:sldId id="264" r:id="rId16"/>
    <p:sldId id="271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50" d="100"/>
          <a:sy n="50" d="100"/>
        </p:scale>
        <p:origin x="7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58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2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5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2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0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923C6-82D8-4EC1-8733-A2158DFE1B67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A8868-EDAA-42D9-A6ED-04D1A01C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4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More About OVB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6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Our Basic In-Class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Our cases with cakes looked like this: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When we estimated a naïve, bivariate regression, we got a very different result than when we estimated a multiple regression.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50746"/>
              </p:ext>
            </p:extLst>
          </p:nvPr>
        </p:nvGraphicFramePr>
        <p:xfrm>
          <a:off x="1215025" y="2460783"/>
          <a:ext cx="9381994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9945">
                  <a:extLst>
                    <a:ext uri="{9D8B030D-6E8A-4147-A177-3AD203B41FA5}">
                      <a16:colId xmlns:a16="http://schemas.microsoft.com/office/drawing/2014/main" val="3705452637"/>
                    </a:ext>
                  </a:extLst>
                </a:gridCol>
                <a:gridCol w="3691780">
                  <a:extLst>
                    <a:ext uri="{9D8B030D-6E8A-4147-A177-3AD203B41FA5}">
                      <a16:colId xmlns:a16="http://schemas.microsoft.com/office/drawing/2014/main" val="3744239752"/>
                    </a:ext>
                  </a:extLst>
                </a:gridCol>
                <a:gridCol w="3220269">
                  <a:extLst>
                    <a:ext uri="{9D8B030D-6E8A-4147-A177-3AD203B41FA5}">
                      <a16:colId xmlns:a16="http://schemas.microsoft.com/office/drawing/2014/main" val="84140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One-Layer</a:t>
                      </a:r>
                      <a:r>
                        <a:rPr lang="en-US" sz="2000" baseline="0" dirty="0"/>
                        <a:t> Cake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Two-Layer Cake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895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Two</a:t>
                      </a:r>
                      <a:r>
                        <a:rPr lang="en-US" sz="2000" baseline="0" dirty="0"/>
                        <a:t> Cups of</a:t>
                      </a:r>
                      <a:r>
                        <a:rPr lang="en-US" sz="2000" dirty="0"/>
                        <a:t> frosting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/>
                        <a:t>$16, $16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/>
                        <a:t>$16, $16, $16, $16, $16, $16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6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One Cup of frosting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$10, $10,</a:t>
                      </a:r>
                      <a:r>
                        <a:rPr lang="en-US" sz="2000" baseline="0" dirty="0"/>
                        <a:t> $10, $10, $10, $10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$10, $10</a:t>
                      </a:r>
                      <a:endParaRPr lang="en-US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361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03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Basic In-Class Example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Bivariate regression:</a:t>
            </a:r>
          </a:p>
          <a:p>
            <a:pPr marL="0" indent="0" algn="ctr">
              <a:buNone/>
            </a:pPr>
            <a:r>
              <a:rPr lang="en-CA" sz="3200" dirty="0"/>
              <a:t>(Cake Price) = 8.5 + 3(Number of Layers)</a:t>
            </a:r>
          </a:p>
          <a:p>
            <a:pPr marL="0" indent="0" algn="ctr">
              <a:buNone/>
            </a:pPr>
            <a:endParaRPr lang="en-CA" sz="3200" dirty="0"/>
          </a:p>
          <a:p>
            <a:pPr marL="0" indent="0">
              <a:buNone/>
            </a:pPr>
            <a:r>
              <a:rPr lang="en-CA" sz="3200" dirty="0"/>
              <a:t>Multiple regression:</a:t>
            </a:r>
          </a:p>
          <a:p>
            <a:pPr marL="0" indent="0" algn="ctr">
              <a:buNone/>
            </a:pPr>
            <a:r>
              <a:rPr lang="en-CA" sz="3200" dirty="0"/>
              <a:t>(Cake Price) = 4 + 0(Number of Layers) + 6(Cups of Frosting)</a:t>
            </a:r>
          </a:p>
          <a:p>
            <a:pPr marL="0" indent="0" algn="ctr">
              <a:buNone/>
            </a:pPr>
            <a:endParaRPr lang="en-CA" sz="3200" dirty="0"/>
          </a:p>
          <a:p>
            <a:pPr marL="0" indent="0">
              <a:buNone/>
            </a:pPr>
            <a:r>
              <a:rPr lang="en-CA" sz="3200" dirty="0"/>
              <a:t>Why did the coefficient on “Number of Layers” change?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792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Basic In-Class Example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en-CA" sz="3200" dirty="0"/>
              <a:t>Customers really value frosting, but don’t care about layers.</a:t>
            </a:r>
          </a:p>
          <a:p>
            <a:pPr marL="514350" indent="-514350">
              <a:buAutoNum type="arabicParenBoth"/>
            </a:pPr>
            <a:r>
              <a:rPr lang="en-CA" sz="3200" dirty="0"/>
              <a:t>Cakes with more layers also happened to have more frosting on them – these two variables were </a:t>
            </a:r>
            <a:r>
              <a:rPr lang="en-CA" sz="3200" i="1" u="sng" dirty="0"/>
              <a:t>correlated</a:t>
            </a:r>
            <a:r>
              <a:rPr lang="en-CA" sz="3200" dirty="0"/>
              <a:t>.</a:t>
            </a:r>
          </a:p>
          <a:p>
            <a:pPr marL="514350" indent="-514350">
              <a:buAutoNum type="arabicParenBoth"/>
            </a:pPr>
            <a:r>
              <a:rPr lang="en-CA" sz="3200" dirty="0"/>
              <a:t>When we omitted Frosting, Excel told us that the price went up when Layers went up.  But this was only due to (2): when layers increased, so did frosting (the important – and missing – factor) AND frosting had an effect on the price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2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7294-DF42-4358-84B8-F9214D83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Basic In-Class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also think about this in terms of math (but it’s not too bad).  Let’s use the following notation to describe our “naïve” regression: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𝐿𝑎𝑦𝑒𝑟𝑠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let’s use the notation for the multivariate regression: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𝐿𝑎𝑦𝑒𝑟𝑠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𝐶𝑢𝑝𝑠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𝐹𝑟𝑜𝑠𝑡𝑖𝑛𝑔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06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7294-DF42-4358-84B8-F9214D83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Basic In-Class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Then – without worrying about the derivation of this formula – the mathematical effect of OVB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𝑐𝑜𝑣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𝑣𝑎𝑟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What do we see here?  Pay attention to three things:</a:t>
                </a:r>
              </a:p>
              <a:p>
                <a:pPr marL="514350" indent="-514350">
                  <a:buAutoNum type="arabicParenBoth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514350" indent="-514350">
                  <a:buAutoNum type="arabicParenBoth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514350" indent="-514350">
                  <a:buAutoNum type="arabicParenBoth"/>
                </a:pP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𝑐𝑜𝑣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27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7294-DF42-4358-84B8-F9214D83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Basic In-Class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our example with cakes, we see:</a:t>
                </a:r>
              </a:p>
              <a:p>
                <a:pPr marL="514350" indent="-514350">
                  <a:buAutoNum type="arabicParenBoth"/>
                </a:pPr>
                <a:r>
                  <a:rPr lang="en-US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b="0" dirty="0"/>
                  <a:t>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rabicParenBoth"/>
                </a:pPr>
                <a:r>
                  <a:rPr lang="en-US" b="0" dirty="0"/>
                  <a:t>The coefficient on “Frosting” in the full regression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rabicParenBoth"/>
                </a:pPr>
                <a:r>
                  <a:rPr lang="en-US" b="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𝐿𝑎𝑦𝑒𝑟𝑠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𝐹𝑟𝑜𝑠𝑡𝑖𝑛𝑔</m:t>
                    </m:r>
                  </m:oMath>
                </a14:m>
                <a:r>
                  <a:rPr lang="en-US" b="0" dirty="0"/>
                  <a:t>, we note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𝑐𝑜𝑣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𝐿𝑎𝑦𝑒𝑟𝑠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𝐹𝑟𝑜𝑠𝑡𝑖𝑛𝑔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So the coefficient on “Layers” decreased from 3 to 0 because including “Frosting” removed the positive bias created by the product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 (which is positive)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𝑐𝑜𝑣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𝐿𝑎𝑦𝑒𝑟𝑠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𝐹𝑟𝑜𝑠𝑡𝑖𝑛𝑔</m:t>
                        </m:r>
                      </m:e>
                    </m:d>
                  </m:oMath>
                </a14:m>
                <a:r>
                  <a:rPr lang="en-US" b="0" dirty="0"/>
                  <a:t> (which is also positive)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E5A73-CFB5-4624-B9B4-409D804E2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23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Other examples of OVB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What this tells us is that anytime we leave something out of our regression that is correlated with a variable in our regression, then we’re going to get an incorrect answer.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But what are some other examples of this problem?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8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Example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Suppose that we estimated the following regression that studied the relationship between education and productivity: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𝑃𝑟𝑜𝑑𝑢𝑐𝑡𝑖𝑣𝑖𝑡𝑦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𝐸𝑑𝑢𝑐𝑎𝑡𝑖𝑜𝑛</m:t>
                          </m:r>
                        </m:e>
                      </m:d>
                    </m:oMath>
                  </m:oMathPara>
                </a14:m>
                <a:endParaRPr lang="en-US" sz="3200" b="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Suppose we find that b</a:t>
                </a:r>
                <a:r>
                  <a:rPr lang="en-US" sz="3200" baseline="-25000" dirty="0"/>
                  <a:t>1</a:t>
                </a:r>
                <a:r>
                  <a:rPr lang="en-US" sz="3200" dirty="0"/>
                  <a:t> is large, positive and reject that it is a zero.  Do we believe it?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9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04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Example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Maybe.  But it’s also possible that there’s OVB present here.</a:t>
                </a:r>
              </a:p>
              <a:p>
                <a:pPr marL="0" indent="0">
                  <a:buNone/>
                </a:pPr>
                <a:r>
                  <a:rPr lang="en-US" sz="3200" dirty="0"/>
                  <a:t>Perhaps there is something correlated with education that’s left out of the regression?  Consider “general ability”, which may be: </a:t>
                </a:r>
              </a:p>
              <a:p>
                <a:pPr marL="571500" indent="-571500">
                  <a:buAutoNum type="romanLcParenBoth"/>
                </a:pPr>
                <a:r>
                  <a:rPr lang="en-US" sz="3200" dirty="0"/>
                  <a:t>Positively correlated with education – so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</a:rPr>
                      <m:t>𝑐𝑜𝑣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𝑎𝑏𝑖𝑙𝑖𝑡𝑦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𝑒𝑑𝑢𝑐𝑎𝑡𝑖𝑜𝑛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sz="3200" dirty="0"/>
                  <a:t>, and </a:t>
                </a:r>
              </a:p>
              <a:p>
                <a:pPr marL="571500" indent="-571500">
                  <a:buAutoNum type="romanLcParenBoth"/>
                </a:pPr>
                <a:r>
                  <a:rPr lang="en-US" sz="3200" dirty="0"/>
                  <a:t>Likely has a positive effect on productivity (so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3200" dirty="0"/>
                  <a:t>)</a:t>
                </a:r>
              </a:p>
              <a:p>
                <a:pPr marL="0" indent="0">
                  <a:buNone/>
                </a:pPr>
                <a:r>
                  <a:rPr lang="en-US" sz="3200" dirty="0">
                    <a:sym typeface="Wingdings" panose="05000000000000000000" pitchFamily="2" charset="2"/>
                  </a:rPr>
                  <a:t>Omitting “ability” would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upward!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5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146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Example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Now suppose that we’re studying the predicted demand of a new product we’re going to bring market by estimating the following regression: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𝑄𝑢𝑎𝑛𝑡𝑖𝑡𝑦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𝑑𝑒𝑚𝑎𝑛𝑑𝑒𝑑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e>
                      </m:d>
                    </m:oMath>
                  </m:oMathPara>
                </a14:m>
                <a:endParaRPr lang="en-US" sz="3200" b="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Suppose we find that b</a:t>
                </a:r>
                <a:r>
                  <a:rPr lang="en-US" sz="3200" baseline="-25000" dirty="0"/>
                  <a:t>1</a:t>
                </a:r>
                <a:r>
                  <a:rPr lang="en-US" sz="3200" dirty="0"/>
                  <a:t> is large, negative and reject that it is a zero.  Do we believe it?</a:t>
                </a:r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9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156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Example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Maybe.  But perhaps there is something correlated with price that’s left out of the regression?  Consider the number of competitors who produce this same good. It’s possible that:</a:t>
            </a:r>
          </a:p>
          <a:p>
            <a:pPr marL="571500" indent="-571500">
              <a:buAutoNum type="romanLcParenBoth"/>
            </a:pPr>
            <a:r>
              <a:rPr lang="en-US" sz="3200" dirty="0"/>
              <a:t>Number of competitors is negatively correlated with price, since the larger the number of substitute goods in the market, the lower the price</a:t>
            </a:r>
          </a:p>
          <a:p>
            <a:pPr marL="571500" indent="-571500">
              <a:buAutoNum type="romanLcParenBoth"/>
            </a:pPr>
            <a:r>
              <a:rPr lang="en-US" sz="3200" dirty="0"/>
              <a:t>Number of competitors may also be positively correlated with quantity demanded – larger markets attract more firms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Example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In this case:</a:t>
                </a:r>
              </a:p>
              <a:p>
                <a:pPr marL="0" indent="0">
                  <a:buNone/>
                </a:pPr>
                <a:r>
                  <a:rPr lang="en-US" sz="3200" dirty="0"/>
                  <a:t>Fact (</a:t>
                </a:r>
                <a:r>
                  <a:rPr lang="en-US" sz="3200" dirty="0" err="1"/>
                  <a:t>i</a:t>
                </a:r>
                <a:r>
                  <a:rPr lang="en-US" sz="3200" dirty="0"/>
                  <a:t>) would create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</a:rPr>
                      <m:t>𝑐𝑜𝑣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𝑐𝑜𝑚𝑝𝑒𝑡𝑖𝑡𝑜𝑟𝑠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Fact (ii) would create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The product of these two things would make a negative OVB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267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Big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Both"/>
            </a:pPr>
            <a:r>
              <a:rPr lang="en-US" sz="3200" dirty="0"/>
              <a:t>Always be suspicious about the possibility of OVB.  </a:t>
            </a:r>
          </a:p>
          <a:p>
            <a:pPr marL="514350" indent="-514350">
              <a:buAutoNum type="arabicParenBoth"/>
            </a:pPr>
            <a:r>
              <a:rPr lang="en-US" sz="3200" dirty="0"/>
              <a:t>When you see a problem set question or exam question that involves the addition of a new variable to a regression that changes the coefficient on a different variable, then ask yourself: (</a:t>
            </a:r>
            <a:r>
              <a:rPr lang="en-US" sz="3200" dirty="0" err="1"/>
              <a:t>i</a:t>
            </a:r>
            <a:r>
              <a:rPr lang="en-US" sz="3200" dirty="0"/>
              <a:t>) how are the two variables correlated, and (ii) what’s the coefficient on the new variable?  The product of (</a:t>
            </a:r>
            <a:r>
              <a:rPr lang="en-US" sz="3200" dirty="0" err="1"/>
              <a:t>i</a:t>
            </a:r>
            <a:r>
              <a:rPr lang="en-US" sz="3200" dirty="0"/>
              <a:t>) and (ii) will give you insight into the OVB that is present.</a:t>
            </a:r>
          </a:p>
        </p:txBody>
      </p:sp>
    </p:spTree>
    <p:extLst>
      <p:ext uri="{BB962C8B-B14F-4D97-AF65-F5344CB8AC3E}">
        <p14:creationId xmlns:p14="http://schemas.microsoft.com/office/powerpoint/2010/main" val="311540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E3659896C5164B85D6EEE8CA74DFEA" ma:contentTypeVersion="11" ma:contentTypeDescription="Create a new document." ma:contentTypeScope="" ma:versionID="33f7ca8f44387fa8aaac84a5a1810fd6">
  <xsd:schema xmlns:xsd="http://www.w3.org/2001/XMLSchema" xmlns:xs="http://www.w3.org/2001/XMLSchema" xmlns:p="http://schemas.microsoft.com/office/2006/metadata/properties" xmlns:ns3="8dcc6482-83b0-4165-b123-94b7189eae53" targetNamespace="http://schemas.microsoft.com/office/2006/metadata/properties" ma:root="true" ma:fieldsID="e10d04518358f31e4eafd950489f8fbd" ns3:_="">
    <xsd:import namespace="8dcc6482-83b0-4165-b123-94b7189eae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c6482-83b0-4165-b123-94b7189eae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84CF0A-A67F-4264-B579-8931E1E98A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cc6482-83b0-4165-b123-94b7189eae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EAB87F-545D-43A8-A8C0-F98C00C8F9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533514-179F-437C-AC5D-6FC072FBE49D}">
  <ds:schemaRefs>
    <ds:schemaRef ds:uri="http://purl.org/dc/dcmitype/"/>
    <ds:schemaRef ds:uri="8dcc6482-83b0-4165-b123-94b7189eae53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867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More About OVB</vt:lpstr>
      <vt:lpstr>Our Basic In-Class Example</vt:lpstr>
      <vt:lpstr>Our Basic In-Class Example</vt:lpstr>
      <vt:lpstr>Our Basic In-Class Example</vt:lpstr>
      <vt:lpstr>Our Basic In-Class Example</vt:lpstr>
      <vt:lpstr>Our Basic In-Class Example</vt:lpstr>
      <vt:lpstr>Our Basic In-Class Example</vt:lpstr>
      <vt:lpstr>Other examples of OVB</vt:lpstr>
      <vt:lpstr>Example #1</vt:lpstr>
      <vt:lpstr>Example #1</vt:lpstr>
      <vt:lpstr>Example #2</vt:lpstr>
      <vt:lpstr>Example #2</vt:lpstr>
      <vt:lpstr>Example #2</vt:lpstr>
      <vt:lpstr>Big points</vt:lpstr>
    </vt:vector>
  </TitlesOfParts>
  <Company>University of Toronto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of OVB</dc:title>
  <dc:creator>Harry Krashinsky</dc:creator>
  <cp:lastModifiedBy>Harry Krashinsky</cp:lastModifiedBy>
  <cp:revision>32</cp:revision>
  <dcterms:created xsi:type="dcterms:W3CDTF">2018-08-26T14:25:58Z</dcterms:created>
  <dcterms:modified xsi:type="dcterms:W3CDTF">2024-08-04T17:20:37Z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0x010100E8E3659896C5164B85D6EEE8CA74DFEA</vt:lpwstr>
  </property>
</Properties>
</file>